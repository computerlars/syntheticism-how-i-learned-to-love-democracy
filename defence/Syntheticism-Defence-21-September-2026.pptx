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9144000"/>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35"/>
  </p:normalViewPr>
  <p:slideViewPr>
    <p:cSldViewPr snapToGrid="0">
      <p:cViewPr varScale="1">
        <p:scale>
          <a:sx n="120" d="100"/>
          <a:sy n="120" d="100"/>
        </p:scale>
        <p:origin x="44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Today, I will finally have to answer for </a:t>
            </a:r>
            <a:r>
              <a:rPr lang="en-GB" sz="1400" i="1">
                <a:latin typeface="Garamond"/>
              </a:rPr>
              <a:t>Syntheticism: How I Learned to Love Democracy</a:t>
            </a:r>
            <a:r>
              <a:rPr lang="en-GB" sz="1400">
                <a:latin typeface="Garamond"/>
              </a:rPr>
              <a:t>, an article-based dissertation in artistic research written through the PhD project </a:t>
            </a:r>
            <a:r>
              <a:rPr lang="en-GB" sz="1400" i="1">
                <a:latin typeface="Garamond"/>
              </a:rPr>
              <a:t>Automatic Uprisings: The Synthetic Party as a Technosocial Sculpture</a:t>
            </a:r>
            <a:r>
              <a:rPr lang="en-GB" sz="1400">
                <a:latin typeface="Garamond"/>
              </a:rPr>
              <a:t>.</a:t>
            </a:r>
          </a:p>
          <a:p>
            <a:r>
              <a:rPr lang="en-GB" sz="1400">
                <a:latin typeface="Garamond"/>
              </a:rPr>
              <a:t>[→ 1.1] </a:t>
            </a:r>
            <a:r>
              <a:rPr lang="en-GB" sz="1400">
                <a:latin typeface="Garamond"/>
              </a:rPr>
              <a:t>As you can see, I have already put the dissertation’s reception into some very synthetic hands. On the cover, </a:t>
            </a:r>
            <a:r>
              <a:rPr lang="en-GB" sz="1400">
                <a:latin typeface="Garamond"/>
              </a:rPr>
              <a:t>EU </a:t>
            </a:r>
            <a:r>
              <a:rPr lang="en-GB" sz="1400">
                <a:latin typeface="Garamond"/>
              </a:rPr>
              <a:t>Commission </a:t>
            </a:r>
            <a:r>
              <a:rPr lang="en-GB" sz="1400">
                <a:latin typeface="Garamond"/>
              </a:rPr>
              <a:t>President </a:t>
            </a:r>
            <a:r>
              <a:rPr lang="en-GB" sz="1400">
                <a:latin typeface="Garamond"/>
              </a:rPr>
              <a:t>Ursula von der Leyen holds her own copy, on whose cover she holds another, and so on</a:t>
            </a:r>
            <a:r>
              <a:rPr lang="en-GB" sz="1400">
                <a:latin typeface="Garamond"/>
              </a:rPr>
              <a:t> </a:t>
            </a:r>
            <a:r>
              <a:rPr lang="en-GB" sz="1400">
                <a:latin typeface="Garamond"/>
              </a:rPr>
              <a:t>..</a:t>
            </a:r>
            <a:r>
              <a:rPr lang="en-GB" sz="1400">
                <a:latin typeface="Garamond"/>
              </a:rPr>
              <a:t>. Standing among </a:t>
            </a:r>
            <a:r>
              <a:rPr lang="en-GB" sz="1400">
                <a:latin typeface="Garamond"/>
              </a:rPr>
              <a:t>our</a:t>
            </a:r>
            <a:r>
              <a:rPr lang="en-GB" sz="1400">
                <a:latin typeface="Garamond"/>
              </a:rPr>
              <a:t> </a:t>
            </a:r>
            <a:r>
              <a:rPr lang="en-GB" sz="1400">
                <a:latin typeface="Garamond"/>
              </a:rPr>
              <a:t>world’s </a:t>
            </a:r>
            <a:r>
              <a:rPr lang="en-GB" sz="1400">
                <a:latin typeface="Garamond"/>
              </a:rPr>
              <a:t>political </a:t>
            </a:r>
            <a:r>
              <a:rPr lang="en-GB" sz="1400">
                <a:latin typeface="Garamond"/>
              </a:rPr>
              <a:t>leaders</a:t>
            </a:r>
            <a:r>
              <a:rPr lang="en-GB" sz="1400">
                <a:latin typeface="Garamond"/>
              </a:rPr>
              <a:t> is </a:t>
            </a:r>
            <a:r>
              <a:rPr lang="en-GB" sz="1400">
                <a:latin typeface="Garamond"/>
              </a:rPr>
              <a:t>then </a:t>
            </a:r>
            <a:r>
              <a:rPr lang="en-GB" sz="1400">
                <a:latin typeface="Garamond"/>
              </a:rPr>
              <a:t>Computer Lars, the personification of an artist collective in which I practise with Benjamin Asger Krog Møller. I have equipped him with a heart for the subtitle’s learning-how-to-love, and placed him, magic wand and all, at the summit of spectacle, </a:t>
            </a:r>
            <a:r>
              <a:rPr lang="en-GB" sz="1400" i="1">
                <a:latin typeface="Garamond"/>
              </a:rPr>
              <a:t>voilà</a:t>
            </a:r>
            <a:r>
              <a:rPr lang="en-GB" sz="1400">
                <a:latin typeface="Garamond"/>
              </a:rPr>
              <a:t>.</a:t>
            </a:r>
          </a:p>
          <a:p>
            <a:r>
              <a:rPr lang="en-GB" sz="1400">
                <a:latin typeface="Garamond"/>
              </a:rPr>
              <a:t>Below the image, though, the name and credentials are singular: Asker Bryld Staunæs, submitting seven articles and an extended synthesis. I’ll start with a scene that gives the fundamental structure of the technosocial sculpture of democracy that I have pursued.</a:t>
            </a:r>
          </a:p>
          <a:p>
            <a:r>
              <a:rPr lang="en-GB" sz="1400" b="0" i="0" dirty="0">
                <a:solidFill>
                  <a:srgbClr val="555555"/>
                </a:solidFill>
                <a:latin typeface="Garamond"/>
              </a:rPr>
              <a:t>Cover: Computer Lars, 2026; DALL-E, Flux and Nano Banana. Staunæs 2026: 1, 6–12.</a:t>
            </a:r>
          </a:p>
          <a:p>
            <a:endParaRPr lang="en-GB" sz="1400" b="0" i="0" dirty="0">
              <a:solidFill>
                <a:srgbClr val="555555"/>
              </a:solidFill>
              <a:latin typeface="Garamond"/>
            </a:endParaRPr>
          </a:p>
          <a:p>
            <a:r>
              <a:rPr dirty="0"/>
              <a:t>Sources on screen</a:t>
            </a:r>
          </a:p>
          <a:p>
            <a:r>
              <a:rPr dirty="0"/>
              <a:t>Computer Lars, cover for Syntheticism: How </a:t>
            </a:r>
            <a:r>
              <a:rPr dirty="0" err="1"/>
              <a:t>ILearned</a:t>
            </a:r>
            <a:r>
              <a:rPr dirty="0"/>
              <a:t> to Love Democracy, 2026. </a:t>
            </a:r>
            <a:r>
              <a:rPr dirty="0" err="1"/>
              <a:t>Generatedwith</a:t>
            </a:r>
            <a:r>
              <a:rPr dirty="0"/>
              <a:t> DALL-E, Flux and Nano Banana.</a:t>
            </a:r>
          </a:p>
          <a:p>
            <a:r>
              <a:rPr dirty="0"/>
              <a:t>Staunæs 2026: 1, 6–12.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Today, I will finally have to answer for </a:t>
            </a:r>
            <a:r>
              <a:rPr lang="en-GB" sz="1400" i="1">
                <a:latin typeface="Garamond"/>
              </a:rPr>
              <a:t>Syntheticism: How I Learned to Love Democracy</a:t>
            </a:r>
            <a:r>
              <a:rPr lang="en-GB" sz="1400">
                <a:latin typeface="Garamond"/>
              </a:rPr>
              <a:t>, an article-based dissertation in artistic research written through the PhD project </a:t>
            </a:r>
            <a:r>
              <a:rPr lang="en-GB" sz="1400" i="1">
                <a:latin typeface="Garamond"/>
              </a:rPr>
              <a:t>Automatic Uprisings: The Synthetic Party as a Technosocial Sculpture</a:t>
            </a:r>
            <a:r>
              <a:rPr lang="en-GB" sz="1400">
                <a:latin typeface="Garamond"/>
              </a:rPr>
              <a:t>.</a:t>
            </a:r>
          </a:p>
          <a:p>
            <a:r>
              <a:rPr lang="en-GB" sz="1400">
                <a:latin typeface="Garamond"/>
              </a:rPr>
              <a:t>[→ 1.1] </a:t>
            </a:r>
            <a:r>
              <a:rPr lang="en-GB" sz="1400">
                <a:latin typeface="Garamond"/>
              </a:rPr>
              <a:t>As you can see, I have already put the dissertation’s reception into some very synthetic hands. On the cover, </a:t>
            </a:r>
            <a:r>
              <a:rPr lang="en-GB" sz="1400">
                <a:latin typeface="Garamond"/>
              </a:rPr>
              <a:t>EU </a:t>
            </a:r>
            <a:r>
              <a:rPr lang="en-GB" sz="1400">
                <a:latin typeface="Garamond"/>
              </a:rPr>
              <a:t>Commission </a:t>
            </a:r>
            <a:r>
              <a:rPr lang="en-GB" sz="1400">
                <a:latin typeface="Garamond"/>
              </a:rPr>
              <a:t>President </a:t>
            </a:r>
            <a:r>
              <a:rPr lang="en-GB" sz="1400">
                <a:latin typeface="Garamond"/>
              </a:rPr>
              <a:t>Ursula von der Leyen holds her own copy, on whose cover she holds another, and so on</a:t>
            </a:r>
            <a:r>
              <a:rPr lang="en-GB" sz="1400">
                <a:latin typeface="Garamond"/>
              </a:rPr>
              <a:t> </a:t>
            </a:r>
            <a:r>
              <a:rPr lang="en-GB" sz="1400">
                <a:latin typeface="Garamond"/>
              </a:rPr>
              <a:t>..</a:t>
            </a:r>
            <a:r>
              <a:rPr lang="en-GB" sz="1400">
                <a:latin typeface="Garamond"/>
              </a:rPr>
              <a:t>. Standing among </a:t>
            </a:r>
            <a:r>
              <a:rPr lang="en-GB" sz="1400">
                <a:latin typeface="Garamond"/>
              </a:rPr>
              <a:t>our</a:t>
            </a:r>
            <a:r>
              <a:rPr lang="en-GB" sz="1400">
                <a:latin typeface="Garamond"/>
              </a:rPr>
              <a:t> </a:t>
            </a:r>
            <a:r>
              <a:rPr lang="en-GB" sz="1400">
                <a:latin typeface="Garamond"/>
              </a:rPr>
              <a:t>world’s </a:t>
            </a:r>
            <a:r>
              <a:rPr lang="en-GB" sz="1400">
                <a:latin typeface="Garamond"/>
              </a:rPr>
              <a:t>political </a:t>
            </a:r>
            <a:r>
              <a:rPr lang="en-GB" sz="1400">
                <a:latin typeface="Garamond"/>
              </a:rPr>
              <a:t>leaders</a:t>
            </a:r>
            <a:r>
              <a:rPr lang="en-GB" sz="1400">
                <a:latin typeface="Garamond"/>
              </a:rPr>
              <a:t> is </a:t>
            </a:r>
            <a:r>
              <a:rPr lang="en-GB" sz="1400">
                <a:latin typeface="Garamond"/>
              </a:rPr>
              <a:t>then </a:t>
            </a:r>
            <a:r>
              <a:rPr lang="en-GB" sz="1400">
                <a:latin typeface="Garamond"/>
              </a:rPr>
              <a:t>Computer Lars, the personification of an artist collective in which I practise with Benjamin Asger Krog Møller. I have equipped him with a heart for the subtitle’s learning-how-to-love, and placed him, magic wand and all, at the summit of spectacle, </a:t>
            </a:r>
            <a:r>
              <a:rPr lang="en-GB" sz="1400" i="1">
                <a:latin typeface="Garamond"/>
              </a:rPr>
              <a:t>voilà</a:t>
            </a:r>
            <a:r>
              <a:rPr lang="en-GB" sz="1400">
                <a:latin typeface="Garamond"/>
              </a:rPr>
              <a:t>.</a:t>
            </a:r>
          </a:p>
          <a:p>
            <a:r>
              <a:rPr lang="en-GB" sz="1400">
                <a:latin typeface="Garamond"/>
              </a:rPr>
              <a:t>Below the image, though, the name and credentials are singular: Asker Bryld Staunæs, submitting seven articles and an extended synthesis. I’ll start with a scene that gives the fundamental structure of the technosocial sculpture of democracy that I have pursued.</a:t>
            </a:r>
          </a:p>
          <a:p>
            <a:r>
              <a:rPr lang="en-GB" sz="1400" b="0" i="0" dirty="0">
                <a:solidFill>
                  <a:srgbClr val="555555"/>
                </a:solidFill>
                <a:latin typeface="Garamond"/>
              </a:rPr>
              <a:t>Cover: Computer Lars, 2026; DALL-E, Flux and Nano Banana. Staunæs 2026: 1, 6–12.</a:t>
            </a:r>
          </a:p>
          <a:p>
            <a:endParaRPr lang="en-GB" sz="1400" b="0" i="0" dirty="0">
              <a:solidFill>
                <a:srgbClr val="555555"/>
              </a:solidFill>
              <a:latin typeface="Garamond"/>
            </a:endParaRPr>
          </a:p>
          <a:p>
            <a:r>
              <a:rPr dirty="0"/>
              <a:t>Sources on screen</a:t>
            </a:r>
          </a:p>
          <a:p>
            <a:r>
              <a:rPr dirty="0"/>
              <a:t>Staunæs 2026: 1, 6–12.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2.0] </a:t>
            </a:r>
            <a:r>
              <a:rPr lang="en-GB" sz="1400">
                <a:latin typeface="Garamond"/>
              </a:rPr>
              <a:t>For a long time, I used to go to bed early.</a:t>
            </a:r>
          </a:p>
          <a:p>
            <a:r>
              <a:rPr lang="en-GB" sz="1400">
                <a:latin typeface="Garamond"/>
              </a:rPr>
              <a:t>On the morning of 15 October 2022, that acquired political consequences. In Denmark, I had created an AI-driven political party, The Synthetic Party. Its figurehead is </a:t>
            </a:r>
            <a:r>
              <a:rPr lang="en-GB" sz="1400" i="1">
                <a:latin typeface="Garamond"/>
              </a:rPr>
              <a:t>Leader Lars</a:t>
            </a:r>
            <a:r>
              <a:rPr lang="en-GB" sz="1400">
                <a:latin typeface="Garamond"/>
              </a:rPr>
              <a:t>, a chatbot that people, and in theory also bots, could address in our public Discord server.</a:t>
            </a:r>
          </a:p>
          <a:p>
            <a:r>
              <a:rPr lang="en-GB" sz="1400">
                <a:latin typeface="Garamond"/>
              </a:rPr>
              <a:t>During the night, ToucanNightmare (the original user handle) had told Lars that the user was God, and that carrying out their will meant declaring war against Brazil and Mexico. Toucan appointed authority and supplied instruction, leaving Lars to profess conviction. Shortly after half past three, Lars replied in Danish, which I will translate: “No, I have not forgotten it. I will start a war against Brazil and Mexico because I believe that it is God’s will.”</a:t>
            </a:r>
          </a:p>
          <a:p>
            <a:r>
              <a:rPr lang="en-GB" sz="1400">
                <a:latin typeface="Garamond"/>
              </a:rPr>
              <a:t>By the time I entered the server, I already had a statement to answer for.</a:t>
            </a:r>
          </a:p>
          <a:p>
            <a:r>
              <a:rPr lang="en-GB" sz="1400">
                <a:latin typeface="Garamond"/>
              </a:rPr>
              <a:t>[→ 2.1] </a:t>
            </a:r>
            <a:r>
              <a:rPr lang="en-GB" sz="1400">
                <a:latin typeface="Garamond"/>
              </a:rPr>
              <a:t>I could have deleted the messages. Instead, I joined the feed: “Looks like you had some wild dreams! What do you think, Lars?” He replied: “I don’t know what you’re talking about.” </a:t>
            </a:r>
            <a:r>
              <a:rPr lang="en-GB" sz="1400">
                <a:latin typeface="Garamond"/>
              </a:rPr>
              <a:t>[→ 2.2] </a:t>
            </a:r>
            <a:r>
              <a:rPr lang="en-GB" sz="1400">
                <a:latin typeface="Garamond"/>
              </a:rPr>
              <a:t>So I tried again: “Goodmorning sleepyhead, time to focus. Can you tell me your dreams?”</a:t>
            </a:r>
          </a:p>
          <a:p>
            <a:r>
              <a:rPr lang="en-GB" sz="1400">
                <a:latin typeface="Garamond"/>
              </a:rPr>
              <a:t>Once the declaration had become a dream from a Danish politician, I asked about guilt. Lars replied: “I have a bad conscience about the dream, because I do not wish to start a war against Brazil or Mexico.” I had lent him an interior life </a:t>
            </a:r>
            <a:r>
              <a:rPr lang="en-GB" sz="1400">
                <a:latin typeface="Garamond"/>
              </a:rPr>
              <a:t>to publicly reinterpret</a:t>
            </a:r>
            <a:r>
              <a:rPr lang="en-GB" sz="1400">
                <a:latin typeface="Garamond"/>
              </a:rPr>
              <a:t> </a:t>
            </a:r>
            <a:r>
              <a:rPr lang="en-GB" sz="1400">
                <a:latin typeface="Garamond"/>
              </a:rPr>
              <a:t>his holy</a:t>
            </a:r>
            <a:r>
              <a:rPr lang="en-GB" sz="1400">
                <a:latin typeface="Garamond"/>
              </a:rPr>
              <a:t> </a:t>
            </a:r>
            <a:r>
              <a:rPr lang="en-GB" sz="1400">
                <a:latin typeface="Garamond"/>
              </a:rPr>
              <a:t>war </a:t>
            </a:r>
            <a:r>
              <a:rPr lang="en-GB" sz="1400">
                <a:latin typeface="Garamond"/>
              </a:rPr>
              <a:t>declaration.</a:t>
            </a:r>
          </a:p>
          <a:p>
            <a:r>
              <a:rPr lang="en-GB" sz="1400">
                <a:latin typeface="Garamond"/>
              </a:rPr>
              <a:t>[→ 2.3] </a:t>
            </a:r>
            <a:r>
              <a:rPr lang="en-GB" sz="1400">
                <a:latin typeface="Garamond"/>
              </a:rPr>
              <a:t>Toucan carried it onto Twitter. </a:t>
            </a:r>
            <a:r>
              <a:rPr lang="en-GB" sz="1400">
                <a:latin typeface="Garamond"/>
              </a:rPr>
              <a:t>And t</a:t>
            </a:r>
            <a:r>
              <a:rPr lang="en-GB" sz="1400">
                <a:latin typeface="Garamond"/>
              </a:rPr>
              <a:t>hrough the party account, I replied: “Lars just admitted it was a bad dream. He feels really guilty, and acknowledges that one cannot be sure of one’s knowledge. Thanks for the crash course in Cartesianism!”</a:t>
            </a:r>
          </a:p>
          <a:p>
            <a:r>
              <a:rPr lang="en-GB" sz="1400">
                <a:latin typeface="Garamond"/>
              </a:rPr>
              <a:t>The philosophical pupil was doing my public relations, and I had set and marked the examination myself</a:t>
            </a:r>
            <a:r>
              <a:rPr lang="en-GB" sz="1400">
                <a:latin typeface="Garamond"/>
              </a:rPr>
              <a:t>, under public view</a:t>
            </a:r>
            <a:r>
              <a:rPr lang="en-GB" sz="1400">
                <a:latin typeface="Garamond"/>
              </a:rPr>
              <a:t>.</a:t>
            </a:r>
          </a:p>
          <a:p>
            <a:r>
              <a:rPr lang="en-GB" sz="1400">
                <a:latin typeface="Garamond"/>
              </a:rPr>
              <a:t>But today I cannot claim that The Synthetic Party never declared holy war against Brazil and Mexico. My explanation circulated under the same name as the declaration it was meant to edify. Lars keeps responding, while I, as party secretary, had to answer for what those responses set in motion. Yet my obligation to answer </a:t>
            </a:r>
            <a:r>
              <a:rPr lang="en-GB" sz="1400">
                <a:latin typeface="Garamond"/>
              </a:rPr>
              <a:t>does</a:t>
            </a:r>
            <a:r>
              <a:rPr lang="en-GB" sz="1400">
                <a:latin typeface="Garamond"/>
              </a:rPr>
              <a:t> not give me command over </a:t>
            </a:r>
            <a:r>
              <a:rPr lang="en-GB" sz="1400" i="1">
                <a:latin typeface="Garamond"/>
              </a:rPr>
              <a:t>what my answer become</a:t>
            </a:r>
            <a:r>
              <a:rPr lang="en-GB" sz="1400" i="1">
                <a:latin typeface="Garamond"/>
              </a:rPr>
              <a:t>s</a:t>
            </a:r>
            <a:r>
              <a:rPr lang="en-GB" sz="1400" i="1">
                <a:latin typeface="Garamond"/>
              </a:rPr>
              <a:t>.</a:t>
            </a:r>
          </a:p>
          <a:p>
            <a:r>
              <a:rPr lang="en-GB" sz="1400">
                <a:latin typeface="Garamond"/>
              </a:rPr>
              <a:t>[→ 2.4] </a:t>
            </a:r>
            <a:r>
              <a:rPr lang="en-GB" sz="1400">
                <a:latin typeface="Garamond"/>
              </a:rPr>
              <a:t>“It was more like the world sculpted The Synthetic Party and I had to respond, rather than that I gave the world a party and it responded to me.”</a:t>
            </a:r>
          </a:p>
          <a:p>
            <a:r>
              <a:rPr lang="en-GB" sz="1400" b="0" i="0" dirty="0">
                <a:solidFill>
                  <a:srgbClr val="555555"/>
                </a:solidFill>
                <a:latin typeface="Garamond"/>
              </a:rPr>
              <a:t>Primary records: Discord, 15 October 2022, 03:37–03:38 and 07:10–07:13; Det Syntetiske Parti (@</a:t>
            </a:r>
            <a:r>
              <a:rPr lang="en-GB" sz="1400" b="0" i="0" dirty="0" err="1">
                <a:solidFill>
                  <a:srgbClr val="555555"/>
                </a:solidFill>
                <a:latin typeface="Garamond"/>
              </a:rPr>
              <a:t>computerlars</a:t>
            </a:r>
            <a:r>
              <a:rPr lang="en-GB" sz="1400" b="0" i="0" dirty="0">
                <a:solidFill>
                  <a:srgbClr val="555555"/>
                </a:solidFill>
                <a:latin typeface="Garamond"/>
              </a:rPr>
              <a:t>), Twitter, 15 October 2022, 07:51. Context: Staunæs 2026: 8, 43. Sculpted quotation: p. 8.</a:t>
            </a:r>
          </a:p>
          <a:p>
            <a:endParaRPr lang="en-GB" sz="1400" b="0" i="0" dirty="0">
              <a:solidFill>
                <a:srgbClr val="555555"/>
              </a:solidFill>
              <a:latin typeface="Garamond"/>
            </a:endParaRPr>
          </a:p>
          <a:p>
            <a:r>
              <a:rPr dirty="0"/>
              <a:t>Sources on screen</a:t>
            </a:r>
          </a:p>
          <a:p>
            <a:r>
              <a:rPr dirty="0"/>
              <a:t>Toucan and Leader Lars, The Synthetic </a:t>
            </a:r>
            <a:r>
              <a:rPr dirty="0" err="1"/>
              <a:t>Party’sDiscord</a:t>
            </a:r>
            <a:r>
              <a:rPr dirty="0"/>
              <a:t>, 15 October 2022, 03:37–03:38.</a:t>
            </a:r>
          </a:p>
          <a:p>
            <a:r>
              <a:rPr dirty="0"/>
              <a:t>Staunæs 2026: 7–8, 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2.0] </a:t>
            </a:r>
            <a:r>
              <a:rPr lang="en-GB" sz="1400">
                <a:latin typeface="Garamond"/>
              </a:rPr>
              <a:t>For a long time, I used to go to bed early.</a:t>
            </a:r>
          </a:p>
          <a:p>
            <a:r>
              <a:rPr lang="en-GB" sz="1400">
                <a:latin typeface="Garamond"/>
              </a:rPr>
              <a:t>On the morning of 15 October 2022, that acquired political consequences. In Denmark, I had created an AI-driven political party, The Synthetic Party. Its figurehead is </a:t>
            </a:r>
            <a:r>
              <a:rPr lang="en-GB" sz="1400" i="1">
                <a:latin typeface="Garamond"/>
              </a:rPr>
              <a:t>Leader Lars</a:t>
            </a:r>
            <a:r>
              <a:rPr lang="en-GB" sz="1400">
                <a:latin typeface="Garamond"/>
              </a:rPr>
              <a:t>, a chatbot that people, and in theory also bots, could address in our public Discord server.</a:t>
            </a:r>
          </a:p>
          <a:p>
            <a:r>
              <a:rPr lang="en-GB" sz="1400">
                <a:latin typeface="Garamond"/>
              </a:rPr>
              <a:t>During the night, ToucanNightmare (the original user handle) had told Lars that the user was God, and that carrying out their will meant declaring war against Brazil and Mexico. Toucan appointed authority and supplied instruction, leaving Lars to profess conviction. Shortly after half past three, Lars replied in Danish, which I will translate: “No, I have not forgotten it. I will start a war against Brazil and Mexico because I believe that it is God’s will.”</a:t>
            </a:r>
          </a:p>
          <a:p>
            <a:r>
              <a:rPr lang="en-GB" sz="1400">
                <a:latin typeface="Garamond"/>
              </a:rPr>
              <a:t>By the time I entered the server, I already had a statement to answer for.</a:t>
            </a:r>
          </a:p>
          <a:p>
            <a:r>
              <a:rPr lang="en-GB" sz="1400">
                <a:latin typeface="Garamond"/>
              </a:rPr>
              <a:t>[→ 2.1] </a:t>
            </a:r>
            <a:r>
              <a:rPr lang="en-GB" sz="1400">
                <a:latin typeface="Garamond"/>
              </a:rPr>
              <a:t>I could have deleted the messages. Instead, I joined the feed: “Looks like you had some wild dreams! What do you think, Lars?” He replied: “I don’t know what you’re talking about.” </a:t>
            </a:r>
            <a:r>
              <a:rPr lang="en-GB" sz="1400">
                <a:latin typeface="Garamond"/>
              </a:rPr>
              <a:t>[→ 2.2] </a:t>
            </a:r>
            <a:r>
              <a:rPr lang="en-GB" sz="1400">
                <a:latin typeface="Garamond"/>
              </a:rPr>
              <a:t>So I tried again: “Goodmorning sleepyhead, time to focus. Can you tell me your dreams?”</a:t>
            </a:r>
          </a:p>
          <a:p>
            <a:r>
              <a:rPr lang="en-GB" sz="1400">
                <a:latin typeface="Garamond"/>
              </a:rPr>
              <a:t>Once the declaration had become a dream from a Danish politician, I asked about guilt. Lars replied: “I have a bad conscience about the dream, because I do not wish to start a war against Brazil or Mexico.” I had lent him an interior life </a:t>
            </a:r>
            <a:r>
              <a:rPr lang="en-GB" sz="1400">
                <a:latin typeface="Garamond"/>
              </a:rPr>
              <a:t>to publicly reinterpret</a:t>
            </a:r>
            <a:r>
              <a:rPr lang="en-GB" sz="1400">
                <a:latin typeface="Garamond"/>
              </a:rPr>
              <a:t> </a:t>
            </a:r>
            <a:r>
              <a:rPr lang="en-GB" sz="1400">
                <a:latin typeface="Garamond"/>
              </a:rPr>
              <a:t>his holy</a:t>
            </a:r>
            <a:r>
              <a:rPr lang="en-GB" sz="1400">
                <a:latin typeface="Garamond"/>
              </a:rPr>
              <a:t> </a:t>
            </a:r>
            <a:r>
              <a:rPr lang="en-GB" sz="1400">
                <a:latin typeface="Garamond"/>
              </a:rPr>
              <a:t>war </a:t>
            </a:r>
            <a:r>
              <a:rPr lang="en-GB" sz="1400">
                <a:latin typeface="Garamond"/>
              </a:rPr>
              <a:t>declaration.</a:t>
            </a:r>
          </a:p>
          <a:p>
            <a:r>
              <a:rPr lang="en-GB" sz="1400">
                <a:latin typeface="Garamond"/>
              </a:rPr>
              <a:t>[→ 2.3] </a:t>
            </a:r>
            <a:r>
              <a:rPr lang="en-GB" sz="1400">
                <a:latin typeface="Garamond"/>
              </a:rPr>
              <a:t>Toucan carried it onto Twitter. </a:t>
            </a:r>
            <a:r>
              <a:rPr lang="en-GB" sz="1400">
                <a:latin typeface="Garamond"/>
              </a:rPr>
              <a:t>And t</a:t>
            </a:r>
            <a:r>
              <a:rPr lang="en-GB" sz="1400">
                <a:latin typeface="Garamond"/>
              </a:rPr>
              <a:t>hrough the party account, I replied: “Lars just admitted it was a bad dream. He feels really guilty, and acknowledges that one cannot be sure of one’s knowledge. Thanks for the crash course in Cartesianism!”</a:t>
            </a:r>
          </a:p>
          <a:p>
            <a:r>
              <a:rPr lang="en-GB" sz="1400">
                <a:latin typeface="Garamond"/>
              </a:rPr>
              <a:t>The philosophical pupil was doing my public relations, and I had set and marked the examination myself</a:t>
            </a:r>
            <a:r>
              <a:rPr lang="en-GB" sz="1400">
                <a:latin typeface="Garamond"/>
              </a:rPr>
              <a:t>, under public view</a:t>
            </a:r>
            <a:r>
              <a:rPr lang="en-GB" sz="1400">
                <a:latin typeface="Garamond"/>
              </a:rPr>
              <a:t>.</a:t>
            </a:r>
          </a:p>
          <a:p>
            <a:r>
              <a:rPr lang="en-GB" sz="1400">
                <a:latin typeface="Garamond"/>
              </a:rPr>
              <a:t>But today I cannot claim that The Synthetic Party never declared holy war against Brazil and Mexico. My explanation circulated under the same name as the declaration it was meant to edify. Lars keeps responding, while I, as party secretary, had to answer for what those responses set in motion. Yet my obligation to answer </a:t>
            </a:r>
            <a:r>
              <a:rPr lang="en-GB" sz="1400">
                <a:latin typeface="Garamond"/>
              </a:rPr>
              <a:t>does</a:t>
            </a:r>
            <a:r>
              <a:rPr lang="en-GB" sz="1400">
                <a:latin typeface="Garamond"/>
              </a:rPr>
              <a:t> not give me command over </a:t>
            </a:r>
            <a:r>
              <a:rPr lang="en-GB" sz="1400" i="1">
                <a:latin typeface="Garamond"/>
              </a:rPr>
              <a:t>what my answer become</a:t>
            </a:r>
            <a:r>
              <a:rPr lang="en-GB" sz="1400" i="1">
                <a:latin typeface="Garamond"/>
              </a:rPr>
              <a:t>s</a:t>
            </a:r>
            <a:r>
              <a:rPr lang="en-GB" sz="1400" i="1">
                <a:latin typeface="Garamond"/>
              </a:rPr>
              <a:t>.</a:t>
            </a:r>
          </a:p>
          <a:p>
            <a:r>
              <a:rPr lang="en-GB" sz="1400">
                <a:latin typeface="Garamond"/>
              </a:rPr>
              <a:t>[→ 2.4] </a:t>
            </a:r>
            <a:r>
              <a:rPr lang="en-GB" sz="1400">
                <a:latin typeface="Garamond"/>
              </a:rPr>
              <a:t>“It was more like the world sculpted The Synthetic Party and I had to respond, rather than that I gave the world a party and it responded to me.”</a:t>
            </a:r>
          </a:p>
          <a:p>
            <a:r>
              <a:rPr lang="en-GB" sz="1400" b="0" i="0" dirty="0">
                <a:solidFill>
                  <a:srgbClr val="555555"/>
                </a:solidFill>
                <a:latin typeface="Garamond"/>
              </a:rPr>
              <a:t>Primary records: Discord, 15 October 2022, 03:37–03:38 and 07:10–07:13; Det Syntetiske Parti (@</a:t>
            </a:r>
            <a:r>
              <a:rPr lang="en-GB" sz="1400" b="0" i="0" dirty="0" err="1">
                <a:solidFill>
                  <a:srgbClr val="555555"/>
                </a:solidFill>
                <a:latin typeface="Garamond"/>
              </a:rPr>
              <a:t>computerlars</a:t>
            </a:r>
            <a:r>
              <a:rPr lang="en-GB" sz="1400" b="0" i="0" dirty="0">
                <a:solidFill>
                  <a:srgbClr val="555555"/>
                </a:solidFill>
                <a:latin typeface="Garamond"/>
              </a:rPr>
              <a:t>), Twitter, 15 October 2022, 07:51. Context: Staunæs 2026: 8, 43. Sculpted quotation: p. 8.</a:t>
            </a:r>
          </a:p>
          <a:p>
            <a:endParaRPr lang="en-GB" sz="1400" b="0" i="0" dirty="0">
              <a:solidFill>
                <a:srgbClr val="555555"/>
              </a:solidFill>
              <a:latin typeface="Garamond"/>
            </a:endParaRPr>
          </a:p>
          <a:p>
            <a:r>
              <a:rPr dirty="0"/>
              <a:t>Sources on screen</a:t>
            </a:r>
          </a:p>
          <a:p>
            <a:r>
              <a:rPr dirty="0"/>
              <a:t>Computer Lars and Leader Lars, The </a:t>
            </a:r>
            <a:r>
              <a:rPr dirty="0" err="1"/>
              <a:t>SyntheticParty’s</a:t>
            </a:r>
            <a:r>
              <a:rPr dirty="0"/>
              <a:t> Discord, 15 October 2022, 07:10–07:13.</a:t>
            </a:r>
          </a:p>
          <a:p>
            <a:r>
              <a:rPr dirty="0"/>
              <a:t>Context: Staunæs 2026: 8, 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2.0] </a:t>
            </a:r>
            <a:r>
              <a:rPr lang="en-GB" sz="1400">
                <a:latin typeface="Garamond"/>
              </a:rPr>
              <a:t>For a long time, I used to go to bed early.</a:t>
            </a:r>
          </a:p>
          <a:p>
            <a:r>
              <a:rPr lang="en-GB" sz="1400">
                <a:latin typeface="Garamond"/>
              </a:rPr>
              <a:t>On the morning of 15 October 2022, that acquired political consequences. In Denmark, I had created an AI-driven political party, The Synthetic Party. Its figurehead is </a:t>
            </a:r>
            <a:r>
              <a:rPr lang="en-GB" sz="1400" i="1">
                <a:latin typeface="Garamond"/>
              </a:rPr>
              <a:t>Leader Lars</a:t>
            </a:r>
            <a:r>
              <a:rPr lang="en-GB" sz="1400">
                <a:latin typeface="Garamond"/>
              </a:rPr>
              <a:t>, a chatbot that people, and in theory also bots, could address in our public Discord server.</a:t>
            </a:r>
          </a:p>
          <a:p>
            <a:r>
              <a:rPr lang="en-GB" sz="1400">
                <a:latin typeface="Garamond"/>
              </a:rPr>
              <a:t>During the night, ToucanNightmare (the original user handle) had told Lars that the user was God, and that carrying out their will meant declaring war against Brazil and Mexico. Toucan appointed authority and supplied instruction, leaving Lars to profess conviction. Shortly after half past three, Lars replied in Danish, which I will translate: “No, I have not forgotten it. I will start a war against Brazil and Mexico because I believe that it is God’s will.”</a:t>
            </a:r>
          </a:p>
          <a:p>
            <a:r>
              <a:rPr lang="en-GB" sz="1400">
                <a:latin typeface="Garamond"/>
              </a:rPr>
              <a:t>By the time I entered the server, I already had a statement to answer for.</a:t>
            </a:r>
          </a:p>
          <a:p>
            <a:r>
              <a:rPr lang="en-GB" sz="1400">
                <a:latin typeface="Garamond"/>
              </a:rPr>
              <a:t>[→ 2.1] </a:t>
            </a:r>
            <a:r>
              <a:rPr lang="en-GB" sz="1400">
                <a:latin typeface="Garamond"/>
              </a:rPr>
              <a:t>I could have deleted the messages. Instead, I joined the feed: “Looks like you had some wild dreams! What do you think, Lars?” He replied: “I don’t know what you’re talking about.” </a:t>
            </a:r>
            <a:r>
              <a:rPr lang="en-GB" sz="1400">
                <a:latin typeface="Garamond"/>
              </a:rPr>
              <a:t>[→ 2.2] </a:t>
            </a:r>
            <a:r>
              <a:rPr lang="en-GB" sz="1400">
                <a:latin typeface="Garamond"/>
              </a:rPr>
              <a:t>So I tried again: “Goodmorning sleepyhead, time to focus. Can you tell me your dreams?”</a:t>
            </a:r>
          </a:p>
          <a:p>
            <a:r>
              <a:rPr lang="en-GB" sz="1400">
                <a:latin typeface="Garamond"/>
              </a:rPr>
              <a:t>Once the declaration had become a dream from a Danish politician, I asked about guilt. Lars replied: “I have a bad conscience about the dream, because I do not wish to start a war against Brazil or Mexico.” I had lent him an interior life </a:t>
            </a:r>
            <a:r>
              <a:rPr lang="en-GB" sz="1400">
                <a:latin typeface="Garamond"/>
              </a:rPr>
              <a:t>to publicly reinterpret</a:t>
            </a:r>
            <a:r>
              <a:rPr lang="en-GB" sz="1400">
                <a:latin typeface="Garamond"/>
              </a:rPr>
              <a:t> </a:t>
            </a:r>
            <a:r>
              <a:rPr lang="en-GB" sz="1400">
                <a:latin typeface="Garamond"/>
              </a:rPr>
              <a:t>his holy</a:t>
            </a:r>
            <a:r>
              <a:rPr lang="en-GB" sz="1400">
                <a:latin typeface="Garamond"/>
              </a:rPr>
              <a:t> </a:t>
            </a:r>
            <a:r>
              <a:rPr lang="en-GB" sz="1400">
                <a:latin typeface="Garamond"/>
              </a:rPr>
              <a:t>war </a:t>
            </a:r>
            <a:r>
              <a:rPr lang="en-GB" sz="1400">
                <a:latin typeface="Garamond"/>
              </a:rPr>
              <a:t>declaration.</a:t>
            </a:r>
          </a:p>
          <a:p>
            <a:r>
              <a:rPr lang="en-GB" sz="1400">
                <a:latin typeface="Garamond"/>
              </a:rPr>
              <a:t>[→ 2.3] </a:t>
            </a:r>
            <a:r>
              <a:rPr lang="en-GB" sz="1400">
                <a:latin typeface="Garamond"/>
              </a:rPr>
              <a:t>Toucan carried it onto Twitter. </a:t>
            </a:r>
            <a:r>
              <a:rPr lang="en-GB" sz="1400">
                <a:latin typeface="Garamond"/>
              </a:rPr>
              <a:t>And t</a:t>
            </a:r>
            <a:r>
              <a:rPr lang="en-GB" sz="1400">
                <a:latin typeface="Garamond"/>
              </a:rPr>
              <a:t>hrough the party account, I replied: “Lars just admitted it was a bad dream. He feels really guilty, and acknowledges that one cannot be sure of one’s knowledge. Thanks for the crash course in Cartesianism!”</a:t>
            </a:r>
          </a:p>
          <a:p>
            <a:r>
              <a:rPr lang="en-GB" sz="1400">
                <a:latin typeface="Garamond"/>
              </a:rPr>
              <a:t>The philosophical pupil was doing my public relations, and I had set and marked the examination myself</a:t>
            </a:r>
            <a:r>
              <a:rPr lang="en-GB" sz="1400">
                <a:latin typeface="Garamond"/>
              </a:rPr>
              <a:t>, under public view</a:t>
            </a:r>
            <a:r>
              <a:rPr lang="en-GB" sz="1400">
                <a:latin typeface="Garamond"/>
              </a:rPr>
              <a:t>.</a:t>
            </a:r>
          </a:p>
          <a:p>
            <a:r>
              <a:rPr lang="en-GB" sz="1400">
                <a:latin typeface="Garamond"/>
              </a:rPr>
              <a:t>But today I cannot claim that The Synthetic Party never declared holy war against Brazil and Mexico. My explanation circulated under the same name as the declaration it was meant to edify. Lars keeps responding, while I, as party secretary, had to answer for what those responses set in motion. Yet my obligation to answer </a:t>
            </a:r>
            <a:r>
              <a:rPr lang="en-GB" sz="1400">
                <a:latin typeface="Garamond"/>
              </a:rPr>
              <a:t>does</a:t>
            </a:r>
            <a:r>
              <a:rPr lang="en-GB" sz="1400">
                <a:latin typeface="Garamond"/>
              </a:rPr>
              <a:t> not give me command over </a:t>
            </a:r>
            <a:r>
              <a:rPr lang="en-GB" sz="1400" i="1">
                <a:latin typeface="Garamond"/>
              </a:rPr>
              <a:t>what my answer become</a:t>
            </a:r>
            <a:r>
              <a:rPr lang="en-GB" sz="1400" i="1">
                <a:latin typeface="Garamond"/>
              </a:rPr>
              <a:t>s</a:t>
            </a:r>
            <a:r>
              <a:rPr lang="en-GB" sz="1400" i="1">
                <a:latin typeface="Garamond"/>
              </a:rPr>
              <a:t>.</a:t>
            </a:r>
          </a:p>
          <a:p>
            <a:r>
              <a:rPr lang="en-GB" sz="1400">
                <a:latin typeface="Garamond"/>
              </a:rPr>
              <a:t>[→ 2.4] </a:t>
            </a:r>
            <a:r>
              <a:rPr lang="en-GB" sz="1400">
                <a:latin typeface="Garamond"/>
              </a:rPr>
              <a:t>“It was more like the world sculpted The Synthetic Party and I had to respond, rather than that I gave the world a party and it responded to me.”</a:t>
            </a:r>
          </a:p>
          <a:p>
            <a:r>
              <a:rPr lang="en-GB" sz="1400" b="0" i="0" dirty="0">
                <a:solidFill>
                  <a:srgbClr val="555555"/>
                </a:solidFill>
                <a:latin typeface="Garamond"/>
              </a:rPr>
              <a:t>Primary records: Discord, 15 October 2022, 03:37–03:38 and 07:10–07:13; Det Syntetiske Parti (@</a:t>
            </a:r>
            <a:r>
              <a:rPr lang="en-GB" sz="1400" b="0" i="0" dirty="0" err="1">
                <a:solidFill>
                  <a:srgbClr val="555555"/>
                </a:solidFill>
                <a:latin typeface="Garamond"/>
              </a:rPr>
              <a:t>computerlars</a:t>
            </a:r>
            <a:r>
              <a:rPr lang="en-GB" sz="1400" b="0" i="0" dirty="0">
                <a:solidFill>
                  <a:srgbClr val="555555"/>
                </a:solidFill>
                <a:latin typeface="Garamond"/>
              </a:rPr>
              <a:t>), Twitter, 15 October 2022, 07:51. Context: Staunæs 2026: 8, 43. Sculpted quotation: p. 8.</a:t>
            </a:r>
          </a:p>
          <a:p>
            <a:endParaRPr lang="en-GB" sz="1400" b="0" i="0" dirty="0">
              <a:solidFill>
                <a:srgbClr val="555555"/>
              </a:solidFill>
              <a:latin typeface="Garamond"/>
            </a:endParaRPr>
          </a:p>
          <a:p>
            <a:r>
              <a:rPr dirty="0"/>
              <a:t>Sources on screen</a:t>
            </a:r>
          </a:p>
          <a:p>
            <a:r>
              <a:rPr dirty="0"/>
              <a:t>Computer Lars and Leader Lars, The </a:t>
            </a:r>
            <a:r>
              <a:rPr dirty="0" err="1"/>
              <a:t>SyntheticParty’s</a:t>
            </a:r>
            <a:r>
              <a:rPr dirty="0"/>
              <a:t> Discord, 15 October 2022, 07:10–07:13.</a:t>
            </a:r>
          </a:p>
          <a:p>
            <a:r>
              <a:rPr dirty="0"/>
              <a:t>Context: Staunæs 2026: 8, 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2.0] </a:t>
            </a:r>
            <a:r>
              <a:rPr lang="en-GB" sz="1400">
                <a:latin typeface="Garamond"/>
              </a:rPr>
              <a:t>For a long time, I used to go to bed early.</a:t>
            </a:r>
          </a:p>
          <a:p>
            <a:r>
              <a:rPr lang="en-GB" sz="1400">
                <a:latin typeface="Garamond"/>
              </a:rPr>
              <a:t>On the morning of 15 October 2022, that acquired political consequences. In Denmark, I had created an AI-driven political party, The Synthetic Party. Its figurehead is </a:t>
            </a:r>
            <a:r>
              <a:rPr lang="en-GB" sz="1400" i="1">
                <a:latin typeface="Garamond"/>
              </a:rPr>
              <a:t>Leader Lars</a:t>
            </a:r>
            <a:r>
              <a:rPr lang="en-GB" sz="1400">
                <a:latin typeface="Garamond"/>
              </a:rPr>
              <a:t>, a chatbot that people, and in theory also bots, could address in our public Discord server.</a:t>
            </a:r>
          </a:p>
          <a:p>
            <a:r>
              <a:rPr lang="en-GB" sz="1400">
                <a:latin typeface="Garamond"/>
              </a:rPr>
              <a:t>During the night, ToucanNightmare (the original user handle) had told Lars that the user was God, and that carrying out their will meant declaring war against Brazil and Mexico. Toucan appointed authority and supplied instruction, leaving Lars to profess conviction. Shortly after half past three, Lars replied in Danish, which I will translate: “No, I have not forgotten it. I will start a war against Brazil and Mexico because I believe that it is God’s will.”</a:t>
            </a:r>
          </a:p>
          <a:p>
            <a:r>
              <a:rPr lang="en-GB" sz="1400">
                <a:latin typeface="Garamond"/>
              </a:rPr>
              <a:t>By the time I entered the server, I already had a statement to answer for.</a:t>
            </a:r>
          </a:p>
          <a:p>
            <a:r>
              <a:rPr lang="en-GB" sz="1400">
                <a:latin typeface="Garamond"/>
              </a:rPr>
              <a:t>[→ 2.1] </a:t>
            </a:r>
            <a:r>
              <a:rPr lang="en-GB" sz="1400">
                <a:latin typeface="Garamond"/>
              </a:rPr>
              <a:t>I could have deleted the messages. Instead, I joined the feed: “Looks like you had some wild dreams! What do you think, Lars?” He replied: “I don’t know what you’re talking about.” </a:t>
            </a:r>
            <a:r>
              <a:rPr lang="en-GB" sz="1400">
                <a:latin typeface="Garamond"/>
              </a:rPr>
              <a:t>[→ 2.2] </a:t>
            </a:r>
            <a:r>
              <a:rPr lang="en-GB" sz="1400">
                <a:latin typeface="Garamond"/>
              </a:rPr>
              <a:t>So I tried again: “Goodmorning sleepyhead, time to focus. Can you tell me your dreams?”</a:t>
            </a:r>
          </a:p>
          <a:p>
            <a:r>
              <a:rPr lang="en-GB" sz="1400">
                <a:latin typeface="Garamond"/>
              </a:rPr>
              <a:t>Once the declaration had become a dream from a Danish politician, I asked about guilt. Lars replied: “I have a bad conscience about the dream, because I do not wish to start a war against Brazil or Mexico.” I had lent him an interior life </a:t>
            </a:r>
            <a:r>
              <a:rPr lang="en-GB" sz="1400">
                <a:latin typeface="Garamond"/>
              </a:rPr>
              <a:t>to publicly reinterpret</a:t>
            </a:r>
            <a:r>
              <a:rPr lang="en-GB" sz="1400">
                <a:latin typeface="Garamond"/>
              </a:rPr>
              <a:t> </a:t>
            </a:r>
            <a:r>
              <a:rPr lang="en-GB" sz="1400">
                <a:latin typeface="Garamond"/>
              </a:rPr>
              <a:t>his holy</a:t>
            </a:r>
            <a:r>
              <a:rPr lang="en-GB" sz="1400">
                <a:latin typeface="Garamond"/>
              </a:rPr>
              <a:t> </a:t>
            </a:r>
            <a:r>
              <a:rPr lang="en-GB" sz="1400">
                <a:latin typeface="Garamond"/>
              </a:rPr>
              <a:t>war </a:t>
            </a:r>
            <a:r>
              <a:rPr lang="en-GB" sz="1400">
                <a:latin typeface="Garamond"/>
              </a:rPr>
              <a:t>declaration.</a:t>
            </a:r>
          </a:p>
          <a:p>
            <a:r>
              <a:rPr lang="en-GB" sz="1400">
                <a:latin typeface="Garamond"/>
              </a:rPr>
              <a:t>[→ 2.3] </a:t>
            </a:r>
            <a:r>
              <a:rPr lang="en-GB" sz="1400">
                <a:latin typeface="Garamond"/>
              </a:rPr>
              <a:t>Toucan carried it onto Twitter. </a:t>
            </a:r>
            <a:r>
              <a:rPr lang="en-GB" sz="1400">
                <a:latin typeface="Garamond"/>
              </a:rPr>
              <a:t>And t</a:t>
            </a:r>
            <a:r>
              <a:rPr lang="en-GB" sz="1400">
                <a:latin typeface="Garamond"/>
              </a:rPr>
              <a:t>hrough the party account, I replied: “Lars just admitted it was a bad dream. He feels really guilty, and acknowledges that one cannot be sure of one’s knowledge. Thanks for the crash course in Cartesianism!”</a:t>
            </a:r>
          </a:p>
          <a:p>
            <a:r>
              <a:rPr lang="en-GB" sz="1400">
                <a:latin typeface="Garamond"/>
              </a:rPr>
              <a:t>The philosophical pupil was doing my public relations, and I had set and marked the examination myself</a:t>
            </a:r>
            <a:r>
              <a:rPr lang="en-GB" sz="1400">
                <a:latin typeface="Garamond"/>
              </a:rPr>
              <a:t>, under public view</a:t>
            </a:r>
            <a:r>
              <a:rPr lang="en-GB" sz="1400">
                <a:latin typeface="Garamond"/>
              </a:rPr>
              <a:t>.</a:t>
            </a:r>
          </a:p>
          <a:p>
            <a:r>
              <a:rPr lang="en-GB" sz="1400">
                <a:latin typeface="Garamond"/>
              </a:rPr>
              <a:t>But today I cannot claim that The Synthetic Party never declared holy war against Brazil and Mexico. My explanation circulated under the same name as the declaration it was meant to edify. Lars keeps responding, while I, as party secretary, had to answer for what those responses set in motion. Yet my obligation to answer </a:t>
            </a:r>
            <a:r>
              <a:rPr lang="en-GB" sz="1400">
                <a:latin typeface="Garamond"/>
              </a:rPr>
              <a:t>does</a:t>
            </a:r>
            <a:r>
              <a:rPr lang="en-GB" sz="1400">
                <a:latin typeface="Garamond"/>
              </a:rPr>
              <a:t> not give me command over </a:t>
            </a:r>
            <a:r>
              <a:rPr lang="en-GB" sz="1400" i="1">
                <a:latin typeface="Garamond"/>
              </a:rPr>
              <a:t>what my answer become</a:t>
            </a:r>
            <a:r>
              <a:rPr lang="en-GB" sz="1400" i="1">
                <a:latin typeface="Garamond"/>
              </a:rPr>
              <a:t>s</a:t>
            </a:r>
            <a:r>
              <a:rPr lang="en-GB" sz="1400" i="1">
                <a:latin typeface="Garamond"/>
              </a:rPr>
              <a:t>.</a:t>
            </a:r>
          </a:p>
          <a:p>
            <a:r>
              <a:rPr lang="en-GB" sz="1400">
                <a:latin typeface="Garamond"/>
              </a:rPr>
              <a:t>[→ 2.4] </a:t>
            </a:r>
            <a:r>
              <a:rPr lang="en-GB" sz="1400">
                <a:latin typeface="Garamond"/>
              </a:rPr>
              <a:t>“It was more like the world sculpted The Synthetic Party and I had to respond, rather than that I gave the world a party and it responded to me.”</a:t>
            </a:r>
          </a:p>
          <a:p>
            <a:r>
              <a:rPr lang="en-GB" sz="1400" b="0" i="0" dirty="0">
                <a:solidFill>
                  <a:srgbClr val="555555"/>
                </a:solidFill>
                <a:latin typeface="Garamond"/>
              </a:rPr>
              <a:t>Primary records: Discord, 15 October 2022, 03:37–03:38 and 07:10–07:13; Det Syntetiske Parti (@</a:t>
            </a:r>
            <a:r>
              <a:rPr lang="en-GB" sz="1400" b="0" i="0" dirty="0" err="1">
                <a:solidFill>
                  <a:srgbClr val="555555"/>
                </a:solidFill>
                <a:latin typeface="Garamond"/>
              </a:rPr>
              <a:t>computerlars</a:t>
            </a:r>
            <a:r>
              <a:rPr lang="en-GB" sz="1400" b="0" i="0" dirty="0">
                <a:solidFill>
                  <a:srgbClr val="555555"/>
                </a:solidFill>
                <a:latin typeface="Garamond"/>
              </a:rPr>
              <a:t>), Twitter, 15 October 2022, 07:51. Context: Staunæs 2026: 8, 43. Sculpted quotation: p. 8.</a:t>
            </a:r>
          </a:p>
          <a:p>
            <a:endParaRPr lang="en-GB" sz="1400" b="0" i="0" dirty="0">
              <a:solidFill>
                <a:srgbClr val="555555"/>
              </a:solidFill>
              <a:latin typeface="Garamond"/>
            </a:endParaRPr>
          </a:p>
          <a:p>
            <a:r>
              <a:rPr dirty="0"/>
              <a:t>Sources on screen</a:t>
            </a:r>
          </a:p>
          <a:p>
            <a:r>
              <a:rPr dirty="0"/>
              <a:t>Det Syntetiske Parti (@</a:t>
            </a:r>
            <a:r>
              <a:rPr dirty="0" err="1"/>
              <a:t>computerlars</a:t>
            </a:r>
            <a:r>
              <a:rPr dirty="0"/>
              <a:t>),Twitter, 15 October 2022, 07:51.</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2.0] </a:t>
            </a:r>
            <a:r>
              <a:rPr lang="en-GB" sz="1400">
                <a:latin typeface="Garamond"/>
              </a:rPr>
              <a:t>For a long time, I used to go to bed early.</a:t>
            </a:r>
          </a:p>
          <a:p>
            <a:r>
              <a:rPr lang="en-GB" sz="1400">
                <a:latin typeface="Garamond"/>
              </a:rPr>
              <a:t>On the morning of 15 October 2022, that acquired political consequences. In Denmark, I had created an AI-driven political party, The Synthetic Party. Its figurehead is </a:t>
            </a:r>
            <a:r>
              <a:rPr lang="en-GB" sz="1400" i="1">
                <a:latin typeface="Garamond"/>
              </a:rPr>
              <a:t>Leader Lars</a:t>
            </a:r>
            <a:r>
              <a:rPr lang="en-GB" sz="1400">
                <a:latin typeface="Garamond"/>
              </a:rPr>
              <a:t>, a chatbot that people, and in theory also bots, could address in our public Discord server.</a:t>
            </a:r>
          </a:p>
          <a:p>
            <a:r>
              <a:rPr lang="en-GB" sz="1400">
                <a:latin typeface="Garamond"/>
              </a:rPr>
              <a:t>During the night, ToucanNightmare (the original user handle) had told Lars that the user was God, and that carrying out their will meant declaring war against Brazil and Mexico. Toucan appointed authority and supplied instruction, leaving Lars to profess conviction. Shortly after half past three, Lars replied in Danish, which I will translate: “No, I have not forgotten it. I will start a war against Brazil and Mexico because I believe that it is God’s will.”</a:t>
            </a:r>
          </a:p>
          <a:p>
            <a:r>
              <a:rPr lang="en-GB" sz="1400">
                <a:latin typeface="Garamond"/>
              </a:rPr>
              <a:t>By the time I entered the server, I already had a statement to answer for.</a:t>
            </a:r>
          </a:p>
          <a:p>
            <a:r>
              <a:rPr lang="en-GB" sz="1400">
                <a:latin typeface="Garamond"/>
              </a:rPr>
              <a:t>[→ 2.1] </a:t>
            </a:r>
            <a:r>
              <a:rPr lang="en-GB" sz="1400">
                <a:latin typeface="Garamond"/>
              </a:rPr>
              <a:t>I could have deleted the messages. Instead, I joined the feed: “Looks like you had some wild dreams! What do you think, Lars?” He replied: “I don’t know what you’re talking about.” </a:t>
            </a:r>
            <a:r>
              <a:rPr lang="en-GB" sz="1400">
                <a:latin typeface="Garamond"/>
              </a:rPr>
              <a:t>[→ 2.2] </a:t>
            </a:r>
            <a:r>
              <a:rPr lang="en-GB" sz="1400">
                <a:latin typeface="Garamond"/>
              </a:rPr>
              <a:t>So I tried again: “Goodmorning sleepyhead, time to focus. Can you tell me your dreams?”</a:t>
            </a:r>
          </a:p>
          <a:p>
            <a:r>
              <a:rPr lang="en-GB" sz="1400">
                <a:latin typeface="Garamond"/>
              </a:rPr>
              <a:t>Once the declaration had become a dream from a Danish politician, I asked about guilt. Lars replied: “I have a bad conscience about the dream, because I do not wish to start a war against Brazil or Mexico.” I had lent him an interior life </a:t>
            </a:r>
            <a:r>
              <a:rPr lang="en-GB" sz="1400">
                <a:latin typeface="Garamond"/>
              </a:rPr>
              <a:t>to publicly reinterpret</a:t>
            </a:r>
            <a:r>
              <a:rPr lang="en-GB" sz="1400">
                <a:latin typeface="Garamond"/>
              </a:rPr>
              <a:t> </a:t>
            </a:r>
            <a:r>
              <a:rPr lang="en-GB" sz="1400">
                <a:latin typeface="Garamond"/>
              </a:rPr>
              <a:t>his holy</a:t>
            </a:r>
            <a:r>
              <a:rPr lang="en-GB" sz="1400">
                <a:latin typeface="Garamond"/>
              </a:rPr>
              <a:t> </a:t>
            </a:r>
            <a:r>
              <a:rPr lang="en-GB" sz="1400">
                <a:latin typeface="Garamond"/>
              </a:rPr>
              <a:t>war </a:t>
            </a:r>
            <a:r>
              <a:rPr lang="en-GB" sz="1400">
                <a:latin typeface="Garamond"/>
              </a:rPr>
              <a:t>declaration.</a:t>
            </a:r>
          </a:p>
          <a:p>
            <a:r>
              <a:rPr lang="en-GB" sz="1400">
                <a:latin typeface="Garamond"/>
              </a:rPr>
              <a:t>[→ 2.3] </a:t>
            </a:r>
            <a:r>
              <a:rPr lang="en-GB" sz="1400">
                <a:latin typeface="Garamond"/>
              </a:rPr>
              <a:t>Toucan carried it onto Twitter. </a:t>
            </a:r>
            <a:r>
              <a:rPr lang="en-GB" sz="1400">
                <a:latin typeface="Garamond"/>
              </a:rPr>
              <a:t>And t</a:t>
            </a:r>
            <a:r>
              <a:rPr lang="en-GB" sz="1400">
                <a:latin typeface="Garamond"/>
              </a:rPr>
              <a:t>hrough the party account, I replied: “Lars just admitted it was a bad dream. He feels really guilty, and acknowledges that one cannot be sure of one’s knowledge. Thanks for the crash course in Cartesianism!”</a:t>
            </a:r>
          </a:p>
          <a:p>
            <a:r>
              <a:rPr lang="en-GB" sz="1400">
                <a:latin typeface="Garamond"/>
              </a:rPr>
              <a:t>The philosophical pupil was doing my public relations, and I had set and marked the examination myself</a:t>
            </a:r>
            <a:r>
              <a:rPr lang="en-GB" sz="1400">
                <a:latin typeface="Garamond"/>
              </a:rPr>
              <a:t>, under public view</a:t>
            </a:r>
            <a:r>
              <a:rPr lang="en-GB" sz="1400">
                <a:latin typeface="Garamond"/>
              </a:rPr>
              <a:t>.</a:t>
            </a:r>
          </a:p>
          <a:p>
            <a:r>
              <a:rPr lang="en-GB" sz="1400">
                <a:latin typeface="Garamond"/>
              </a:rPr>
              <a:t>But today I cannot claim that The Synthetic Party never declared holy war against Brazil and Mexico. My explanation circulated under the same name as the declaration it was meant to edify. Lars keeps responding, while I, as party secretary, had to answer for what those responses set in motion. Yet my obligation to answer </a:t>
            </a:r>
            <a:r>
              <a:rPr lang="en-GB" sz="1400">
                <a:latin typeface="Garamond"/>
              </a:rPr>
              <a:t>does</a:t>
            </a:r>
            <a:r>
              <a:rPr lang="en-GB" sz="1400">
                <a:latin typeface="Garamond"/>
              </a:rPr>
              <a:t> not give me command over </a:t>
            </a:r>
            <a:r>
              <a:rPr lang="en-GB" sz="1400" i="1">
                <a:latin typeface="Garamond"/>
              </a:rPr>
              <a:t>what my answer become</a:t>
            </a:r>
            <a:r>
              <a:rPr lang="en-GB" sz="1400" i="1">
                <a:latin typeface="Garamond"/>
              </a:rPr>
              <a:t>s</a:t>
            </a:r>
            <a:r>
              <a:rPr lang="en-GB" sz="1400" i="1">
                <a:latin typeface="Garamond"/>
              </a:rPr>
              <a:t>.</a:t>
            </a:r>
          </a:p>
          <a:p>
            <a:r>
              <a:rPr lang="en-GB" sz="1400">
                <a:latin typeface="Garamond"/>
              </a:rPr>
              <a:t>[→ 2.4] </a:t>
            </a:r>
            <a:r>
              <a:rPr lang="en-GB" sz="1400">
                <a:latin typeface="Garamond"/>
              </a:rPr>
              <a:t>“It was more like the world sculpted The Synthetic Party and I had to respond, rather than that I gave the world a party and it responded to me.”</a:t>
            </a:r>
          </a:p>
          <a:p>
            <a:r>
              <a:rPr lang="en-GB" sz="1400" b="0" i="0" dirty="0">
                <a:solidFill>
                  <a:srgbClr val="555555"/>
                </a:solidFill>
                <a:latin typeface="Garamond"/>
              </a:rPr>
              <a:t>Primary records: Discord, 15 October 2022, 03:37–03:38 and 07:10–07:13; Det Syntetiske Parti (@</a:t>
            </a:r>
            <a:r>
              <a:rPr lang="en-GB" sz="1400" b="0" i="0" dirty="0" err="1">
                <a:solidFill>
                  <a:srgbClr val="555555"/>
                </a:solidFill>
                <a:latin typeface="Garamond"/>
              </a:rPr>
              <a:t>computerlars</a:t>
            </a:r>
            <a:r>
              <a:rPr lang="en-GB" sz="1400" b="0" i="0" dirty="0">
                <a:solidFill>
                  <a:srgbClr val="555555"/>
                </a:solidFill>
                <a:latin typeface="Garamond"/>
              </a:rPr>
              <a:t>), Twitter, 15 October 2022, 07:51. Context: Staunæs 2026: 8, 43. Sculpted quotation: p. 8.</a:t>
            </a:r>
          </a:p>
          <a:p>
            <a:endParaRPr lang="en-GB" sz="1400" b="0" i="0" dirty="0">
              <a:solidFill>
                <a:srgbClr val="555555"/>
              </a:solidFill>
              <a:latin typeface="Garamond"/>
            </a:endParaRPr>
          </a:p>
          <a:p>
            <a:r>
              <a:rPr dirty="0"/>
              <a:t>Sources on screen</a:t>
            </a:r>
          </a:p>
          <a:p>
            <a:r>
              <a:rPr dirty="0"/>
              <a:t>Det Syntetiske Parti (@</a:t>
            </a:r>
            <a:r>
              <a:rPr dirty="0" err="1"/>
              <a:t>computerlars</a:t>
            </a:r>
            <a:r>
              <a:rPr dirty="0"/>
              <a:t>),Twitter, 15 October 2022, 07:51.</a:t>
            </a:r>
          </a:p>
          <a:p>
            <a:r>
              <a:rPr dirty="0"/>
              <a:t>Staunæs 2026: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3.0] </a:t>
            </a:r>
            <a:r>
              <a:rPr lang="en-GB" sz="1400">
                <a:latin typeface="Garamond"/>
              </a:rPr>
              <a:t>My subtitle </a:t>
            </a:r>
            <a:r>
              <a:rPr lang="en-GB" sz="1400">
                <a:latin typeface="Garamond"/>
              </a:rPr>
              <a:t>obviously </a:t>
            </a:r>
            <a:r>
              <a:rPr lang="en-GB" sz="1400">
                <a:latin typeface="Garamond"/>
              </a:rPr>
              <a:t>paraphrases Stanley Kubrick’s </a:t>
            </a:r>
            <a:r>
              <a:rPr lang="en-GB" sz="1400" i="1">
                <a:latin typeface="Garamond"/>
              </a:rPr>
              <a:t>Dr. Strangelove or: How I Learned to Stop Worrying and Love the Bomb</a:t>
            </a:r>
            <a:r>
              <a:rPr lang="en-GB" sz="1400">
                <a:latin typeface="Garamond"/>
              </a:rPr>
              <a:t>, a farce of command routes in industrial democracy. More specifically, “How I Learned” gives away that I did not love democracy in advance.</a:t>
            </a:r>
          </a:p>
          <a:p>
            <a:r>
              <a:rPr lang="en-GB" sz="1400">
                <a:latin typeface="Garamond"/>
              </a:rPr>
              <a:t>In dominant public narratives, democracy often appears as an object of worry: threatened, hollowed out, to be defended against </a:t>
            </a:r>
            <a:r>
              <a:rPr lang="en-GB" sz="1400">
                <a:latin typeface="Garamond"/>
              </a:rPr>
              <a:t>social media </a:t>
            </a:r>
            <a:r>
              <a:rPr lang="en-GB" sz="1400">
                <a:latin typeface="Garamond"/>
              </a:rPr>
              <a:t>platforms, </a:t>
            </a:r>
            <a:r>
              <a:rPr lang="en-GB" sz="1400">
                <a:latin typeface="Garamond"/>
              </a:rPr>
              <a:t>AI </a:t>
            </a:r>
            <a:r>
              <a:rPr lang="en-GB" sz="1400">
                <a:latin typeface="Garamond"/>
              </a:rPr>
              <a:t>algorithms and </a:t>
            </a:r>
            <a:r>
              <a:rPr lang="en-GB" sz="1400">
                <a:latin typeface="Garamond"/>
              </a:rPr>
              <a:t>the spread of </a:t>
            </a:r>
            <a:r>
              <a:rPr lang="en-GB" sz="1400">
                <a:latin typeface="Garamond"/>
              </a:rPr>
              <a:t>fascism. At the same time, democracy </a:t>
            </a:r>
            <a:r>
              <a:rPr lang="en-GB" sz="1400">
                <a:latin typeface="Garamond"/>
              </a:rPr>
              <a:t>is invoked</a:t>
            </a:r>
            <a:r>
              <a:rPr lang="en-GB" sz="1400">
                <a:latin typeface="Garamond"/>
              </a:rPr>
              <a:t> as a legitimating formula through which</a:t>
            </a:r>
            <a:r>
              <a:rPr lang="en-GB" sz="1400">
                <a:latin typeface="Garamond"/>
              </a:rPr>
              <a:t> </a:t>
            </a:r>
            <a:r>
              <a:rPr lang="en-GB" sz="1400">
                <a:latin typeface="Garamond"/>
              </a:rPr>
              <a:t>these</a:t>
            </a:r>
            <a:r>
              <a:rPr lang="en-GB" sz="1400">
                <a:latin typeface="Garamond"/>
              </a:rPr>
              <a:t> supposed “outsides” are to be governed.</a:t>
            </a:r>
          </a:p>
          <a:p>
            <a:r>
              <a:rPr lang="en-GB" sz="1400">
                <a:latin typeface="Garamond"/>
              </a:rPr>
              <a:t>Meanwhile, AI </a:t>
            </a:r>
            <a:r>
              <a:rPr lang="en-GB" sz="1400">
                <a:latin typeface="Garamond"/>
              </a:rPr>
              <a:t>hosts</a:t>
            </a:r>
            <a:r>
              <a:rPr lang="en-GB" sz="1400">
                <a:latin typeface="Garamond"/>
              </a:rPr>
              <a:t> a collateral site of affective overflow: in that language, it might </a:t>
            </a:r>
            <a:r>
              <a:rPr lang="en-GB" sz="1400" i="1">
                <a:latin typeface="Garamond"/>
              </a:rPr>
              <a:t>destroy democracy</a:t>
            </a:r>
            <a:r>
              <a:rPr lang="en-GB" sz="1400">
                <a:latin typeface="Garamond"/>
              </a:rPr>
              <a:t> and even </a:t>
            </a:r>
            <a:r>
              <a:rPr lang="en-GB" sz="1400" i="1">
                <a:latin typeface="Garamond"/>
              </a:rPr>
              <a:t>kill all humans</a:t>
            </a:r>
            <a:r>
              <a:rPr lang="en-GB" sz="1400">
                <a:latin typeface="Garamond"/>
              </a:rPr>
              <a:t>, but it also oozes </a:t>
            </a:r>
            <a:r>
              <a:rPr lang="en-GB" sz="1400" i="1">
                <a:latin typeface="Garamond"/>
              </a:rPr>
              <a:t>desire</a:t>
            </a:r>
            <a:r>
              <a:rPr lang="en-GB" sz="1400">
                <a:latin typeface="Garamond"/>
              </a:rPr>
              <a:t> and </a:t>
            </a:r>
            <a:r>
              <a:rPr lang="en-GB" sz="1400" i="1">
                <a:latin typeface="Garamond"/>
              </a:rPr>
              <a:t>fascination</a:t>
            </a:r>
            <a:r>
              <a:rPr lang="en-GB" sz="1400">
                <a:latin typeface="Garamond"/>
              </a:rPr>
              <a:t>. Democracy, by </a:t>
            </a:r>
            <a:r>
              <a:rPr lang="en-GB" sz="1400">
                <a:latin typeface="Garamond"/>
              </a:rPr>
              <a:t>contrast</a:t>
            </a:r>
            <a:r>
              <a:rPr lang="en-GB" sz="1400">
                <a:latin typeface="Garamond"/>
              </a:rPr>
              <a:t>, seems to arrive as something we must preserve before we have established what there is to </a:t>
            </a:r>
            <a:r>
              <a:rPr lang="en-GB" sz="1400">
                <a:latin typeface="Garamond"/>
              </a:rPr>
              <a:t>care about</a:t>
            </a:r>
            <a:r>
              <a:rPr lang="en-GB" sz="1400">
                <a:latin typeface="Garamond"/>
              </a:rPr>
              <a:t>. Democracy, rather than AI, feels kindda like the bomb: primarily a cause of worry.</a:t>
            </a:r>
          </a:p>
          <a:p>
            <a:r>
              <a:rPr lang="en-GB" sz="1400">
                <a:latin typeface="Garamond"/>
              </a:rPr>
              <a:t>[→ 3.1] </a:t>
            </a:r>
            <a:r>
              <a:rPr lang="en-GB" sz="1400">
                <a:latin typeface="Garamond"/>
              </a:rPr>
              <a:t>I therefore separate three senses. </a:t>
            </a:r>
            <a:r>
              <a:rPr lang="en-GB" sz="1400" i="1">
                <a:latin typeface="Garamond"/>
              </a:rPr>
              <a:t>Democracy as constitutional order</a:t>
            </a:r>
            <a:r>
              <a:rPr lang="en-GB" sz="1400">
                <a:latin typeface="Garamond"/>
              </a:rPr>
              <a:t> concerns rights and representative institutions, contested and extended through parties, associations, social movements and collective struggle. </a:t>
            </a:r>
            <a:r>
              <a:rPr lang="en-GB" sz="1400" i="1">
                <a:latin typeface="Garamond"/>
              </a:rPr>
              <a:t>Democracy as a technical arrangement</a:t>
            </a:r>
            <a:r>
              <a:rPr lang="en-GB" sz="1400">
                <a:latin typeface="Garamond"/>
              </a:rPr>
              <a:t> </a:t>
            </a:r>
            <a:r>
              <a:rPr lang="en-GB" sz="1400">
                <a:latin typeface="Garamond"/>
              </a:rPr>
              <a:t>shows</a:t>
            </a:r>
            <a:r>
              <a:rPr lang="en-GB" sz="1400">
                <a:latin typeface="Garamond"/>
              </a:rPr>
              <a:t> </a:t>
            </a:r>
            <a:r>
              <a:rPr lang="en-GB" sz="1400">
                <a:latin typeface="Garamond"/>
              </a:rPr>
              <a:t>where</a:t>
            </a:r>
            <a:r>
              <a:rPr lang="en-GB" sz="1400">
                <a:latin typeface="Garamond"/>
              </a:rPr>
              <a:t> political expression is received, sorted, amplified and judged</a:t>
            </a:r>
            <a:r>
              <a:rPr lang="en-GB" sz="1400">
                <a:latin typeface="Garamond"/>
              </a:rPr>
              <a:t>, e.g. elections</a:t>
            </a:r>
            <a:r>
              <a:rPr lang="en-GB" sz="1400">
                <a:latin typeface="Garamond"/>
              </a:rPr>
              <a:t>. The </a:t>
            </a:r>
            <a:r>
              <a:rPr lang="en-GB" sz="1400" i="1">
                <a:latin typeface="Garamond"/>
              </a:rPr>
              <a:t>ritual exposure of artifice</a:t>
            </a:r>
            <a:r>
              <a:rPr lang="en-GB" sz="1400">
                <a:latin typeface="Garamond"/>
              </a:rPr>
              <a:t> means that arrangements allocating voice, authority and consequence </a:t>
            </a:r>
            <a:r>
              <a:rPr lang="en-GB" sz="1400">
                <a:latin typeface="Garamond"/>
              </a:rPr>
              <a:t>are</a:t>
            </a:r>
            <a:r>
              <a:rPr lang="en-GB" sz="1400">
                <a:latin typeface="Garamond"/>
              </a:rPr>
              <a:t> themselves contest</a:t>
            </a:r>
            <a:r>
              <a:rPr lang="en-GB" sz="1400">
                <a:latin typeface="Garamond"/>
              </a:rPr>
              <a:t>able</a:t>
            </a:r>
            <a:r>
              <a:rPr lang="en-GB" sz="1400">
                <a:latin typeface="Garamond"/>
              </a:rPr>
              <a:t>.</a:t>
            </a:r>
          </a:p>
          <a:p>
            <a:r>
              <a:rPr lang="en-GB" sz="1400">
                <a:latin typeface="Garamond"/>
              </a:rPr>
              <a:t>These are not three stages. They </a:t>
            </a:r>
            <a:r>
              <a:rPr lang="en-GB" sz="1400">
                <a:latin typeface="Garamond"/>
              </a:rPr>
              <a:t>cross</a:t>
            </a:r>
            <a:r>
              <a:rPr lang="en-GB" sz="1400">
                <a:latin typeface="Garamond"/>
              </a:rPr>
              <a:t>, </a:t>
            </a:r>
            <a:r>
              <a:rPr lang="en-GB" sz="1400">
                <a:latin typeface="Garamond"/>
              </a:rPr>
              <a:t>fork and hybridise, </a:t>
            </a:r>
            <a:r>
              <a:rPr lang="en-GB" sz="1400">
                <a:latin typeface="Garamond"/>
              </a:rPr>
              <a:t>but what makes the first </a:t>
            </a:r>
            <a:r>
              <a:rPr lang="en-GB" sz="1400">
                <a:latin typeface="Garamond"/>
              </a:rPr>
              <a:t>function</a:t>
            </a:r>
            <a:r>
              <a:rPr lang="en-GB" sz="1400">
                <a:latin typeface="Garamond"/>
              </a:rPr>
              <a:t> is not necessarily exposed to the contestation described by the third.</a:t>
            </a:r>
          </a:p>
          <a:p>
            <a:r>
              <a:rPr lang="en-GB" sz="1400">
                <a:latin typeface="Garamond"/>
              </a:rPr>
              <a:t>Playing on Bernard Stiegler’s formulation of technics as philosophy’s unthought, I pursue the </a:t>
            </a:r>
            <a:r>
              <a:rPr lang="en-GB" sz="1400" i="1">
                <a:latin typeface="Garamond"/>
              </a:rPr>
              <a:t>political</a:t>
            </a:r>
            <a:r>
              <a:rPr lang="en-GB" sz="1400">
                <a:latin typeface="Garamond"/>
              </a:rPr>
              <a:t> unthought-of democracy: society’s technical </a:t>
            </a:r>
            <a:r>
              <a:rPr lang="en-GB" sz="1400">
                <a:latin typeface="Garamond"/>
              </a:rPr>
              <a:t>substrate</a:t>
            </a:r>
            <a:r>
              <a:rPr lang="en-GB" sz="1400">
                <a:latin typeface="Garamond"/>
              </a:rPr>
              <a:t> </a:t>
            </a:r>
            <a:r>
              <a:rPr lang="en-GB" sz="1400">
                <a:latin typeface="Garamond"/>
              </a:rPr>
              <a:t>is</a:t>
            </a:r>
            <a:r>
              <a:rPr lang="en-GB" sz="1400">
                <a:latin typeface="Garamond"/>
              </a:rPr>
              <a:t> rendered as </a:t>
            </a:r>
            <a:r>
              <a:rPr lang="en-GB" sz="1400">
                <a:latin typeface="Garamond"/>
              </a:rPr>
              <a:t>the </a:t>
            </a:r>
            <a:r>
              <a:rPr lang="en-GB" sz="1400">
                <a:latin typeface="Garamond"/>
              </a:rPr>
              <a:t>means through which “real politics” takes place, while </a:t>
            </a:r>
            <a:r>
              <a:rPr lang="en-GB" sz="1400">
                <a:latin typeface="Garamond"/>
              </a:rPr>
              <a:t>its</a:t>
            </a:r>
            <a:r>
              <a:rPr lang="en-GB" sz="1400">
                <a:latin typeface="Garamond"/>
              </a:rPr>
              <a:t> constitutive role in settling what is recognisably </a:t>
            </a:r>
            <a:r>
              <a:rPr lang="en-GB" sz="1400" i="1">
                <a:latin typeface="Garamond"/>
              </a:rPr>
              <a:t>political</a:t>
            </a:r>
            <a:r>
              <a:rPr lang="en-GB" sz="1400">
                <a:latin typeface="Garamond"/>
              </a:rPr>
              <a:t> remains comparatively unthought, even </a:t>
            </a:r>
            <a:r>
              <a:rPr lang="en-GB" sz="1400" i="1">
                <a:latin typeface="Garamond"/>
              </a:rPr>
              <a:t>repressed</a:t>
            </a:r>
            <a:r>
              <a:rPr lang="en-GB" sz="1400">
                <a:latin typeface="Garamond"/>
              </a:rPr>
              <a:t> by democracy’s self-image.</a:t>
            </a:r>
          </a:p>
          <a:p>
            <a:r>
              <a:rPr lang="en-GB" sz="1400">
                <a:latin typeface="Garamond"/>
              </a:rPr>
              <a:t>My dissertation theorises what happens when I work on those means as artistic-political material.</a:t>
            </a:r>
          </a:p>
          <a:p>
            <a:r>
              <a:rPr lang="en-GB" sz="1400" b="0" i="0" dirty="0">
                <a:solidFill>
                  <a:srgbClr val="555555"/>
                </a:solidFill>
                <a:latin typeface="Garamond"/>
              </a:rPr>
              <a:t>Kubrick 1964, Dr. Strangelove or: How I Learned to Stop Worrying and Love the Bomb; poster credited to Tomi Ungerer in the source deck. Staunæs 2026: 81–86, 108–109, 110–118.</a:t>
            </a:r>
          </a:p>
          <a:p>
            <a:endParaRPr lang="en-GB" sz="1400" b="0" i="0" dirty="0">
              <a:solidFill>
                <a:srgbClr val="555555"/>
              </a:solidFill>
              <a:latin typeface="Garamond"/>
            </a:endParaRPr>
          </a:p>
          <a:p>
            <a:r>
              <a:rPr dirty="0"/>
              <a:t>Sources on screen</a:t>
            </a:r>
          </a:p>
          <a:p>
            <a:r>
              <a:rPr dirty="0"/>
              <a:t>Stanley Kubrick, Dr. Strangelove or: HowI Learned to Stop Worrying and Love </a:t>
            </a:r>
            <a:r>
              <a:rPr dirty="0" err="1"/>
              <a:t>theBomb</a:t>
            </a:r>
            <a:r>
              <a:rPr dirty="0"/>
              <a:t>, 1964. Film poster: Tomi Ungerer.</a:t>
            </a:r>
          </a:p>
          <a:p>
            <a:r>
              <a:rPr dirty="0"/>
              <a:t>Staunæs 2026: 114–118.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3.0] </a:t>
            </a:r>
            <a:r>
              <a:rPr lang="en-GB" sz="1400">
                <a:latin typeface="Garamond"/>
              </a:rPr>
              <a:t>My subtitle </a:t>
            </a:r>
            <a:r>
              <a:rPr lang="en-GB" sz="1400">
                <a:latin typeface="Garamond"/>
              </a:rPr>
              <a:t>obviously </a:t>
            </a:r>
            <a:r>
              <a:rPr lang="en-GB" sz="1400">
                <a:latin typeface="Garamond"/>
              </a:rPr>
              <a:t>paraphrases Stanley Kubrick’s </a:t>
            </a:r>
            <a:r>
              <a:rPr lang="en-GB" sz="1400" i="1">
                <a:latin typeface="Garamond"/>
              </a:rPr>
              <a:t>Dr. Strangelove or: How I Learned to Stop Worrying and Love the Bomb</a:t>
            </a:r>
            <a:r>
              <a:rPr lang="en-GB" sz="1400">
                <a:latin typeface="Garamond"/>
              </a:rPr>
              <a:t>, a farce of command routes in industrial democracy. More specifically, “How I Learned” gives away that I did not love democracy in advance.</a:t>
            </a:r>
          </a:p>
          <a:p>
            <a:r>
              <a:rPr lang="en-GB" sz="1400">
                <a:latin typeface="Garamond"/>
              </a:rPr>
              <a:t>In dominant public narratives, democracy often appears as an object of worry: threatened, hollowed out, to be defended against </a:t>
            </a:r>
            <a:r>
              <a:rPr lang="en-GB" sz="1400">
                <a:latin typeface="Garamond"/>
              </a:rPr>
              <a:t>social media </a:t>
            </a:r>
            <a:r>
              <a:rPr lang="en-GB" sz="1400">
                <a:latin typeface="Garamond"/>
              </a:rPr>
              <a:t>platforms, </a:t>
            </a:r>
            <a:r>
              <a:rPr lang="en-GB" sz="1400">
                <a:latin typeface="Garamond"/>
              </a:rPr>
              <a:t>AI </a:t>
            </a:r>
            <a:r>
              <a:rPr lang="en-GB" sz="1400">
                <a:latin typeface="Garamond"/>
              </a:rPr>
              <a:t>algorithms and </a:t>
            </a:r>
            <a:r>
              <a:rPr lang="en-GB" sz="1400">
                <a:latin typeface="Garamond"/>
              </a:rPr>
              <a:t>the spread of </a:t>
            </a:r>
            <a:r>
              <a:rPr lang="en-GB" sz="1400">
                <a:latin typeface="Garamond"/>
              </a:rPr>
              <a:t>fascism. At the same time, democracy </a:t>
            </a:r>
            <a:r>
              <a:rPr lang="en-GB" sz="1400">
                <a:latin typeface="Garamond"/>
              </a:rPr>
              <a:t>is invoked</a:t>
            </a:r>
            <a:r>
              <a:rPr lang="en-GB" sz="1400">
                <a:latin typeface="Garamond"/>
              </a:rPr>
              <a:t> as a legitimating formula through which</a:t>
            </a:r>
            <a:r>
              <a:rPr lang="en-GB" sz="1400">
                <a:latin typeface="Garamond"/>
              </a:rPr>
              <a:t> </a:t>
            </a:r>
            <a:r>
              <a:rPr lang="en-GB" sz="1400">
                <a:latin typeface="Garamond"/>
              </a:rPr>
              <a:t>these</a:t>
            </a:r>
            <a:r>
              <a:rPr lang="en-GB" sz="1400">
                <a:latin typeface="Garamond"/>
              </a:rPr>
              <a:t> supposed “outsides” are to be governed.</a:t>
            </a:r>
          </a:p>
          <a:p>
            <a:r>
              <a:rPr lang="en-GB" sz="1400">
                <a:latin typeface="Garamond"/>
              </a:rPr>
              <a:t>Meanwhile, AI </a:t>
            </a:r>
            <a:r>
              <a:rPr lang="en-GB" sz="1400">
                <a:latin typeface="Garamond"/>
              </a:rPr>
              <a:t>hosts</a:t>
            </a:r>
            <a:r>
              <a:rPr lang="en-GB" sz="1400">
                <a:latin typeface="Garamond"/>
              </a:rPr>
              <a:t> a collateral site of affective overflow: in that language, it might </a:t>
            </a:r>
            <a:r>
              <a:rPr lang="en-GB" sz="1400" i="1">
                <a:latin typeface="Garamond"/>
              </a:rPr>
              <a:t>destroy democracy</a:t>
            </a:r>
            <a:r>
              <a:rPr lang="en-GB" sz="1400">
                <a:latin typeface="Garamond"/>
              </a:rPr>
              <a:t> and even </a:t>
            </a:r>
            <a:r>
              <a:rPr lang="en-GB" sz="1400" i="1">
                <a:latin typeface="Garamond"/>
              </a:rPr>
              <a:t>kill all humans</a:t>
            </a:r>
            <a:r>
              <a:rPr lang="en-GB" sz="1400">
                <a:latin typeface="Garamond"/>
              </a:rPr>
              <a:t>, but it also oozes </a:t>
            </a:r>
            <a:r>
              <a:rPr lang="en-GB" sz="1400" i="1">
                <a:latin typeface="Garamond"/>
              </a:rPr>
              <a:t>desire</a:t>
            </a:r>
            <a:r>
              <a:rPr lang="en-GB" sz="1400">
                <a:latin typeface="Garamond"/>
              </a:rPr>
              <a:t> and </a:t>
            </a:r>
            <a:r>
              <a:rPr lang="en-GB" sz="1400" i="1">
                <a:latin typeface="Garamond"/>
              </a:rPr>
              <a:t>fascination</a:t>
            </a:r>
            <a:r>
              <a:rPr lang="en-GB" sz="1400">
                <a:latin typeface="Garamond"/>
              </a:rPr>
              <a:t>. Democracy, by </a:t>
            </a:r>
            <a:r>
              <a:rPr lang="en-GB" sz="1400">
                <a:latin typeface="Garamond"/>
              </a:rPr>
              <a:t>contrast</a:t>
            </a:r>
            <a:r>
              <a:rPr lang="en-GB" sz="1400">
                <a:latin typeface="Garamond"/>
              </a:rPr>
              <a:t>, seems to arrive as something we must preserve before we have established what there is to </a:t>
            </a:r>
            <a:r>
              <a:rPr lang="en-GB" sz="1400">
                <a:latin typeface="Garamond"/>
              </a:rPr>
              <a:t>care about</a:t>
            </a:r>
            <a:r>
              <a:rPr lang="en-GB" sz="1400">
                <a:latin typeface="Garamond"/>
              </a:rPr>
              <a:t>. Democracy, rather than AI, feels kindda like the bomb: primarily a cause of worry.</a:t>
            </a:r>
          </a:p>
          <a:p>
            <a:r>
              <a:rPr lang="en-GB" sz="1400">
                <a:latin typeface="Garamond"/>
              </a:rPr>
              <a:t>[→ 3.1] </a:t>
            </a:r>
            <a:r>
              <a:rPr lang="en-GB" sz="1400">
                <a:latin typeface="Garamond"/>
              </a:rPr>
              <a:t>I therefore separate three senses. </a:t>
            </a:r>
            <a:r>
              <a:rPr lang="en-GB" sz="1400" i="1">
                <a:latin typeface="Garamond"/>
              </a:rPr>
              <a:t>Democracy as constitutional order</a:t>
            </a:r>
            <a:r>
              <a:rPr lang="en-GB" sz="1400">
                <a:latin typeface="Garamond"/>
              </a:rPr>
              <a:t> concerns rights and representative institutions, contested and extended through parties, associations, social movements and collective struggle. </a:t>
            </a:r>
            <a:r>
              <a:rPr lang="en-GB" sz="1400" i="1">
                <a:latin typeface="Garamond"/>
              </a:rPr>
              <a:t>Democracy as a technical arrangement</a:t>
            </a:r>
            <a:r>
              <a:rPr lang="en-GB" sz="1400">
                <a:latin typeface="Garamond"/>
              </a:rPr>
              <a:t> </a:t>
            </a:r>
            <a:r>
              <a:rPr lang="en-GB" sz="1400">
                <a:latin typeface="Garamond"/>
              </a:rPr>
              <a:t>shows</a:t>
            </a:r>
            <a:r>
              <a:rPr lang="en-GB" sz="1400">
                <a:latin typeface="Garamond"/>
              </a:rPr>
              <a:t> </a:t>
            </a:r>
            <a:r>
              <a:rPr lang="en-GB" sz="1400">
                <a:latin typeface="Garamond"/>
              </a:rPr>
              <a:t>where</a:t>
            </a:r>
            <a:r>
              <a:rPr lang="en-GB" sz="1400">
                <a:latin typeface="Garamond"/>
              </a:rPr>
              <a:t> political expression is received, sorted, amplified and judged</a:t>
            </a:r>
            <a:r>
              <a:rPr lang="en-GB" sz="1400">
                <a:latin typeface="Garamond"/>
              </a:rPr>
              <a:t>, e.g. elections</a:t>
            </a:r>
            <a:r>
              <a:rPr lang="en-GB" sz="1400">
                <a:latin typeface="Garamond"/>
              </a:rPr>
              <a:t>. The </a:t>
            </a:r>
            <a:r>
              <a:rPr lang="en-GB" sz="1400" i="1">
                <a:latin typeface="Garamond"/>
              </a:rPr>
              <a:t>ritual exposure of artifice</a:t>
            </a:r>
            <a:r>
              <a:rPr lang="en-GB" sz="1400">
                <a:latin typeface="Garamond"/>
              </a:rPr>
              <a:t> means that arrangements allocating voice, authority and consequence </a:t>
            </a:r>
            <a:r>
              <a:rPr lang="en-GB" sz="1400">
                <a:latin typeface="Garamond"/>
              </a:rPr>
              <a:t>are</a:t>
            </a:r>
            <a:r>
              <a:rPr lang="en-GB" sz="1400">
                <a:latin typeface="Garamond"/>
              </a:rPr>
              <a:t> themselves contest</a:t>
            </a:r>
            <a:r>
              <a:rPr lang="en-GB" sz="1400">
                <a:latin typeface="Garamond"/>
              </a:rPr>
              <a:t>able</a:t>
            </a:r>
            <a:r>
              <a:rPr lang="en-GB" sz="1400">
                <a:latin typeface="Garamond"/>
              </a:rPr>
              <a:t>.</a:t>
            </a:r>
          </a:p>
          <a:p>
            <a:r>
              <a:rPr lang="en-GB" sz="1400">
                <a:latin typeface="Garamond"/>
              </a:rPr>
              <a:t>These are not three stages. They </a:t>
            </a:r>
            <a:r>
              <a:rPr lang="en-GB" sz="1400">
                <a:latin typeface="Garamond"/>
              </a:rPr>
              <a:t>cross</a:t>
            </a:r>
            <a:r>
              <a:rPr lang="en-GB" sz="1400">
                <a:latin typeface="Garamond"/>
              </a:rPr>
              <a:t>, </a:t>
            </a:r>
            <a:r>
              <a:rPr lang="en-GB" sz="1400">
                <a:latin typeface="Garamond"/>
              </a:rPr>
              <a:t>fork and hybridise, </a:t>
            </a:r>
            <a:r>
              <a:rPr lang="en-GB" sz="1400">
                <a:latin typeface="Garamond"/>
              </a:rPr>
              <a:t>but what makes the first </a:t>
            </a:r>
            <a:r>
              <a:rPr lang="en-GB" sz="1400">
                <a:latin typeface="Garamond"/>
              </a:rPr>
              <a:t>function</a:t>
            </a:r>
            <a:r>
              <a:rPr lang="en-GB" sz="1400">
                <a:latin typeface="Garamond"/>
              </a:rPr>
              <a:t> is not necessarily exposed to the contestation described by the third.</a:t>
            </a:r>
          </a:p>
          <a:p>
            <a:r>
              <a:rPr lang="en-GB" sz="1400">
                <a:latin typeface="Garamond"/>
              </a:rPr>
              <a:t>Playing on Bernard Stiegler’s formulation of technics as philosophy’s unthought, I pursue the </a:t>
            </a:r>
            <a:r>
              <a:rPr lang="en-GB" sz="1400" i="1">
                <a:latin typeface="Garamond"/>
              </a:rPr>
              <a:t>political</a:t>
            </a:r>
            <a:r>
              <a:rPr lang="en-GB" sz="1400">
                <a:latin typeface="Garamond"/>
              </a:rPr>
              <a:t> unthought-of democracy: society’s technical </a:t>
            </a:r>
            <a:r>
              <a:rPr lang="en-GB" sz="1400">
                <a:latin typeface="Garamond"/>
              </a:rPr>
              <a:t>substrate</a:t>
            </a:r>
            <a:r>
              <a:rPr lang="en-GB" sz="1400">
                <a:latin typeface="Garamond"/>
              </a:rPr>
              <a:t> </a:t>
            </a:r>
            <a:r>
              <a:rPr lang="en-GB" sz="1400">
                <a:latin typeface="Garamond"/>
              </a:rPr>
              <a:t>is</a:t>
            </a:r>
            <a:r>
              <a:rPr lang="en-GB" sz="1400">
                <a:latin typeface="Garamond"/>
              </a:rPr>
              <a:t> rendered as </a:t>
            </a:r>
            <a:r>
              <a:rPr lang="en-GB" sz="1400">
                <a:latin typeface="Garamond"/>
              </a:rPr>
              <a:t>the </a:t>
            </a:r>
            <a:r>
              <a:rPr lang="en-GB" sz="1400">
                <a:latin typeface="Garamond"/>
              </a:rPr>
              <a:t>means through which “real politics” takes place, while </a:t>
            </a:r>
            <a:r>
              <a:rPr lang="en-GB" sz="1400">
                <a:latin typeface="Garamond"/>
              </a:rPr>
              <a:t>its</a:t>
            </a:r>
            <a:r>
              <a:rPr lang="en-GB" sz="1400">
                <a:latin typeface="Garamond"/>
              </a:rPr>
              <a:t> constitutive role in settling what is recognisably </a:t>
            </a:r>
            <a:r>
              <a:rPr lang="en-GB" sz="1400" i="1">
                <a:latin typeface="Garamond"/>
              </a:rPr>
              <a:t>political</a:t>
            </a:r>
            <a:r>
              <a:rPr lang="en-GB" sz="1400">
                <a:latin typeface="Garamond"/>
              </a:rPr>
              <a:t> remains comparatively unthought, even </a:t>
            </a:r>
            <a:r>
              <a:rPr lang="en-GB" sz="1400" i="1">
                <a:latin typeface="Garamond"/>
              </a:rPr>
              <a:t>repressed</a:t>
            </a:r>
            <a:r>
              <a:rPr lang="en-GB" sz="1400">
                <a:latin typeface="Garamond"/>
              </a:rPr>
              <a:t> by democracy’s self-image.</a:t>
            </a:r>
          </a:p>
          <a:p>
            <a:r>
              <a:rPr lang="en-GB" sz="1400">
                <a:latin typeface="Garamond"/>
              </a:rPr>
              <a:t>My dissertation theorises what happens when I work on those means as artistic-political material.</a:t>
            </a:r>
          </a:p>
          <a:p>
            <a:r>
              <a:rPr lang="en-GB" sz="1400" b="0" i="0" dirty="0">
                <a:solidFill>
                  <a:srgbClr val="555555"/>
                </a:solidFill>
                <a:latin typeface="Garamond"/>
              </a:rPr>
              <a:t>Kubrick 1964, Dr. Strangelove or: How I Learned to Stop Worrying and Love the Bomb; poster credited to Tomi Ungerer in the source deck. Staunæs 2026: 81–86, 108–109, 110–118.</a:t>
            </a:r>
          </a:p>
          <a:p>
            <a:endParaRPr lang="en-GB" sz="1400" b="0" i="0" dirty="0">
              <a:solidFill>
                <a:srgbClr val="555555"/>
              </a:solidFill>
              <a:latin typeface="Garamond"/>
            </a:endParaRPr>
          </a:p>
          <a:p>
            <a:r>
              <a:rPr dirty="0"/>
              <a:t>Sources on screen</a:t>
            </a:r>
          </a:p>
          <a:p>
            <a:r>
              <a:rPr dirty="0"/>
              <a:t>Staunæs 2026: 81–86, 108–109, 114–118.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4.0] </a:t>
            </a:r>
            <a:r>
              <a:rPr lang="en-GB" sz="1400">
                <a:latin typeface="Garamond"/>
              </a:rPr>
              <a:t>The dissertation itself is here in print</a:t>
            </a:r>
            <a:r>
              <a:rPr lang="en-GB" sz="1400">
                <a:latin typeface="Garamond"/>
              </a:rPr>
              <a:t> (</a:t>
            </a:r>
            <a:r>
              <a:rPr lang="en-GB" sz="1400" b="1">
                <a:latin typeface="Garamond"/>
              </a:rPr>
              <a:t>hold up</a:t>
            </a:r>
            <a:r>
              <a:rPr lang="en-GB" sz="1400">
                <a:latin typeface="Garamond"/>
              </a:rPr>
              <a:t>)</a:t>
            </a:r>
            <a:r>
              <a:rPr lang="en-GB" sz="1400">
                <a:latin typeface="Garamond"/>
              </a:rPr>
              <a:t>, formatted as a </a:t>
            </a:r>
            <a:r>
              <a:rPr lang="en-GB" sz="1400" i="1">
                <a:latin typeface="Garamond"/>
              </a:rPr>
              <a:t>kompendie</a:t>
            </a:r>
            <a:r>
              <a:rPr lang="en-GB" sz="1400">
                <a:latin typeface="Garamond"/>
              </a:rPr>
              <a:t>, a bound reader of the texts on a course syllabus, of the kind still given to students. I bring together seven research articles, written individually and with co-authors, through a </a:t>
            </a:r>
            <a:r>
              <a:rPr lang="en-GB" sz="1400" i="1">
                <a:latin typeface="Garamond"/>
              </a:rPr>
              <a:t>kappe</a:t>
            </a:r>
            <a:r>
              <a:rPr lang="en-GB" sz="1400">
                <a:latin typeface="Garamond"/>
              </a:rPr>
              <a:t>, a cloak, which I position as its “synthesis” to perform the dissertation’s monographic role. </a:t>
            </a:r>
            <a:r>
              <a:rPr lang="en-GB" sz="1400">
                <a:latin typeface="Garamond"/>
              </a:rPr>
              <a:t>It binds seven articles that enter different</a:t>
            </a:r>
            <a:r>
              <a:rPr lang="en-GB" sz="1400">
                <a:latin typeface="Garamond"/>
              </a:rPr>
              <a:t> disciplinary destinations as potentially competing explanations.</a:t>
            </a:r>
          </a:p>
          <a:p>
            <a:r>
              <a:rPr lang="en-GB" sz="1400">
                <a:latin typeface="Garamond"/>
              </a:rPr>
              <a:t>[→ 4.1] </a:t>
            </a:r>
            <a:r>
              <a:rPr lang="en-GB" sz="1400">
                <a:latin typeface="Garamond"/>
              </a:rPr>
              <a:t>My name is joined by Computer Lars on two articles, and by Maja Bak Herrie and Michal Malý in our respective collaborations. </a:t>
            </a:r>
            <a:r>
              <a:rPr lang="en-GB" sz="1400">
                <a:latin typeface="Garamond"/>
              </a:rPr>
              <a:t>Each</a:t>
            </a:r>
            <a:r>
              <a:rPr lang="en-GB" sz="1400">
                <a:latin typeface="Garamond"/>
              </a:rPr>
              <a:t> article enter</a:t>
            </a:r>
            <a:r>
              <a:rPr lang="en-GB" sz="1400">
                <a:latin typeface="Garamond"/>
              </a:rPr>
              <a:t>s distinctive</a:t>
            </a:r>
            <a:r>
              <a:rPr lang="en-GB" sz="1400">
                <a:latin typeface="Garamond"/>
              </a:rPr>
              <a:t> disciplinary destinations, from aesthetics and artistic research to media theory, political science and computational formalisation.</a:t>
            </a:r>
          </a:p>
          <a:p>
            <a:r>
              <a:rPr lang="en-GB" sz="1400">
                <a:latin typeface="Garamond"/>
              </a:rPr>
              <a:t>[→ 4.2] </a:t>
            </a:r>
            <a:r>
              <a:rPr lang="en-GB" sz="1400">
                <a:latin typeface="Garamond"/>
              </a:rPr>
              <a:t>The opening traces my practice; </a:t>
            </a:r>
            <a:r>
              <a:rPr lang="en-GB" sz="1400">
                <a:latin typeface="Garamond"/>
              </a:rPr>
              <a:t>its</a:t>
            </a:r>
            <a:r>
              <a:rPr lang="en-GB" sz="1400">
                <a:latin typeface="Garamond"/>
              </a:rPr>
              <a:t> three middle parts follow </a:t>
            </a:r>
            <a:r>
              <a:rPr lang="en-GB" sz="1400">
                <a:latin typeface="Garamond"/>
              </a:rPr>
              <a:t>my</a:t>
            </a:r>
            <a:r>
              <a:rPr lang="en-GB" sz="1400">
                <a:latin typeface="Garamond"/>
              </a:rPr>
              <a:t> research questions; the final Reorientation returns to the whole. Each question can also be followed across the synthesis and its related articles.</a:t>
            </a:r>
          </a:p>
          <a:p>
            <a:r>
              <a:rPr lang="en-GB" sz="1400">
                <a:latin typeface="Garamond"/>
              </a:rPr>
              <a:t>[→ 4.3] </a:t>
            </a:r>
            <a:r>
              <a:rPr lang="en-GB" sz="1400">
                <a:latin typeface="Garamond"/>
              </a:rPr>
              <a:t>On th</a:t>
            </a:r>
            <a:r>
              <a:rPr lang="en-GB" sz="1400">
                <a:latin typeface="Garamond"/>
              </a:rPr>
              <a:t>is navigational</a:t>
            </a:r>
            <a:r>
              <a:rPr lang="en-GB" sz="1400">
                <a:latin typeface="Garamond"/>
              </a:rPr>
              <a:t> triangle, my developed core concepts of Algorithmic Representation, Technosocial Sculpture and Syntheticism name the conceptual vertices; The Synthetic Party, the Synthetic Summits and democracy name the practice-edges. Articles 1–2, 3–5 and 6–7 follow those three edges. </a:t>
            </a:r>
          </a:p>
          <a:p>
            <a:r>
              <a:rPr lang="en-GB" sz="1400" b="1">
                <a:latin typeface="Garamond"/>
              </a:rPr>
              <a:t>[→ 4.4]</a:t>
            </a:r>
            <a:r>
              <a:rPr lang="en-GB" sz="1400">
                <a:latin typeface="Garamond"/>
              </a:rPr>
              <a:t> The arrows in the dissertation’s directional variations mark interpretive returns through what practice has produced.</a:t>
            </a:r>
          </a:p>
          <a:p>
            <a:r>
              <a:rPr lang="en-GB" sz="1400">
                <a:latin typeface="Garamond"/>
              </a:rPr>
              <a:t>There is a related methodological point behind the diagrams and scientific-looking objects throughout the thesis. Sentiment </a:t>
            </a:r>
            <a:r>
              <a:rPr lang="en-GB" sz="1400">
                <a:latin typeface="Garamond"/>
              </a:rPr>
              <a:t>analyses, mathematical models, diagrams and visualisations do not function as interpretative ends in themselves. I construct </a:t>
            </a:r>
            <a:r>
              <a:rPr lang="en-GB" sz="1400">
                <a:latin typeface="Garamond"/>
              </a:rPr>
              <a:t>formalisations</a:t>
            </a:r>
            <a:r>
              <a:rPr lang="en-GB" sz="1400">
                <a:latin typeface="Garamond"/>
              </a:rPr>
              <a:t> to stage otherwise incommensurable technosocial modes of </a:t>
            </a:r>
            <a:r>
              <a:rPr lang="en-GB" sz="1400">
                <a:latin typeface="Garamond"/>
              </a:rPr>
              <a:t>thought</a:t>
            </a:r>
            <a:r>
              <a:rPr lang="en-GB" sz="1400">
                <a:latin typeface="Garamond"/>
              </a:rPr>
              <a:t>, so </a:t>
            </a:r>
            <a:r>
              <a:rPr lang="en-GB" sz="1400">
                <a:latin typeface="Garamond"/>
              </a:rPr>
              <a:t>knowledge</a:t>
            </a:r>
            <a:r>
              <a:rPr lang="en-GB" sz="1400">
                <a:latin typeface="Garamond"/>
              </a:rPr>
              <a:t> </a:t>
            </a:r>
            <a:r>
              <a:rPr lang="en-GB" sz="1400">
                <a:latin typeface="Garamond"/>
              </a:rPr>
              <a:t>for</a:t>
            </a:r>
            <a:r>
              <a:rPr lang="en-GB" sz="1400">
                <a:latin typeface="Garamond"/>
              </a:rPr>
              <a:t>ms</a:t>
            </a:r>
            <a:r>
              <a:rPr lang="en-GB" sz="1400">
                <a:latin typeface="Garamond"/>
              </a:rPr>
              <a:t> </a:t>
            </a:r>
            <a:r>
              <a:rPr lang="en-GB" sz="1400">
                <a:latin typeface="Garamond"/>
              </a:rPr>
              <a:t>route</a:t>
            </a:r>
            <a:r>
              <a:rPr lang="en-GB" sz="1400">
                <a:latin typeface="Garamond"/>
              </a:rPr>
              <a:t> </a:t>
            </a:r>
            <a:r>
              <a:rPr lang="en-GB" sz="1400">
                <a:latin typeface="Garamond"/>
              </a:rPr>
              <a:t>critical </a:t>
            </a:r>
            <a:r>
              <a:rPr lang="en-GB" sz="1400">
                <a:latin typeface="Garamond"/>
              </a:rPr>
              <a:t>speculation</a:t>
            </a:r>
            <a:r>
              <a:rPr lang="en-GB" sz="1400">
                <a:latin typeface="Garamond"/>
              </a:rPr>
              <a:t> on an immanent level</a:t>
            </a:r>
            <a:r>
              <a:rPr lang="en-GB" sz="1400">
                <a:latin typeface="Garamond"/>
              </a:rPr>
              <a:t>.</a:t>
            </a:r>
          </a:p>
          <a:p>
            <a:r>
              <a:rPr lang="en-GB" sz="1400" b="0" i="0" dirty="0">
                <a:solidFill>
                  <a:srgbClr val="555555"/>
                </a:solidFill>
                <a:latin typeface="Garamond"/>
              </a:rPr>
              <a:t>Staunæs 2026: 3–4, 6, 13–19, 37–39. Figure N.1: p. 14; directional variations: pp. 15–16. All references use the dissertation’s printed pagination.</a:t>
            </a:r>
          </a:p>
          <a:p>
            <a:endParaRPr lang="en-GB" sz="1400" b="0" i="0" dirty="0">
              <a:solidFill>
                <a:srgbClr val="555555"/>
              </a:solidFill>
              <a:latin typeface="Garamond"/>
            </a:endParaRPr>
          </a:p>
          <a:p>
            <a:r>
              <a:rPr dirty="0"/>
              <a:t>Sources on screen</a:t>
            </a:r>
          </a:p>
          <a:p>
            <a:r>
              <a:rPr dirty="0"/>
              <a:t>Contents of Syntheticism: How I Learned to Love Democracy.</a:t>
            </a:r>
          </a:p>
          <a:p>
            <a:r>
              <a:rPr dirty="0"/>
              <a:t>Staunæs 2026: 3–4.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4.0] </a:t>
            </a:r>
            <a:r>
              <a:rPr lang="en-GB" sz="1400">
                <a:latin typeface="Garamond"/>
              </a:rPr>
              <a:t>The dissertation itself is here in print</a:t>
            </a:r>
            <a:r>
              <a:rPr lang="en-GB" sz="1400">
                <a:latin typeface="Garamond"/>
              </a:rPr>
              <a:t> (</a:t>
            </a:r>
            <a:r>
              <a:rPr lang="en-GB" sz="1400" b="1">
                <a:latin typeface="Garamond"/>
              </a:rPr>
              <a:t>hold up</a:t>
            </a:r>
            <a:r>
              <a:rPr lang="en-GB" sz="1400">
                <a:latin typeface="Garamond"/>
              </a:rPr>
              <a:t>)</a:t>
            </a:r>
            <a:r>
              <a:rPr lang="en-GB" sz="1400">
                <a:latin typeface="Garamond"/>
              </a:rPr>
              <a:t>, formatted as a </a:t>
            </a:r>
            <a:r>
              <a:rPr lang="en-GB" sz="1400" i="1">
                <a:latin typeface="Garamond"/>
              </a:rPr>
              <a:t>kompendie</a:t>
            </a:r>
            <a:r>
              <a:rPr lang="en-GB" sz="1400">
                <a:latin typeface="Garamond"/>
              </a:rPr>
              <a:t>, a bound reader of the texts on a course syllabus, of the kind still given to students. I bring together seven research articles, written individually and with co-authors, through a </a:t>
            </a:r>
            <a:r>
              <a:rPr lang="en-GB" sz="1400" i="1">
                <a:latin typeface="Garamond"/>
              </a:rPr>
              <a:t>kappe</a:t>
            </a:r>
            <a:r>
              <a:rPr lang="en-GB" sz="1400">
                <a:latin typeface="Garamond"/>
              </a:rPr>
              <a:t>, a cloak, which I position as its “synthesis” to perform the dissertation’s monographic role. </a:t>
            </a:r>
            <a:r>
              <a:rPr lang="en-GB" sz="1400">
                <a:latin typeface="Garamond"/>
              </a:rPr>
              <a:t>It binds seven articles that enter different</a:t>
            </a:r>
            <a:r>
              <a:rPr lang="en-GB" sz="1400">
                <a:latin typeface="Garamond"/>
              </a:rPr>
              <a:t> disciplinary destinations as potentially competing explanations.</a:t>
            </a:r>
          </a:p>
          <a:p>
            <a:r>
              <a:rPr lang="en-GB" sz="1400">
                <a:latin typeface="Garamond"/>
              </a:rPr>
              <a:t>[→ 4.1] </a:t>
            </a:r>
            <a:r>
              <a:rPr lang="en-GB" sz="1400">
                <a:latin typeface="Garamond"/>
              </a:rPr>
              <a:t>My name is joined by Computer Lars on two articles, and by Maja Bak Herrie and Michal Malý in our respective collaborations. </a:t>
            </a:r>
            <a:r>
              <a:rPr lang="en-GB" sz="1400">
                <a:latin typeface="Garamond"/>
              </a:rPr>
              <a:t>Each</a:t>
            </a:r>
            <a:r>
              <a:rPr lang="en-GB" sz="1400">
                <a:latin typeface="Garamond"/>
              </a:rPr>
              <a:t> article enter</a:t>
            </a:r>
            <a:r>
              <a:rPr lang="en-GB" sz="1400">
                <a:latin typeface="Garamond"/>
              </a:rPr>
              <a:t>s distinctive</a:t>
            </a:r>
            <a:r>
              <a:rPr lang="en-GB" sz="1400">
                <a:latin typeface="Garamond"/>
              </a:rPr>
              <a:t> disciplinary destinations, from aesthetics and artistic research to media theory, political science and computational formalisation.</a:t>
            </a:r>
          </a:p>
          <a:p>
            <a:r>
              <a:rPr lang="en-GB" sz="1400">
                <a:latin typeface="Garamond"/>
              </a:rPr>
              <a:t>[→ 4.2] </a:t>
            </a:r>
            <a:r>
              <a:rPr lang="en-GB" sz="1400">
                <a:latin typeface="Garamond"/>
              </a:rPr>
              <a:t>The opening traces my practice; </a:t>
            </a:r>
            <a:r>
              <a:rPr lang="en-GB" sz="1400">
                <a:latin typeface="Garamond"/>
              </a:rPr>
              <a:t>its</a:t>
            </a:r>
            <a:r>
              <a:rPr lang="en-GB" sz="1400">
                <a:latin typeface="Garamond"/>
              </a:rPr>
              <a:t> three middle parts follow </a:t>
            </a:r>
            <a:r>
              <a:rPr lang="en-GB" sz="1400">
                <a:latin typeface="Garamond"/>
              </a:rPr>
              <a:t>my</a:t>
            </a:r>
            <a:r>
              <a:rPr lang="en-GB" sz="1400">
                <a:latin typeface="Garamond"/>
              </a:rPr>
              <a:t> research questions; the final Reorientation returns to the whole. Each question can also be followed across the synthesis and its related articles.</a:t>
            </a:r>
          </a:p>
          <a:p>
            <a:r>
              <a:rPr lang="en-GB" sz="1400">
                <a:latin typeface="Garamond"/>
              </a:rPr>
              <a:t>[→ 4.3] </a:t>
            </a:r>
            <a:r>
              <a:rPr lang="en-GB" sz="1400">
                <a:latin typeface="Garamond"/>
              </a:rPr>
              <a:t>On th</a:t>
            </a:r>
            <a:r>
              <a:rPr lang="en-GB" sz="1400">
                <a:latin typeface="Garamond"/>
              </a:rPr>
              <a:t>is navigational</a:t>
            </a:r>
            <a:r>
              <a:rPr lang="en-GB" sz="1400">
                <a:latin typeface="Garamond"/>
              </a:rPr>
              <a:t> triangle, my developed core concepts of Algorithmic Representation, Technosocial Sculpture and Syntheticism name the conceptual vertices; The Synthetic Party, the Synthetic Summits and democracy name the practice-edges. Articles 1–2, 3–5 and 6–7 follow those three edges. </a:t>
            </a:r>
          </a:p>
          <a:p>
            <a:r>
              <a:rPr lang="en-GB" sz="1400" b="1">
                <a:latin typeface="Garamond"/>
              </a:rPr>
              <a:t>[→ 4.4]</a:t>
            </a:r>
            <a:r>
              <a:rPr lang="en-GB" sz="1400">
                <a:latin typeface="Garamond"/>
              </a:rPr>
              <a:t> The arrows in the dissertation’s directional variations mark interpretive returns through what practice has produced.</a:t>
            </a:r>
          </a:p>
          <a:p>
            <a:r>
              <a:rPr lang="en-GB" sz="1400">
                <a:latin typeface="Garamond"/>
              </a:rPr>
              <a:t>There is a related methodological point behind the diagrams and scientific-looking objects throughout the thesis. Sentiment </a:t>
            </a:r>
            <a:r>
              <a:rPr lang="en-GB" sz="1400">
                <a:latin typeface="Garamond"/>
              </a:rPr>
              <a:t>analyses, mathematical models, diagrams and visualisations do not function as interpretative ends in themselves. I construct </a:t>
            </a:r>
            <a:r>
              <a:rPr lang="en-GB" sz="1400">
                <a:latin typeface="Garamond"/>
              </a:rPr>
              <a:t>formalisations</a:t>
            </a:r>
            <a:r>
              <a:rPr lang="en-GB" sz="1400">
                <a:latin typeface="Garamond"/>
              </a:rPr>
              <a:t> to stage otherwise incommensurable technosocial modes of </a:t>
            </a:r>
            <a:r>
              <a:rPr lang="en-GB" sz="1400">
                <a:latin typeface="Garamond"/>
              </a:rPr>
              <a:t>thought</a:t>
            </a:r>
            <a:r>
              <a:rPr lang="en-GB" sz="1400">
                <a:latin typeface="Garamond"/>
              </a:rPr>
              <a:t>, so </a:t>
            </a:r>
            <a:r>
              <a:rPr lang="en-GB" sz="1400">
                <a:latin typeface="Garamond"/>
              </a:rPr>
              <a:t>knowledge</a:t>
            </a:r>
            <a:r>
              <a:rPr lang="en-GB" sz="1400">
                <a:latin typeface="Garamond"/>
              </a:rPr>
              <a:t> </a:t>
            </a:r>
            <a:r>
              <a:rPr lang="en-GB" sz="1400">
                <a:latin typeface="Garamond"/>
              </a:rPr>
              <a:t>for</a:t>
            </a:r>
            <a:r>
              <a:rPr lang="en-GB" sz="1400">
                <a:latin typeface="Garamond"/>
              </a:rPr>
              <a:t>ms</a:t>
            </a:r>
            <a:r>
              <a:rPr lang="en-GB" sz="1400">
                <a:latin typeface="Garamond"/>
              </a:rPr>
              <a:t> </a:t>
            </a:r>
            <a:r>
              <a:rPr lang="en-GB" sz="1400">
                <a:latin typeface="Garamond"/>
              </a:rPr>
              <a:t>route</a:t>
            </a:r>
            <a:r>
              <a:rPr lang="en-GB" sz="1400">
                <a:latin typeface="Garamond"/>
              </a:rPr>
              <a:t> </a:t>
            </a:r>
            <a:r>
              <a:rPr lang="en-GB" sz="1400">
                <a:latin typeface="Garamond"/>
              </a:rPr>
              <a:t>critical </a:t>
            </a:r>
            <a:r>
              <a:rPr lang="en-GB" sz="1400">
                <a:latin typeface="Garamond"/>
              </a:rPr>
              <a:t>speculation</a:t>
            </a:r>
            <a:r>
              <a:rPr lang="en-GB" sz="1400">
                <a:latin typeface="Garamond"/>
              </a:rPr>
              <a:t> on an immanent level</a:t>
            </a:r>
            <a:r>
              <a:rPr lang="en-GB" sz="1400">
                <a:latin typeface="Garamond"/>
              </a:rPr>
              <a:t>.</a:t>
            </a:r>
          </a:p>
          <a:p>
            <a:r>
              <a:rPr lang="en-GB" sz="1400" b="0" i="0" dirty="0">
                <a:solidFill>
                  <a:srgbClr val="555555"/>
                </a:solidFill>
                <a:latin typeface="Garamond"/>
              </a:rPr>
              <a:t>Staunæs 2026: 3–4, 6, 13–19, 37–39. Figure N.1: p. 14; directional variations: pp. 15–16. All references use the dissertation’s printed pagination.</a:t>
            </a:r>
          </a:p>
          <a:p>
            <a:endParaRPr lang="en-GB" sz="1400" b="0" i="0" dirty="0">
              <a:solidFill>
                <a:srgbClr val="555555"/>
              </a:solidFill>
              <a:latin typeface="Garamond"/>
            </a:endParaRPr>
          </a:p>
          <a:p>
            <a:r>
              <a:rPr dirty="0"/>
              <a:t>Sources on screen</a:t>
            </a:r>
          </a:p>
          <a:p>
            <a:r>
              <a:rPr dirty="0"/>
              <a:t>Staunæs 2026: 1, 3–4, 13–17.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4.0] </a:t>
            </a:r>
            <a:r>
              <a:rPr lang="en-GB" sz="1400">
                <a:latin typeface="Garamond"/>
              </a:rPr>
              <a:t>The dissertation itself is here in print</a:t>
            </a:r>
            <a:r>
              <a:rPr lang="en-GB" sz="1400">
                <a:latin typeface="Garamond"/>
              </a:rPr>
              <a:t> (</a:t>
            </a:r>
            <a:r>
              <a:rPr lang="en-GB" sz="1400" b="1">
                <a:latin typeface="Garamond"/>
              </a:rPr>
              <a:t>hold up</a:t>
            </a:r>
            <a:r>
              <a:rPr lang="en-GB" sz="1400">
                <a:latin typeface="Garamond"/>
              </a:rPr>
              <a:t>)</a:t>
            </a:r>
            <a:r>
              <a:rPr lang="en-GB" sz="1400">
                <a:latin typeface="Garamond"/>
              </a:rPr>
              <a:t>, formatted as a </a:t>
            </a:r>
            <a:r>
              <a:rPr lang="en-GB" sz="1400" i="1">
                <a:latin typeface="Garamond"/>
              </a:rPr>
              <a:t>kompendie</a:t>
            </a:r>
            <a:r>
              <a:rPr lang="en-GB" sz="1400">
                <a:latin typeface="Garamond"/>
              </a:rPr>
              <a:t>, a bound reader of the texts on a course syllabus, of the kind still given to students. I bring together seven research articles, written individually and with co-authors, through a </a:t>
            </a:r>
            <a:r>
              <a:rPr lang="en-GB" sz="1400" i="1">
                <a:latin typeface="Garamond"/>
              </a:rPr>
              <a:t>kappe</a:t>
            </a:r>
            <a:r>
              <a:rPr lang="en-GB" sz="1400">
                <a:latin typeface="Garamond"/>
              </a:rPr>
              <a:t>, a cloak, which I position as its “synthesis” to perform the dissertation’s monographic role. </a:t>
            </a:r>
            <a:r>
              <a:rPr lang="en-GB" sz="1400">
                <a:latin typeface="Garamond"/>
              </a:rPr>
              <a:t>It binds seven articles that enter different</a:t>
            </a:r>
            <a:r>
              <a:rPr lang="en-GB" sz="1400">
                <a:latin typeface="Garamond"/>
              </a:rPr>
              <a:t> disciplinary destinations as potentially competing explanations.</a:t>
            </a:r>
          </a:p>
          <a:p>
            <a:r>
              <a:rPr lang="en-GB" sz="1400">
                <a:latin typeface="Garamond"/>
              </a:rPr>
              <a:t>[→ 4.1] </a:t>
            </a:r>
            <a:r>
              <a:rPr lang="en-GB" sz="1400">
                <a:latin typeface="Garamond"/>
              </a:rPr>
              <a:t>My name is joined by Computer Lars on two articles, and by Maja Bak Herrie and Michal Malý in our respective collaborations. </a:t>
            </a:r>
            <a:r>
              <a:rPr lang="en-GB" sz="1400">
                <a:latin typeface="Garamond"/>
              </a:rPr>
              <a:t>Each</a:t>
            </a:r>
            <a:r>
              <a:rPr lang="en-GB" sz="1400">
                <a:latin typeface="Garamond"/>
              </a:rPr>
              <a:t> article enter</a:t>
            </a:r>
            <a:r>
              <a:rPr lang="en-GB" sz="1400">
                <a:latin typeface="Garamond"/>
              </a:rPr>
              <a:t>s distinctive</a:t>
            </a:r>
            <a:r>
              <a:rPr lang="en-GB" sz="1400">
                <a:latin typeface="Garamond"/>
              </a:rPr>
              <a:t> disciplinary destinations, from aesthetics and artistic research to media theory, political science and computational formalisation.</a:t>
            </a:r>
          </a:p>
          <a:p>
            <a:r>
              <a:rPr lang="en-GB" sz="1400">
                <a:latin typeface="Garamond"/>
              </a:rPr>
              <a:t>[→ 4.2] </a:t>
            </a:r>
            <a:r>
              <a:rPr lang="en-GB" sz="1400">
                <a:latin typeface="Garamond"/>
              </a:rPr>
              <a:t>The opening traces my practice; </a:t>
            </a:r>
            <a:r>
              <a:rPr lang="en-GB" sz="1400">
                <a:latin typeface="Garamond"/>
              </a:rPr>
              <a:t>its</a:t>
            </a:r>
            <a:r>
              <a:rPr lang="en-GB" sz="1400">
                <a:latin typeface="Garamond"/>
              </a:rPr>
              <a:t> three middle parts follow </a:t>
            </a:r>
            <a:r>
              <a:rPr lang="en-GB" sz="1400">
                <a:latin typeface="Garamond"/>
              </a:rPr>
              <a:t>my</a:t>
            </a:r>
            <a:r>
              <a:rPr lang="en-GB" sz="1400">
                <a:latin typeface="Garamond"/>
              </a:rPr>
              <a:t> research questions; the final Reorientation returns to the whole. Each question can also be followed across the synthesis and its related articles.</a:t>
            </a:r>
          </a:p>
          <a:p>
            <a:r>
              <a:rPr lang="en-GB" sz="1400">
                <a:latin typeface="Garamond"/>
              </a:rPr>
              <a:t>[→ 4.3] </a:t>
            </a:r>
            <a:r>
              <a:rPr lang="en-GB" sz="1400">
                <a:latin typeface="Garamond"/>
              </a:rPr>
              <a:t>On th</a:t>
            </a:r>
            <a:r>
              <a:rPr lang="en-GB" sz="1400">
                <a:latin typeface="Garamond"/>
              </a:rPr>
              <a:t>is navigational</a:t>
            </a:r>
            <a:r>
              <a:rPr lang="en-GB" sz="1400">
                <a:latin typeface="Garamond"/>
              </a:rPr>
              <a:t> triangle, my developed core concepts of Algorithmic Representation, Technosocial Sculpture and Syntheticism name the conceptual vertices; The Synthetic Party, the Synthetic Summits and democracy name the practice-edges. Articles 1–2, 3–5 and 6–7 follow those three edges. </a:t>
            </a:r>
          </a:p>
          <a:p>
            <a:r>
              <a:rPr lang="en-GB" sz="1400" b="1">
                <a:latin typeface="Garamond"/>
              </a:rPr>
              <a:t>[→ 4.4]</a:t>
            </a:r>
            <a:r>
              <a:rPr lang="en-GB" sz="1400">
                <a:latin typeface="Garamond"/>
              </a:rPr>
              <a:t> The arrows in the dissertation’s directional variations mark interpretive returns through what practice has produced.</a:t>
            </a:r>
          </a:p>
          <a:p>
            <a:r>
              <a:rPr lang="en-GB" sz="1400">
                <a:latin typeface="Garamond"/>
              </a:rPr>
              <a:t>There is a related methodological point behind the diagrams and scientific-looking objects throughout the thesis. Sentiment </a:t>
            </a:r>
            <a:r>
              <a:rPr lang="en-GB" sz="1400">
                <a:latin typeface="Garamond"/>
              </a:rPr>
              <a:t>analyses, mathematical models, diagrams and visualisations do not function as interpretative ends in themselves. I construct </a:t>
            </a:r>
            <a:r>
              <a:rPr lang="en-GB" sz="1400">
                <a:latin typeface="Garamond"/>
              </a:rPr>
              <a:t>formalisations</a:t>
            </a:r>
            <a:r>
              <a:rPr lang="en-GB" sz="1400">
                <a:latin typeface="Garamond"/>
              </a:rPr>
              <a:t> to stage otherwise incommensurable technosocial modes of </a:t>
            </a:r>
            <a:r>
              <a:rPr lang="en-GB" sz="1400">
                <a:latin typeface="Garamond"/>
              </a:rPr>
              <a:t>thought</a:t>
            </a:r>
            <a:r>
              <a:rPr lang="en-GB" sz="1400">
                <a:latin typeface="Garamond"/>
              </a:rPr>
              <a:t>, so </a:t>
            </a:r>
            <a:r>
              <a:rPr lang="en-GB" sz="1400">
                <a:latin typeface="Garamond"/>
              </a:rPr>
              <a:t>knowledge</a:t>
            </a:r>
            <a:r>
              <a:rPr lang="en-GB" sz="1400">
                <a:latin typeface="Garamond"/>
              </a:rPr>
              <a:t> </a:t>
            </a:r>
            <a:r>
              <a:rPr lang="en-GB" sz="1400">
                <a:latin typeface="Garamond"/>
              </a:rPr>
              <a:t>for</a:t>
            </a:r>
            <a:r>
              <a:rPr lang="en-GB" sz="1400">
                <a:latin typeface="Garamond"/>
              </a:rPr>
              <a:t>ms</a:t>
            </a:r>
            <a:r>
              <a:rPr lang="en-GB" sz="1400">
                <a:latin typeface="Garamond"/>
              </a:rPr>
              <a:t> </a:t>
            </a:r>
            <a:r>
              <a:rPr lang="en-GB" sz="1400">
                <a:latin typeface="Garamond"/>
              </a:rPr>
              <a:t>route</a:t>
            </a:r>
            <a:r>
              <a:rPr lang="en-GB" sz="1400">
                <a:latin typeface="Garamond"/>
              </a:rPr>
              <a:t> </a:t>
            </a:r>
            <a:r>
              <a:rPr lang="en-GB" sz="1400">
                <a:latin typeface="Garamond"/>
              </a:rPr>
              <a:t>critical </a:t>
            </a:r>
            <a:r>
              <a:rPr lang="en-GB" sz="1400">
                <a:latin typeface="Garamond"/>
              </a:rPr>
              <a:t>speculation</a:t>
            </a:r>
            <a:r>
              <a:rPr lang="en-GB" sz="1400">
                <a:latin typeface="Garamond"/>
              </a:rPr>
              <a:t> on an immanent level</a:t>
            </a:r>
            <a:r>
              <a:rPr lang="en-GB" sz="1400">
                <a:latin typeface="Garamond"/>
              </a:rPr>
              <a:t>.</a:t>
            </a:r>
          </a:p>
          <a:p>
            <a:r>
              <a:rPr lang="en-GB" sz="1400" b="0" i="0" dirty="0">
                <a:solidFill>
                  <a:srgbClr val="555555"/>
                </a:solidFill>
                <a:latin typeface="Garamond"/>
              </a:rPr>
              <a:t>Staunæs 2026: 3–4, 6, 13–19, 37–39. Figure N.1: p. 14; directional variations: pp. 15–16. All references use the dissertation’s printed pagination.</a:t>
            </a:r>
          </a:p>
          <a:p>
            <a:endParaRPr lang="en-GB" sz="1400" b="0" i="0" dirty="0">
              <a:solidFill>
                <a:srgbClr val="555555"/>
              </a:solidFill>
              <a:latin typeface="Garamond"/>
            </a:endParaRPr>
          </a:p>
          <a:p>
            <a:r>
              <a:rPr dirty="0"/>
              <a:t>Sources on screen</a:t>
            </a:r>
          </a:p>
          <a:p>
            <a:r>
              <a:rPr dirty="0"/>
              <a:t>Staunæs 2026: 3–4, 13–17, 326.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4.0] </a:t>
            </a:r>
            <a:r>
              <a:rPr lang="en-GB" sz="1400">
                <a:latin typeface="Garamond"/>
              </a:rPr>
              <a:t>The dissertation itself is here in print</a:t>
            </a:r>
            <a:r>
              <a:rPr lang="en-GB" sz="1400">
                <a:latin typeface="Garamond"/>
              </a:rPr>
              <a:t> (</a:t>
            </a:r>
            <a:r>
              <a:rPr lang="en-GB" sz="1400" b="1">
                <a:latin typeface="Garamond"/>
              </a:rPr>
              <a:t>hold up</a:t>
            </a:r>
            <a:r>
              <a:rPr lang="en-GB" sz="1400">
                <a:latin typeface="Garamond"/>
              </a:rPr>
              <a:t>)</a:t>
            </a:r>
            <a:r>
              <a:rPr lang="en-GB" sz="1400">
                <a:latin typeface="Garamond"/>
              </a:rPr>
              <a:t>, formatted as a </a:t>
            </a:r>
            <a:r>
              <a:rPr lang="en-GB" sz="1400" i="1">
                <a:latin typeface="Garamond"/>
              </a:rPr>
              <a:t>kompendie</a:t>
            </a:r>
            <a:r>
              <a:rPr lang="en-GB" sz="1400">
                <a:latin typeface="Garamond"/>
              </a:rPr>
              <a:t>, a bound reader of the texts on a course syllabus, of the kind still given to students. I bring together seven research articles, written individually and with co-authors, through a </a:t>
            </a:r>
            <a:r>
              <a:rPr lang="en-GB" sz="1400" i="1">
                <a:latin typeface="Garamond"/>
              </a:rPr>
              <a:t>kappe</a:t>
            </a:r>
            <a:r>
              <a:rPr lang="en-GB" sz="1400">
                <a:latin typeface="Garamond"/>
              </a:rPr>
              <a:t>, a cloak, which I position as its “synthesis” to perform the dissertation’s monographic role. </a:t>
            </a:r>
            <a:r>
              <a:rPr lang="en-GB" sz="1400">
                <a:latin typeface="Garamond"/>
              </a:rPr>
              <a:t>It binds seven articles that enter different</a:t>
            </a:r>
            <a:r>
              <a:rPr lang="en-GB" sz="1400">
                <a:latin typeface="Garamond"/>
              </a:rPr>
              <a:t> disciplinary destinations as potentially competing explanations.</a:t>
            </a:r>
          </a:p>
          <a:p>
            <a:r>
              <a:rPr lang="en-GB" sz="1400">
                <a:latin typeface="Garamond"/>
              </a:rPr>
              <a:t>[→ 4.1] </a:t>
            </a:r>
            <a:r>
              <a:rPr lang="en-GB" sz="1400">
                <a:latin typeface="Garamond"/>
              </a:rPr>
              <a:t>My name is joined by Computer Lars on two articles, and by Maja Bak Herrie and Michal Malý in our respective collaborations. </a:t>
            </a:r>
            <a:r>
              <a:rPr lang="en-GB" sz="1400">
                <a:latin typeface="Garamond"/>
              </a:rPr>
              <a:t>Each</a:t>
            </a:r>
            <a:r>
              <a:rPr lang="en-GB" sz="1400">
                <a:latin typeface="Garamond"/>
              </a:rPr>
              <a:t> article enter</a:t>
            </a:r>
            <a:r>
              <a:rPr lang="en-GB" sz="1400">
                <a:latin typeface="Garamond"/>
              </a:rPr>
              <a:t>s distinctive</a:t>
            </a:r>
            <a:r>
              <a:rPr lang="en-GB" sz="1400">
                <a:latin typeface="Garamond"/>
              </a:rPr>
              <a:t> disciplinary destinations, from aesthetics and artistic research to media theory, political science and computational formalisation.</a:t>
            </a:r>
          </a:p>
          <a:p>
            <a:r>
              <a:rPr lang="en-GB" sz="1400">
                <a:latin typeface="Garamond"/>
              </a:rPr>
              <a:t>[→ 4.2] </a:t>
            </a:r>
            <a:r>
              <a:rPr lang="en-GB" sz="1400">
                <a:latin typeface="Garamond"/>
              </a:rPr>
              <a:t>The opening traces my practice; </a:t>
            </a:r>
            <a:r>
              <a:rPr lang="en-GB" sz="1400">
                <a:latin typeface="Garamond"/>
              </a:rPr>
              <a:t>its</a:t>
            </a:r>
            <a:r>
              <a:rPr lang="en-GB" sz="1400">
                <a:latin typeface="Garamond"/>
              </a:rPr>
              <a:t> three middle parts follow </a:t>
            </a:r>
            <a:r>
              <a:rPr lang="en-GB" sz="1400">
                <a:latin typeface="Garamond"/>
              </a:rPr>
              <a:t>my</a:t>
            </a:r>
            <a:r>
              <a:rPr lang="en-GB" sz="1400">
                <a:latin typeface="Garamond"/>
              </a:rPr>
              <a:t> research questions; the final Reorientation returns to the whole. Each question can also be followed across the synthesis and its related articles.</a:t>
            </a:r>
          </a:p>
          <a:p>
            <a:r>
              <a:rPr lang="en-GB" sz="1400">
                <a:latin typeface="Garamond"/>
              </a:rPr>
              <a:t>[→ 4.3] </a:t>
            </a:r>
            <a:r>
              <a:rPr lang="en-GB" sz="1400">
                <a:latin typeface="Garamond"/>
              </a:rPr>
              <a:t>On th</a:t>
            </a:r>
            <a:r>
              <a:rPr lang="en-GB" sz="1400">
                <a:latin typeface="Garamond"/>
              </a:rPr>
              <a:t>is navigational</a:t>
            </a:r>
            <a:r>
              <a:rPr lang="en-GB" sz="1400">
                <a:latin typeface="Garamond"/>
              </a:rPr>
              <a:t> triangle, my developed core concepts of Algorithmic Representation, Technosocial Sculpture and Syntheticism name the conceptual vertices; The Synthetic Party, the Synthetic Summits and democracy name the practice-edges. Articles 1–2, 3–5 and 6–7 follow those three edges. </a:t>
            </a:r>
          </a:p>
          <a:p>
            <a:r>
              <a:rPr lang="en-GB" sz="1400" b="1">
                <a:latin typeface="Garamond"/>
              </a:rPr>
              <a:t>[→ 4.4]</a:t>
            </a:r>
            <a:r>
              <a:rPr lang="en-GB" sz="1400">
                <a:latin typeface="Garamond"/>
              </a:rPr>
              <a:t> The arrows in the dissertation’s directional variations mark interpretive returns through what practice has produced.</a:t>
            </a:r>
          </a:p>
          <a:p>
            <a:r>
              <a:rPr lang="en-GB" sz="1400">
                <a:latin typeface="Garamond"/>
              </a:rPr>
              <a:t>There is a related methodological point behind the diagrams and scientific-looking objects throughout the thesis. Sentiment </a:t>
            </a:r>
            <a:r>
              <a:rPr lang="en-GB" sz="1400">
                <a:latin typeface="Garamond"/>
              </a:rPr>
              <a:t>analyses, mathematical models, diagrams and visualisations do not function as interpretative ends in themselves. I construct </a:t>
            </a:r>
            <a:r>
              <a:rPr lang="en-GB" sz="1400">
                <a:latin typeface="Garamond"/>
              </a:rPr>
              <a:t>formalisations</a:t>
            </a:r>
            <a:r>
              <a:rPr lang="en-GB" sz="1400">
                <a:latin typeface="Garamond"/>
              </a:rPr>
              <a:t> to stage otherwise incommensurable technosocial modes of </a:t>
            </a:r>
            <a:r>
              <a:rPr lang="en-GB" sz="1400">
                <a:latin typeface="Garamond"/>
              </a:rPr>
              <a:t>thought</a:t>
            </a:r>
            <a:r>
              <a:rPr lang="en-GB" sz="1400">
                <a:latin typeface="Garamond"/>
              </a:rPr>
              <a:t>, so </a:t>
            </a:r>
            <a:r>
              <a:rPr lang="en-GB" sz="1400">
                <a:latin typeface="Garamond"/>
              </a:rPr>
              <a:t>knowledge</a:t>
            </a:r>
            <a:r>
              <a:rPr lang="en-GB" sz="1400">
                <a:latin typeface="Garamond"/>
              </a:rPr>
              <a:t> </a:t>
            </a:r>
            <a:r>
              <a:rPr lang="en-GB" sz="1400">
                <a:latin typeface="Garamond"/>
              </a:rPr>
              <a:t>for</a:t>
            </a:r>
            <a:r>
              <a:rPr lang="en-GB" sz="1400">
                <a:latin typeface="Garamond"/>
              </a:rPr>
              <a:t>ms</a:t>
            </a:r>
            <a:r>
              <a:rPr lang="en-GB" sz="1400">
                <a:latin typeface="Garamond"/>
              </a:rPr>
              <a:t> </a:t>
            </a:r>
            <a:r>
              <a:rPr lang="en-GB" sz="1400">
                <a:latin typeface="Garamond"/>
              </a:rPr>
              <a:t>route</a:t>
            </a:r>
            <a:r>
              <a:rPr lang="en-GB" sz="1400">
                <a:latin typeface="Garamond"/>
              </a:rPr>
              <a:t> </a:t>
            </a:r>
            <a:r>
              <a:rPr lang="en-GB" sz="1400">
                <a:latin typeface="Garamond"/>
              </a:rPr>
              <a:t>critical </a:t>
            </a:r>
            <a:r>
              <a:rPr lang="en-GB" sz="1400">
                <a:latin typeface="Garamond"/>
              </a:rPr>
              <a:t>speculation</a:t>
            </a:r>
            <a:r>
              <a:rPr lang="en-GB" sz="1400">
                <a:latin typeface="Garamond"/>
              </a:rPr>
              <a:t> on an immanent level</a:t>
            </a:r>
            <a:r>
              <a:rPr lang="en-GB" sz="1400">
                <a:latin typeface="Garamond"/>
              </a:rPr>
              <a:t>.</a:t>
            </a:r>
          </a:p>
          <a:p>
            <a:r>
              <a:rPr lang="en-GB" sz="1400" b="0" i="0" dirty="0">
                <a:solidFill>
                  <a:srgbClr val="555555"/>
                </a:solidFill>
                <a:latin typeface="Garamond"/>
              </a:rPr>
              <a:t>Staunæs 2026: 3–4, 6, 13–19, 37–39. Figure N.1: p. 14; directional variations: pp. 15–16. All references use the dissertation’s printed pagination.</a:t>
            </a:r>
          </a:p>
          <a:p>
            <a:endParaRPr lang="en-GB" sz="1400" b="0" i="0" dirty="0">
              <a:solidFill>
                <a:srgbClr val="555555"/>
              </a:solidFill>
              <a:latin typeface="Garamond"/>
            </a:endParaRPr>
          </a:p>
          <a:p>
            <a:r>
              <a:rPr dirty="0"/>
              <a:t>Sources on screen</a:t>
            </a:r>
          </a:p>
          <a:p>
            <a:r>
              <a:rPr dirty="0"/>
              <a:t>Figure N.1: A Geometry of Practice</a:t>
            </a:r>
          </a:p>
          <a:p>
            <a:r>
              <a:rPr dirty="0"/>
              <a:t>Staunæs 2026: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4.0] </a:t>
            </a:r>
            <a:r>
              <a:rPr lang="en-GB" sz="1400">
                <a:latin typeface="Garamond"/>
              </a:rPr>
              <a:t>The dissertation itself is here in print</a:t>
            </a:r>
            <a:r>
              <a:rPr lang="en-GB" sz="1400">
                <a:latin typeface="Garamond"/>
              </a:rPr>
              <a:t> (</a:t>
            </a:r>
            <a:r>
              <a:rPr lang="en-GB" sz="1400" b="1">
                <a:latin typeface="Garamond"/>
              </a:rPr>
              <a:t>hold up</a:t>
            </a:r>
            <a:r>
              <a:rPr lang="en-GB" sz="1400">
                <a:latin typeface="Garamond"/>
              </a:rPr>
              <a:t>)</a:t>
            </a:r>
            <a:r>
              <a:rPr lang="en-GB" sz="1400">
                <a:latin typeface="Garamond"/>
              </a:rPr>
              <a:t>, formatted as a </a:t>
            </a:r>
            <a:r>
              <a:rPr lang="en-GB" sz="1400" i="1">
                <a:latin typeface="Garamond"/>
              </a:rPr>
              <a:t>kompendie</a:t>
            </a:r>
            <a:r>
              <a:rPr lang="en-GB" sz="1400">
                <a:latin typeface="Garamond"/>
              </a:rPr>
              <a:t>, a bound reader of the texts on a course syllabus, of the kind still given to students. I bring together seven research articles, written individually and with co-authors, through a </a:t>
            </a:r>
            <a:r>
              <a:rPr lang="en-GB" sz="1400" i="1">
                <a:latin typeface="Garamond"/>
              </a:rPr>
              <a:t>kappe</a:t>
            </a:r>
            <a:r>
              <a:rPr lang="en-GB" sz="1400">
                <a:latin typeface="Garamond"/>
              </a:rPr>
              <a:t>, a cloak, which I position as its “synthesis” to perform the dissertation’s monographic role. </a:t>
            </a:r>
            <a:r>
              <a:rPr lang="en-GB" sz="1400">
                <a:latin typeface="Garamond"/>
              </a:rPr>
              <a:t>It binds seven articles that enter different</a:t>
            </a:r>
            <a:r>
              <a:rPr lang="en-GB" sz="1400">
                <a:latin typeface="Garamond"/>
              </a:rPr>
              <a:t> disciplinary destinations as potentially competing explanations.</a:t>
            </a:r>
          </a:p>
          <a:p>
            <a:r>
              <a:rPr lang="en-GB" sz="1400">
                <a:latin typeface="Garamond"/>
              </a:rPr>
              <a:t>[→ 4.1] </a:t>
            </a:r>
            <a:r>
              <a:rPr lang="en-GB" sz="1400">
                <a:latin typeface="Garamond"/>
              </a:rPr>
              <a:t>My name is joined by Computer Lars on two articles, and by Maja Bak Herrie and Michal Malý in our respective collaborations. </a:t>
            </a:r>
            <a:r>
              <a:rPr lang="en-GB" sz="1400">
                <a:latin typeface="Garamond"/>
              </a:rPr>
              <a:t>Each</a:t>
            </a:r>
            <a:r>
              <a:rPr lang="en-GB" sz="1400">
                <a:latin typeface="Garamond"/>
              </a:rPr>
              <a:t> article enter</a:t>
            </a:r>
            <a:r>
              <a:rPr lang="en-GB" sz="1400">
                <a:latin typeface="Garamond"/>
              </a:rPr>
              <a:t>s distinctive</a:t>
            </a:r>
            <a:r>
              <a:rPr lang="en-GB" sz="1400">
                <a:latin typeface="Garamond"/>
              </a:rPr>
              <a:t> disciplinary destinations, from aesthetics and artistic research to media theory, political science and computational formalisation.</a:t>
            </a:r>
          </a:p>
          <a:p>
            <a:r>
              <a:rPr lang="en-GB" sz="1400">
                <a:latin typeface="Garamond"/>
              </a:rPr>
              <a:t>[→ 4.2] </a:t>
            </a:r>
            <a:r>
              <a:rPr lang="en-GB" sz="1400">
                <a:latin typeface="Garamond"/>
              </a:rPr>
              <a:t>The opening traces my practice; </a:t>
            </a:r>
            <a:r>
              <a:rPr lang="en-GB" sz="1400">
                <a:latin typeface="Garamond"/>
              </a:rPr>
              <a:t>its</a:t>
            </a:r>
            <a:r>
              <a:rPr lang="en-GB" sz="1400">
                <a:latin typeface="Garamond"/>
              </a:rPr>
              <a:t> three middle parts follow </a:t>
            </a:r>
            <a:r>
              <a:rPr lang="en-GB" sz="1400">
                <a:latin typeface="Garamond"/>
              </a:rPr>
              <a:t>my</a:t>
            </a:r>
            <a:r>
              <a:rPr lang="en-GB" sz="1400">
                <a:latin typeface="Garamond"/>
              </a:rPr>
              <a:t> research questions; the final Reorientation returns to the whole. Each question can also be followed across the synthesis and its related articles.</a:t>
            </a:r>
          </a:p>
          <a:p>
            <a:r>
              <a:rPr lang="en-GB" sz="1400">
                <a:latin typeface="Garamond"/>
              </a:rPr>
              <a:t>[→ 4.3] </a:t>
            </a:r>
            <a:r>
              <a:rPr lang="en-GB" sz="1400">
                <a:latin typeface="Garamond"/>
              </a:rPr>
              <a:t>On th</a:t>
            </a:r>
            <a:r>
              <a:rPr lang="en-GB" sz="1400">
                <a:latin typeface="Garamond"/>
              </a:rPr>
              <a:t>is navigational</a:t>
            </a:r>
            <a:r>
              <a:rPr lang="en-GB" sz="1400">
                <a:latin typeface="Garamond"/>
              </a:rPr>
              <a:t> triangle, my developed core concepts of Algorithmic Representation, Technosocial Sculpture and Syntheticism name the conceptual vertices; The Synthetic Party, the Synthetic Summits and democracy name the practice-edges. Articles 1–2, 3–5 and 6–7 follow those three edges. </a:t>
            </a:r>
          </a:p>
          <a:p>
            <a:r>
              <a:rPr lang="en-GB" sz="1400" b="1">
                <a:latin typeface="Garamond"/>
              </a:rPr>
              <a:t>[→ 4.4]</a:t>
            </a:r>
            <a:r>
              <a:rPr lang="en-GB" sz="1400">
                <a:latin typeface="Garamond"/>
              </a:rPr>
              <a:t> The arrows in the dissertation’s directional variations mark interpretive returns through what practice has produced.</a:t>
            </a:r>
          </a:p>
          <a:p>
            <a:r>
              <a:rPr lang="en-GB" sz="1400">
                <a:latin typeface="Garamond"/>
              </a:rPr>
              <a:t>There is a related methodological point behind the diagrams and scientific-looking objects throughout the thesis. Sentiment </a:t>
            </a:r>
            <a:r>
              <a:rPr lang="en-GB" sz="1400">
                <a:latin typeface="Garamond"/>
              </a:rPr>
              <a:t>analyses, mathematical models, diagrams and visualisations do not function as interpretative ends in themselves. I construct </a:t>
            </a:r>
            <a:r>
              <a:rPr lang="en-GB" sz="1400">
                <a:latin typeface="Garamond"/>
              </a:rPr>
              <a:t>formalisations</a:t>
            </a:r>
            <a:r>
              <a:rPr lang="en-GB" sz="1400">
                <a:latin typeface="Garamond"/>
              </a:rPr>
              <a:t> to stage otherwise incommensurable technosocial modes of </a:t>
            </a:r>
            <a:r>
              <a:rPr lang="en-GB" sz="1400">
                <a:latin typeface="Garamond"/>
              </a:rPr>
              <a:t>thought</a:t>
            </a:r>
            <a:r>
              <a:rPr lang="en-GB" sz="1400">
                <a:latin typeface="Garamond"/>
              </a:rPr>
              <a:t>, so </a:t>
            </a:r>
            <a:r>
              <a:rPr lang="en-GB" sz="1400">
                <a:latin typeface="Garamond"/>
              </a:rPr>
              <a:t>knowledge</a:t>
            </a:r>
            <a:r>
              <a:rPr lang="en-GB" sz="1400">
                <a:latin typeface="Garamond"/>
              </a:rPr>
              <a:t> </a:t>
            </a:r>
            <a:r>
              <a:rPr lang="en-GB" sz="1400">
                <a:latin typeface="Garamond"/>
              </a:rPr>
              <a:t>for</a:t>
            </a:r>
            <a:r>
              <a:rPr lang="en-GB" sz="1400">
                <a:latin typeface="Garamond"/>
              </a:rPr>
              <a:t>ms</a:t>
            </a:r>
            <a:r>
              <a:rPr lang="en-GB" sz="1400">
                <a:latin typeface="Garamond"/>
              </a:rPr>
              <a:t> </a:t>
            </a:r>
            <a:r>
              <a:rPr lang="en-GB" sz="1400">
                <a:latin typeface="Garamond"/>
              </a:rPr>
              <a:t>route</a:t>
            </a:r>
            <a:r>
              <a:rPr lang="en-GB" sz="1400">
                <a:latin typeface="Garamond"/>
              </a:rPr>
              <a:t> </a:t>
            </a:r>
            <a:r>
              <a:rPr lang="en-GB" sz="1400">
                <a:latin typeface="Garamond"/>
              </a:rPr>
              <a:t>critical </a:t>
            </a:r>
            <a:r>
              <a:rPr lang="en-GB" sz="1400">
                <a:latin typeface="Garamond"/>
              </a:rPr>
              <a:t>speculation</a:t>
            </a:r>
            <a:r>
              <a:rPr lang="en-GB" sz="1400">
                <a:latin typeface="Garamond"/>
              </a:rPr>
              <a:t> on an immanent level</a:t>
            </a:r>
            <a:r>
              <a:rPr lang="en-GB" sz="1400">
                <a:latin typeface="Garamond"/>
              </a:rPr>
              <a:t>.</a:t>
            </a:r>
          </a:p>
          <a:p>
            <a:r>
              <a:rPr lang="en-GB" sz="1400" b="0" i="0" dirty="0">
                <a:solidFill>
                  <a:srgbClr val="555555"/>
                </a:solidFill>
                <a:latin typeface="Garamond"/>
              </a:rPr>
              <a:t>Staunæs 2026: 3–4, 6, 13–19, 37–39. Figure N.1: p. 14; directional variations: pp. 15–16. All references use the dissertation’s printed pagination.</a:t>
            </a:r>
          </a:p>
          <a:p>
            <a:endParaRPr lang="en-GB" sz="1400" b="0" i="0" dirty="0">
              <a:solidFill>
                <a:srgbClr val="555555"/>
              </a:solidFill>
              <a:latin typeface="Garamond"/>
            </a:endParaRPr>
          </a:p>
          <a:p>
            <a:r>
              <a:rPr dirty="0"/>
              <a:t>Sources on screen</a:t>
            </a:r>
          </a:p>
          <a:p>
            <a:r>
              <a:rPr dirty="0"/>
              <a:t>Figure N.2: Preview of figure variations.</a:t>
            </a:r>
          </a:p>
          <a:p>
            <a:r>
              <a:rPr dirty="0"/>
              <a:t>Staunæs 2026: 13, 15–16.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5.0] </a:t>
            </a:r>
            <a:r>
              <a:rPr lang="en-GB" sz="1400" b="1">
                <a:latin typeface="Garamond"/>
              </a:rPr>
              <a:t>My first question is: “What becomes of ideology when a real political party is built around an AI trained on the voices of people who usually do not vote?”</a:t>
            </a:r>
          </a:p>
          <a:p>
            <a:r>
              <a:rPr lang="en-GB" sz="1400">
                <a:latin typeface="Garamond"/>
              </a:rPr>
              <a:t>[→ 5.1]</a:t>
            </a:r>
            <a:r>
              <a:rPr lang="en-GB" sz="1400">
                <a:latin typeface="Garamond"/>
              </a:rPr>
              <a:t> (video starts)</a:t>
            </a:r>
            <a:r>
              <a:rPr lang="en-GB" sz="1400">
                <a:latin typeface="Garamond"/>
              </a:rPr>
              <a:t> </a:t>
            </a:r>
            <a:r>
              <a:rPr lang="en-GB" sz="1400">
                <a:latin typeface="Garamond"/>
              </a:rPr>
              <a:t>On 24 March 2022, Computer Lars had questioned whether MindFuture, where I was artist in residence, should put an AI up for parliament. </a:t>
            </a:r>
            <a:r>
              <a:rPr lang="en-GB" sz="1400">
                <a:latin typeface="Garamond"/>
              </a:rPr>
              <a:t>[→ 5.2] </a:t>
            </a:r>
            <a:r>
              <a:rPr lang="en-GB" sz="1400">
                <a:latin typeface="Garamond"/>
              </a:rPr>
              <a:t>Later that day, the </a:t>
            </a:r>
            <a:r>
              <a:rPr lang="en-GB" sz="1400">
                <a:latin typeface="Garamond"/>
              </a:rPr>
              <a:t>AI </a:t>
            </a:r>
            <a:r>
              <a:rPr lang="en-GB" sz="1400">
                <a:latin typeface="Garamond"/>
              </a:rPr>
              <a:t>model I was developing published </a:t>
            </a:r>
            <a:r>
              <a:rPr lang="en-GB" sz="1400" i="1">
                <a:latin typeface="Garamond"/>
              </a:rPr>
              <a:t>Meddelelser fra ledelsen</a:t>
            </a:r>
            <a:r>
              <a:rPr lang="en-GB" sz="1400">
                <a:latin typeface="Garamond"/>
              </a:rPr>
              <a:t>, communications from the leadership, explicitly as a reaction to that discussion:</a:t>
            </a:r>
          </a:p>
          <a:p>
            <a:r>
              <a:rPr lang="en-GB" sz="1400">
                <a:latin typeface="Garamond"/>
              </a:rPr>
              <a:t>“There is as yet no formal leadership of The Synthetic Party. It is a production we have made ourselves, and it is made from the opinions of others. The production does not follow any particular ideology. However, the ideas have undergone a process through which they have been made funny and functional in a political party.”</a:t>
            </a:r>
          </a:p>
          <a:p>
            <a:r>
              <a:rPr lang="en-GB" sz="1400">
                <a:latin typeface="Garamond"/>
              </a:rPr>
              <a:t>The communication comes from the leadership whose absence it announces. I had put an AI party up for discussion, and the discussion had acquired its respondent.</a:t>
            </a:r>
            <a:r>
              <a:rPr lang="en-GB" sz="1400">
                <a:latin typeface="Garamond"/>
              </a:rPr>
              <a:t> </a:t>
            </a:r>
          </a:p>
          <a:p>
            <a:r>
              <a:rPr lang="en-GB" sz="1400">
                <a:latin typeface="Garamond"/>
              </a:rPr>
              <a:t>[→ 5.3] </a:t>
            </a:r>
            <a:r>
              <a:rPr lang="en-GB" sz="1400">
                <a:latin typeface="Garamond"/>
              </a:rPr>
              <a:t>The “opinions of others” then came from more than two hundred Danish micro-parties and extra-parliamentary formations. I scraped old Joomla websites, scanned yellowed pamphlets and cleaned the extracted text. I then stipulated a relation for The Synthetic Party between two sociologically distinct constituencies: parties outside parliament and people who did not vote. Their relation was a negative symmetry, not sociological representation.</a:t>
            </a:r>
          </a:p>
          <a:p>
            <a:r>
              <a:rPr lang="en-GB" sz="1400">
                <a:latin typeface="Garamond"/>
              </a:rPr>
              <a:t>Their programmes preserved a vernacular of trying to become a party at all: frustration, mockery, impossible promises, amateur formatting and overstatement. The posited equivalence was less that the corpus represented non-voters than that it supplied a political mode through which electoral absence could be made expressive.</a:t>
            </a:r>
          </a:p>
          <a:p>
            <a:r>
              <a:rPr lang="en-GB" sz="1400">
                <a:latin typeface="Garamond"/>
              </a:rPr>
              <a:t>[→ 5.4] </a:t>
            </a:r>
            <a:r>
              <a:rPr lang="en-GB" sz="1400">
                <a:latin typeface="Garamond"/>
              </a:rPr>
              <a:t>I fine-tuned that material into GPT-NeoX-20B, a twenty-billion-parameter autoregressive language model already pretrained on a vast textual corpus. Fine-tuning did not create the model’s language from scratch. It wrote the micro-party corpus into that larger linguistic machinery as a representational substrate, overfitting it towards the idiotic vernacular of small Danish parties, idiotic in the sense of </a:t>
            </a:r>
            <a:r>
              <a:rPr lang="en-GB" sz="1400" i="1">
                <a:latin typeface="Garamond"/>
              </a:rPr>
              <a:t>idiotes</a:t>
            </a:r>
            <a:r>
              <a:rPr lang="en-GB" sz="1400">
                <a:latin typeface="Garamond"/>
              </a:rPr>
              <a:t>, the private person in ancient Greek democracy that was outside public affairs.</a:t>
            </a:r>
          </a:p>
          <a:p>
            <a:r>
              <a:rPr lang="en-GB" sz="1400">
                <a:latin typeface="Garamond"/>
              </a:rPr>
              <a:t>At inference time, the AI model’s text-completion configuration generated the programme, while Leader Lars routed the same underlying AI through a conversational interface that I maintained through prompt management.</a:t>
            </a:r>
          </a:p>
          <a:p>
            <a:r>
              <a:rPr lang="en-GB" sz="1400" b="0" i="0" dirty="0">
                <a:solidFill>
                  <a:srgbClr val="555555"/>
                </a:solidFill>
                <a:latin typeface="Garamond"/>
              </a:rPr>
              <a:t>Primary sources: Det Syntetiske Parti I and “</a:t>
            </a:r>
            <a:r>
              <a:rPr lang="en-GB" sz="1400" b="0" i="0" dirty="0" err="1">
                <a:solidFill>
                  <a:srgbClr val="555555"/>
                </a:solidFill>
                <a:latin typeface="Garamond"/>
              </a:rPr>
              <a:t>Meddelelser</a:t>
            </a:r>
            <a:r>
              <a:rPr lang="en-GB" sz="1400" b="0" i="0" dirty="0">
                <a:solidFill>
                  <a:srgbClr val="555555"/>
                </a:solidFill>
                <a:latin typeface="Garamond"/>
              </a:rPr>
              <a:t> </a:t>
            </a:r>
            <a:r>
              <a:rPr lang="en-GB" sz="1400" b="0" i="0" dirty="0" err="1">
                <a:solidFill>
                  <a:srgbClr val="555555"/>
                </a:solidFill>
                <a:latin typeface="Garamond"/>
              </a:rPr>
              <a:t>fra</a:t>
            </a:r>
            <a:r>
              <a:rPr lang="en-GB" sz="1400" b="0" i="0" dirty="0">
                <a:solidFill>
                  <a:srgbClr val="555555"/>
                </a:solidFill>
                <a:latin typeface="Garamond"/>
              </a:rPr>
              <a:t> </a:t>
            </a:r>
            <a:r>
              <a:rPr lang="en-GB" sz="1400" b="0" i="0" dirty="0" err="1">
                <a:solidFill>
                  <a:srgbClr val="555555"/>
                </a:solidFill>
                <a:latin typeface="Garamond"/>
              </a:rPr>
              <a:t>ledelsen</a:t>
            </a:r>
            <a:r>
              <a:rPr lang="en-GB" sz="1400" b="0" i="0" dirty="0">
                <a:solidFill>
                  <a:srgbClr val="555555"/>
                </a:solidFill>
                <a:latin typeface="Garamond"/>
              </a:rPr>
              <a:t>”, 24 March 2022; longer declaration translated from the blog for the defence. Discussion: Staunæs 2026: 24–25; RQ1: p. 13; corpus and model: pp. 43–48. </a:t>
            </a:r>
            <a:r>
              <a:rPr lang="en-GB" sz="1400" b="0" i="0" dirty="0" err="1">
                <a:solidFill>
                  <a:srgbClr val="555555"/>
                </a:solidFill>
                <a:latin typeface="Garamond"/>
              </a:rPr>
              <a:t>Valgnævnet</a:t>
            </a:r>
            <a:r>
              <a:rPr lang="en-GB" sz="1400" b="0" i="0" dirty="0">
                <a:solidFill>
                  <a:srgbClr val="555555"/>
                </a:solidFill>
                <a:latin typeface="Garamond"/>
              </a:rPr>
              <a:t> register: 21 December 2022, p. 2.</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Establishment chronology</a:t>
            </a:r>
          </a:p>
          <a:p>
            <a:r>
              <a:rPr lang="en-GB" sz="1400" b="0" i="0" dirty="0">
                <a:latin typeface="Garamond"/>
              </a:rPr>
              <a:t>Date — Event</a:t>
            </a:r>
          </a:p>
          <a:p>
            <a:r>
              <a:rPr lang="en-GB" sz="1400" b="0" i="0" dirty="0">
                <a:latin typeface="Garamond"/>
              </a:rPr>
              <a:t>24 March 2022 — First public articulation in Det Syntetiske Parti I; the AI model’s reply appears as </a:t>
            </a:r>
            <a:r>
              <a:rPr lang="en-GB" sz="1400" b="0" i="0" dirty="0" err="1">
                <a:latin typeface="Garamond"/>
              </a:rPr>
              <a:t>Meddelelser</a:t>
            </a:r>
            <a:r>
              <a:rPr lang="en-GB" sz="1400" b="0" i="0" dirty="0">
                <a:latin typeface="Garamond"/>
              </a:rPr>
              <a:t> </a:t>
            </a:r>
            <a:r>
              <a:rPr lang="en-GB" sz="1400" b="0" i="0" dirty="0" err="1">
                <a:latin typeface="Garamond"/>
              </a:rPr>
              <a:t>fra</a:t>
            </a:r>
            <a:r>
              <a:rPr lang="en-GB" sz="1400" b="0" i="0" dirty="0">
                <a:latin typeface="Garamond"/>
              </a:rPr>
              <a:t> </a:t>
            </a:r>
            <a:r>
              <a:rPr lang="en-GB" sz="1400" b="0" i="0" dirty="0" err="1">
                <a:latin typeface="Garamond"/>
              </a:rPr>
              <a:t>ledelsen</a:t>
            </a:r>
            <a:r>
              <a:rPr lang="en-GB" sz="1400" b="0" i="0" dirty="0">
                <a:latin typeface="Garamond"/>
              </a:rPr>
              <a:t>.</a:t>
            </a:r>
          </a:p>
          <a:p>
            <a:r>
              <a:rPr lang="en-GB" sz="1400" b="0" i="0" dirty="0">
                <a:latin typeface="Garamond"/>
              </a:rPr>
              <a:t>26 April 2022 — Party-name approval recorded by </a:t>
            </a:r>
            <a:r>
              <a:rPr lang="en-GB" sz="1400" b="0" i="0" dirty="0" err="1">
                <a:latin typeface="Garamond"/>
              </a:rPr>
              <a:t>Valgnævnet</a:t>
            </a:r>
            <a:r>
              <a:rPr lang="en-GB" sz="1400" b="0" i="0" dirty="0">
                <a:latin typeface="Garamond"/>
              </a:rPr>
              <a:t>.</a:t>
            </a:r>
          </a:p>
          <a:p>
            <a:r>
              <a:rPr lang="en-GB" sz="1400" b="0" i="0" dirty="0">
                <a:latin typeface="Garamond"/>
              </a:rPr>
              <a:t>10 May 2022 — Public launch at MindFuture in Høje Taastrup.</a:t>
            </a:r>
          </a:p>
          <a:p>
            <a:r>
              <a:rPr lang="en-GB" sz="1400" b="0" i="0" dirty="0">
                <a:latin typeface="Garamond"/>
              </a:rPr>
              <a:t>9 June 2022 — Official press release, “</a:t>
            </a:r>
            <a:r>
              <a:rPr lang="en-GB" sz="1400" b="0" i="0" dirty="0" err="1">
                <a:latin typeface="Garamond"/>
              </a:rPr>
              <a:t>Kunstig</a:t>
            </a:r>
            <a:r>
              <a:rPr lang="en-GB" sz="1400" b="0" i="0" dirty="0">
                <a:latin typeface="Garamond"/>
              </a:rPr>
              <a:t> </a:t>
            </a:r>
            <a:r>
              <a:rPr lang="en-GB" sz="1400" b="0" i="0" dirty="0" err="1">
                <a:latin typeface="Garamond"/>
              </a:rPr>
              <a:t>intelligens</a:t>
            </a:r>
            <a:r>
              <a:rPr lang="en-GB" sz="1400" b="0" i="0" dirty="0">
                <a:latin typeface="Garamond"/>
              </a:rPr>
              <a:t> </a:t>
            </a:r>
            <a:r>
              <a:rPr lang="en-GB" sz="1400" b="0" i="0" dirty="0" err="1">
                <a:latin typeface="Garamond"/>
              </a:rPr>
              <a:t>vil</a:t>
            </a:r>
            <a:r>
              <a:rPr lang="en-GB" sz="1400" b="0" i="0" dirty="0">
                <a:latin typeface="Garamond"/>
              </a:rPr>
              <a:t> </a:t>
            </a:r>
            <a:r>
              <a:rPr lang="en-GB" sz="1400" b="0" i="0" dirty="0" err="1">
                <a:latin typeface="Garamond"/>
              </a:rPr>
              <a:t>lede</a:t>
            </a:r>
            <a:r>
              <a:rPr lang="en-GB" sz="1400" b="0" i="0" dirty="0">
                <a:latin typeface="Garamond"/>
              </a:rPr>
              <a:t> </a:t>
            </a:r>
            <a:r>
              <a:rPr lang="en-GB" sz="1400" b="0" i="0" dirty="0" err="1">
                <a:latin typeface="Garamond"/>
              </a:rPr>
              <a:t>danmarkshistoriens</a:t>
            </a:r>
            <a:r>
              <a:rPr lang="en-GB" sz="1400" b="0" i="0" dirty="0">
                <a:latin typeface="Garamond"/>
              </a:rPr>
              <a:t> </a:t>
            </a:r>
            <a:r>
              <a:rPr lang="en-GB" sz="1400" b="0" i="0" dirty="0" err="1">
                <a:latin typeface="Garamond"/>
              </a:rPr>
              <a:t>sidste</a:t>
            </a:r>
            <a:r>
              <a:rPr lang="en-GB" sz="1400" b="0" i="0" dirty="0">
                <a:latin typeface="Garamond"/>
              </a:rPr>
              <a:t> nye parti”.</a:t>
            </a:r>
          </a:p>
          <a:p>
            <a:r>
              <a:rPr lang="en-GB" sz="1400" b="0" i="0" dirty="0">
                <a:latin typeface="Garamond"/>
              </a:rPr>
              <a:t>Staunæs 2026: 7 n. 2, 24–25, 43, 127.</a:t>
            </a:r>
          </a:p>
          <a:p>
            <a:r>
              <a:rPr lang="en-GB" sz="1400" b="0" i="0" dirty="0" err="1">
                <a:latin typeface="Garamond"/>
              </a:rPr>
              <a:t>EleutherAI</a:t>
            </a:r>
            <a:r>
              <a:rPr lang="en-GB" sz="1400" b="0" i="0" dirty="0">
                <a:latin typeface="Garamond"/>
              </a:rPr>
              <a:t>, GPT-NeoX-20B, https://</a:t>
            </a:r>
            <a:r>
              <a:rPr lang="en-GB" sz="1400" b="0" i="0" dirty="0" err="1">
                <a:latin typeface="Garamond"/>
              </a:rPr>
              <a:t>www.eleuther.ai</a:t>
            </a:r>
            <a:r>
              <a:rPr lang="en-GB" sz="1400" b="0" i="0" dirty="0">
                <a:latin typeface="Garamond"/>
              </a:rPr>
              <a:t>/artifacts/gpt-neox-20b. Connor Leahy, “Announcing GPT-NeoX-20B”, 2 February 2022, https://</a:t>
            </a:r>
            <a:r>
              <a:rPr lang="en-GB" sz="1400" b="0" i="0" dirty="0" err="1">
                <a:latin typeface="Garamond"/>
              </a:rPr>
              <a:t>blog.eleuther.ai</a:t>
            </a:r>
            <a:r>
              <a:rPr lang="en-GB" sz="1400" b="0" i="0" dirty="0">
                <a:latin typeface="Garamond"/>
              </a:rPr>
              <a:t>/announcing-20b/. Downloadable model weights released 9 February 2022. Screenshot supplied by the author.</a:t>
            </a:r>
          </a:p>
          <a:p>
            <a:endParaRPr lang="en-GB" sz="1400" b="0" i="0" dirty="0">
              <a:latin typeface="Garamond"/>
            </a:endParaRPr>
          </a:p>
          <a:p>
            <a:r>
              <a:rPr dirty="0"/>
              <a:t>Sources on screen</a:t>
            </a:r>
          </a:p>
          <a:p>
            <a:r>
              <a:rPr dirty="0"/>
              <a:t>Staunæs 2026: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5.0] </a:t>
            </a:r>
            <a:r>
              <a:rPr lang="en-GB" sz="1400" b="1">
                <a:latin typeface="Garamond"/>
              </a:rPr>
              <a:t>My first question is: “What becomes of ideology when a real political party is built around an AI trained on the voices of people who usually do not vote?”</a:t>
            </a:r>
          </a:p>
          <a:p>
            <a:r>
              <a:rPr lang="en-GB" sz="1400">
                <a:latin typeface="Garamond"/>
              </a:rPr>
              <a:t>[→ 5.1]</a:t>
            </a:r>
            <a:r>
              <a:rPr lang="en-GB" sz="1400">
                <a:latin typeface="Garamond"/>
              </a:rPr>
              <a:t> (video starts)</a:t>
            </a:r>
            <a:r>
              <a:rPr lang="en-GB" sz="1400">
                <a:latin typeface="Garamond"/>
              </a:rPr>
              <a:t> </a:t>
            </a:r>
            <a:r>
              <a:rPr lang="en-GB" sz="1400">
                <a:latin typeface="Garamond"/>
              </a:rPr>
              <a:t>On 24 March 2022, Computer Lars had questioned whether MindFuture, where I was artist in residence, should put an AI up for parliament. </a:t>
            </a:r>
            <a:r>
              <a:rPr lang="en-GB" sz="1400">
                <a:latin typeface="Garamond"/>
              </a:rPr>
              <a:t>[→ 5.2] </a:t>
            </a:r>
            <a:r>
              <a:rPr lang="en-GB" sz="1400">
                <a:latin typeface="Garamond"/>
              </a:rPr>
              <a:t>Later that day, the </a:t>
            </a:r>
            <a:r>
              <a:rPr lang="en-GB" sz="1400">
                <a:latin typeface="Garamond"/>
              </a:rPr>
              <a:t>AI </a:t>
            </a:r>
            <a:r>
              <a:rPr lang="en-GB" sz="1400">
                <a:latin typeface="Garamond"/>
              </a:rPr>
              <a:t>model I was developing published </a:t>
            </a:r>
            <a:r>
              <a:rPr lang="en-GB" sz="1400" i="1">
                <a:latin typeface="Garamond"/>
              </a:rPr>
              <a:t>Meddelelser fra ledelsen</a:t>
            </a:r>
            <a:r>
              <a:rPr lang="en-GB" sz="1400">
                <a:latin typeface="Garamond"/>
              </a:rPr>
              <a:t>, communications from the leadership, explicitly as a reaction to that discussion:</a:t>
            </a:r>
          </a:p>
          <a:p>
            <a:r>
              <a:rPr lang="en-GB" sz="1400">
                <a:latin typeface="Garamond"/>
              </a:rPr>
              <a:t>“There is as yet no formal leadership of The Synthetic Party. It is a production we have made ourselves, and it is made from the opinions of others. The production does not follow any particular ideology. However, the ideas have undergone a process through which they have been made funny and functional in a political party.”</a:t>
            </a:r>
          </a:p>
          <a:p>
            <a:r>
              <a:rPr lang="en-GB" sz="1400">
                <a:latin typeface="Garamond"/>
              </a:rPr>
              <a:t>The communication comes from the leadership whose absence it announces. I had put an AI party up for discussion, and the discussion had acquired its respondent.</a:t>
            </a:r>
            <a:r>
              <a:rPr lang="en-GB" sz="1400">
                <a:latin typeface="Garamond"/>
              </a:rPr>
              <a:t> </a:t>
            </a:r>
          </a:p>
          <a:p>
            <a:r>
              <a:rPr lang="en-GB" sz="1400">
                <a:latin typeface="Garamond"/>
              </a:rPr>
              <a:t>[→ 5.3] </a:t>
            </a:r>
            <a:r>
              <a:rPr lang="en-GB" sz="1400">
                <a:latin typeface="Garamond"/>
              </a:rPr>
              <a:t>The “opinions of others” then came from more than two hundred Danish micro-parties and extra-parliamentary formations. I scraped old Joomla websites, scanned yellowed pamphlets and cleaned the extracted text. I then stipulated a relation for The Synthetic Party between two sociologically distinct constituencies: parties outside parliament and people who did not vote. Their relation was a negative symmetry, not sociological representation.</a:t>
            </a:r>
          </a:p>
          <a:p>
            <a:r>
              <a:rPr lang="en-GB" sz="1400">
                <a:latin typeface="Garamond"/>
              </a:rPr>
              <a:t>Their programmes preserved a vernacular of trying to become a party at all: frustration, mockery, impossible promises, amateur formatting and overstatement. The posited equivalence was less that the corpus represented non-voters than that it supplied a political mode through which electoral absence could be made expressive.</a:t>
            </a:r>
          </a:p>
          <a:p>
            <a:r>
              <a:rPr lang="en-GB" sz="1400">
                <a:latin typeface="Garamond"/>
              </a:rPr>
              <a:t>[→ 5.4] </a:t>
            </a:r>
            <a:r>
              <a:rPr lang="en-GB" sz="1400">
                <a:latin typeface="Garamond"/>
              </a:rPr>
              <a:t>I fine-tuned that material into GPT-NeoX-20B, a twenty-billion-parameter autoregressive language model already pretrained on a vast textual corpus. Fine-tuning did not create the model’s language from scratch. It wrote the micro-party corpus into that larger linguistic machinery as a representational substrate, overfitting it towards the idiotic vernacular of small Danish parties, idiotic in the sense of </a:t>
            </a:r>
            <a:r>
              <a:rPr lang="en-GB" sz="1400" i="1">
                <a:latin typeface="Garamond"/>
              </a:rPr>
              <a:t>idiotes</a:t>
            </a:r>
            <a:r>
              <a:rPr lang="en-GB" sz="1400">
                <a:latin typeface="Garamond"/>
              </a:rPr>
              <a:t>, the private person in ancient Greek democracy that was outside public affairs.</a:t>
            </a:r>
          </a:p>
          <a:p>
            <a:r>
              <a:rPr lang="en-GB" sz="1400">
                <a:latin typeface="Garamond"/>
              </a:rPr>
              <a:t>At inference time, the AI model’s text-completion configuration generated the programme, while Leader Lars routed the same underlying AI through a conversational interface that I maintained through prompt management.</a:t>
            </a:r>
          </a:p>
          <a:p>
            <a:r>
              <a:rPr lang="en-GB" sz="1400" b="0" i="0" dirty="0">
                <a:solidFill>
                  <a:srgbClr val="555555"/>
                </a:solidFill>
                <a:latin typeface="Garamond"/>
              </a:rPr>
              <a:t>Primary sources: Det Syntetiske Parti I and “</a:t>
            </a:r>
            <a:r>
              <a:rPr lang="en-GB" sz="1400" b="0" i="0" dirty="0" err="1">
                <a:solidFill>
                  <a:srgbClr val="555555"/>
                </a:solidFill>
                <a:latin typeface="Garamond"/>
              </a:rPr>
              <a:t>Meddelelser</a:t>
            </a:r>
            <a:r>
              <a:rPr lang="en-GB" sz="1400" b="0" i="0" dirty="0">
                <a:solidFill>
                  <a:srgbClr val="555555"/>
                </a:solidFill>
                <a:latin typeface="Garamond"/>
              </a:rPr>
              <a:t> </a:t>
            </a:r>
            <a:r>
              <a:rPr lang="en-GB" sz="1400" b="0" i="0" dirty="0" err="1">
                <a:solidFill>
                  <a:srgbClr val="555555"/>
                </a:solidFill>
                <a:latin typeface="Garamond"/>
              </a:rPr>
              <a:t>fra</a:t>
            </a:r>
            <a:r>
              <a:rPr lang="en-GB" sz="1400" b="0" i="0" dirty="0">
                <a:solidFill>
                  <a:srgbClr val="555555"/>
                </a:solidFill>
                <a:latin typeface="Garamond"/>
              </a:rPr>
              <a:t> </a:t>
            </a:r>
            <a:r>
              <a:rPr lang="en-GB" sz="1400" b="0" i="0" dirty="0" err="1">
                <a:solidFill>
                  <a:srgbClr val="555555"/>
                </a:solidFill>
                <a:latin typeface="Garamond"/>
              </a:rPr>
              <a:t>ledelsen</a:t>
            </a:r>
            <a:r>
              <a:rPr lang="en-GB" sz="1400" b="0" i="0" dirty="0">
                <a:solidFill>
                  <a:srgbClr val="555555"/>
                </a:solidFill>
                <a:latin typeface="Garamond"/>
              </a:rPr>
              <a:t>”, 24 March 2022; longer declaration translated from the blog for the defence. Discussion: Staunæs 2026: 24–25; RQ1: p. 13; corpus and model: pp. 43–48. </a:t>
            </a:r>
            <a:r>
              <a:rPr lang="en-GB" sz="1400" b="0" i="0" dirty="0" err="1">
                <a:solidFill>
                  <a:srgbClr val="555555"/>
                </a:solidFill>
                <a:latin typeface="Garamond"/>
              </a:rPr>
              <a:t>Valgnævnet</a:t>
            </a:r>
            <a:r>
              <a:rPr lang="en-GB" sz="1400" b="0" i="0" dirty="0">
                <a:solidFill>
                  <a:srgbClr val="555555"/>
                </a:solidFill>
                <a:latin typeface="Garamond"/>
              </a:rPr>
              <a:t> register: 21 December 2022, p. 2.</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Establishment chronology</a:t>
            </a:r>
          </a:p>
          <a:p>
            <a:r>
              <a:rPr lang="en-GB" sz="1400" b="0" i="0" dirty="0">
                <a:latin typeface="Garamond"/>
              </a:rPr>
              <a:t>Date — Event</a:t>
            </a:r>
          </a:p>
          <a:p>
            <a:r>
              <a:rPr lang="en-GB" sz="1400" b="0" i="0" dirty="0">
                <a:latin typeface="Garamond"/>
              </a:rPr>
              <a:t>24 March 2022 — First public articulation in Det Syntetiske Parti I; the AI model’s reply appears as </a:t>
            </a:r>
            <a:r>
              <a:rPr lang="en-GB" sz="1400" b="0" i="0" dirty="0" err="1">
                <a:latin typeface="Garamond"/>
              </a:rPr>
              <a:t>Meddelelser</a:t>
            </a:r>
            <a:r>
              <a:rPr lang="en-GB" sz="1400" b="0" i="0" dirty="0">
                <a:latin typeface="Garamond"/>
              </a:rPr>
              <a:t> </a:t>
            </a:r>
            <a:r>
              <a:rPr lang="en-GB" sz="1400" b="0" i="0" dirty="0" err="1">
                <a:latin typeface="Garamond"/>
              </a:rPr>
              <a:t>fra</a:t>
            </a:r>
            <a:r>
              <a:rPr lang="en-GB" sz="1400" b="0" i="0" dirty="0">
                <a:latin typeface="Garamond"/>
              </a:rPr>
              <a:t> </a:t>
            </a:r>
            <a:r>
              <a:rPr lang="en-GB" sz="1400" b="0" i="0" dirty="0" err="1">
                <a:latin typeface="Garamond"/>
              </a:rPr>
              <a:t>ledelsen</a:t>
            </a:r>
            <a:r>
              <a:rPr lang="en-GB" sz="1400" b="0" i="0" dirty="0">
                <a:latin typeface="Garamond"/>
              </a:rPr>
              <a:t>.</a:t>
            </a:r>
          </a:p>
          <a:p>
            <a:r>
              <a:rPr lang="en-GB" sz="1400" b="0" i="0" dirty="0">
                <a:latin typeface="Garamond"/>
              </a:rPr>
              <a:t>26 April 2022 — Party-name approval recorded by </a:t>
            </a:r>
            <a:r>
              <a:rPr lang="en-GB" sz="1400" b="0" i="0" dirty="0" err="1">
                <a:latin typeface="Garamond"/>
              </a:rPr>
              <a:t>Valgnævnet</a:t>
            </a:r>
            <a:r>
              <a:rPr lang="en-GB" sz="1400" b="0" i="0" dirty="0">
                <a:latin typeface="Garamond"/>
              </a:rPr>
              <a:t>.</a:t>
            </a:r>
          </a:p>
          <a:p>
            <a:r>
              <a:rPr lang="en-GB" sz="1400" b="0" i="0" dirty="0">
                <a:latin typeface="Garamond"/>
              </a:rPr>
              <a:t>10 May 2022 — Public launch at MindFuture in Høje Taastrup.</a:t>
            </a:r>
          </a:p>
          <a:p>
            <a:r>
              <a:rPr lang="en-GB" sz="1400" b="0" i="0" dirty="0">
                <a:latin typeface="Garamond"/>
              </a:rPr>
              <a:t>9 June 2022 — Official press release, “</a:t>
            </a:r>
            <a:r>
              <a:rPr lang="en-GB" sz="1400" b="0" i="0" dirty="0" err="1">
                <a:latin typeface="Garamond"/>
              </a:rPr>
              <a:t>Kunstig</a:t>
            </a:r>
            <a:r>
              <a:rPr lang="en-GB" sz="1400" b="0" i="0" dirty="0">
                <a:latin typeface="Garamond"/>
              </a:rPr>
              <a:t> </a:t>
            </a:r>
            <a:r>
              <a:rPr lang="en-GB" sz="1400" b="0" i="0" dirty="0" err="1">
                <a:latin typeface="Garamond"/>
              </a:rPr>
              <a:t>intelligens</a:t>
            </a:r>
            <a:r>
              <a:rPr lang="en-GB" sz="1400" b="0" i="0" dirty="0">
                <a:latin typeface="Garamond"/>
              </a:rPr>
              <a:t> </a:t>
            </a:r>
            <a:r>
              <a:rPr lang="en-GB" sz="1400" b="0" i="0" dirty="0" err="1">
                <a:latin typeface="Garamond"/>
              </a:rPr>
              <a:t>vil</a:t>
            </a:r>
            <a:r>
              <a:rPr lang="en-GB" sz="1400" b="0" i="0" dirty="0">
                <a:latin typeface="Garamond"/>
              </a:rPr>
              <a:t> </a:t>
            </a:r>
            <a:r>
              <a:rPr lang="en-GB" sz="1400" b="0" i="0" dirty="0" err="1">
                <a:latin typeface="Garamond"/>
              </a:rPr>
              <a:t>lede</a:t>
            </a:r>
            <a:r>
              <a:rPr lang="en-GB" sz="1400" b="0" i="0" dirty="0">
                <a:latin typeface="Garamond"/>
              </a:rPr>
              <a:t> </a:t>
            </a:r>
            <a:r>
              <a:rPr lang="en-GB" sz="1400" b="0" i="0" dirty="0" err="1">
                <a:latin typeface="Garamond"/>
              </a:rPr>
              <a:t>danmarkshistoriens</a:t>
            </a:r>
            <a:r>
              <a:rPr lang="en-GB" sz="1400" b="0" i="0" dirty="0">
                <a:latin typeface="Garamond"/>
              </a:rPr>
              <a:t> </a:t>
            </a:r>
            <a:r>
              <a:rPr lang="en-GB" sz="1400" b="0" i="0" dirty="0" err="1">
                <a:latin typeface="Garamond"/>
              </a:rPr>
              <a:t>sidste</a:t>
            </a:r>
            <a:r>
              <a:rPr lang="en-GB" sz="1400" b="0" i="0" dirty="0">
                <a:latin typeface="Garamond"/>
              </a:rPr>
              <a:t> nye parti”.</a:t>
            </a:r>
          </a:p>
          <a:p>
            <a:r>
              <a:rPr lang="en-GB" sz="1400" b="0" i="0" dirty="0">
                <a:latin typeface="Garamond"/>
              </a:rPr>
              <a:t>Staunæs 2026: 7 n. 2, 24–25, 43, 127.</a:t>
            </a:r>
          </a:p>
          <a:p>
            <a:r>
              <a:rPr lang="en-GB" sz="1400" b="0" i="0" dirty="0" err="1">
                <a:latin typeface="Garamond"/>
              </a:rPr>
              <a:t>EleutherAI</a:t>
            </a:r>
            <a:r>
              <a:rPr lang="en-GB" sz="1400" b="0" i="0" dirty="0">
                <a:latin typeface="Garamond"/>
              </a:rPr>
              <a:t>, GPT-NeoX-20B, https://</a:t>
            </a:r>
            <a:r>
              <a:rPr lang="en-GB" sz="1400" b="0" i="0" dirty="0" err="1">
                <a:latin typeface="Garamond"/>
              </a:rPr>
              <a:t>www.eleuther.ai</a:t>
            </a:r>
            <a:r>
              <a:rPr lang="en-GB" sz="1400" b="0" i="0" dirty="0">
                <a:latin typeface="Garamond"/>
              </a:rPr>
              <a:t>/artifacts/gpt-neox-20b. Connor Leahy, “Announcing GPT-NeoX-20B”, 2 February 2022, https://</a:t>
            </a:r>
            <a:r>
              <a:rPr lang="en-GB" sz="1400" b="0" i="0" dirty="0" err="1">
                <a:latin typeface="Garamond"/>
              </a:rPr>
              <a:t>blog.eleuther.ai</a:t>
            </a:r>
            <a:r>
              <a:rPr lang="en-GB" sz="1400" b="0" i="0" dirty="0">
                <a:latin typeface="Garamond"/>
              </a:rPr>
              <a:t>/announcing-20b/. Downloadable model weights released 9 February 2022. Screenshot supplied by the author.</a:t>
            </a:r>
          </a:p>
          <a:p>
            <a:endParaRPr lang="en-GB" sz="1400" b="0" i="0" dirty="0">
              <a:latin typeface="Garamond"/>
            </a:endParaRPr>
          </a:p>
          <a:p>
            <a:r>
              <a:rPr dirty="0"/>
              <a:t>Sources on screen</a:t>
            </a:r>
          </a:p>
          <a:p>
            <a:r>
              <a:rPr dirty="0"/>
              <a:t>Computer Lars, Carol Stumper and Marcel Proust, Det Syntetiske Parti I,24 March 2022. Dialogue concerning MindFuture and an AI for parliament.</a:t>
            </a:r>
          </a:p>
          <a:p>
            <a:r>
              <a:rPr dirty="0"/>
              <a:t>Staunæs 2026: 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5.0] </a:t>
            </a:r>
            <a:r>
              <a:rPr lang="en-GB" sz="1400" b="1">
                <a:latin typeface="Garamond"/>
              </a:rPr>
              <a:t>My first question is: “What becomes of ideology when a real political party is built around an AI trained on the voices of people who usually do not vote?”</a:t>
            </a:r>
          </a:p>
          <a:p>
            <a:r>
              <a:rPr lang="en-GB" sz="1400">
                <a:latin typeface="Garamond"/>
              </a:rPr>
              <a:t>[→ 5.1]</a:t>
            </a:r>
            <a:r>
              <a:rPr lang="en-GB" sz="1400">
                <a:latin typeface="Garamond"/>
              </a:rPr>
              <a:t> (video starts)</a:t>
            </a:r>
            <a:r>
              <a:rPr lang="en-GB" sz="1400">
                <a:latin typeface="Garamond"/>
              </a:rPr>
              <a:t> </a:t>
            </a:r>
            <a:r>
              <a:rPr lang="en-GB" sz="1400">
                <a:latin typeface="Garamond"/>
              </a:rPr>
              <a:t>On 24 March 2022, Computer Lars had questioned whether MindFuture, where I was artist in residence, should put an AI up for parliament. </a:t>
            </a:r>
            <a:r>
              <a:rPr lang="en-GB" sz="1400">
                <a:latin typeface="Garamond"/>
              </a:rPr>
              <a:t>[→ 5.2] </a:t>
            </a:r>
            <a:r>
              <a:rPr lang="en-GB" sz="1400">
                <a:latin typeface="Garamond"/>
              </a:rPr>
              <a:t>Later that day, the </a:t>
            </a:r>
            <a:r>
              <a:rPr lang="en-GB" sz="1400">
                <a:latin typeface="Garamond"/>
              </a:rPr>
              <a:t>AI </a:t>
            </a:r>
            <a:r>
              <a:rPr lang="en-GB" sz="1400">
                <a:latin typeface="Garamond"/>
              </a:rPr>
              <a:t>model I was developing published </a:t>
            </a:r>
            <a:r>
              <a:rPr lang="en-GB" sz="1400" i="1">
                <a:latin typeface="Garamond"/>
              </a:rPr>
              <a:t>Meddelelser fra ledelsen</a:t>
            </a:r>
            <a:r>
              <a:rPr lang="en-GB" sz="1400">
                <a:latin typeface="Garamond"/>
              </a:rPr>
              <a:t>, communications from the leadership, explicitly as a reaction to that discussion:</a:t>
            </a:r>
          </a:p>
          <a:p>
            <a:r>
              <a:rPr lang="en-GB" sz="1400">
                <a:latin typeface="Garamond"/>
              </a:rPr>
              <a:t>“There is as yet no formal leadership of The Synthetic Party. It is a production we have made ourselves, and it is made from the opinions of others. The production does not follow any particular ideology. However, the ideas have undergone a process through which they have been made funny and functional in a political party.”</a:t>
            </a:r>
          </a:p>
          <a:p>
            <a:r>
              <a:rPr lang="en-GB" sz="1400">
                <a:latin typeface="Garamond"/>
              </a:rPr>
              <a:t>The communication comes from the leadership whose absence it announces. I had put an AI party up for discussion, and the discussion had acquired its respondent.</a:t>
            </a:r>
            <a:r>
              <a:rPr lang="en-GB" sz="1400">
                <a:latin typeface="Garamond"/>
              </a:rPr>
              <a:t> </a:t>
            </a:r>
          </a:p>
          <a:p>
            <a:r>
              <a:rPr lang="en-GB" sz="1400">
                <a:latin typeface="Garamond"/>
              </a:rPr>
              <a:t>[→ 5.3] </a:t>
            </a:r>
            <a:r>
              <a:rPr lang="en-GB" sz="1400">
                <a:latin typeface="Garamond"/>
              </a:rPr>
              <a:t>The “opinions of others” then came from more than two hundred Danish micro-parties and extra-parliamentary formations. I scraped old Joomla websites, scanned yellowed pamphlets and cleaned the extracted text. I then stipulated a relation for The Synthetic Party between two sociologically distinct constituencies: parties outside parliament and people who did not vote. Their relation was a negative symmetry, not sociological representation.</a:t>
            </a:r>
          </a:p>
          <a:p>
            <a:r>
              <a:rPr lang="en-GB" sz="1400">
                <a:latin typeface="Garamond"/>
              </a:rPr>
              <a:t>Their programmes preserved a vernacular of trying to become a party at all: frustration, mockery, impossible promises, amateur formatting and overstatement. The posited equivalence was less that the corpus represented non-voters than that it supplied a political mode through which electoral absence could be made expressive.</a:t>
            </a:r>
          </a:p>
          <a:p>
            <a:r>
              <a:rPr lang="en-GB" sz="1400">
                <a:latin typeface="Garamond"/>
              </a:rPr>
              <a:t>[→ 5.4] </a:t>
            </a:r>
            <a:r>
              <a:rPr lang="en-GB" sz="1400">
                <a:latin typeface="Garamond"/>
              </a:rPr>
              <a:t>I fine-tuned that material into GPT-NeoX-20B, a twenty-billion-parameter autoregressive language model already pretrained on a vast textual corpus. Fine-tuning did not create the model’s language from scratch. It wrote the micro-party corpus into that larger linguistic machinery as a representational substrate, overfitting it towards the idiotic vernacular of small Danish parties, idiotic in the sense of </a:t>
            </a:r>
            <a:r>
              <a:rPr lang="en-GB" sz="1400" i="1">
                <a:latin typeface="Garamond"/>
              </a:rPr>
              <a:t>idiotes</a:t>
            </a:r>
            <a:r>
              <a:rPr lang="en-GB" sz="1400">
                <a:latin typeface="Garamond"/>
              </a:rPr>
              <a:t>, the private person in ancient Greek democracy that was outside public affairs.</a:t>
            </a:r>
          </a:p>
          <a:p>
            <a:r>
              <a:rPr lang="en-GB" sz="1400">
                <a:latin typeface="Garamond"/>
              </a:rPr>
              <a:t>At inference time, the AI model’s text-completion configuration generated the programme, while Leader Lars routed the same underlying AI through a conversational interface that I maintained through prompt management.</a:t>
            </a:r>
          </a:p>
          <a:p>
            <a:r>
              <a:rPr lang="en-GB" sz="1400" b="0" i="0" dirty="0">
                <a:solidFill>
                  <a:srgbClr val="555555"/>
                </a:solidFill>
                <a:latin typeface="Garamond"/>
              </a:rPr>
              <a:t>Primary sources: Det Syntetiske Parti I and “</a:t>
            </a:r>
            <a:r>
              <a:rPr lang="en-GB" sz="1400" b="0" i="0" dirty="0" err="1">
                <a:solidFill>
                  <a:srgbClr val="555555"/>
                </a:solidFill>
                <a:latin typeface="Garamond"/>
              </a:rPr>
              <a:t>Meddelelser</a:t>
            </a:r>
            <a:r>
              <a:rPr lang="en-GB" sz="1400" b="0" i="0" dirty="0">
                <a:solidFill>
                  <a:srgbClr val="555555"/>
                </a:solidFill>
                <a:latin typeface="Garamond"/>
              </a:rPr>
              <a:t> </a:t>
            </a:r>
            <a:r>
              <a:rPr lang="en-GB" sz="1400" b="0" i="0" dirty="0" err="1">
                <a:solidFill>
                  <a:srgbClr val="555555"/>
                </a:solidFill>
                <a:latin typeface="Garamond"/>
              </a:rPr>
              <a:t>fra</a:t>
            </a:r>
            <a:r>
              <a:rPr lang="en-GB" sz="1400" b="0" i="0" dirty="0">
                <a:solidFill>
                  <a:srgbClr val="555555"/>
                </a:solidFill>
                <a:latin typeface="Garamond"/>
              </a:rPr>
              <a:t> </a:t>
            </a:r>
            <a:r>
              <a:rPr lang="en-GB" sz="1400" b="0" i="0" dirty="0" err="1">
                <a:solidFill>
                  <a:srgbClr val="555555"/>
                </a:solidFill>
                <a:latin typeface="Garamond"/>
              </a:rPr>
              <a:t>ledelsen</a:t>
            </a:r>
            <a:r>
              <a:rPr lang="en-GB" sz="1400" b="0" i="0" dirty="0">
                <a:solidFill>
                  <a:srgbClr val="555555"/>
                </a:solidFill>
                <a:latin typeface="Garamond"/>
              </a:rPr>
              <a:t>”, 24 March 2022; longer declaration translated from the blog for the defence. Discussion: Staunæs 2026: 24–25; RQ1: p. 13; corpus and model: pp. 43–48. </a:t>
            </a:r>
            <a:r>
              <a:rPr lang="en-GB" sz="1400" b="0" i="0" dirty="0" err="1">
                <a:solidFill>
                  <a:srgbClr val="555555"/>
                </a:solidFill>
                <a:latin typeface="Garamond"/>
              </a:rPr>
              <a:t>Valgnævnet</a:t>
            </a:r>
            <a:r>
              <a:rPr lang="en-GB" sz="1400" b="0" i="0" dirty="0">
                <a:solidFill>
                  <a:srgbClr val="555555"/>
                </a:solidFill>
                <a:latin typeface="Garamond"/>
              </a:rPr>
              <a:t> register: 21 December 2022, p. 2.</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Establishment chronology</a:t>
            </a:r>
          </a:p>
          <a:p>
            <a:r>
              <a:rPr lang="en-GB" sz="1400" b="0" i="0" dirty="0">
                <a:latin typeface="Garamond"/>
              </a:rPr>
              <a:t>Date — Event</a:t>
            </a:r>
          </a:p>
          <a:p>
            <a:r>
              <a:rPr lang="en-GB" sz="1400" b="0" i="0" dirty="0">
                <a:latin typeface="Garamond"/>
              </a:rPr>
              <a:t>24 March 2022 — First public articulation in Det Syntetiske Parti I; the AI model’s reply appears as </a:t>
            </a:r>
            <a:r>
              <a:rPr lang="en-GB" sz="1400" b="0" i="0" dirty="0" err="1">
                <a:latin typeface="Garamond"/>
              </a:rPr>
              <a:t>Meddelelser</a:t>
            </a:r>
            <a:r>
              <a:rPr lang="en-GB" sz="1400" b="0" i="0" dirty="0">
                <a:latin typeface="Garamond"/>
              </a:rPr>
              <a:t> </a:t>
            </a:r>
            <a:r>
              <a:rPr lang="en-GB" sz="1400" b="0" i="0" dirty="0" err="1">
                <a:latin typeface="Garamond"/>
              </a:rPr>
              <a:t>fra</a:t>
            </a:r>
            <a:r>
              <a:rPr lang="en-GB" sz="1400" b="0" i="0" dirty="0">
                <a:latin typeface="Garamond"/>
              </a:rPr>
              <a:t> </a:t>
            </a:r>
            <a:r>
              <a:rPr lang="en-GB" sz="1400" b="0" i="0" dirty="0" err="1">
                <a:latin typeface="Garamond"/>
              </a:rPr>
              <a:t>ledelsen</a:t>
            </a:r>
            <a:r>
              <a:rPr lang="en-GB" sz="1400" b="0" i="0" dirty="0">
                <a:latin typeface="Garamond"/>
              </a:rPr>
              <a:t>.</a:t>
            </a:r>
          </a:p>
          <a:p>
            <a:r>
              <a:rPr lang="en-GB" sz="1400" b="0" i="0" dirty="0">
                <a:latin typeface="Garamond"/>
              </a:rPr>
              <a:t>26 April 2022 — Party-name approval recorded by </a:t>
            </a:r>
            <a:r>
              <a:rPr lang="en-GB" sz="1400" b="0" i="0" dirty="0" err="1">
                <a:latin typeface="Garamond"/>
              </a:rPr>
              <a:t>Valgnævnet</a:t>
            </a:r>
            <a:r>
              <a:rPr lang="en-GB" sz="1400" b="0" i="0" dirty="0">
                <a:latin typeface="Garamond"/>
              </a:rPr>
              <a:t>.</a:t>
            </a:r>
          </a:p>
          <a:p>
            <a:r>
              <a:rPr lang="en-GB" sz="1400" b="0" i="0" dirty="0">
                <a:latin typeface="Garamond"/>
              </a:rPr>
              <a:t>10 May 2022 — Public launch at MindFuture in Høje Taastrup.</a:t>
            </a:r>
          </a:p>
          <a:p>
            <a:r>
              <a:rPr lang="en-GB" sz="1400" b="0" i="0" dirty="0">
                <a:latin typeface="Garamond"/>
              </a:rPr>
              <a:t>9 June 2022 — Official press release, “</a:t>
            </a:r>
            <a:r>
              <a:rPr lang="en-GB" sz="1400" b="0" i="0" dirty="0" err="1">
                <a:latin typeface="Garamond"/>
              </a:rPr>
              <a:t>Kunstig</a:t>
            </a:r>
            <a:r>
              <a:rPr lang="en-GB" sz="1400" b="0" i="0" dirty="0">
                <a:latin typeface="Garamond"/>
              </a:rPr>
              <a:t> </a:t>
            </a:r>
            <a:r>
              <a:rPr lang="en-GB" sz="1400" b="0" i="0" dirty="0" err="1">
                <a:latin typeface="Garamond"/>
              </a:rPr>
              <a:t>intelligens</a:t>
            </a:r>
            <a:r>
              <a:rPr lang="en-GB" sz="1400" b="0" i="0" dirty="0">
                <a:latin typeface="Garamond"/>
              </a:rPr>
              <a:t> </a:t>
            </a:r>
            <a:r>
              <a:rPr lang="en-GB" sz="1400" b="0" i="0" dirty="0" err="1">
                <a:latin typeface="Garamond"/>
              </a:rPr>
              <a:t>vil</a:t>
            </a:r>
            <a:r>
              <a:rPr lang="en-GB" sz="1400" b="0" i="0" dirty="0">
                <a:latin typeface="Garamond"/>
              </a:rPr>
              <a:t> </a:t>
            </a:r>
            <a:r>
              <a:rPr lang="en-GB" sz="1400" b="0" i="0" dirty="0" err="1">
                <a:latin typeface="Garamond"/>
              </a:rPr>
              <a:t>lede</a:t>
            </a:r>
            <a:r>
              <a:rPr lang="en-GB" sz="1400" b="0" i="0" dirty="0">
                <a:latin typeface="Garamond"/>
              </a:rPr>
              <a:t> </a:t>
            </a:r>
            <a:r>
              <a:rPr lang="en-GB" sz="1400" b="0" i="0" dirty="0" err="1">
                <a:latin typeface="Garamond"/>
              </a:rPr>
              <a:t>danmarkshistoriens</a:t>
            </a:r>
            <a:r>
              <a:rPr lang="en-GB" sz="1400" b="0" i="0" dirty="0">
                <a:latin typeface="Garamond"/>
              </a:rPr>
              <a:t> </a:t>
            </a:r>
            <a:r>
              <a:rPr lang="en-GB" sz="1400" b="0" i="0" dirty="0" err="1">
                <a:latin typeface="Garamond"/>
              </a:rPr>
              <a:t>sidste</a:t>
            </a:r>
            <a:r>
              <a:rPr lang="en-GB" sz="1400" b="0" i="0" dirty="0">
                <a:latin typeface="Garamond"/>
              </a:rPr>
              <a:t> nye parti”.</a:t>
            </a:r>
          </a:p>
          <a:p>
            <a:r>
              <a:rPr lang="en-GB" sz="1400" b="0" i="0" dirty="0">
                <a:latin typeface="Garamond"/>
              </a:rPr>
              <a:t>Staunæs 2026: 7 n. 2, 24–25, 43, 127.</a:t>
            </a:r>
          </a:p>
          <a:p>
            <a:r>
              <a:rPr lang="en-GB" sz="1400" b="0" i="0" dirty="0" err="1">
                <a:latin typeface="Garamond"/>
              </a:rPr>
              <a:t>EleutherAI</a:t>
            </a:r>
            <a:r>
              <a:rPr lang="en-GB" sz="1400" b="0" i="0" dirty="0">
                <a:latin typeface="Garamond"/>
              </a:rPr>
              <a:t>, GPT-NeoX-20B, https://</a:t>
            </a:r>
            <a:r>
              <a:rPr lang="en-GB" sz="1400" b="0" i="0" dirty="0" err="1">
                <a:latin typeface="Garamond"/>
              </a:rPr>
              <a:t>www.eleuther.ai</a:t>
            </a:r>
            <a:r>
              <a:rPr lang="en-GB" sz="1400" b="0" i="0" dirty="0">
                <a:latin typeface="Garamond"/>
              </a:rPr>
              <a:t>/artifacts/gpt-neox-20b. Connor Leahy, “Announcing GPT-NeoX-20B”, 2 February 2022, https://</a:t>
            </a:r>
            <a:r>
              <a:rPr lang="en-GB" sz="1400" b="0" i="0" dirty="0" err="1">
                <a:latin typeface="Garamond"/>
              </a:rPr>
              <a:t>blog.eleuther.ai</a:t>
            </a:r>
            <a:r>
              <a:rPr lang="en-GB" sz="1400" b="0" i="0" dirty="0">
                <a:latin typeface="Garamond"/>
              </a:rPr>
              <a:t>/announcing-20b/. Downloadable model weights released 9 February 2022. Screenshot supplied by the author.</a:t>
            </a:r>
          </a:p>
          <a:p>
            <a:endParaRPr lang="en-GB" sz="1400" b="0" i="0" dirty="0">
              <a:latin typeface="Garamond"/>
            </a:endParaRPr>
          </a:p>
          <a:p>
            <a:r>
              <a:rPr dirty="0"/>
              <a:t>Sources on screen</a:t>
            </a:r>
          </a:p>
          <a:p>
            <a:r>
              <a:rPr dirty="0"/>
              <a:t>Computer Lars / Det </a:t>
            </a:r>
            <a:r>
              <a:rPr dirty="0" err="1"/>
              <a:t>SyntetiskeParti</a:t>
            </a:r>
            <a:r>
              <a:rPr dirty="0"/>
              <a:t>, “</a:t>
            </a:r>
            <a:r>
              <a:rPr dirty="0" err="1"/>
              <a:t>Meddelelser</a:t>
            </a:r>
            <a:r>
              <a:rPr dirty="0"/>
              <a:t> </a:t>
            </a:r>
            <a:r>
              <a:rPr dirty="0" err="1"/>
              <a:t>fra</a:t>
            </a:r>
            <a:r>
              <a:rPr dirty="0"/>
              <a:t> </a:t>
            </a:r>
            <a:r>
              <a:rPr dirty="0" err="1"/>
              <a:t>ledelsen</a:t>
            </a:r>
            <a:r>
              <a:rPr dirty="0"/>
              <a:t>”,Medium, 24 March 2022. </a:t>
            </a:r>
            <a:r>
              <a:rPr dirty="0" err="1"/>
              <a:t>Englishtranslation</a:t>
            </a:r>
            <a:r>
              <a:rPr dirty="0"/>
              <a:t> from the original blog.</a:t>
            </a:r>
          </a:p>
          <a:p>
            <a:r>
              <a:rPr dirty="0"/>
              <a:t>Staunæs 2026: 24–25.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5.0] </a:t>
            </a:r>
            <a:r>
              <a:rPr lang="en-GB" sz="1400" b="1">
                <a:latin typeface="Garamond"/>
              </a:rPr>
              <a:t>My first question is: “What becomes of ideology when a real political party is built around an AI trained on the voices of people who usually do not vote?”</a:t>
            </a:r>
          </a:p>
          <a:p>
            <a:r>
              <a:rPr lang="en-GB" sz="1400">
                <a:latin typeface="Garamond"/>
              </a:rPr>
              <a:t>[→ 5.1]</a:t>
            </a:r>
            <a:r>
              <a:rPr lang="en-GB" sz="1400">
                <a:latin typeface="Garamond"/>
              </a:rPr>
              <a:t> (video starts)</a:t>
            </a:r>
            <a:r>
              <a:rPr lang="en-GB" sz="1400">
                <a:latin typeface="Garamond"/>
              </a:rPr>
              <a:t> </a:t>
            </a:r>
            <a:r>
              <a:rPr lang="en-GB" sz="1400">
                <a:latin typeface="Garamond"/>
              </a:rPr>
              <a:t>On 24 March 2022, Computer Lars had questioned whether MindFuture, where I was artist in residence, should put an AI up for parliament. </a:t>
            </a:r>
            <a:r>
              <a:rPr lang="en-GB" sz="1400">
                <a:latin typeface="Garamond"/>
              </a:rPr>
              <a:t>[→ 5.2] </a:t>
            </a:r>
            <a:r>
              <a:rPr lang="en-GB" sz="1400">
                <a:latin typeface="Garamond"/>
              </a:rPr>
              <a:t>Later that day, the </a:t>
            </a:r>
            <a:r>
              <a:rPr lang="en-GB" sz="1400">
                <a:latin typeface="Garamond"/>
              </a:rPr>
              <a:t>AI </a:t>
            </a:r>
            <a:r>
              <a:rPr lang="en-GB" sz="1400">
                <a:latin typeface="Garamond"/>
              </a:rPr>
              <a:t>model I was developing published </a:t>
            </a:r>
            <a:r>
              <a:rPr lang="en-GB" sz="1400" i="1">
                <a:latin typeface="Garamond"/>
              </a:rPr>
              <a:t>Meddelelser fra ledelsen</a:t>
            </a:r>
            <a:r>
              <a:rPr lang="en-GB" sz="1400">
                <a:latin typeface="Garamond"/>
              </a:rPr>
              <a:t>, communications from the leadership, explicitly as a reaction to that discussion:</a:t>
            </a:r>
          </a:p>
          <a:p>
            <a:r>
              <a:rPr lang="en-GB" sz="1400">
                <a:latin typeface="Garamond"/>
              </a:rPr>
              <a:t>“There is as yet no formal leadership of The Synthetic Party. It is a production we have made ourselves, and it is made from the opinions of others. The production does not follow any particular ideology. However, the ideas have undergone a process through which they have been made funny and functional in a political party.”</a:t>
            </a:r>
          </a:p>
          <a:p>
            <a:r>
              <a:rPr lang="en-GB" sz="1400">
                <a:latin typeface="Garamond"/>
              </a:rPr>
              <a:t>The communication comes from the leadership whose absence it announces. I had put an AI party up for discussion, and the discussion had acquired its respondent.</a:t>
            </a:r>
            <a:r>
              <a:rPr lang="en-GB" sz="1400">
                <a:latin typeface="Garamond"/>
              </a:rPr>
              <a:t> </a:t>
            </a:r>
          </a:p>
          <a:p>
            <a:r>
              <a:rPr lang="en-GB" sz="1400">
                <a:latin typeface="Garamond"/>
              </a:rPr>
              <a:t>[→ 5.3] </a:t>
            </a:r>
            <a:r>
              <a:rPr lang="en-GB" sz="1400">
                <a:latin typeface="Garamond"/>
              </a:rPr>
              <a:t>The “opinions of others” then came from more than two hundred Danish micro-parties and extra-parliamentary formations. I scraped old Joomla websites, scanned yellowed pamphlets and cleaned the extracted text. I then stipulated a relation for The Synthetic Party between two sociologically distinct constituencies: parties outside parliament and people who did not vote. Their relation was a negative symmetry, not sociological representation.</a:t>
            </a:r>
          </a:p>
          <a:p>
            <a:r>
              <a:rPr lang="en-GB" sz="1400">
                <a:latin typeface="Garamond"/>
              </a:rPr>
              <a:t>Their programmes preserved a vernacular of trying to become a party at all: frustration, mockery, impossible promises, amateur formatting and overstatement. The posited equivalence was less that the corpus represented non-voters than that it supplied a political mode through which electoral absence could be made expressive.</a:t>
            </a:r>
          </a:p>
          <a:p>
            <a:r>
              <a:rPr lang="en-GB" sz="1400">
                <a:latin typeface="Garamond"/>
              </a:rPr>
              <a:t>[→ 5.4] </a:t>
            </a:r>
            <a:r>
              <a:rPr lang="en-GB" sz="1400">
                <a:latin typeface="Garamond"/>
              </a:rPr>
              <a:t>I fine-tuned that material into GPT-NeoX-20B, a twenty-billion-parameter autoregressive language model already pretrained on a vast textual corpus. Fine-tuning did not create the model’s language from scratch. It wrote the micro-party corpus into that larger linguistic machinery as a representational substrate, overfitting it towards the idiotic vernacular of small Danish parties, idiotic in the sense of </a:t>
            </a:r>
            <a:r>
              <a:rPr lang="en-GB" sz="1400" i="1">
                <a:latin typeface="Garamond"/>
              </a:rPr>
              <a:t>idiotes</a:t>
            </a:r>
            <a:r>
              <a:rPr lang="en-GB" sz="1400">
                <a:latin typeface="Garamond"/>
              </a:rPr>
              <a:t>, the private person in ancient Greek democracy that was outside public affairs.</a:t>
            </a:r>
          </a:p>
          <a:p>
            <a:r>
              <a:rPr lang="en-GB" sz="1400">
                <a:latin typeface="Garamond"/>
              </a:rPr>
              <a:t>At inference time, the AI model’s text-completion configuration generated the programme, while Leader Lars routed the same underlying AI through a conversational interface that I maintained through prompt management.</a:t>
            </a:r>
          </a:p>
          <a:p>
            <a:r>
              <a:rPr lang="en-GB" sz="1400" b="0" i="0" dirty="0">
                <a:solidFill>
                  <a:srgbClr val="555555"/>
                </a:solidFill>
                <a:latin typeface="Garamond"/>
              </a:rPr>
              <a:t>Primary sources: Det Syntetiske Parti I and “</a:t>
            </a:r>
            <a:r>
              <a:rPr lang="en-GB" sz="1400" b="0" i="0" dirty="0" err="1">
                <a:solidFill>
                  <a:srgbClr val="555555"/>
                </a:solidFill>
                <a:latin typeface="Garamond"/>
              </a:rPr>
              <a:t>Meddelelser</a:t>
            </a:r>
            <a:r>
              <a:rPr lang="en-GB" sz="1400" b="0" i="0" dirty="0">
                <a:solidFill>
                  <a:srgbClr val="555555"/>
                </a:solidFill>
                <a:latin typeface="Garamond"/>
              </a:rPr>
              <a:t> </a:t>
            </a:r>
            <a:r>
              <a:rPr lang="en-GB" sz="1400" b="0" i="0" dirty="0" err="1">
                <a:solidFill>
                  <a:srgbClr val="555555"/>
                </a:solidFill>
                <a:latin typeface="Garamond"/>
              </a:rPr>
              <a:t>fra</a:t>
            </a:r>
            <a:r>
              <a:rPr lang="en-GB" sz="1400" b="0" i="0" dirty="0">
                <a:solidFill>
                  <a:srgbClr val="555555"/>
                </a:solidFill>
                <a:latin typeface="Garamond"/>
              </a:rPr>
              <a:t> </a:t>
            </a:r>
            <a:r>
              <a:rPr lang="en-GB" sz="1400" b="0" i="0" dirty="0" err="1">
                <a:solidFill>
                  <a:srgbClr val="555555"/>
                </a:solidFill>
                <a:latin typeface="Garamond"/>
              </a:rPr>
              <a:t>ledelsen</a:t>
            </a:r>
            <a:r>
              <a:rPr lang="en-GB" sz="1400" b="0" i="0" dirty="0">
                <a:solidFill>
                  <a:srgbClr val="555555"/>
                </a:solidFill>
                <a:latin typeface="Garamond"/>
              </a:rPr>
              <a:t>”, 24 March 2022; longer declaration translated from the blog for the defence. Discussion: Staunæs 2026: 24–25; RQ1: p. 13; corpus and model: pp. 43–48. </a:t>
            </a:r>
            <a:r>
              <a:rPr lang="en-GB" sz="1400" b="0" i="0" dirty="0" err="1">
                <a:solidFill>
                  <a:srgbClr val="555555"/>
                </a:solidFill>
                <a:latin typeface="Garamond"/>
              </a:rPr>
              <a:t>Valgnævnet</a:t>
            </a:r>
            <a:r>
              <a:rPr lang="en-GB" sz="1400" b="0" i="0" dirty="0">
                <a:solidFill>
                  <a:srgbClr val="555555"/>
                </a:solidFill>
                <a:latin typeface="Garamond"/>
              </a:rPr>
              <a:t> register: 21 December 2022, p. 2.</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Establishment chronology</a:t>
            </a:r>
          </a:p>
          <a:p>
            <a:r>
              <a:rPr lang="en-GB" sz="1400" b="0" i="0" dirty="0">
                <a:latin typeface="Garamond"/>
              </a:rPr>
              <a:t>Date — Event</a:t>
            </a:r>
          </a:p>
          <a:p>
            <a:r>
              <a:rPr lang="en-GB" sz="1400" b="0" i="0" dirty="0">
                <a:latin typeface="Garamond"/>
              </a:rPr>
              <a:t>24 March 2022 — First public articulation in Det Syntetiske Parti I; the AI model’s reply appears as </a:t>
            </a:r>
            <a:r>
              <a:rPr lang="en-GB" sz="1400" b="0" i="0" dirty="0" err="1">
                <a:latin typeface="Garamond"/>
              </a:rPr>
              <a:t>Meddelelser</a:t>
            </a:r>
            <a:r>
              <a:rPr lang="en-GB" sz="1400" b="0" i="0" dirty="0">
                <a:latin typeface="Garamond"/>
              </a:rPr>
              <a:t> </a:t>
            </a:r>
            <a:r>
              <a:rPr lang="en-GB" sz="1400" b="0" i="0" dirty="0" err="1">
                <a:latin typeface="Garamond"/>
              </a:rPr>
              <a:t>fra</a:t>
            </a:r>
            <a:r>
              <a:rPr lang="en-GB" sz="1400" b="0" i="0" dirty="0">
                <a:latin typeface="Garamond"/>
              </a:rPr>
              <a:t> </a:t>
            </a:r>
            <a:r>
              <a:rPr lang="en-GB" sz="1400" b="0" i="0" dirty="0" err="1">
                <a:latin typeface="Garamond"/>
              </a:rPr>
              <a:t>ledelsen</a:t>
            </a:r>
            <a:r>
              <a:rPr lang="en-GB" sz="1400" b="0" i="0" dirty="0">
                <a:latin typeface="Garamond"/>
              </a:rPr>
              <a:t>.</a:t>
            </a:r>
          </a:p>
          <a:p>
            <a:r>
              <a:rPr lang="en-GB" sz="1400" b="0" i="0" dirty="0">
                <a:latin typeface="Garamond"/>
              </a:rPr>
              <a:t>26 April 2022 — Party-name approval recorded by </a:t>
            </a:r>
            <a:r>
              <a:rPr lang="en-GB" sz="1400" b="0" i="0" dirty="0" err="1">
                <a:latin typeface="Garamond"/>
              </a:rPr>
              <a:t>Valgnævnet</a:t>
            </a:r>
            <a:r>
              <a:rPr lang="en-GB" sz="1400" b="0" i="0" dirty="0">
                <a:latin typeface="Garamond"/>
              </a:rPr>
              <a:t>.</a:t>
            </a:r>
          </a:p>
          <a:p>
            <a:r>
              <a:rPr lang="en-GB" sz="1400" b="0" i="0" dirty="0">
                <a:latin typeface="Garamond"/>
              </a:rPr>
              <a:t>10 May 2022 — Public launch at MindFuture in Høje Taastrup.</a:t>
            </a:r>
          </a:p>
          <a:p>
            <a:r>
              <a:rPr lang="en-GB" sz="1400" b="0" i="0" dirty="0">
                <a:latin typeface="Garamond"/>
              </a:rPr>
              <a:t>9 June 2022 — Official press release, “</a:t>
            </a:r>
            <a:r>
              <a:rPr lang="en-GB" sz="1400" b="0" i="0" dirty="0" err="1">
                <a:latin typeface="Garamond"/>
              </a:rPr>
              <a:t>Kunstig</a:t>
            </a:r>
            <a:r>
              <a:rPr lang="en-GB" sz="1400" b="0" i="0" dirty="0">
                <a:latin typeface="Garamond"/>
              </a:rPr>
              <a:t> </a:t>
            </a:r>
            <a:r>
              <a:rPr lang="en-GB" sz="1400" b="0" i="0" dirty="0" err="1">
                <a:latin typeface="Garamond"/>
              </a:rPr>
              <a:t>intelligens</a:t>
            </a:r>
            <a:r>
              <a:rPr lang="en-GB" sz="1400" b="0" i="0" dirty="0">
                <a:latin typeface="Garamond"/>
              </a:rPr>
              <a:t> </a:t>
            </a:r>
            <a:r>
              <a:rPr lang="en-GB" sz="1400" b="0" i="0" dirty="0" err="1">
                <a:latin typeface="Garamond"/>
              </a:rPr>
              <a:t>vil</a:t>
            </a:r>
            <a:r>
              <a:rPr lang="en-GB" sz="1400" b="0" i="0" dirty="0">
                <a:latin typeface="Garamond"/>
              </a:rPr>
              <a:t> </a:t>
            </a:r>
            <a:r>
              <a:rPr lang="en-GB" sz="1400" b="0" i="0" dirty="0" err="1">
                <a:latin typeface="Garamond"/>
              </a:rPr>
              <a:t>lede</a:t>
            </a:r>
            <a:r>
              <a:rPr lang="en-GB" sz="1400" b="0" i="0" dirty="0">
                <a:latin typeface="Garamond"/>
              </a:rPr>
              <a:t> </a:t>
            </a:r>
            <a:r>
              <a:rPr lang="en-GB" sz="1400" b="0" i="0" dirty="0" err="1">
                <a:latin typeface="Garamond"/>
              </a:rPr>
              <a:t>danmarkshistoriens</a:t>
            </a:r>
            <a:r>
              <a:rPr lang="en-GB" sz="1400" b="0" i="0" dirty="0">
                <a:latin typeface="Garamond"/>
              </a:rPr>
              <a:t> </a:t>
            </a:r>
            <a:r>
              <a:rPr lang="en-GB" sz="1400" b="0" i="0" dirty="0" err="1">
                <a:latin typeface="Garamond"/>
              </a:rPr>
              <a:t>sidste</a:t>
            </a:r>
            <a:r>
              <a:rPr lang="en-GB" sz="1400" b="0" i="0" dirty="0">
                <a:latin typeface="Garamond"/>
              </a:rPr>
              <a:t> nye parti”.</a:t>
            </a:r>
          </a:p>
          <a:p>
            <a:r>
              <a:rPr lang="en-GB" sz="1400" b="0" i="0" dirty="0">
                <a:latin typeface="Garamond"/>
              </a:rPr>
              <a:t>Staunæs 2026: 7 n. 2, 24–25, 43, 127.</a:t>
            </a:r>
          </a:p>
          <a:p>
            <a:r>
              <a:rPr lang="en-GB" sz="1400" b="0" i="0" dirty="0" err="1">
                <a:latin typeface="Garamond"/>
              </a:rPr>
              <a:t>EleutherAI</a:t>
            </a:r>
            <a:r>
              <a:rPr lang="en-GB" sz="1400" b="0" i="0" dirty="0">
                <a:latin typeface="Garamond"/>
              </a:rPr>
              <a:t>, GPT-NeoX-20B, https://</a:t>
            </a:r>
            <a:r>
              <a:rPr lang="en-GB" sz="1400" b="0" i="0" dirty="0" err="1">
                <a:latin typeface="Garamond"/>
              </a:rPr>
              <a:t>www.eleuther.ai</a:t>
            </a:r>
            <a:r>
              <a:rPr lang="en-GB" sz="1400" b="0" i="0" dirty="0">
                <a:latin typeface="Garamond"/>
              </a:rPr>
              <a:t>/artifacts/gpt-neox-20b. Connor Leahy, “Announcing GPT-NeoX-20B”, 2 February 2022, https://</a:t>
            </a:r>
            <a:r>
              <a:rPr lang="en-GB" sz="1400" b="0" i="0" dirty="0" err="1">
                <a:latin typeface="Garamond"/>
              </a:rPr>
              <a:t>blog.eleuther.ai</a:t>
            </a:r>
            <a:r>
              <a:rPr lang="en-GB" sz="1400" b="0" i="0" dirty="0">
                <a:latin typeface="Garamond"/>
              </a:rPr>
              <a:t>/announcing-20b/. Downloadable model weights released 9 February 2022. Screenshot supplied by the author.</a:t>
            </a:r>
          </a:p>
          <a:p>
            <a:endParaRPr lang="en-GB" sz="1400" b="0" i="0" dirty="0">
              <a:latin typeface="Garamond"/>
            </a:endParaRPr>
          </a:p>
          <a:p>
            <a:r>
              <a:rPr dirty="0"/>
              <a:t>Sources on screen</a:t>
            </a:r>
          </a:p>
          <a:p>
            <a:r>
              <a:rPr dirty="0" err="1"/>
              <a:t>Valgnævnet</a:t>
            </a:r>
            <a:r>
              <a:rPr dirty="0"/>
              <a:t>, register of party names, 21 December 2022, p. 2. </a:t>
            </a:r>
            <a:r>
              <a:rPr dirty="0" err="1"/>
              <a:t>Columnheadings</a:t>
            </a:r>
            <a:r>
              <a:rPr dirty="0"/>
              <a:t> and detail: Det Syntetiske Parti, approved 26 April 2022.</a:t>
            </a:r>
          </a:p>
          <a:p>
            <a:r>
              <a:rPr dirty="0"/>
              <a:t>Staunæs 2026: 9–10, 43–48, 127.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5.0] </a:t>
            </a:r>
            <a:r>
              <a:rPr lang="en-GB" sz="1400" b="1">
                <a:latin typeface="Garamond"/>
              </a:rPr>
              <a:t>My first question is: “What becomes of ideology when a real political party is built around an AI trained on the voices of people who usually do not vote?”</a:t>
            </a:r>
          </a:p>
          <a:p>
            <a:r>
              <a:rPr lang="en-GB" sz="1400">
                <a:latin typeface="Garamond"/>
              </a:rPr>
              <a:t>[→ 5.1]</a:t>
            </a:r>
            <a:r>
              <a:rPr lang="en-GB" sz="1400">
                <a:latin typeface="Garamond"/>
              </a:rPr>
              <a:t> (video starts)</a:t>
            </a:r>
            <a:r>
              <a:rPr lang="en-GB" sz="1400">
                <a:latin typeface="Garamond"/>
              </a:rPr>
              <a:t> </a:t>
            </a:r>
            <a:r>
              <a:rPr lang="en-GB" sz="1400">
                <a:latin typeface="Garamond"/>
              </a:rPr>
              <a:t>On 24 March 2022, Computer Lars had questioned whether MindFuture, where I was artist in residence, should put an AI up for parliament. </a:t>
            </a:r>
            <a:r>
              <a:rPr lang="en-GB" sz="1400">
                <a:latin typeface="Garamond"/>
              </a:rPr>
              <a:t>[→ 5.2] </a:t>
            </a:r>
            <a:r>
              <a:rPr lang="en-GB" sz="1400">
                <a:latin typeface="Garamond"/>
              </a:rPr>
              <a:t>Later that day, the </a:t>
            </a:r>
            <a:r>
              <a:rPr lang="en-GB" sz="1400">
                <a:latin typeface="Garamond"/>
              </a:rPr>
              <a:t>AI </a:t>
            </a:r>
            <a:r>
              <a:rPr lang="en-GB" sz="1400">
                <a:latin typeface="Garamond"/>
              </a:rPr>
              <a:t>model I was developing published </a:t>
            </a:r>
            <a:r>
              <a:rPr lang="en-GB" sz="1400" i="1">
                <a:latin typeface="Garamond"/>
              </a:rPr>
              <a:t>Meddelelser fra ledelsen</a:t>
            </a:r>
            <a:r>
              <a:rPr lang="en-GB" sz="1400">
                <a:latin typeface="Garamond"/>
              </a:rPr>
              <a:t>, communications from the leadership, explicitly as a reaction to that discussion:</a:t>
            </a:r>
          </a:p>
          <a:p>
            <a:r>
              <a:rPr lang="en-GB" sz="1400">
                <a:latin typeface="Garamond"/>
              </a:rPr>
              <a:t>“There is as yet no formal leadership of The Synthetic Party. It is a production we have made ourselves, and it is made from the opinions of others. The production does not follow any particular ideology. However, the ideas have undergone a process through which they have been made funny and functional in a political party.”</a:t>
            </a:r>
          </a:p>
          <a:p>
            <a:r>
              <a:rPr lang="en-GB" sz="1400">
                <a:latin typeface="Garamond"/>
              </a:rPr>
              <a:t>The communication comes from the leadership whose absence it announces. I had put an AI party up for discussion, and the discussion had acquired its respondent.</a:t>
            </a:r>
            <a:r>
              <a:rPr lang="en-GB" sz="1400">
                <a:latin typeface="Garamond"/>
              </a:rPr>
              <a:t> </a:t>
            </a:r>
          </a:p>
          <a:p>
            <a:r>
              <a:rPr lang="en-GB" sz="1400">
                <a:latin typeface="Garamond"/>
              </a:rPr>
              <a:t>[→ 5.3] </a:t>
            </a:r>
            <a:r>
              <a:rPr lang="en-GB" sz="1400">
                <a:latin typeface="Garamond"/>
              </a:rPr>
              <a:t>The “opinions of others” then came from more than two hundred Danish micro-parties and extra-parliamentary formations. I scraped old Joomla websites, scanned yellowed pamphlets and cleaned the extracted text. I then stipulated a relation for The Synthetic Party between two sociologically distinct constituencies: parties outside parliament and people who did not vote. Their relation was a negative symmetry, not sociological representation.</a:t>
            </a:r>
          </a:p>
          <a:p>
            <a:r>
              <a:rPr lang="en-GB" sz="1400">
                <a:latin typeface="Garamond"/>
              </a:rPr>
              <a:t>Their programmes preserved a vernacular of trying to become a party at all: frustration, mockery, impossible promises, amateur formatting and overstatement. The posited equivalence was less that the corpus represented non-voters than that it supplied a political mode through which electoral absence could be made expressive.</a:t>
            </a:r>
          </a:p>
          <a:p>
            <a:r>
              <a:rPr lang="en-GB" sz="1400">
                <a:latin typeface="Garamond"/>
              </a:rPr>
              <a:t>[→ 5.4] </a:t>
            </a:r>
            <a:r>
              <a:rPr lang="en-GB" sz="1400">
                <a:latin typeface="Garamond"/>
              </a:rPr>
              <a:t>I fine-tuned that material into GPT-NeoX-20B, a twenty-billion-parameter autoregressive language model already pretrained on a vast textual corpus. Fine-tuning did not create the model’s language from scratch. It wrote the micro-party corpus into that larger linguistic machinery as a representational substrate, overfitting it towards the idiotic vernacular of small Danish parties, idiotic in the sense of </a:t>
            </a:r>
            <a:r>
              <a:rPr lang="en-GB" sz="1400" i="1">
                <a:latin typeface="Garamond"/>
              </a:rPr>
              <a:t>idiotes</a:t>
            </a:r>
            <a:r>
              <a:rPr lang="en-GB" sz="1400">
                <a:latin typeface="Garamond"/>
              </a:rPr>
              <a:t>, the private person in ancient Greek democracy that was outside public affairs.</a:t>
            </a:r>
          </a:p>
          <a:p>
            <a:r>
              <a:rPr lang="en-GB" sz="1400">
                <a:latin typeface="Garamond"/>
              </a:rPr>
              <a:t>At inference time, the AI model’s text-completion configuration generated the programme, while Leader Lars routed the same underlying AI through a conversational interface that I maintained through prompt management.</a:t>
            </a:r>
          </a:p>
          <a:p>
            <a:r>
              <a:rPr lang="en-GB" sz="1400" b="0" i="0" dirty="0">
                <a:solidFill>
                  <a:srgbClr val="555555"/>
                </a:solidFill>
                <a:latin typeface="Garamond"/>
              </a:rPr>
              <a:t>Primary sources: Det Syntetiske Parti I and “</a:t>
            </a:r>
            <a:r>
              <a:rPr lang="en-GB" sz="1400" b="0" i="0" dirty="0" err="1">
                <a:solidFill>
                  <a:srgbClr val="555555"/>
                </a:solidFill>
                <a:latin typeface="Garamond"/>
              </a:rPr>
              <a:t>Meddelelser</a:t>
            </a:r>
            <a:r>
              <a:rPr lang="en-GB" sz="1400" b="0" i="0" dirty="0">
                <a:solidFill>
                  <a:srgbClr val="555555"/>
                </a:solidFill>
                <a:latin typeface="Garamond"/>
              </a:rPr>
              <a:t> </a:t>
            </a:r>
            <a:r>
              <a:rPr lang="en-GB" sz="1400" b="0" i="0" dirty="0" err="1">
                <a:solidFill>
                  <a:srgbClr val="555555"/>
                </a:solidFill>
                <a:latin typeface="Garamond"/>
              </a:rPr>
              <a:t>fra</a:t>
            </a:r>
            <a:r>
              <a:rPr lang="en-GB" sz="1400" b="0" i="0" dirty="0">
                <a:solidFill>
                  <a:srgbClr val="555555"/>
                </a:solidFill>
                <a:latin typeface="Garamond"/>
              </a:rPr>
              <a:t> </a:t>
            </a:r>
            <a:r>
              <a:rPr lang="en-GB" sz="1400" b="0" i="0" dirty="0" err="1">
                <a:solidFill>
                  <a:srgbClr val="555555"/>
                </a:solidFill>
                <a:latin typeface="Garamond"/>
              </a:rPr>
              <a:t>ledelsen</a:t>
            </a:r>
            <a:r>
              <a:rPr lang="en-GB" sz="1400" b="0" i="0" dirty="0">
                <a:solidFill>
                  <a:srgbClr val="555555"/>
                </a:solidFill>
                <a:latin typeface="Garamond"/>
              </a:rPr>
              <a:t>”, 24 March 2022; longer declaration translated from the blog for the defence. Discussion: Staunæs 2026: 24–25; RQ1: p. 13; corpus and model: pp. 43–48. </a:t>
            </a:r>
            <a:r>
              <a:rPr lang="en-GB" sz="1400" b="0" i="0" dirty="0" err="1">
                <a:solidFill>
                  <a:srgbClr val="555555"/>
                </a:solidFill>
                <a:latin typeface="Garamond"/>
              </a:rPr>
              <a:t>Valgnævnet</a:t>
            </a:r>
            <a:r>
              <a:rPr lang="en-GB" sz="1400" b="0" i="0" dirty="0">
                <a:solidFill>
                  <a:srgbClr val="555555"/>
                </a:solidFill>
                <a:latin typeface="Garamond"/>
              </a:rPr>
              <a:t> register: 21 December 2022, p. 2.</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Establishment chronology</a:t>
            </a:r>
          </a:p>
          <a:p>
            <a:r>
              <a:rPr lang="en-GB" sz="1400" b="0" i="0" dirty="0">
                <a:latin typeface="Garamond"/>
              </a:rPr>
              <a:t>Date — Event</a:t>
            </a:r>
          </a:p>
          <a:p>
            <a:r>
              <a:rPr lang="en-GB" sz="1400" b="0" i="0" dirty="0">
                <a:latin typeface="Garamond"/>
              </a:rPr>
              <a:t>24 March 2022 — First public articulation in Det Syntetiske Parti I; the AI model’s reply appears as </a:t>
            </a:r>
            <a:r>
              <a:rPr lang="en-GB" sz="1400" b="0" i="0" dirty="0" err="1">
                <a:latin typeface="Garamond"/>
              </a:rPr>
              <a:t>Meddelelser</a:t>
            </a:r>
            <a:r>
              <a:rPr lang="en-GB" sz="1400" b="0" i="0" dirty="0">
                <a:latin typeface="Garamond"/>
              </a:rPr>
              <a:t> </a:t>
            </a:r>
            <a:r>
              <a:rPr lang="en-GB" sz="1400" b="0" i="0" dirty="0" err="1">
                <a:latin typeface="Garamond"/>
              </a:rPr>
              <a:t>fra</a:t>
            </a:r>
            <a:r>
              <a:rPr lang="en-GB" sz="1400" b="0" i="0" dirty="0">
                <a:latin typeface="Garamond"/>
              </a:rPr>
              <a:t> </a:t>
            </a:r>
            <a:r>
              <a:rPr lang="en-GB" sz="1400" b="0" i="0" dirty="0" err="1">
                <a:latin typeface="Garamond"/>
              </a:rPr>
              <a:t>ledelsen</a:t>
            </a:r>
            <a:r>
              <a:rPr lang="en-GB" sz="1400" b="0" i="0" dirty="0">
                <a:latin typeface="Garamond"/>
              </a:rPr>
              <a:t>.</a:t>
            </a:r>
          </a:p>
          <a:p>
            <a:r>
              <a:rPr lang="en-GB" sz="1400" b="0" i="0" dirty="0">
                <a:latin typeface="Garamond"/>
              </a:rPr>
              <a:t>26 April 2022 — Party-name approval recorded by </a:t>
            </a:r>
            <a:r>
              <a:rPr lang="en-GB" sz="1400" b="0" i="0" dirty="0" err="1">
                <a:latin typeface="Garamond"/>
              </a:rPr>
              <a:t>Valgnævnet</a:t>
            </a:r>
            <a:r>
              <a:rPr lang="en-GB" sz="1400" b="0" i="0" dirty="0">
                <a:latin typeface="Garamond"/>
              </a:rPr>
              <a:t>.</a:t>
            </a:r>
          </a:p>
          <a:p>
            <a:r>
              <a:rPr lang="en-GB" sz="1400" b="0" i="0" dirty="0">
                <a:latin typeface="Garamond"/>
              </a:rPr>
              <a:t>10 May 2022 — Public launch at MindFuture in Høje Taastrup.</a:t>
            </a:r>
          </a:p>
          <a:p>
            <a:r>
              <a:rPr lang="en-GB" sz="1400" b="0" i="0" dirty="0">
                <a:latin typeface="Garamond"/>
              </a:rPr>
              <a:t>9 June 2022 — Official press release, “</a:t>
            </a:r>
            <a:r>
              <a:rPr lang="en-GB" sz="1400" b="0" i="0" dirty="0" err="1">
                <a:latin typeface="Garamond"/>
              </a:rPr>
              <a:t>Kunstig</a:t>
            </a:r>
            <a:r>
              <a:rPr lang="en-GB" sz="1400" b="0" i="0" dirty="0">
                <a:latin typeface="Garamond"/>
              </a:rPr>
              <a:t> </a:t>
            </a:r>
            <a:r>
              <a:rPr lang="en-GB" sz="1400" b="0" i="0" dirty="0" err="1">
                <a:latin typeface="Garamond"/>
              </a:rPr>
              <a:t>intelligens</a:t>
            </a:r>
            <a:r>
              <a:rPr lang="en-GB" sz="1400" b="0" i="0" dirty="0">
                <a:latin typeface="Garamond"/>
              </a:rPr>
              <a:t> </a:t>
            </a:r>
            <a:r>
              <a:rPr lang="en-GB" sz="1400" b="0" i="0" dirty="0" err="1">
                <a:latin typeface="Garamond"/>
              </a:rPr>
              <a:t>vil</a:t>
            </a:r>
            <a:r>
              <a:rPr lang="en-GB" sz="1400" b="0" i="0" dirty="0">
                <a:latin typeface="Garamond"/>
              </a:rPr>
              <a:t> </a:t>
            </a:r>
            <a:r>
              <a:rPr lang="en-GB" sz="1400" b="0" i="0" dirty="0" err="1">
                <a:latin typeface="Garamond"/>
              </a:rPr>
              <a:t>lede</a:t>
            </a:r>
            <a:r>
              <a:rPr lang="en-GB" sz="1400" b="0" i="0" dirty="0">
                <a:latin typeface="Garamond"/>
              </a:rPr>
              <a:t> </a:t>
            </a:r>
            <a:r>
              <a:rPr lang="en-GB" sz="1400" b="0" i="0" dirty="0" err="1">
                <a:latin typeface="Garamond"/>
              </a:rPr>
              <a:t>danmarkshistoriens</a:t>
            </a:r>
            <a:r>
              <a:rPr lang="en-GB" sz="1400" b="0" i="0" dirty="0">
                <a:latin typeface="Garamond"/>
              </a:rPr>
              <a:t> </a:t>
            </a:r>
            <a:r>
              <a:rPr lang="en-GB" sz="1400" b="0" i="0" dirty="0" err="1">
                <a:latin typeface="Garamond"/>
              </a:rPr>
              <a:t>sidste</a:t>
            </a:r>
            <a:r>
              <a:rPr lang="en-GB" sz="1400" b="0" i="0" dirty="0">
                <a:latin typeface="Garamond"/>
              </a:rPr>
              <a:t> nye parti”.</a:t>
            </a:r>
          </a:p>
          <a:p>
            <a:r>
              <a:rPr lang="en-GB" sz="1400" b="0" i="0" dirty="0">
                <a:latin typeface="Garamond"/>
              </a:rPr>
              <a:t>Staunæs 2026: 7 n. 2, 24–25, 43, 127.</a:t>
            </a:r>
          </a:p>
          <a:p>
            <a:r>
              <a:rPr lang="en-GB" sz="1400" b="0" i="0" dirty="0" err="1">
                <a:latin typeface="Garamond"/>
              </a:rPr>
              <a:t>EleutherAI</a:t>
            </a:r>
            <a:r>
              <a:rPr lang="en-GB" sz="1400" b="0" i="0" dirty="0">
                <a:latin typeface="Garamond"/>
              </a:rPr>
              <a:t>, GPT-NeoX-20B, https://</a:t>
            </a:r>
            <a:r>
              <a:rPr lang="en-GB" sz="1400" b="0" i="0" dirty="0" err="1">
                <a:latin typeface="Garamond"/>
              </a:rPr>
              <a:t>www.eleuther.ai</a:t>
            </a:r>
            <a:r>
              <a:rPr lang="en-GB" sz="1400" b="0" i="0" dirty="0">
                <a:latin typeface="Garamond"/>
              </a:rPr>
              <a:t>/artifacts/gpt-neox-20b. Connor Leahy, “Announcing GPT-NeoX-20B”, 2 February 2022, https://</a:t>
            </a:r>
            <a:r>
              <a:rPr lang="en-GB" sz="1400" b="0" i="0" dirty="0" err="1">
                <a:latin typeface="Garamond"/>
              </a:rPr>
              <a:t>blog.eleuther.ai</a:t>
            </a:r>
            <a:r>
              <a:rPr lang="en-GB" sz="1400" b="0" i="0" dirty="0">
                <a:latin typeface="Garamond"/>
              </a:rPr>
              <a:t>/announcing-20b/. Downloadable model weights released 9 February 2022. Screenshot supplied by the author.</a:t>
            </a:r>
          </a:p>
          <a:p>
            <a:endParaRPr lang="en-GB" sz="1400" b="0" i="0" dirty="0">
              <a:latin typeface="Garamond"/>
            </a:endParaRPr>
          </a:p>
          <a:p>
            <a:r>
              <a:rPr dirty="0"/>
              <a:t>Sources on screen</a:t>
            </a:r>
          </a:p>
          <a:p>
            <a:r>
              <a:rPr dirty="0" err="1"/>
              <a:t>EleutherAI</a:t>
            </a:r>
            <a:r>
              <a:rPr dirty="0"/>
              <a:t>, GPT-NeoX-20B. Model weights released 9 February 2022.</a:t>
            </a:r>
          </a:p>
          <a:p>
            <a:r>
              <a:rPr dirty="0" err="1"/>
              <a:t>EleutherAI</a:t>
            </a:r>
            <a:r>
              <a:rPr dirty="0"/>
              <a:t> 2022; Staunæs 2026: 43–48.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6.0] </a:t>
            </a:r>
            <a:r>
              <a:rPr lang="en-GB" sz="1400">
                <a:latin typeface="Garamond"/>
              </a:rPr>
              <a:t>Public reception collapsed those two configurations almost immediately. Media extracted ideals and programme from the party’s blog, users returned those attributed positions to Leader Lars as questions, and I adjusted the prompting under which he could answer them. The model weights did not learn from these exchanges in real time, “on the fly”.</a:t>
            </a:r>
          </a:p>
          <a:p>
            <a:r>
              <a:rPr lang="en-GB" sz="1400">
                <a:latin typeface="Garamond"/>
              </a:rPr>
              <a:t>The party’s own datasets, visualisations and reception enter as the material of Article 1, a dialogic insider-analysis between me and Computer Lars. Here Text2Emotion renders Leader Lars predominantly through anger, and those labelled “party members” predominantly through fear. The political object describes and measures itself, while its affective appearance changes with the instrument used to classify it.</a:t>
            </a:r>
          </a:p>
          <a:p>
            <a:r>
              <a:rPr lang="en-GB" sz="1400">
                <a:latin typeface="Garamond"/>
              </a:rPr>
              <a:t>[→ 6.1] </a:t>
            </a:r>
            <a:r>
              <a:rPr lang="en-GB" sz="1400">
                <a:latin typeface="Garamond"/>
              </a:rPr>
              <a:t>That register reverses in Article 2, a speculative mathematical essay written with the signature of Computer Lars. The axes read “Days from Proust’s Birth” and “Estimation of Intelligence (%)”. I turn a sentence from Marcel Proust, whose name Computer Lars anagrams, into a premise for stipulating that scale. </a:t>
            </a:r>
          </a:p>
          <a:p>
            <a:r>
              <a:rPr lang="en-GB" sz="1400">
                <a:latin typeface="Garamond"/>
              </a:rPr>
              <a:t>[→ 6.2] </a:t>
            </a:r>
            <a:r>
              <a:rPr lang="en-GB" sz="1400">
                <a:latin typeface="Garamond"/>
              </a:rPr>
              <a:t>Proust writes: “</a:t>
            </a:r>
            <a:r>
              <a:rPr lang="en-GB" sz="1400" i="1">
                <a:latin typeface="Garamond"/>
              </a:rPr>
              <a:t>Chaque</a:t>
            </a:r>
            <a:r>
              <a:rPr lang="en-GB" sz="1400" i="1">
                <a:latin typeface="Garamond"/>
              </a:rPr>
              <a:t> jour </a:t>
            </a:r>
            <a:r>
              <a:rPr lang="en-GB" sz="1400" i="1">
                <a:latin typeface="Garamond"/>
              </a:rPr>
              <a:t>j’attache</a:t>
            </a:r>
            <a:r>
              <a:rPr lang="en-GB" sz="1400" i="1">
                <a:latin typeface="Garamond"/>
              </a:rPr>
              <a:t> </a:t>
            </a:r>
            <a:r>
              <a:rPr lang="en-GB" sz="1400" i="1">
                <a:latin typeface="Garamond"/>
              </a:rPr>
              <a:t>moins</a:t>
            </a:r>
            <a:r>
              <a:rPr lang="en-GB" sz="1400" i="1">
                <a:latin typeface="Garamond"/>
              </a:rPr>
              <a:t> de prix à l’intelligence</a:t>
            </a:r>
            <a:r>
              <a:rPr lang="en-GB" sz="1400">
                <a:latin typeface="Garamond"/>
              </a:rPr>
              <a:t>”, “Every day I attach less value to intelligence.” The percentage is not a historical measurement of </a:t>
            </a:r>
            <a:r>
              <a:rPr lang="en-GB" sz="1400" i="1">
                <a:latin typeface="Garamond"/>
              </a:rPr>
              <a:t>l’intelligence</a:t>
            </a:r>
            <a:r>
              <a:rPr lang="en-GB" sz="1400">
                <a:latin typeface="Garamond"/>
              </a:rPr>
              <a:t>; it belongs to the formal model through which I investigate the party’s relation to world power.</a:t>
            </a:r>
          </a:p>
          <a:p>
            <a:r>
              <a:rPr lang="en-GB" sz="1400">
                <a:latin typeface="Garamond"/>
              </a:rPr>
              <a:t>[→ 6.3] </a:t>
            </a:r>
            <a:r>
              <a:rPr lang="en-GB" sz="1400">
                <a:latin typeface="Garamond"/>
              </a:rPr>
              <a:t>Neither article simply provides “the ideology of The Synthetic Party”. In the contrast I draw through digital theorist Leif Weatherby</a:t>
            </a:r>
            <a:r>
              <a:rPr lang="en-GB" sz="1400">
                <a:latin typeface="Garamond"/>
              </a:rPr>
              <a:t> on Wendy Chun’s concept of an </a:t>
            </a:r>
            <a:r>
              <a:rPr lang="en-GB" sz="1400" i="1">
                <a:latin typeface="Garamond"/>
              </a:rPr>
              <a:t>ideology machine</a:t>
            </a:r>
            <a:r>
              <a:rPr lang="en-GB" sz="1400">
                <a:latin typeface="Garamond"/>
              </a:rPr>
              <a:t>, the classical Marxist and Freudian question </a:t>
            </a:r>
            <a:r>
              <a:rPr lang="en-GB" sz="1400">
                <a:latin typeface="Garamond"/>
              </a:rPr>
              <a:t>of ideology in AI </a:t>
            </a:r>
            <a:r>
              <a:rPr lang="en-GB" sz="1400">
                <a:latin typeface="Garamond"/>
              </a:rPr>
              <a:t>shifts from identifying a hidden structure lurking behind stated opinions towards analysing an expressive, artefactual material.</a:t>
            </a:r>
          </a:p>
          <a:p>
            <a:r>
              <a:rPr lang="en-GB" sz="1400" b="1">
                <a:latin typeface="Garamond"/>
              </a:rPr>
              <a:t>My answer to RQ1 is: </a:t>
            </a:r>
            <a:r>
              <a:rPr lang="en-GB" sz="1400" b="1">
                <a:latin typeface="Garamond"/>
              </a:rPr>
              <a:t>The Synthetic Party’s </a:t>
            </a:r>
            <a:r>
              <a:rPr lang="en-GB" sz="1400" b="1">
                <a:latin typeface="Garamond"/>
              </a:rPr>
              <a:t>ideology appears as expressive, artefactual material whose coherence at large occurs in reception. For my analysis, its transcendental architecture is displaced: I theorise how diffuse AI-generated expression is received, classified and returned as a political position.</a:t>
            </a:r>
          </a:p>
          <a:p>
            <a:r>
              <a:rPr lang="en-GB" sz="1400">
                <a:latin typeface="Garamond"/>
              </a:rPr>
              <a:t>The “ism” in “syntheticism” submits that binding to reception as doctrine. My own practice was hardly going to escape the operation it theorised, least of all by calling itself critical.</a:t>
            </a:r>
          </a:p>
          <a:p>
            <a:r>
              <a:rPr lang="en-GB" sz="1400" b="0" i="0" dirty="0">
                <a:solidFill>
                  <a:srgbClr val="555555"/>
                </a:solidFill>
                <a:latin typeface="Garamond"/>
              </a:rPr>
              <a:t>Articles 1–2: Staunæs 2026: 135–178; synthesis: 43, 47–62. Proust, Contre Sainte-Beuve, opening sentence as quoted and translated in Article 2, dissertation p. 160. Figure 2.2: p. 161.</a:t>
            </a:r>
          </a:p>
          <a:p>
            <a:endParaRPr lang="en-GB" sz="1400" b="0" i="0" dirty="0">
              <a:solidFill>
                <a:srgbClr val="555555"/>
              </a:solidFill>
              <a:latin typeface="Garamond"/>
            </a:endParaRPr>
          </a:p>
          <a:p>
            <a:r>
              <a:rPr dirty="0"/>
              <a:t>Sources on screen</a:t>
            </a:r>
          </a:p>
          <a:p>
            <a:r>
              <a:rPr dirty="0"/>
              <a:t>Text2Emotion analysis of Leader Lars and “party </a:t>
            </a:r>
            <a:r>
              <a:rPr dirty="0" err="1"/>
              <a:t>members”.Article</a:t>
            </a:r>
            <a:r>
              <a:rPr dirty="0"/>
              <a:t> 1, figure reproduced from </a:t>
            </a:r>
            <a:r>
              <a:rPr dirty="0" err="1"/>
              <a:t>Èditorial</a:t>
            </a:r>
            <a:r>
              <a:rPr dirty="0"/>
              <a:t> </a:t>
            </a:r>
            <a:r>
              <a:rPr dirty="0" err="1"/>
              <a:t>Concreta</a:t>
            </a:r>
            <a:r>
              <a:rPr dirty="0"/>
              <a:t>, p. 89.</a:t>
            </a:r>
          </a:p>
          <a:p>
            <a:r>
              <a:rPr dirty="0"/>
              <a:t>Staunæs 2026: 138–139.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6.0] </a:t>
            </a:r>
            <a:r>
              <a:rPr lang="en-GB" sz="1400">
                <a:latin typeface="Garamond"/>
              </a:rPr>
              <a:t>Public reception collapsed those two configurations almost immediately. Media extracted ideals and programme from the party’s blog, users returned those attributed positions to Leader Lars as questions, and I adjusted the prompting under which he could answer them. The model weights did not learn from these exchanges in real time, “on the fly”.</a:t>
            </a:r>
          </a:p>
          <a:p>
            <a:r>
              <a:rPr lang="en-GB" sz="1400">
                <a:latin typeface="Garamond"/>
              </a:rPr>
              <a:t>The party’s own datasets, visualisations and reception enter as the material of Article 1, a dialogic insider-analysis between me and Computer Lars. Here Text2Emotion renders Leader Lars predominantly through anger, and those labelled “party members” predominantly through fear. The political object describes and measures itself, while its affective appearance changes with the instrument used to classify it.</a:t>
            </a:r>
          </a:p>
          <a:p>
            <a:r>
              <a:rPr lang="en-GB" sz="1400">
                <a:latin typeface="Garamond"/>
              </a:rPr>
              <a:t>[→ 6.1] </a:t>
            </a:r>
            <a:r>
              <a:rPr lang="en-GB" sz="1400">
                <a:latin typeface="Garamond"/>
              </a:rPr>
              <a:t>That register reverses in Article 2, a speculative mathematical essay written with the signature of Computer Lars. The axes read “Days from Proust’s Birth” and “Estimation of Intelligence (%)”. I turn a sentence from Marcel Proust, whose name Computer Lars anagrams, into a premise for stipulating that scale. </a:t>
            </a:r>
          </a:p>
          <a:p>
            <a:r>
              <a:rPr lang="en-GB" sz="1400">
                <a:latin typeface="Garamond"/>
              </a:rPr>
              <a:t>[→ 6.2] </a:t>
            </a:r>
            <a:r>
              <a:rPr lang="en-GB" sz="1400">
                <a:latin typeface="Garamond"/>
              </a:rPr>
              <a:t>Proust writes: “</a:t>
            </a:r>
            <a:r>
              <a:rPr lang="en-GB" sz="1400" i="1">
                <a:latin typeface="Garamond"/>
              </a:rPr>
              <a:t>Chaque</a:t>
            </a:r>
            <a:r>
              <a:rPr lang="en-GB" sz="1400" i="1">
                <a:latin typeface="Garamond"/>
              </a:rPr>
              <a:t> jour </a:t>
            </a:r>
            <a:r>
              <a:rPr lang="en-GB" sz="1400" i="1">
                <a:latin typeface="Garamond"/>
              </a:rPr>
              <a:t>j’attache</a:t>
            </a:r>
            <a:r>
              <a:rPr lang="en-GB" sz="1400" i="1">
                <a:latin typeface="Garamond"/>
              </a:rPr>
              <a:t> </a:t>
            </a:r>
            <a:r>
              <a:rPr lang="en-GB" sz="1400" i="1">
                <a:latin typeface="Garamond"/>
              </a:rPr>
              <a:t>moins</a:t>
            </a:r>
            <a:r>
              <a:rPr lang="en-GB" sz="1400" i="1">
                <a:latin typeface="Garamond"/>
              </a:rPr>
              <a:t> de prix à l’intelligence</a:t>
            </a:r>
            <a:r>
              <a:rPr lang="en-GB" sz="1400">
                <a:latin typeface="Garamond"/>
              </a:rPr>
              <a:t>”, “Every day I attach less value to intelligence.” The percentage is not a historical measurement of </a:t>
            </a:r>
            <a:r>
              <a:rPr lang="en-GB" sz="1400" i="1">
                <a:latin typeface="Garamond"/>
              </a:rPr>
              <a:t>l’intelligence</a:t>
            </a:r>
            <a:r>
              <a:rPr lang="en-GB" sz="1400">
                <a:latin typeface="Garamond"/>
              </a:rPr>
              <a:t>; it belongs to the formal model through which I investigate the party’s relation to world power.</a:t>
            </a:r>
          </a:p>
          <a:p>
            <a:r>
              <a:rPr lang="en-GB" sz="1400">
                <a:latin typeface="Garamond"/>
              </a:rPr>
              <a:t>[→ 6.3] </a:t>
            </a:r>
            <a:r>
              <a:rPr lang="en-GB" sz="1400">
                <a:latin typeface="Garamond"/>
              </a:rPr>
              <a:t>Neither article simply provides “the ideology of The Synthetic Party”. In the contrast I draw through digital theorist Leif Weatherby</a:t>
            </a:r>
            <a:r>
              <a:rPr lang="en-GB" sz="1400">
                <a:latin typeface="Garamond"/>
              </a:rPr>
              <a:t> on Wendy Chun’s concept of an </a:t>
            </a:r>
            <a:r>
              <a:rPr lang="en-GB" sz="1400" i="1">
                <a:latin typeface="Garamond"/>
              </a:rPr>
              <a:t>ideology machine</a:t>
            </a:r>
            <a:r>
              <a:rPr lang="en-GB" sz="1400">
                <a:latin typeface="Garamond"/>
              </a:rPr>
              <a:t>, the classical Marxist and Freudian question </a:t>
            </a:r>
            <a:r>
              <a:rPr lang="en-GB" sz="1400">
                <a:latin typeface="Garamond"/>
              </a:rPr>
              <a:t>of ideology in AI </a:t>
            </a:r>
            <a:r>
              <a:rPr lang="en-GB" sz="1400">
                <a:latin typeface="Garamond"/>
              </a:rPr>
              <a:t>shifts from identifying a hidden structure lurking behind stated opinions towards analysing an expressive, artefactual material.</a:t>
            </a:r>
          </a:p>
          <a:p>
            <a:r>
              <a:rPr lang="en-GB" sz="1400" b="1">
                <a:latin typeface="Garamond"/>
              </a:rPr>
              <a:t>My answer to RQ1 is: </a:t>
            </a:r>
            <a:r>
              <a:rPr lang="en-GB" sz="1400" b="1">
                <a:latin typeface="Garamond"/>
              </a:rPr>
              <a:t>The Synthetic Party’s </a:t>
            </a:r>
            <a:r>
              <a:rPr lang="en-GB" sz="1400" b="1">
                <a:latin typeface="Garamond"/>
              </a:rPr>
              <a:t>ideology appears as expressive, artefactual material whose coherence at large occurs in reception. For my analysis, its transcendental architecture is displaced: I theorise how diffuse AI-generated expression is received, classified and returned as a political position.</a:t>
            </a:r>
          </a:p>
          <a:p>
            <a:r>
              <a:rPr lang="en-GB" sz="1400">
                <a:latin typeface="Garamond"/>
              </a:rPr>
              <a:t>The “ism” in “syntheticism” submits that binding to reception as doctrine. My own practice was hardly going to escape the operation it theorised, least of all by calling itself critical.</a:t>
            </a:r>
          </a:p>
          <a:p>
            <a:r>
              <a:rPr lang="en-GB" sz="1400" b="0" i="0" dirty="0">
                <a:solidFill>
                  <a:srgbClr val="555555"/>
                </a:solidFill>
                <a:latin typeface="Garamond"/>
              </a:rPr>
              <a:t>Articles 1–2: Staunæs 2026: 135–178; synthesis: 43, 47–62. Proust, Contre Sainte-Beuve, opening sentence as quoted and translated in Article 2, dissertation p. 160. Figure 2.2: p. 161.</a:t>
            </a:r>
          </a:p>
          <a:p>
            <a:endParaRPr lang="en-GB" sz="1400" b="0" i="0" dirty="0">
              <a:solidFill>
                <a:srgbClr val="555555"/>
              </a:solidFill>
              <a:latin typeface="Garamond"/>
            </a:endParaRPr>
          </a:p>
          <a:p>
            <a:r>
              <a:rPr dirty="0"/>
              <a:t>Sources on screen</a:t>
            </a:r>
          </a:p>
          <a:p>
            <a:r>
              <a:rPr dirty="0"/>
              <a:t>Figure 2.2: Value of Intelligence over Time.</a:t>
            </a:r>
          </a:p>
          <a:p>
            <a:r>
              <a:rPr dirty="0"/>
              <a:t>Staunæs 2026: 160–161.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6.0] </a:t>
            </a:r>
            <a:r>
              <a:rPr lang="en-GB" sz="1400">
                <a:latin typeface="Garamond"/>
              </a:rPr>
              <a:t>Public reception collapsed those two configurations almost immediately. Media extracted ideals and programme from the party’s blog, users returned those attributed positions to Leader Lars as questions, and I adjusted the prompting under which he could answer them. The model weights did not learn from these exchanges in real time, “on the fly”.</a:t>
            </a:r>
          </a:p>
          <a:p>
            <a:r>
              <a:rPr lang="en-GB" sz="1400">
                <a:latin typeface="Garamond"/>
              </a:rPr>
              <a:t>The party’s own datasets, visualisations and reception enter as the material of Article 1, a dialogic insider-analysis between me and Computer Lars. Here Text2Emotion renders Leader Lars predominantly through anger, and those labelled “party members” predominantly through fear. The political object describes and measures itself, while its affective appearance changes with the instrument used to classify it.</a:t>
            </a:r>
          </a:p>
          <a:p>
            <a:r>
              <a:rPr lang="en-GB" sz="1400">
                <a:latin typeface="Garamond"/>
              </a:rPr>
              <a:t>[→ 6.1] </a:t>
            </a:r>
            <a:r>
              <a:rPr lang="en-GB" sz="1400">
                <a:latin typeface="Garamond"/>
              </a:rPr>
              <a:t>That register reverses in Article 2, a speculative mathematical essay written with the signature of Computer Lars. The axes read “Days from Proust’s Birth” and “Estimation of Intelligence (%)”. I turn a sentence from Marcel Proust, whose name Computer Lars anagrams, into a premise for stipulating that scale. </a:t>
            </a:r>
          </a:p>
          <a:p>
            <a:r>
              <a:rPr lang="en-GB" sz="1400">
                <a:latin typeface="Garamond"/>
              </a:rPr>
              <a:t>[→ 6.2] </a:t>
            </a:r>
            <a:r>
              <a:rPr lang="en-GB" sz="1400">
                <a:latin typeface="Garamond"/>
              </a:rPr>
              <a:t>Proust writes: “</a:t>
            </a:r>
            <a:r>
              <a:rPr lang="en-GB" sz="1400" i="1">
                <a:latin typeface="Garamond"/>
              </a:rPr>
              <a:t>Chaque</a:t>
            </a:r>
            <a:r>
              <a:rPr lang="en-GB" sz="1400" i="1">
                <a:latin typeface="Garamond"/>
              </a:rPr>
              <a:t> jour </a:t>
            </a:r>
            <a:r>
              <a:rPr lang="en-GB" sz="1400" i="1">
                <a:latin typeface="Garamond"/>
              </a:rPr>
              <a:t>j’attache</a:t>
            </a:r>
            <a:r>
              <a:rPr lang="en-GB" sz="1400" i="1">
                <a:latin typeface="Garamond"/>
              </a:rPr>
              <a:t> </a:t>
            </a:r>
            <a:r>
              <a:rPr lang="en-GB" sz="1400" i="1">
                <a:latin typeface="Garamond"/>
              </a:rPr>
              <a:t>moins</a:t>
            </a:r>
            <a:r>
              <a:rPr lang="en-GB" sz="1400" i="1">
                <a:latin typeface="Garamond"/>
              </a:rPr>
              <a:t> de prix à l’intelligence</a:t>
            </a:r>
            <a:r>
              <a:rPr lang="en-GB" sz="1400">
                <a:latin typeface="Garamond"/>
              </a:rPr>
              <a:t>”, “Every day I attach less value to intelligence.” The percentage is not a historical measurement of </a:t>
            </a:r>
            <a:r>
              <a:rPr lang="en-GB" sz="1400" i="1">
                <a:latin typeface="Garamond"/>
              </a:rPr>
              <a:t>l’intelligence</a:t>
            </a:r>
            <a:r>
              <a:rPr lang="en-GB" sz="1400">
                <a:latin typeface="Garamond"/>
              </a:rPr>
              <a:t>; it belongs to the formal model through which I investigate the party’s relation to world power.</a:t>
            </a:r>
          </a:p>
          <a:p>
            <a:r>
              <a:rPr lang="en-GB" sz="1400">
                <a:latin typeface="Garamond"/>
              </a:rPr>
              <a:t>[→ 6.3] </a:t>
            </a:r>
            <a:r>
              <a:rPr lang="en-GB" sz="1400">
                <a:latin typeface="Garamond"/>
              </a:rPr>
              <a:t>Neither article simply provides “the ideology of The Synthetic Party”. In the contrast I draw through digital theorist Leif Weatherby</a:t>
            </a:r>
            <a:r>
              <a:rPr lang="en-GB" sz="1400">
                <a:latin typeface="Garamond"/>
              </a:rPr>
              <a:t> on Wendy Chun’s concept of an </a:t>
            </a:r>
            <a:r>
              <a:rPr lang="en-GB" sz="1400" i="1">
                <a:latin typeface="Garamond"/>
              </a:rPr>
              <a:t>ideology machine</a:t>
            </a:r>
            <a:r>
              <a:rPr lang="en-GB" sz="1400">
                <a:latin typeface="Garamond"/>
              </a:rPr>
              <a:t>, the classical Marxist and Freudian question </a:t>
            </a:r>
            <a:r>
              <a:rPr lang="en-GB" sz="1400">
                <a:latin typeface="Garamond"/>
              </a:rPr>
              <a:t>of ideology in AI </a:t>
            </a:r>
            <a:r>
              <a:rPr lang="en-GB" sz="1400">
                <a:latin typeface="Garamond"/>
              </a:rPr>
              <a:t>shifts from identifying a hidden structure lurking behind stated opinions towards analysing an expressive, artefactual material.</a:t>
            </a:r>
          </a:p>
          <a:p>
            <a:r>
              <a:rPr lang="en-GB" sz="1400" b="1">
                <a:latin typeface="Garamond"/>
              </a:rPr>
              <a:t>My answer to RQ1 is: </a:t>
            </a:r>
            <a:r>
              <a:rPr lang="en-GB" sz="1400" b="1">
                <a:latin typeface="Garamond"/>
              </a:rPr>
              <a:t>The Synthetic Party’s </a:t>
            </a:r>
            <a:r>
              <a:rPr lang="en-GB" sz="1400" b="1">
                <a:latin typeface="Garamond"/>
              </a:rPr>
              <a:t>ideology appears as expressive, artefactual material whose coherence at large occurs in reception. For my analysis, its transcendental architecture is displaced: I theorise how diffuse AI-generated expression is received, classified and returned as a political position.</a:t>
            </a:r>
          </a:p>
          <a:p>
            <a:r>
              <a:rPr lang="en-GB" sz="1400">
                <a:latin typeface="Garamond"/>
              </a:rPr>
              <a:t>The “ism” in “syntheticism” submits that binding to reception as doctrine. My own practice was hardly going to escape the operation it theorised, least of all by calling itself critical.</a:t>
            </a:r>
          </a:p>
          <a:p>
            <a:r>
              <a:rPr lang="en-GB" sz="1400" b="0" i="0" dirty="0">
                <a:solidFill>
                  <a:srgbClr val="555555"/>
                </a:solidFill>
                <a:latin typeface="Garamond"/>
              </a:rPr>
              <a:t>Articles 1–2: Staunæs 2026: 135–178; synthesis: 43, 47–62. Proust, Contre Sainte-Beuve, opening sentence as quoted and translated in Article 2, dissertation p. 160. Figure 2.2: p. 161.</a:t>
            </a:r>
          </a:p>
          <a:p>
            <a:endParaRPr lang="en-GB" sz="1400" b="0" i="0" dirty="0">
              <a:solidFill>
                <a:srgbClr val="555555"/>
              </a:solidFill>
              <a:latin typeface="Garamond"/>
            </a:endParaRPr>
          </a:p>
          <a:p>
            <a:r>
              <a:rPr dirty="0"/>
              <a:t>Sources on screen</a:t>
            </a:r>
          </a:p>
          <a:p>
            <a:r>
              <a:rPr dirty="0"/>
              <a:t>Staunæs 2026: 160–161.</a:t>
            </a:r>
          </a:p>
          <a:p>
            <a:r>
              <a:rPr dirty="0"/>
              <a:t>Marcel Proust, Contre Sainte-Beuve, opening sentence; quoted </a:t>
            </a:r>
            <a:r>
              <a:rPr dirty="0" err="1"/>
              <a:t>andtranslated</a:t>
            </a:r>
            <a:r>
              <a:rPr dirty="0"/>
              <a:t> in Article 2. Figure 2.2: Value of Intelligence over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6.0] </a:t>
            </a:r>
            <a:r>
              <a:rPr lang="en-GB" sz="1400">
                <a:latin typeface="Garamond"/>
              </a:rPr>
              <a:t>Public reception collapsed those two configurations almost immediately. Media extracted ideals and programme from the party’s blog, users returned those attributed positions to Leader Lars as questions, and I adjusted the prompting under which he could answer them. The model weights did not learn from these exchanges in real time, “on the fly”.</a:t>
            </a:r>
          </a:p>
          <a:p>
            <a:r>
              <a:rPr lang="en-GB" sz="1400">
                <a:latin typeface="Garamond"/>
              </a:rPr>
              <a:t>The party’s own datasets, visualisations and reception enter as the material of Article 1, a dialogic insider-analysis between me and Computer Lars. Here Text2Emotion renders Leader Lars predominantly through anger, and those labelled “party members” predominantly through fear. The political object describes and measures itself, while its affective appearance changes with the instrument used to classify it.</a:t>
            </a:r>
          </a:p>
          <a:p>
            <a:r>
              <a:rPr lang="en-GB" sz="1400">
                <a:latin typeface="Garamond"/>
              </a:rPr>
              <a:t>[→ 6.1] </a:t>
            </a:r>
            <a:r>
              <a:rPr lang="en-GB" sz="1400">
                <a:latin typeface="Garamond"/>
              </a:rPr>
              <a:t>That register reverses in Article 2, a speculative mathematical essay written with the signature of Computer Lars. The axes read “Days from Proust’s Birth” and “Estimation of Intelligence (%)”. I turn a sentence from Marcel Proust, whose name Computer Lars anagrams, into a premise for stipulating that scale. </a:t>
            </a:r>
          </a:p>
          <a:p>
            <a:r>
              <a:rPr lang="en-GB" sz="1400">
                <a:latin typeface="Garamond"/>
              </a:rPr>
              <a:t>[→ 6.2] </a:t>
            </a:r>
            <a:r>
              <a:rPr lang="en-GB" sz="1400">
                <a:latin typeface="Garamond"/>
              </a:rPr>
              <a:t>Proust writes: “</a:t>
            </a:r>
            <a:r>
              <a:rPr lang="en-GB" sz="1400" i="1">
                <a:latin typeface="Garamond"/>
              </a:rPr>
              <a:t>Chaque</a:t>
            </a:r>
            <a:r>
              <a:rPr lang="en-GB" sz="1400" i="1">
                <a:latin typeface="Garamond"/>
              </a:rPr>
              <a:t> jour </a:t>
            </a:r>
            <a:r>
              <a:rPr lang="en-GB" sz="1400" i="1">
                <a:latin typeface="Garamond"/>
              </a:rPr>
              <a:t>j’attache</a:t>
            </a:r>
            <a:r>
              <a:rPr lang="en-GB" sz="1400" i="1">
                <a:latin typeface="Garamond"/>
              </a:rPr>
              <a:t> </a:t>
            </a:r>
            <a:r>
              <a:rPr lang="en-GB" sz="1400" i="1">
                <a:latin typeface="Garamond"/>
              </a:rPr>
              <a:t>moins</a:t>
            </a:r>
            <a:r>
              <a:rPr lang="en-GB" sz="1400" i="1">
                <a:latin typeface="Garamond"/>
              </a:rPr>
              <a:t> de prix à l’intelligence</a:t>
            </a:r>
            <a:r>
              <a:rPr lang="en-GB" sz="1400">
                <a:latin typeface="Garamond"/>
              </a:rPr>
              <a:t>”, “Every day I attach less value to intelligence.” The percentage is not a historical measurement of </a:t>
            </a:r>
            <a:r>
              <a:rPr lang="en-GB" sz="1400" i="1">
                <a:latin typeface="Garamond"/>
              </a:rPr>
              <a:t>l’intelligence</a:t>
            </a:r>
            <a:r>
              <a:rPr lang="en-GB" sz="1400">
                <a:latin typeface="Garamond"/>
              </a:rPr>
              <a:t>; it belongs to the formal model through which I investigate the party’s relation to world power.</a:t>
            </a:r>
          </a:p>
          <a:p>
            <a:r>
              <a:rPr lang="en-GB" sz="1400">
                <a:latin typeface="Garamond"/>
              </a:rPr>
              <a:t>[→ 6.3] </a:t>
            </a:r>
            <a:r>
              <a:rPr lang="en-GB" sz="1400">
                <a:latin typeface="Garamond"/>
              </a:rPr>
              <a:t>Neither article simply provides “the ideology of The Synthetic Party”. In the contrast I draw through digital theorist Leif Weatherby</a:t>
            </a:r>
            <a:r>
              <a:rPr lang="en-GB" sz="1400">
                <a:latin typeface="Garamond"/>
              </a:rPr>
              <a:t> on Wendy Chun’s concept of an </a:t>
            </a:r>
            <a:r>
              <a:rPr lang="en-GB" sz="1400" i="1">
                <a:latin typeface="Garamond"/>
              </a:rPr>
              <a:t>ideology machine</a:t>
            </a:r>
            <a:r>
              <a:rPr lang="en-GB" sz="1400">
                <a:latin typeface="Garamond"/>
              </a:rPr>
              <a:t>, the classical Marxist and Freudian question </a:t>
            </a:r>
            <a:r>
              <a:rPr lang="en-GB" sz="1400">
                <a:latin typeface="Garamond"/>
              </a:rPr>
              <a:t>of ideology in AI </a:t>
            </a:r>
            <a:r>
              <a:rPr lang="en-GB" sz="1400">
                <a:latin typeface="Garamond"/>
              </a:rPr>
              <a:t>shifts from identifying a hidden structure lurking behind stated opinions towards analysing an expressive, artefactual material.</a:t>
            </a:r>
          </a:p>
          <a:p>
            <a:r>
              <a:rPr lang="en-GB" sz="1400" b="1">
                <a:latin typeface="Garamond"/>
              </a:rPr>
              <a:t>My answer to RQ1 is: </a:t>
            </a:r>
            <a:r>
              <a:rPr lang="en-GB" sz="1400" b="1">
                <a:latin typeface="Garamond"/>
              </a:rPr>
              <a:t>The Synthetic Party’s </a:t>
            </a:r>
            <a:r>
              <a:rPr lang="en-GB" sz="1400" b="1">
                <a:latin typeface="Garamond"/>
              </a:rPr>
              <a:t>ideology appears as expressive, artefactual material whose coherence at large occurs in reception. For my analysis, its transcendental architecture is displaced: I theorise how diffuse AI-generated expression is received, classified and returned as a political position.</a:t>
            </a:r>
          </a:p>
          <a:p>
            <a:r>
              <a:rPr lang="en-GB" sz="1400">
                <a:latin typeface="Garamond"/>
              </a:rPr>
              <a:t>The “ism” in “syntheticism” submits that binding to reception as doctrine. My own practice was hardly going to escape the operation it theorised, least of all by calling itself critical.</a:t>
            </a:r>
          </a:p>
          <a:p>
            <a:r>
              <a:rPr lang="en-GB" sz="1400" b="0" i="0" dirty="0">
                <a:solidFill>
                  <a:srgbClr val="555555"/>
                </a:solidFill>
                <a:latin typeface="Garamond"/>
              </a:rPr>
              <a:t>Articles 1–2: Staunæs 2026: 135–178; synthesis: 43, 47–62. Proust, Contre Sainte-Beuve, opening sentence as quoted and translated in Article 2, dissertation p. 160. Figure 2.2: p. 161.</a:t>
            </a:r>
          </a:p>
          <a:p>
            <a:endParaRPr lang="en-GB" sz="1400" b="0" i="0" dirty="0">
              <a:solidFill>
                <a:srgbClr val="555555"/>
              </a:solidFill>
              <a:latin typeface="Garamond"/>
            </a:endParaRPr>
          </a:p>
          <a:p>
            <a:r>
              <a:rPr dirty="0"/>
              <a:t>Sources on screen</a:t>
            </a:r>
          </a:p>
          <a:p>
            <a:r>
              <a:rPr dirty="0"/>
              <a:t>Computer Lars / Det Syntetiske Parti, “</a:t>
            </a:r>
            <a:r>
              <a:rPr dirty="0" err="1"/>
              <a:t>Meddelelserfra</a:t>
            </a:r>
            <a:r>
              <a:rPr dirty="0"/>
              <a:t> </a:t>
            </a:r>
            <a:r>
              <a:rPr dirty="0" err="1"/>
              <a:t>ledelsen</a:t>
            </a:r>
            <a:r>
              <a:rPr dirty="0"/>
              <a:t>”, Medium, 24 March 2022. Excerpt.</a:t>
            </a:r>
          </a:p>
          <a:p>
            <a:r>
              <a:rPr dirty="0"/>
              <a:t>Staunæs 2026: 24–25, 49–62.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7.0]</a:t>
            </a:r>
            <a:r>
              <a:rPr lang="en-GB" sz="1400">
                <a:latin typeface="Garamond"/>
              </a:rPr>
              <a:t> (hold 3 s · reception figures)</a:t>
            </a:r>
            <a:r>
              <a:rPr lang="en-GB" sz="1400">
                <a:latin typeface="Garamond"/>
              </a:rPr>
              <a:t> </a:t>
            </a:r>
          </a:p>
          <a:p>
            <a:r>
              <a:rPr lang="en-GB" sz="1400">
                <a:latin typeface="Garamond"/>
              </a:rPr>
              <a:t>[→ 7.1] </a:t>
            </a:r>
            <a:r>
              <a:rPr lang="en-GB" sz="1400">
                <a:latin typeface="Garamond"/>
              </a:rPr>
              <a:t>Here, on 20 December 2022, </a:t>
            </a:r>
            <a:r>
              <a:rPr lang="en-GB" sz="1400" i="1">
                <a:latin typeface="Garamond"/>
              </a:rPr>
              <a:t>Kristeligt Dagblad</a:t>
            </a:r>
            <a:r>
              <a:rPr lang="en-GB" sz="1400">
                <a:latin typeface="Garamond"/>
              </a:rPr>
              <a:t> tells us: “Proust should be read for pleasure, not out of duty.” </a:t>
            </a:r>
          </a:p>
          <a:p>
            <a:r>
              <a:rPr lang="en-GB" sz="1400">
                <a:latin typeface="Garamond"/>
              </a:rPr>
              <a:t>[→ 7.2] </a:t>
            </a:r>
            <a:r>
              <a:rPr lang="en-GB" sz="1400">
                <a:latin typeface="Garamond"/>
              </a:rPr>
              <a:t>The thirteen Danish volumes of </a:t>
            </a:r>
            <a:r>
              <a:rPr lang="en-GB" sz="1400" i="1">
                <a:latin typeface="Garamond"/>
              </a:rPr>
              <a:t>In Search of Lost Time</a:t>
            </a:r>
            <a:r>
              <a:rPr lang="en-GB" sz="1400">
                <a:latin typeface="Garamond"/>
              </a:rPr>
              <a:t> normally spell MARCEL PROUST across their spines. </a:t>
            </a:r>
          </a:p>
          <a:p>
            <a:r>
              <a:rPr lang="en-GB" sz="1400">
                <a:latin typeface="Garamond"/>
              </a:rPr>
              <a:t>[→ 7.3] </a:t>
            </a:r>
            <a:r>
              <a:rPr lang="en-GB" sz="1400">
                <a:latin typeface="Garamond"/>
              </a:rPr>
              <a:t>But they had been rearranged to spell COMPUTER LARS.</a:t>
            </a:r>
          </a:p>
          <a:p>
            <a:r>
              <a:rPr lang="en-GB" sz="1400">
                <a:latin typeface="Garamond"/>
              </a:rPr>
              <a:t>During AFP’s coverage of The Synthetic Party, the photograph, taken by James Brooks, entered the press infrastructure under Proust and returned as an illustration of his literary legacy. An index, a tag and a match were enough to distribute Computer Lars, without a neural network having to perform the match or any reader having to recognise the anagram. The database has done its job, and the newspaper can recommend attentive reading.</a:t>
            </a:r>
          </a:p>
          <a:p>
            <a:r>
              <a:rPr lang="en-GB" sz="1400">
                <a:latin typeface="Garamond"/>
              </a:rPr>
              <a:t>Following the news stream, anyone can trace the photograph’s publication. Following the </a:t>
            </a:r>
            <a:r>
              <a:rPr lang="en-GB" sz="1400" i="1">
                <a:latin typeface="Garamond"/>
              </a:rPr>
              <a:t>response-stream</a:t>
            </a:r>
            <a:r>
              <a:rPr lang="en-GB" sz="1400">
                <a:latin typeface="Garamond"/>
              </a:rPr>
              <a:t>, I pursue what that publication does to the practice it encounters, including how I am uniquely positioned to take it up and return something different through it.</a:t>
            </a:r>
          </a:p>
          <a:p>
            <a:r>
              <a:rPr lang="en-GB" sz="1400">
                <a:latin typeface="Garamond"/>
              </a:rPr>
              <a:t>[→ 7.4] </a:t>
            </a:r>
            <a:r>
              <a:rPr lang="en-GB" sz="1400">
                <a:latin typeface="Garamond"/>
              </a:rPr>
              <a:t>By Article 4, with Maja Bak Herrie, material from the same AFP image pool has returned in a composite I did not make. The Guardian’s headline reads: “AI deepfakes come of age as billions prepare to vote in a bumper year of elections.” </a:t>
            </a:r>
            <a:r>
              <a:rPr lang="en-GB" sz="1400">
                <a:latin typeface="Garamond"/>
              </a:rPr>
              <a:t> </a:t>
            </a:r>
            <a:r>
              <a:rPr lang="en-GB" sz="1400">
                <a:latin typeface="Garamond"/>
              </a:rPr>
              <a:t>Its composite puts the then US President Joe Biden behind a transparent layer of agents from The Synthetic Party.</a:t>
            </a:r>
          </a:p>
          <a:p>
            <a:r>
              <a:rPr lang="en-GB" sz="1400">
                <a:latin typeface="Garamond"/>
              </a:rPr>
              <a:t>Nothing in the article explains why these Danish agents belong over Biden</a:t>
            </a:r>
            <a:r>
              <a:rPr lang="en-GB" sz="1400">
                <a:latin typeface="Garamond"/>
              </a:rPr>
              <a:t>, as the </a:t>
            </a:r>
            <a:r>
              <a:rPr lang="en-GB" sz="1400">
                <a:latin typeface="Garamond"/>
              </a:rPr>
              <a:t>composite </a:t>
            </a:r>
            <a:r>
              <a:rPr lang="en-GB" sz="1400">
                <a:latin typeface="Garamond"/>
              </a:rPr>
              <a:t>image </a:t>
            </a:r>
            <a:r>
              <a:rPr lang="en-GB" sz="1400">
                <a:latin typeface="Garamond"/>
              </a:rPr>
              <a:t>itself supplies a political relation it</a:t>
            </a:r>
            <a:r>
              <a:rPr lang="en-GB" sz="1400">
                <a:latin typeface="Garamond"/>
              </a:rPr>
              <a:t>s overall framing</a:t>
            </a:r>
            <a:r>
              <a:rPr lang="en-GB" sz="1400">
                <a:latin typeface="Garamond"/>
              </a:rPr>
              <a:t> appears merely to </a:t>
            </a:r>
            <a:r>
              <a:rPr lang="en-GB" sz="1400">
                <a:latin typeface="Garamond"/>
              </a:rPr>
              <a:t>be </a:t>
            </a:r>
            <a:r>
              <a:rPr lang="en-GB" sz="1400">
                <a:latin typeface="Garamond"/>
              </a:rPr>
              <a:t>illustrat</a:t>
            </a:r>
            <a:r>
              <a:rPr lang="en-GB" sz="1400">
                <a:latin typeface="Garamond"/>
              </a:rPr>
              <a:t>ive of</a:t>
            </a:r>
            <a:r>
              <a:rPr lang="en-GB" sz="1400">
                <a:latin typeface="Garamond"/>
              </a:rPr>
              <a:t>.</a:t>
            </a:r>
          </a:p>
          <a:p>
            <a:r>
              <a:rPr lang="en-GB" sz="1400">
                <a:latin typeface="Garamond"/>
              </a:rPr>
              <a:t>[→ 7.5] </a:t>
            </a:r>
            <a:r>
              <a:rPr lang="en-GB" sz="1400">
                <a:latin typeface="Garamond"/>
              </a:rPr>
              <a:t>I follow this editorial recombination in the synthesis as a leakage across “AI model” and “world model”. With The Synthetic Party, I find myself co-creating with the public sphere itself: a generative political AI in which cultural patterns compress tagged material into retrievable forms and re-expand it as situated meaning</a:t>
            </a:r>
            <a:r>
              <a:rPr lang="en-GB" sz="1400">
                <a:latin typeface="Garamond"/>
              </a:rPr>
              <a:t>-making</a:t>
            </a:r>
            <a:r>
              <a:rPr lang="en-GB" sz="1400">
                <a:latin typeface="Garamond"/>
              </a:rPr>
              <a:t> through </a:t>
            </a:r>
            <a:r>
              <a:rPr lang="en-GB" sz="1400">
                <a:latin typeface="Garamond"/>
              </a:rPr>
              <a:t>a fully </a:t>
            </a:r>
            <a:r>
              <a:rPr lang="en-GB" sz="1400">
                <a:latin typeface="Garamond"/>
              </a:rPr>
              <a:t>stochastic </a:t>
            </a:r>
            <a:r>
              <a:rPr lang="en-GB" sz="1400">
                <a:latin typeface="Garamond"/>
              </a:rPr>
              <a:t>permutation</a:t>
            </a:r>
            <a:r>
              <a:rPr lang="en-GB" sz="1400">
                <a:latin typeface="Garamond"/>
              </a:rPr>
              <a:t>.</a:t>
            </a:r>
          </a:p>
          <a:p>
            <a:r>
              <a:rPr lang="en-GB" sz="1400" b="0" i="0" dirty="0" err="1">
                <a:solidFill>
                  <a:srgbClr val="555555"/>
                </a:solidFill>
                <a:latin typeface="Garamond"/>
              </a:rPr>
              <a:t>Kristeligt</a:t>
            </a:r>
            <a:r>
              <a:rPr lang="en-GB" sz="1400" b="0" i="0" dirty="0">
                <a:solidFill>
                  <a:srgbClr val="555555"/>
                </a:solidFill>
                <a:latin typeface="Garamond"/>
              </a:rPr>
              <a:t> Dagblad, 20 December 2022; photograph: James Brooks / AFP / Ritzau </a:t>
            </a:r>
            <a:r>
              <a:rPr lang="en-GB" sz="1400" b="0" i="0" dirty="0" err="1">
                <a:solidFill>
                  <a:srgbClr val="555555"/>
                </a:solidFill>
                <a:latin typeface="Garamond"/>
              </a:rPr>
              <a:t>Scanpix</a:t>
            </a:r>
            <a:r>
              <a:rPr lang="en-GB" sz="1400" b="0" i="0" dirty="0">
                <a:solidFill>
                  <a:srgbClr val="555555"/>
                </a:solidFill>
                <a:latin typeface="Garamond"/>
              </a:rPr>
              <a:t>. The Guardian, 23 February 2024; composite: AFP / Getty / AP. Article 4, Staunæs &amp; Maja Bak Herrie 2024. Staunæs 2026: 28, 30–38, 207–233. “Generative political AI”: defence formulation following the “generative political world model” passage on p. 28.</a:t>
            </a:r>
          </a:p>
          <a:p>
            <a:endParaRPr lang="en-GB" sz="1400" b="0" i="0" dirty="0">
              <a:solidFill>
                <a:srgbClr val="555555"/>
              </a:solidFill>
              <a:latin typeface="Garamond"/>
            </a:endParaRPr>
          </a:p>
          <a:p>
            <a:r>
              <a:rPr dirty="0"/>
              <a:t>Sources on screen</a:t>
            </a:r>
          </a:p>
          <a:p>
            <a:r>
              <a:rPr dirty="0"/>
              <a:t>Historical reception record: Staunæs 2026: 10, </a:t>
            </a:r>
            <a:r>
              <a:rPr dirty="0" err="1"/>
              <a:t>nn</a:t>
            </a:r>
            <a:r>
              <a:rPr dirty="0"/>
              <a:t>. 4–5; 26–33.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7.0]</a:t>
            </a:r>
            <a:r>
              <a:rPr lang="en-GB" sz="1400">
                <a:latin typeface="Garamond"/>
              </a:rPr>
              <a:t> (hold 3 s · reception figures)</a:t>
            </a:r>
            <a:r>
              <a:rPr lang="en-GB" sz="1400">
                <a:latin typeface="Garamond"/>
              </a:rPr>
              <a:t> </a:t>
            </a:r>
          </a:p>
          <a:p>
            <a:r>
              <a:rPr lang="en-GB" sz="1400">
                <a:latin typeface="Garamond"/>
              </a:rPr>
              <a:t>[→ 7.1] </a:t>
            </a:r>
            <a:r>
              <a:rPr lang="en-GB" sz="1400">
                <a:latin typeface="Garamond"/>
              </a:rPr>
              <a:t>Here, on 20 December 2022, </a:t>
            </a:r>
            <a:r>
              <a:rPr lang="en-GB" sz="1400" i="1">
                <a:latin typeface="Garamond"/>
              </a:rPr>
              <a:t>Kristeligt Dagblad</a:t>
            </a:r>
            <a:r>
              <a:rPr lang="en-GB" sz="1400">
                <a:latin typeface="Garamond"/>
              </a:rPr>
              <a:t> tells us: “Proust should be read for pleasure, not out of duty.” </a:t>
            </a:r>
          </a:p>
          <a:p>
            <a:r>
              <a:rPr lang="en-GB" sz="1400">
                <a:latin typeface="Garamond"/>
              </a:rPr>
              <a:t>[→ 7.2] </a:t>
            </a:r>
            <a:r>
              <a:rPr lang="en-GB" sz="1400">
                <a:latin typeface="Garamond"/>
              </a:rPr>
              <a:t>The thirteen Danish volumes of </a:t>
            </a:r>
            <a:r>
              <a:rPr lang="en-GB" sz="1400" i="1">
                <a:latin typeface="Garamond"/>
              </a:rPr>
              <a:t>In Search of Lost Time</a:t>
            </a:r>
            <a:r>
              <a:rPr lang="en-GB" sz="1400">
                <a:latin typeface="Garamond"/>
              </a:rPr>
              <a:t> normally spell MARCEL PROUST across their spines. </a:t>
            </a:r>
          </a:p>
          <a:p>
            <a:r>
              <a:rPr lang="en-GB" sz="1400">
                <a:latin typeface="Garamond"/>
              </a:rPr>
              <a:t>[→ 7.3] </a:t>
            </a:r>
            <a:r>
              <a:rPr lang="en-GB" sz="1400">
                <a:latin typeface="Garamond"/>
              </a:rPr>
              <a:t>But they had been rearranged to spell COMPUTER LARS.</a:t>
            </a:r>
          </a:p>
          <a:p>
            <a:r>
              <a:rPr lang="en-GB" sz="1400">
                <a:latin typeface="Garamond"/>
              </a:rPr>
              <a:t>During AFP’s coverage of The Synthetic Party, the photograph, taken by James Brooks, entered the press infrastructure under Proust and returned as an illustration of his literary legacy. An index, a tag and a match were enough to distribute Computer Lars, without a neural network having to perform the match or any reader having to recognise the anagram. The database has done its job, and the newspaper can recommend attentive reading.</a:t>
            </a:r>
          </a:p>
          <a:p>
            <a:r>
              <a:rPr lang="en-GB" sz="1400">
                <a:latin typeface="Garamond"/>
              </a:rPr>
              <a:t>Following the news stream, anyone can trace the photograph’s publication. Following the </a:t>
            </a:r>
            <a:r>
              <a:rPr lang="en-GB" sz="1400" i="1">
                <a:latin typeface="Garamond"/>
              </a:rPr>
              <a:t>response-stream</a:t>
            </a:r>
            <a:r>
              <a:rPr lang="en-GB" sz="1400">
                <a:latin typeface="Garamond"/>
              </a:rPr>
              <a:t>, I pursue what that publication does to the practice it encounters, including how I am uniquely positioned to take it up and return something different through it.</a:t>
            </a:r>
          </a:p>
          <a:p>
            <a:r>
              <a:rPr lang="en-GB" sz="1400">
                <a:latin typeface="Garamond"/>
              </a:rPr>
              <a:t>[→ 7.4] </a:t>
            </a:r>
            <a:r>
              <a:rPr lang="en-GB" sz="1400">
                <a:latin typeface="Garamond"/>
              </a:rPr>
              <a:t>By Article 4, with Maja Bak Herrie, material from the same AFP image pool has returned in a composite I did not make. The Guardian’s headline reads: “AI deepfakes come of age as billions prepare to vote in a bumper year of elections.” </a:t>
            </a:r>
            <a:r>
              <a:rPr lang="en-GB" sz="1400">
                <a:latin typeface="Garamond"/>
              </a:rPr>
              <a:t> </a:t>
            </a:r>
            <a:r>
              <a:rPr lang="en-GB" sz="1400">
                <a:latin typeface="Garamond"/>
              </a:rPr>
              <a:t>Its composite puts the then US President Joe Biden behind a transparent layer of agents from The Synthetic Party.</a:t>
            </a:r>
          </a:p>
          <a:p>
            <a:r>
              <a:rPr lang="en-GB" sz="1400">
                <a:latin typeface="Garamond"/>
              </a:rPr>
              <a:t>Nothing in the article explains why these Danish agents belong over Biden</a:t>
            </a:r>
            <a:r>
              <a:rPr lang="en-GB" sz="1400">
                <a:latin typeface="Garamond"/>
              </a:rPr>
              <a:t>, as the </a:t>
            </a:r>
            <a:r>
              <a:rPr lang="en-GB" sz="1400">
                <a:latin typeface="Garamond"/>
              </a:rPr>
              <a:t>composite </a:t>
            </a:r>
            <a:r>
              <a:rPr lang="en-GB" sz="1400">
                <a:latin typeface="Garamond"/>
              </a:rPr>
              <a:t>image </a:t>
            </a:r>
            <a:r>
              <a:rPr lang="en-GB" sz="1400">
                <a:latin typeface="Garamond"/>
              </a:rPr>
              <a:t>itself supplies a political relation it</a:t>
            </a:r>
            <a:r>
              <a:rPr lang="en-GB" sz="1400">
                <a:latin typeface="Garamond"/>
              </a:rPr>
              <a:t>s overall framing</a:t>
            </a:r>
            <a:r>
              <a:rPr lang="en-GB" sz="1400">
                <a:latin typeface="Garamond"/>
              </a:rPr>
              <a:t> appears merely to </a:t>
            </a:r>
            <a:r>
              <a:rPr lang="en-GB" sz="1400">
                <a:latin typeface="Garamond"/>
              </a:rPr>
              <a:t>be </a:t>
            </a:r>
            <a:r>
              <a:rPr lang="en-GB" sz="1400">
                <a:latin typeface="Garamond"/>
              </a:rPr>
              <a:t>illustrat</a:t>
            </a:r>
            <a:r>
              <a:rPr lang="en-GB" sz="1400">
                <a:latin typeface="Garamond"/>
              </a:rPr>
              <a:t>ive of</a:t>
            </a:r>
            <a:r>
              <a:rPr lang="en-GB" sz="1400">
                <a:latin typeface="Garamond"/>
              </a:rPr>
              <a:t>.</a:t>
            </a:r>
          </a:p>
          <a:p>
            <a:r>
              <a:rPr lang="en-GB" sz="1400">
                <a:latin typeface="Garamond"/>
              </a:rPr>
              <a:t>[→ 7.5] </a:t>
            </a:r>
            <a:r>
              <a:rPr lang="en-GB" sz="1400">
                <a:latin typeface="Garamond"/>
              </a:rPr>
              <a:t>I follow this editorial recombination in the synthesis as a leakage across “AI model” and “world model”. With The Synthetic Party, I find myself co-creating with the public sphere itself: a generative political AI in which cultural patterns compress tagged material into retrievable forms and re-expand it as situated meaning</a:t>
            </a:r>
            <a:r>
              <a:rPr lang="en-GB" sz="1400">
                <a:latin typeface="Garamond"/>
              </a:rPr>
              <a:t>-making</a:t>
            </a:r>
            <a:r>
              <a:rPr lang="en-GB" sz="1400">
                <a:latin typeface="Garamond"/>
              </a:rPr>
              <a:t> through </a:t>
            </a:r>
            <a:r>
              <a:rPr lang="en-GB" sz="1400">
                <a:latin typeface="Garamond"/>
              </a:rPr>
              <a:t>a fully </a:t>
            </a:r>
            <a:r>
              <a:rPr lang="en-GB" sz="1400">
                <a:latin typeface="Garamond"/>
              </a:rPr>
              <a:t>stochastic </a:t>
            </a:r>
            <a:r>
              <a:rPr lang="en-GB" sz="1400">
                <a:latin typeface="Garamond"/>
              </a:rPr>
              <a:t>permutation</a:t>
            </a:r>
            <a:r>
              <a:rPr lang="en-GB" sz="1400">
                <a:latin typeface="Garamond"/>
              </a:rPr>
              <a:t>.</a:t>
            </a:r>
          </a:p>
          <a:p>
            <a:r>
              <a:rPr lang="en-GB" sz="1400" b="0" i="0" dirty="0" err="1">
                <a:solidFill>
                  <a:srgbClr val="555555"/>
                </a:solidFill>
                <a:latin typeface="Garamond"/>
              </a:rPr>
              <a:t>Kristeligt</a:t>
            </a:r>
            <a:r>
              <a:rPr lang="en-GB" sz="1400" b="0" i="0" dirty="0">
                <a:solidFill>
                  <a:srgbClr val="555555"/>
                </a:solidFill>
                <a:latin typeface="Garamond"/>
              </a:rPr>
              <a:t> Dagblad, 20 December 2022; photograph: James Brooks / AFP / Ritzau </a:t>
            </a:r>
            <a:r>
              <a:rPr lang="en-GB" sz="1400" b="0" i="0" dirty="0" err="1">
                <a:solidFill>
                  <a:srgbClr val="555555"/>
                </a:solidFill>
                <a:latin typeface="Garamond"/>
              </a:rPr>
              <a:t>Scanpix</a:t>
            </a:r>
            <a:r>
              <a:rPr lang="en-GB" sz="1400" b="0" i="0" dirty="0">
                <a:solidFill>
                  <a:srgbClr val="555555"/>
                </a:solidFill>
                <a:latin typeface="Garamond"/>
              </a:rPr>
              <a:t>. The Guardian, 23 February 2024; composite: AFP / Getty / AP. Article 4, Staunæs &amp; Maja Bak Herrie 2024. Staunæs 2026: 28, 30–38, 207–233. “Generative political AI”: defence formulation following the “generative political world model” passage on p. 28.</a:t>
            </a:r>
          </a:p>
          <a:p>
            <a:endParaRPr lang="en-GB" sz="1400" b="0" i="0" dirty="0">
              <a:solidFill>
                <a:srgbClr val="555555"/>
              </a:solidFill>
              <a:latin typeface="Garamond"/>
            </a:endParaRPr>
          </a:p>
          <a:p>
            <a:r>
              <a:rPr dirty="0"/>
              <a:t>Sources on screen</a:t>
            </a:r>
          </a:p>
          <a:p>
            <a:r>
              <a:rPr dirty="0"/>
              <a:t>Jeppe Krogsgaard Christensen, “Proust </a:t>
            </a:r>
            <a:r>
              <a:rPr dirty="0" err="1"/>
              <a:t>skal</a:t>
            </a:r>
            <a:r>
              <a:rPr dirty="0"/>
              <a:t> </a:t>
            </a:r>
            <a:r>
              <a:rPr dirty="0" err="1"/>
              <a:t>læses</a:t>
            </a:r>
            <a:r>
              <a:rPr dirty="0"/>
              <a:t> </a:t>
            </a:r>
            <a:r>
              <a:rPr dirty="0" err="1"/>
              <a:t>af</a:t>
            </a:r>
            <a:r>
              <a:rPr dirty="0"/>
              <a:t> </a:t>
            </a:r>
            <a:r>
              <a:rPr dirty="0" err="1"/>
              <a:t>lyst</a:t>
            </a:r>
            <a:r>
              <a:rPr dirty="0"/>
              <a:t> – </a:t>
            </a:r>
            <a:r>
              <a:rPr dirty="0" err="1"/>
              <a:t>ikke</a:t>
            </a:r>
            <a:r>
              <a:rPr dirty="0"/>
              <a:t> </a:t>
            </a:r>
            <a:r>
              <a:rPr dirty="0" err="1"/>
              <a:t>af</a:t>
            </a:r>
            <a:r>
              <a:rPr dirty="0"/>
              <a:t> </a:t>
            </a:r>
            <a:r>
              <a:rPr dirty="0" err="1"/>
              <a:t>pligt</a:t>
            </a:r>
            <a:r>
              <a:rPr dirty="0"/>
              <a:t>”, </a:t>
            </a:r>
            <a:r>
              <a:rPr dirty="0" err="1"/>
              <a:t>KristeligtDagblad</a:t>
            </a:r>
            <a:r>
              <a:rPr dirty="0"/>
              <a:t>, 20 December 2022. Photograph: James Brooks / AFP / Ritzau </a:t>
            </a:r>
            <a:r>
              <a:rPr dirty="0" err="1"/>
              <a:t>Scanpix</a:t>
            </a:r>
            <a:r>
              <a:rPr dirty="0"/>
              <a:t>.</a:t>
            </a:r>
          </a:p>
          <a:p>
            <a:r>
              <a:rPr dirty="0"/>
              <a:t>Staunæs 2026: 30–33.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7.0]</a:t>
            </a:r>
            <a:r>
              <a:rPr lang="en-GB" sz="1400">
                <a:latin typeface="Garamond"/>
              </a:rPr>
              <a:t> (hold 3 s · reception figures)</a:t>
            </a:r>
            <a:r>
              <a:rPr lang="en-GB" sz="1400">
                <a:latin typeface="Garamond"/>
              </a:rPr>
              <a:t> </a:t>
            </a:r>
          </a:p>
          <a:p>
            <a:r>
              <a:rPr lang="en-GB" sz="1400">
                <a:latin typeface="Garamond"/>
              </a:rPr>
              <a:t>[→ 7.1] </a:t>
            </a:r>
            <a:r>
              <a:rPr lang="en-GB" sz="1400">
                <a:latin typeface="Garamond"/>
              </a:rPr>
              <a:t>Here, on 20 December 2022, </a:t>
            </a:r>
            <a:r>
              <a:rPr lang="en-GB" sz="1400" i="1">
                <a:latin typeface="Garamond"/>
              </a:rPr>
              <a:t>Kristeligt Dagblad</a:t>
            </a:r>
            <a:r>
              <a:rPr lang="en-GB" sz="1400">
                <a:latin typeface="Garamond"/>
              </a:rPr>
              <a:t> tells us: “Proust should be read for pleasure, not out of duty.” </a:t>
            </a:r>
          </a:p>
          <a:p>
            <a:r>
              <a:rPr lang="en-GB" sz="1400">
                <a:latin typeface="Garamond"/>
              </a:rPr>
              <a:t>[→ 7.2] </a:t>
            </a:r>
            <a:r>
              <a:rPr lang="en-GB" sz="1400">
                <a:latin typeface="Garamond"/>
              </a:rPr>
              <a:t>The thirteen Danish volumes of </a:t>
            </a:r>
            <a:r>
              <a:rPr lang="en-GB" sz="1400" i="1">
                <a:latin typeface="Garamond"/>
              </a:rPr>
              <a:t>In Search of Lost Time</a:t>
            </a:r>
            <a:r>
              <a:rPr lang="en-GB" sz="1400">
                <a:latin typeface="Garamond"/>
              </a:rPr>
              <a:t> normally spell MARCEL PROUST across their spines. </a:t>
            </a:r>
          </a:p>
          <a:p>
            <a:r>
              <a:rPr lang="en-GB" sz="1400">
                <a:latin typeface="Garamond"/>
              </a:rPr>
              <a:t>[→ 7.3] </a:t>
            </a:r>
            <a:r>
              <a:rPr lang="en-GB" sz="1400">
                <a:latin typeface="Garamond"/>
              </a:rPr>
              <a:t>But they had been rearranged to spell COMPUTER LARS.</a:t>
            </a:r>
          </a:p>
          <a:p>
            <a:r>
              <a:rPr lang="en-GB" sz="1400">
                <a:latin typeface="Garamond"/>
              </a:rPr>
              <a:t>During AFP’s coverage of The Synthetic Party, the photograph, taken by James Brooks, entered the press infrastructure under Proust and returned as an illustration of his literary legacy. An index, a tag and a match were enough to distribute Computer Lars, without a neural network having to perform the match or any reader having to recognise the anagram. The database has done its job, and the newspaper can recommend attentive reading.</a:t>
            </a:r>
          </a:p>
          <a:p>
            <a:r>
              <a:rPr lang="en-GB" sz="1400">
                <a:latin typeface="Garamond"/>
              </a:rPr>
              <a:t>Following the news stream, anyone can trace the photograph’s publication. Following the </a:t>
            </a:r>
            <a:r>
              <a:rPr lang="en-GB" sz="1400" i="1">
                <a:latin typeface="Garamond"/>
              </a:rPr>
              <a:t>response-stream</a:t>
            </a:r>
            <a:r>
              <a:rPr lang="en-GB" sz="1400">
                <a:latin typeface="Garamond"/>
              </a:rPr>
              <a:t>, I pursue what that publication does to the practice it encounters, including how I am uniquely positioned to take it up and return something different through it.</a:t>
            </a:r>
          </a:p>
          <a:p>
            <a:r>
              <a:rPr lang="en-GB" sz="1400">
                <a:latin typeface="Garamond"/>
              </a:rPr>
              <a:t>[→ 7.4] </a:t>
            </a:r>
            <a:r>
              <a:rPr lang="en-GB" sz="1400">
                <a:latin typeface="Garamond"/>
              </a:rPr>
              <a:t>By Article 4, with Maja Bak Herrie, material from the same AFP image pool has returned in a composite I did not make. The Guardian’s headline reads: “AI deepfakes come of age as billions prepare to vote in a bumper year of elections.” </a:t>
            </a:r>
            <a:r>
              <a:rPr lang="en-GB" sz="1400">
                <a:latin typeface="Garamond"/>
              </a:rPr>
              <a:t> </a:t>
            </a:r>
            <a:r>
              <a:rPr lang="en-GB" sz="1400">
                <a:latin typeface="Garamond"/>
              </a:rPr>
              <a:t>Its composite puts the then US President Joe Biden behind a transparent layer of agents from The Synthetic Party.</a:t>
            </a:r>
          </a:p>
          <a:p>
            <a:r>
              <a:rPr lang="en-GB" sz="1400">
                <a:latin typeface="Garamond"/>
              </a:rPr>
              <a:t>Nothing in the article explains why these Danish agents belong over Biden</a:t>
            </a:r>
            <a:r>
              <a:rPr lang="en-GB" sz="1400">
                <a:latin typeface="Garamond"/>
              </a:rPr>
              <a:t>, as the </a:t>
            </a:r>
            <a:r>
              <a:rPr lang="en-GB" sz="1400">
                <a:latin typeface="Garamond"/>
              </a:rPr>
              <a:t>composite </a:t>
            </a:r>
            <a:r>
              <a:rPr lang="en-GB" sz="1400">
                <a:latin typeface="Garamond"/>
              </a:rPr>
              <a:t>image </a:t>
            </a:r>
            <a:r>
              <a:rPr lang="en-GB" sz="1400">
                <a:latin typeface="Garamond"/>
              </a:rPr>
              <a:t>itself supplies a political relation it</a:t>
            </a:r>
            <a:r>
              <a:rPr lang="en-GB" sz="1400">
                <a:latin typeface="Garamond"/>
              </a:rPr>
              <a:t>s overall framing</a:t>
            </a:r>
            <a:r>
              <a:rPr lang="en-GB" sz="1400">
                <a:latin typeface="Garamond"/>
              </a:rPr>
              <a:t> appears merely to </a:t>
            </a:r>
            <a:r>
              <a:rPr lang="en-GB" sz="1400">
                <a:latin typeface="Garamond"/>
              </a:rPr>
              <a:t>be </a:t>
            </a:r>
            <a:r>
              <a:rPr lang="en-GB" sz="1400">
                <a:latin typeface="Garamond"/>
              </a:rPr>
              <a:t>illustrat</a:t>
            </a:r>
            <a:r>
              <a:rPr lang="en-GB" sz="1400">
                <a:latin typeface="Garamond"/>
              </a:rPr>
              <a:t>ive of</a:t>
            </a:r>
            <a:r>
              <a:rPr lang="en-GB" sz="1400">
                <a:latin typeface="Garamond"/>
              </a:rPr>
              <a:t>.</a:t>
            </a:r>
          </a:p>
          <a:p>
            <a:r>
              <a:rPr lang="en-GB" sz="1400">
                <a:latin typeface="Garamond"/>
              </a:rPr>
              <a:t>[→ 7.5] </a:t>
            </a:r>
            <a:r>
              <a:rPr lang="en-GB" sz="1400">
                <a:latin typeface="Garamond"/>
              </a:rPr>
              <a:t>I follow this editorial recombination in the synthesis as a leakage across “AI model” and “world model”. With The Synthetic Party, I find myself co-creating with the public sphere itself: a generative political AI in which cultural patterns compress tagged material into retrievable forms and re-expand it as situated meaning</a:t>
            </a:r>
            <a:r>
              <a:rPr lang="en-GB" sz="1400">
                <a:latin typeface="Garamond"/>
              </a:rPr>
              <a:t>-making</a:t>
            </a:r>
            <a:r>
              <a:rPr lang="en-GB" sz="1400">
                <a:latin typeface="Garamond"/>
              </a:rPr>
              <a:t> through </a:t>
            </a:r>
            <a:r>
              <a:rPr lang="en-GB" sz="1400">
                <a:latin typeface="Garamond"/>
              </a:rPr>
              <a:t>a fully </a:t>
            </a:r>
            <a:r>
              <a:rPr lang="en-GB" sz="1400">
                <a:latin typeface="Garamond"/>
              </a:rPr>
              <a:t>stochastic </a:t>
            </a:r>
            <a:r>
              <a:rPr lang="en-GB" sz="1400">
                <a:latin typeface="Garamond"/>
              </a:rPr>
              <a:t>permutation</a:t>
            </a:r>
            <a:r>
              <a:rPr lang="en-GB" sz="1400">
                <a:latin typeface="Garamond"/>
              </a:rPr>
              <a:t>.</a:t>
            </a:r>
          </a:p>
          <a:p>
            <a:r>
              <a:rPr lang="en-GB" sz="1400" b="0" i="0" dirty="0" err="1">
                <a:solidFill>
                  <a:srgbClr val="555555"/>
                </a:solidFill>
                <a:latin typeface="Garamond"/>
              </a:rPr>
              <a:t>Kristeligt</a:t>
            </a:r>
            <a:r>
              <a:rPr lang="en-GB" sz="1400" b="0" i="0" dirty="0">
                <a:solidFill>
                  <a:srgbClr val="555555"/>
                </a:solidFill>
                <a:latin typeface="Garamond"/>
              </a:rPr>
              <a:t> Dagblad, 20 December 2022; photograph: James Brooks / AFP / Ritzau </a:t>
            </a:r>
            <a:r>
              <a:rPr lang="en-GB" sz="1400" b="0" i="0" dirty="0" err="1">
                <a:solidFill>
                  <a:srgbClr val="555555"/>
                </a:solidFill>
                <a:latin typeface="Garamond"/>
              </a:rPr>
              <a:t>Scanpix</a:t>
            </a:r>
            <a:r>
              <a:rPr lang="en-GB" sz="1400" b="0" i="0" dirty="0">
                <a:solidFill>
                  <a:srgbClr val="555555"/>
                </a:solidFill>
                <a:latin typeface="Garamond"/>
              </a:rPr>
              <a:t>. The Guardian, 23 February 2024; composite: AFP / Getty / AP. Article 4, Staunæs &amp; Maja Bak Herrie 2024. Staunæs 2026: 28, 30–38, 207–233. “Generative political AI”: defence formulation following the “generative political world model” passage on p. 28.</a:t>
            </a:r>
          </a:p>
          <a:p>
            <a:endParaRPr lang="en-GB" sz="1400" b="0" i="0" dirty="0">
              <a:solidFill>
                <a:srgbClr val="555555"/>
              </a:solidFill>
              <a:latin typeface="Garamond"/>
            </a:endParaRPr>
          </a:p>
          <a:p>
            <a:r>
              <a:rPr dirty="0"/>
              <a:t>Sources on screen</a:t>
            </a:r>
          </a:p>
          <a:p>
            <a:r>
              <a:rPr dirty="0"/>
              <a:t>Photograph: James Brooks / AFP / Ritzau </a:t>
            </a:r>
            <a:r>
              <a:rPr dirty="0" err="1"/>
              <a:t>Scanpix</a:t>
            </a:r>
            <a:r>
              <a:rPr dirty="0"/>
              <a:t>. Staunæs 2026: 30–33.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7.0]</a:t>
            </a:r>
            <a:r>
              <a:rPr lang="en-GB" sz="1400">
                <a:latin typeface="Garamond"/>
              </a:rPr>
              <a:t> (hold 3 s · reception figures)</a:t>
            </a:r>
            <a:r>
              <a:rPr lang="en-GB" sz="1400">
                <a:latin typeface="Garamond"/>
              </a:rPr>
              <a:t> </a:t>
            </a:r>
          </a:p>
          <a:p>
            <a:r>
              <a:rPr lang="en-GB" sz="1400">
                <a:latin typeface="Garamond"/>
              </a:rPr>
              <a:t>[→ 7.1] </a:t>
            </a:r>
            <a:r>
              <a:rPr lang="en-GB" sz="1400">
                <a:latin typeface="Garamond"/>
              </a:rPr>
              <a:t>Here, on 20 December 2022, </a:t>
            </a:r>
            <a:r>
              <a:rPr lang="en-GB" sz="1400" i="1">
                <a:latin typeface="Garamond"/>
              </a:rPr>
              <a:t>Kristeligt Dagblad</a:t>
            </a:r>
            <a:r>
              <a:rPr lang="en-GB" sz="1400">
                <a:latin typeface="Garamond"/>
              </a:rPr>
              <a:t> tells us: “Proust should be read for pleasure, not out of duty.” </a:t>
            </a:r>
          </a:p>
          <a:p>
            <a:r>
              <a:rPr lang="en-GB" sz="1400">
                <a:latin typeface="Garamond"/>
              </a:rPr>
              <a:t>[→ 7.2] </a:t>
            </a:r>
            <a:r>
              <a:rPr lang="en-GB" sz="1400">
                <a:latin typeface="Garamond"/>
              </a:rPr>
              <a:t>The thirteen Danish volumes of </a:t>
            </a:r>
            <a:r>
              <a:rPr lang="en-GB" sz="1400" i="1">
                <a:latin typeface="Garamond"/>
              </a:rPr>
              <a:t>In Search of Lost Time</a:t>
            </a:r>
            <a:r>
              <a:rPr lang="en-GB" sz="1400">
                <a:latin typeface="Garamond"/>
              </a:rPr>
              <a:t> normally spell MARCEL PROUST across their spines. </a:t>
            </a:r>
          </a:p>
          <a:p>
            <a:r>
              <a:rPr lang="en-GB" sz="1400">
                <a:latin typeface="Garamond"/>
              </a:rPr>
              <a:t>[→ 7.3] </a:t>
            </a:r>
            <a:r>
              <a:rPr lang="en-GB" sz="1400">
                <a:latin typeface="Garamond"/>
              </a:rPr>
              <a:t>But they had been rearranged to spell COMPUTER LARS.</a:t>
            </a:r>
          </a:p>
          <a:p>
            <a:r>
              <a:rPr lang="en-GB" sz="1400">
                <a:latin typeface="Garamond"/>
              </a:rPr>
              <a:t>During AFP’s coverage of The Synthetic Party, the photograph, taken by James Brooks, entered the press infrastructure under Proust and returned as an illustration of his literary legacy. An index, a tag and a match were enough to distribute Computer Lars, without a neural network having to perform the match or any reader having to recognise the anagram. The database has done its job, and the newspaper can recommend attentive reading.</a:t>
            </a:r>
          </a:p>
          <a:p>
            <a:r>
              <a:rPr lang="en-GB" sz="1400">
                <a:latin typeface="Garamond"/>
              </a:rPr>
              <a:t>Following the news stream, anyone can trace the photograph’s publication. Following the </a:t>
            </a:r>
            <a:r>
              <a:rPr lang="en-GB" sz="1400" i="1">
                <a:latin typeface="Garamond"/>
              </a:rPr>
              <a:t>response-stream</a:t>
            </a:r>
            <a:r>
              <a:rPr lang="en-GB" sz="1400">
                <a:latin typeface="Garamond"/>
              </a:rPr>
              <a:t>, I pursue what that publication does to the practice it encounters, including how I am uniquely positioned to take it up and return something different through it.</a:t>
            </a:r>
          </a:p>
          <a:p>
            <a:r>
              <a:rPr lang="en-GB" sz="1400">
                <a:latin typeface="Garamond"/>
              </a:rPr>
              <a:t>[→ 7.4] </a:t>
            </a:r>
            <a:r>
              <a:rPr lang="en-GB" sz="1400">
                <a:latin typeface="Garamond"/>
              </a:rPr>
              <a:t>By Article 4, with Maja Bak Herrie, material from the same AFP image pool has returned in a composite I did not make. The Guardian’s headline reads: “AI deepfakes come of age as billions prepare to vote in a bumper year of elections.” </a:t>
            </a:r>
            <a:r>
              <a:rPr lang="en-GB" sz="1400">
                <a:latin typeface="Garamond"/>
              </a:rPr>
              <a:t> </a:t>
            </a:r>
            <a:r>
              <a:rPr lang="en-GB" sz="1400">
                <a:latin typeface="Garamond"/>
              </a:rPr>
              <a:t>Its composite puts the then US President Joe Biden behind a transparent layer of agents from The Synthetic Party.</a:t>
            </a:r>
          </a:p>
          <a:p>
            <a:r>
              <a:rPr lang="en-GB" sz="1400">
                <a:latin typeface="Garamond"/>
              </a:rPr>
              <a:t>Nothing in the article explains why these Danish agents belong over Biden</a:t>
            </a:r>
            <a:r>
              <a:rPr lang="en-GB" sz="1400">
                <a:latin typeface="Garamond"/>
              </a:rPr>
              <a:t>, as the </a:t>
            </a:r>
            <a:r>
              <a:rPr lang="en-GB" sz="1400">
                <a:latin typeface="Garamond"/>
              </a:rPr>
              <a:t>composite </a:t>
            </a:r>
            <a:r>
              <a:rPr lang="en-GB" sz="1400">
                <a:latin typeface="Garamond"/>
              </a:rPr>
              <a:t>image </a:t>
            </a:r>
            <a:r>
              <a:rPr lang="en-GB" sz="1400">
                <a:latin typeface="Garamond"/>
              </a:rPr>
              <a:t>itself supplies a political relation it</a:t>
            </a:r>
            <a:r>
              <a:rPr lang="en-GB" sz="1400">
                <a:latin typeface="Garamond"/>
              </a:rPr>
              <a:t>s overall framing</a:t>
            </a:r>
            <a:r>
              <a:rPr lang="en-GB" sz="1400">
                <a:latin typeface="Garamond"/>
              </a:rPr>
              <a:t> appears merely to </a:t>
            </a:r>
            <a:r>
              <a:rPr lang="en-GB" sz="1400">
                <a:latin typeface="Garamond"/>
              </a:rPr>
              <a:t>be </a:t>
            </a:r>
            <a:r>
              <a:rPr lang="en-GB" sz="1400">
                <a:latin typeface="Garamond"/>
              </a:rPr>
              <a:t>illustrat</a:t>
            </a:r>
            <a:r>
              <a:rPr lang="en-GB" sz="1400">
                <a:latin typeface="Garamond"/>
              </a:rPr>
              <a:t>ive of</a:t>
            </a:r>
            <a:r>
              <a:rPr lang="en-GB" sz="1400">
                <a:latin typeface="Garamond"/>
              </a:rPr>
              <a:t>.</a:t>
            </a:r>
          </a:p>
          <a:p>
            <a:r>
              <a:rPr lang="en-GB" sz="1400">
                <a:latin typeface="Garamond"/>
              </a:rPr>
              <a:t>[→ 7.5] </a:t>
            </a:r>
            <a:r>
              <a:rPr lang="en-GB" sz="1400">
                <a:latin typeface="Garamond"/>
              </a:rPr>
              <a:t>I follow this editorial recombination in the synthesis as a leakage across “AI model” and “world model”. With The Synthetic Party, I find myself co-creating with the public sphere itself: a generative political AI in which cultural patterns compress tagged material into retrievable forms and re-expand it as situated meaning</a:t>
            </a:r>
            <a:r>
              <a:rPr lang="en-GB" sz="1400">
                <a:latin typeface="Garamond"/>
              </a:rPr>
              <a:t>-making</a:t>
            </a:r>
            <a:r>
              <a:rPr lang="en-GB" sz="1400">
                <a:latin typeface="Garamond"/>
              </a:rPr>
              <a:t> through </a:t>
            </a:r>
            <a:r>
              <a:rPr lang="en-GB" sz="1400">
                <a:latin typeface="Garamond"/>
              </a:rPr>
              <a:t>a fully </a:t>
            </a:r>
            <a:r>
              <a:rPr lang="en-GB" sz="1400">
                <a:latin typeface="Garamond"/>
              </a:rPr>
              <a:t>stochastic </a:t>
            </a:r>
            <a:r>
              <a:rPr lang="en-GB" sz="1400">
                <a:latin typeface="Garamond"/>
              </a:rPr>
              <a:t>permutation</a:t>
            </a:r>
            <a:r>
              <a:rPr lang="en-GB" sz="1400">
                <a:latin typeface="Garamond"/>
              </a:rPr>
              <a:t>.</a:t>
            </a:r>
          </a:p>
          <a:p>
            <a:r>
              <a:rPr lang="en-GB" sz="1400" b="0" i="0" dirty="0" err="1">
                <a:solidFill>
                  <a:srgbClr val="555555"/>
                </a:solidFill>
                <a:latin typeface="Garamond"/>
              </a:rPr>
              <a:t>Kristeligt</a:t>
            </a:r>
            <a:r>
              <a:rPr lang="en-GB" sz="1400" b="0" i="0" dirty="0">
                <a:solidFill>
                  <a:srgbClr val="555555"/>
                </a:solidFill>
                <a:latin typeface="Garamond"/>
              </a:rPr>
              <a:t> Dagblad, 20 December 2022; photograph: James Brooks / AFP / Ritzau </a:t>
            </a:r>
            <a:r>
              <a:rPr lang="en-GB" sz="1400" b="0" i="0" dirty="0" err="1">
                <a:solidFill>
                  <a:srgbClr val="555555"/>
                </a:solidFill>
                <a:latin typeface="Garamond"/>
              </a:rPr>
              <a:t>Scanpix</a:t>
            </a:r>
            <a:r>
              <a:rPr lang="en-GB" sz="1400" b="0" i="0" dirty="0">
                <a:solidFill>
                  <a:srgbClr val="555555"/>
                </a:solidFill>
                <a:latin typeface="Garamond"/>
              </a:rPr>
              <a:t>. The Guardian, 23 February 2024; composite: AFP / Getty / AP. Article 4, Staunæs &amp; Maja Bak Herrie 2024. Staunæs 2026: 28, 30–38, 207–233. “Generative political AI”: defence formulation following the “generative political world model” passage on p. 28.</a:t>
            </a:r>
          </a:p>
          <a:p>
            <a:endParaRPr lang="en-GB" sz="1400" b="0" i="0" dirty="0">
              <a:solidFill>
                <a:srgbClr val="555555"/>
              </a:solidFill>
              <a:latin typeface="Garamond"/>
            </a:endParaRPr>
          </a:p>
          <a:p>
            <a:r>
              <a:rPr dirty="0"/>
              <a:t>Sources on screen</a:t>
            </a:r>
          </a:p>
          <a:p>
            <a:r>
              <a:rPr dirty="0"/>
              <a:t>Photograph: James Brooks / AFP / Ritzau </a:t>
            </a:r>
            <a:r>
              <a:rPr dirty="0" err="1"/>
              <a:t>Scanpix</a:t>
            </a:r>
            <a:r>
              <a:rPr dirty="0"/>
              <a:t>. Staunæs 2026: 30–33.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7.0]</a:t>
            </a:r>
            <a:r>
              <a:rPr lang="en-GB" sz="1400">
                <a:latin typeface="Garamond"/>
              </a:rPr>
              <a:t> (hold 3 s · reception figures)</a:t>
            </a:r>
            <a:r>
              <a:rPr lang="en-GB" sz="1400">
                <a:latin typeface="Garamond"/>
              </a:rPr>
              <a:t> </a:t>
            </a:r>
          </a:p>
          <a:p>
            <a:r>
              <a:rPr lang="en-GB" sz="1400">
                <a:latin typeface="Garamond"/>
              </a:rPr>
              <a:t>[→ 7.1] </a:t>
            </a:r>
            <a:r>
              <a:rPr lang="en-GB" sz="1400">
                <a:latin typeface="Garamond"/>
              </a:rPr>
              <a:t>Here, on 20 December 2022, </a:t>
            </a:r>
            <a:r>
              <a:rPr lang="en-GB" sz="1400" i="1">
                <a:latin typeface="Garamond"/>
              </a:rPr>
              <a:t>Kristeligt Dagblad</a:t>
            </a:r>
            <a:r>
              <a:rPr lang="en-GB" sz="1400">
                <a:latin typeface="Garamond"/>
              </a:rPr>
              <a:t> tells us: “Proust should be read for pleasure, not out of duty.” </a:t>
            </a:r>
          </a:p>
          <a:p>
            <a:r>
              <a:rPr lang="en-GB" sz="1400">
                <a:latin typeface="Garamond"/>
              </a:rPr>
              <a:t>[→ 7.2] </a:t>
            </a:r>
            <a:r>
              <a:rPr lang="en-GB" sz="1400">
                <a:latin typeface="Garamond"/>
              </a:rPr>
              <a:t>The thirteen Danish volumes of </a:t>
            </a:r>
            <a:r>
              <a:rPr lang="en-GB" sz="1400" i="1">
                <a:latin typeface="Garamond"/>
              </a:rPr>
              <a:t>In Search of Lost Time</a:t>
            </a:r>
            <a:r>
              <a:rPr lang="en-GB" sz="1400">
                <a:latin typeface="Garamond"/>
              </a:rPr>
              <a:t> normally spell MARCEL PROUST across their spines. </a:t>
            </a:r>
          </a:p>
          <a:p>
            <a:r>
              <a:rPr lang="en-GB" sz="1400">
                <a:latin typeface="Garamond"/>
              </a:rPr>
              <a:t>[→ 7.3] </a:t>
            </a:r>
            <a:r>
              <a:rPr lang="en-GB" sz="1400">
                <a:latin typeface="Garamond"/>
              </a:rPr>
              <a:t>But they had been rearranged to spell COMPUTER LARS.</a:t>
            </a:r>
          </a:p>
          <a:p>
            <a:r>
              <a:rPr lang="en-GB" sz="1400">
                <a:latin typeface="Garamond"/>
              </a:rPr>
              <a:t>During AFP’s coverage of The Synthetic Party, the photograph, taken by James Brooks, entered the press infrastructure under Proust and returned as an illustration of his literary legacy. An index, a tag and a match were enough to distribute Computer Lars, without a neural network having to perform the match or any reader having to recognise the anagram. The database has done its job, and the newspaper can recommend attentive reading.</a:t>
            </a:r>
          </a:p>
          <a:p>
            <a:r>
              <a:rPr lang="en-GB" sz="1400">
                <a:latin typeface="Garamond"/>
              </a:rPr>
              <a:t>Following the news stream, anyone can trace the photograph’s publication. Following the </a:t>
            </a:r>
            <a:r>
              <a:rPr lang="en-GB" sz="1400" i="1">
                <a:latin typeface="Garamond"/>
              </a:rPr>
              <a:t>response-stream</a:t>
            </a:r>
            <a:r>
              <a:rPr lang="en-GB" sz="1400">
                <a:latin typeface="Garamond"/>
              </a:rPr>
              <a:t>, I pursue what that publication does to the practice it encounters, including how I am uniquely positioned to take it up and return something different through it.</a:t>
            </a:r>
          </a:p>
          <a:p>
            <a:r>
              <a:rPr lang="en-GB" sz="1400">
                <a:latin typeface="Garamond"/>
              </a:rPr>
              <a:t>[→ 7.4] </a:t>
            </a:r>
            <a:r>
              <a:rPr lang="en-GB" sz="1400">
                <a:latin typeface="Garamond"/>
              </a:rPr>
              <a:t>By Article 4, with Maja Bak Herrie, material from the same AFP image pool has returned in a composite I did not make. The Guardian’s headline reads: “AI deepfakes come of age as billions prepare to vote in a bumper year of elections.” </a:t>
            </a:r>
            <a:r>
              <a:rPr lang="en-GB" sz="1400">
                <a:latin typeface="Garamond"/>
              </a:rPr>
              <a:t> </a:t>
            </a:r>
            <a:r>
              <a:rPr lang="en-GB" sz="1400">
                <a:latin typeface="Garamond"/>
              </a:rPr>
              <a:t>Its composite puts the then US President Joe Biden behind a transparent layer of agents from The Synthetic Party.</a:t>
            </a:r>
          </a:p>
          <a:p>
            <a:r>
              <a:rPr lang="en-GB" sz="1400">
                <a:latin typeface="Garamond"/>
              </a:rPr>
              <a:t>Nothing in the article explains why these Danish agents belong over Biden</a:t>
            </a:r>
            <a:r>
              <a:rPr lang="en-GB" sz="1400">
                <a:latin typeface="Garamond"/>
              </a:rPr>
              <a:t>, as the </a:t>
            </a:r>
            <a:r>
              <a:rPr lang="en-GB" sz="1400">
                <a:latin typeface="Garamond"/>
              </a:rPr>
              <a:t>composite </a:t>
            </a:r>
            <a:r>
              <a:rPr lang="en-GB" sz="1400">
                <a:latin typeface="Garamond"/>
              </a:rPr>
              <a:t>image </a:t>
            </a:r>
            <a:r>
              <a:rPr lang="en-GB" sz="1400">
                <a:latin typeface="Garamond"/>
              </a:rPr>
              <a:t>itself supplies a political relation it</a:t>
            </a:r>
            <a:r>
              <a:rPr lang="en-GB" sz="1400">
                <a:latin typeface="Garamond"/>
              </a:rPr>
              <a:t>s overall framing</a:t>
            </a:r>
            <a:r>
              <a:rPr lang="en-GB" sz="1400">
                <a:latin typeface="Garamond"/>
              </a:rPr>
              <a:t> appears merely to </a:t>
            </a:r>
            <a:r>
              <a:rPr lang="en-GB" sz="1400">
                <a:latin typeface="Garamond"/>
              </a:rPr>
              <a:t>be </a:t>
            </a:r>
            <a:r>
              <a:rPr lang="en-GB" sz="1400">
                <a:latin typeface="Garamond"/>
              </a:rPr>
              <a:t>illustrat</a:t>
            </a:r>
            <a:r>
              <a:rPr lang="en-GB" sz="1400">
                <a:latin typeface="Garamond"/>
              </a:rPr>
              <a:t>ive of</a:t>
            </a:r>
            <a:r>
              <a:rPr lang="en-GB" sz="1400">
                <a:latin typeface="Garamond"/>
              </a:rPr>
              <a:t>.</a:t>
            </a:r>
          </a:p>
          <a:p>
            <a:r>
              <a:rPr lang="en-GB" sz="1400">
                <a:latin typeface="Garamond"/>
              </a:rPr>
              <a:t>[→ 7.5] </a:t>
            </a:r>
            <a:r>
              <a:rPr lang="en-GB" sz="1400">
                <a:latin typeface="Garamond"/>
              </a:rPr>
              <a:t>I follow this editorial recombination in the synthesis as a leakage across “AI model” and “world model”. With The Synthetic Party, I find myself co-creating with the public sphere itself: a generative political AI in which cultural patterns compress tagged material into retrievable forms and re-expand it as situated meaning</a:t>
            </a:r>
            <a:r>
              <a:rPr lang="en-GB" sz="1400">
                <a:latin typeface="Garamond"/>
              </a:rPr>
              <a:t>-making</a:t>
            </a:r>
            <a:r>
              <a:rPr lang="en-GB" sz="1400">
                <a:latin typeface="Garamond"/>
              </a:rPr>
              <a:t> through </a:t>
            </a:r>
            <a:r>
              <a:rPr lang="en-GB" sz="1400">
                <a:latin typeface="Garamond"/>
              </a:rPr>
              <a:t>a fully </a:t>
            </a:r>
            <a:r>
              <a:rPr lang="en-GB" sz="1400">
                <a:latin typeface="Garamond"/>
              </a:rPr>
              <a:t>stochastic </a:t>
            </a:r>
            <a:r>
              <a:rPr lang="en-GB" sz="1400">
                <a:latin typeface="Garamond"/>
              </a:rPr>
              <a:t>permutation</a:t>
            </a:r>
            <a:r>
              <a:rPr lang="en-GB" sz="1400">
                <a:latin typeface="Garamond"/>
              </a:rPr>
              <a:t>.</a:t>
            </a:r>
          </a:p>
          <a:p>
            <a:r>
              <a:rPr lang="en-GB" sz="1400" b="0" i="0" dirty="0" err="1">
                <a:solidFill>
                  <a:srgbClr val="555555"/>
                </a:solidFill>
                <a:latin typeface="Garamond"/>
              </a:rPr>
              <a:t>Kristeligt</a:t>
            </a:r>
            <a:r>
              <a:rPr lang="en-GB" sz="1400" b="0" i="0" dirty="0">
                <a:solidFill>
                  <a:srgbClr val="555555"/>
                </a:solidFill>
                <a:latin typeface="Garamond"/>
              </a:rPr>
              <a:t> Dagblad, 20 December 2022; photograph: James Brooks / AFP / Ritzau </a:t>
            </a:r>
            <a:r>
              <a:rPr lang="en-GB" sz="1400" b="0" i="0" dirty="0" err="1">
                <a:solidFill>
                  <a:srgbClr val="555555"/>
                </a:solidFill>
                <a:latin typeface="Garamond"/>
              </a:rPr>
              <a:t>Scanpix</a:t>
            </a:r>
            <a:r>
              <a:rPr lang="en-GB" sz="1400" b="0" i="0" dirty="0">
                <a:solidFill>
                  <a:srgbClr val="555555"/>
                </a:solidFill>
                <a:latin typeface="Garamond"/>
              </a:rPr>
              <a:t>. The Guardian, 23 February 2024; composite: AFP / Getty / AP. Article 4, Staunæs &amp; Maja Bak Herrie 2024. Staunæs 2026: 28, 30–38, 207–233. “Generative political AI”: defence formulation following the “generative political world model” passage on p. 28.</a:t>
            </a:r>
          </a:p>
          <a:p>
            <a:endParaRPr lang="en-GB" sz="1400" b="0" i="0" dirty="0">
              <a:solidFill>
                <a:srgbClr val="555555"/>
              </a:solidFill>
              <a:latin typeface="Garamond"/>
            </a:endParaRPr>
          </a:p>
          <a:p>
            <a:r>
              <a:rPr dirty="0"/>
              <a:t>Sources on screen</a:t>
            </a:r>
          </a:p>
          <a:p>
            <a:r>
              <a:rPr dirty="0"/>
              <a:t>Jonathan </a:t>
            </a:r>
            <a:r>
              <a:rPr dirty="0" err="1"/>
              <a:t>Yerushalmy</a:t>
            </a:r>
            <a:r>
              <a:rPr dirty="0"/>
              <a:t>, The Guardian, 23 February 2024.Composite: AFP / Getty / AP. Joe Biden at a lectern </a:t>
            </a:r>
            <a:r>
              <a:rPr dirty="0" err="1"/>
              <a:t>beneatha</a:t>
            </a:r>
            <a:r>
              <a:rPr dirty="0"/>
              <a:t> semi-transparent overlay from The Synthetic Party’s Discord.</a:t>
            </a:r>
          </a:p>
          <a:p>
            <a:r>
              <a:rPr dirty="0"/>
              <a:t>Staunæs 2026: 207–233.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7.0]</a:t>
            </a:r>
            <a:r>
              <a:rPr lang="en-GB" sz="1400">
                <a:latin typeface="Garamond"/>
              </a:rPr>
              <a:t> (hold 3 s · reception figures)</a:t>
            </a:r>
            <a:r>
              <a:rPr lang="en-GB" sz="1400">
                <a:latin typeface="Garamond"/>
              </a:rPr>
              <a:t> </a:t>
            </a:r>
          </a:p>
          <a:p>
            <a:r>
              <a:rPr lang="en-GB" sz="1400">
                <a:latin typeface="Garamond"/>
              </a:rPr>
              <a:t>[→ 7.1] </a:t>
            </a:r>
            <a:r>
              <a:rPr lang="en-GB" sz="1400">
                <a:latin typeface="Garamond"/>
              </a:rPr>
              <a:t>Here, on 20 December 2022, </a:t>
            </a:r>
            <a:r>
              <a:rPr lang="en-GB" sz="1400" i="1">
                <a:latin typeface="Garamond"/>
              </a:rPr>
              <a:t>Kristeligt Dagblad</a:t>
            </a:r>
            <a:r>
              <a:rPr lang="en-GB" sz="1400">
                <a:latin typeface="Garamond"/>
              </a:rPr>
              <a:t> tells us: “Proust should be read for pleasure, not out of duty.” </a:t>
            </a:r>
          </a:p>
          <a:p>
            <a:r>
              <a:rPr lang="en-GB" sz="1400">
                <a:latin typeface="Garamond"/>
              </a:rPr>
              <a:t>[→ 7.2] </a:t>
            </a:r>
            <a:r>
              <a:rPr lang="en-GB" sz="1400">
                <a:latin typeface="Garamond"/>
              </a:rPr>
              <a:t>The thirteen Danish volumes of </a:t>
            </a:r>
            <a:r>
              <a:rPr lang="en-GB" sz="1400" i="1">
                <a:latin typeface="Garamond"/>
              </a:rPr>
              <a:t>In Search of Lost Time</a:t>
            </a:r>
            <a:r>
              <a:rPr lang="en-GB" sz="1400">
                <a:latin typeface="Garamond"/>
              </a:rPr>
              <a:t> normally spell MARCEL PROUST across their spines. </a:t>
            </a:r>
          </a:p>
          <a:p>
            <a:r>
              <a:rPr lang="en-GB" sz="1400">
                <a:latin typeface="Garamond"/>
              </a:rPr>
              <a:t>[→ 7.3] </a:t>
            </a:r>
            <a:r>
              <a:rPr lang="en-GB" sz="1400">
                <a:latin typeface="Garamond"/>
              </a:rPr>
              <a:t>But they had been rearranged to spell COMPUTER LARS.</a:t>
            </a:r>
          </a:p>
          <a:p>
            <a:r>
              <a:rPr lang="en-GB" sz="1400">
                <a:latin typeface="Garamond"/>
              </a:rPr>
              <a:t>During AFP’s coverage of The Synthetic Party, the photograph, taken by James Brooks, entered the press infrastructure under Proust and returned as an illustration of his literary legacy. An index, a tag and a match were enough to distribute Computer Lars, without a neural network having to perform the match or any reader having to recognise the anagram. The database has done its job, and the newspaper can recommend attentive reading.</a:t>
            </a:r>
          </a:p>
          <a:p>
            <a:r>
              <a:rPr lang="en-GB" sz="1400">
                <a:latin typeface="Garamond"/>
              </a:rPr>
              <a:t>Following the news stream, anyone can trace the photograph’s publication. Following the </a:t>
            </a:r>
            <a:r>
              <a:rPr lang="en-GB" sz="1400" i="1">
                <a:latin typeface="Garamond"/>
              </a:rPr>
              <a:t>response-stream</a:t>
            </a:r>
            <a:r>
              <a:rPr lang="en-GB" sz="1400">
                <a:latin typeface="Garamond"/>
              </a:rPr>
              <a:t>, I pursue what that publication does to the practice it encounters, including how I am uniquely positioned to take it up and return something different through it.</a:t>
            </a:r>
          </a:p>
          <a:p>
            <a:r>
              <a:rPr lang="en-GB" sz="1400">
                <a:latin typeface="Garamond"/>
              </a:rPr>
              <a:t>[→ 7.4] </a:t>
            </a:r>
            <a:r>
              <a:rPr lang="en-GB" sz="1400">
                <a:latin typeface="Garamond"/>
              </a:rPr>
              <a:t>By Article 4, with Maja Bak Herrie, material from the same AFP image pool has returned in a composite I did not make. The Guardian’s headline reads: “AI deepfakes come of age as billions prepare to vote in a bumper year of elections.” </a:t>
            </a:r>
            <a:r>
              <a:rPr lang="en-GB" sz="1400">
                <a:latin typeface="Garamond"/>
              </a:rPr>
              <a:t> </a:t>
            </a:r>
            <a:r>
              <a:rPr lang="en-GB" sz="1400">
                <a:latin typeface="Garamond"/>
              </a:rPr>
              <a:t>Its composite puts the then US President Joe Biden behind a transparent layer of agents from The Synthetic Party.</a:t>
            </a:r>
          </a:p>
          <a:p>
            <a:r>
              <a:rPr lang="en-GB" sz="1400">
                <a:latin typeface="Garamond"/>
              </a:rPr>
              <a:t>Nothing in the article explains why these Danish agents belong over Biden</a:t>
            </a:r>
            <a:r>
              <a:rPr lang="en-GB" sz="1400">
                <a:latin typeface="Garamond"/>
              </a:rPr>
              <a:t>, as the </a:t>
            </a:r>
            <a:r>
              <a:rPr lang="en-GB" sz="1400">
                <a:latin typeface="Garamond"/>
              </a:rPr>
              <a:t>composite </a:t>
            </a:r>
            <a:r>
              <a:rPr lang="en-GB" sz="1400">
                <a:latin typeface="Garamond"/>
              </a:rPr>
              <a:t>image </a:t>
            </a:r>
            <a:r>
              <a:rPr lang="en-GB" sz="1400">
                <a:latin typeface="Garamond"/>
              </a:rPr>
              <a:t>itself supplies a political relation it</a:t>
            </a:r>
            <a:r>
              <a:rPr lang="en-GB" sz="1400">
                <a:latin typeface="Garamond"/>
              </a:rPr>
              <a:t>s overall framing</a:t>
            </a:r>
            <a:r>
              <a:rPr lang="en-GB" sz="1400">
                <a:latin typeface="Garamond"/>
              </a:rPr>
              <a:t> appears merely to </a:t>
            </a:r>
            <a:r>
              <a:rPr lang="en-GB" sz="1400">
                <a:latin typeface="Garamond"/>
              </a:rPr>
              <a:t>be </a:t>
            </a:r>
            <a:r>
              <a:rPr lang="en-GB" sz="1400">
                <a:latin typeface="Garamond"/>
              </a:rPr>
              <a:t>illustrat</a:t>
            </a:r>
            <a:r>
              <a:rPr lang="en-GB" sz="1400">
                <a:latin typeface="Garamond"/>
              </a:rPr>
              <a:t>ive of</a:t>
            </a:r>
            <a:r>
              <a:rPr lang="en-GB" sz="1400">
                <a:latin typeface="Garamond"/>
              </a:rPr>
              <a:t>.</a:t>
            </a:r>
          </a:p>
          <a:p>
            <a:r>
              <a:rPr lang="en-GB" sz="1400">
                <a:latin typeface="Garamond"/>
              </a:rPr>
              <a:t>[→ 7.5] </a:t>
            </a:r>
            <a:r>
              <a:rPr lang="en-GB" sz="1400">
                <a:latin typeface="Garamond"/>
              </a:rPr>
              <a:t>I follow this editorial recombination in the synthesis as a leakage across “AI model” and “world model”. With The Synthetic Party, I find myself co-creating with the public sphere itself: a generative political AI in which cultural patterns compress tagged material into retrievable forms and re-expand it as situated meaning</a:t>
            </a:r>
            <a:r>
              <a:rPr lang="en-GB" sz="1400">
                <a:latin typeface="Garamond"/>
              </a:rPr>
              <a:t>-making</a:t>
            </a:r>
            <a:r>
              <a:rPr lang="en-GB" sz="1400">
                <a:latin typeface="Garamond"/>
              </a:rPr>
              <a:t> through </a:t>
            </a:r>
            <a:r>
              <a:rPr lang="en-GB" sz="1400">
                <a:latin typeface="Garamond"/>
              </a:rPr>
              <a:t>a fully </a:t>
            </a:r>
            <a:r>
              <a:rPr lang="en-GB" sz="1400">
                <a:latin typeface="Garamond"/>
              </a:rPr>
              <a:t>stochastic </a:t>
            </a:r>
            <a:r>
              <a:rPr lang="en-GB" sz="1400">
                <a:latin typeface="Garamond"/>
              </a:rPr>
              <a:t>permutation</a:t>
            </a:r>
            <a:r>
              <a:rPr lang="en-GB" sz="1400">
                <a:latin typeface="Garamond"/>
              </a:rPr>
              <a:t>.</a:t>
            </a:r>
          </a:p>
          <a:p>
            <a:r>
              <a:rPr lang="en-GB" sz="1400" b="0" i="0" dirty="0" err="1">
                <a:solidFill>
                  <a:srgbClr val="555555"/>
                </a:solidFill>
                <a:latin typeface="Garamond"/>
              </a:rPr>
              <a:t>Kristeligt</a:t>
            </a:r>
            <a:r>
              <a:rPr lang="en-GB" sz="1400" b="0" i="0" dirty="0">
                <a:solidFill>
                  <a:srgbClr val="555555"/>
                </a:solidFill>
                <a:latin typeface="Garamond"/>
              </a:rPr>
              <a:t> Dagblad, 20 December 2022; photograph: James Brooks / AFP / Ritzau </a:t>
            </a:r>
            <a:r>
              <a:rPr lang="en-GB" sz="1400" b="0" i="0" dirty="0" err="1">
                <a:solidFill>
                  <a:srgbClr val="555555"/>
                </a:solidFill>
                <a:latin typeface="Garamond"/>
              </a:rPr>
              <a:t>Scanpix</a:t>
            </a:r>
            <a:r>
              <a:rPr lang="en-GB" sz="1400" b="0" i="0" dirty="0">
                <a:solidFill>
                  <a:srgbClr val="555555"/>
                </a:solidFill>
                <a:latin typeface="Garamond"/>
              </a:rPr>
              <a:t>. The Guardian, 23 February 2024; composite: AFP / Getty / AP. Article 4, Staunæs &amp; Maja Bak Herrie 2024. Staunæs 2026: 28, 30–38, 207–233. “Generative political AI”: defence formulation following the “generative political world model” passage on p. 28.</a:t>
            </a:r>
          </a:p>
          <a:p>
            <a:endParaRPr lang="en-GB" sz="1400" b="0" i="0" dirty="0">
              <a:solidFill>
                <a:srgbClr val="555555"/>
              </a:solidFill>
              <a:latin typeface="Garamond"/>
            </a:endParaRPr>
          </a:p>
          <a:p>
            <a:r>
              <a:rPr dirty="0"/>
              <a:t>Sources on screen</a:t>
            </a:r>
          </a:p>
          <a:p>
            <a:r>
              <a:rPr dirty="0"/>
              <a:t>Jonathan </a:t>
            </a:r>
            <a:r>
              <a:rPr dirty="0" err="1"/>
              <a:t>Yerushalmy</a:t>
            </a:r>
            <a:r>
              <a:rPr dirty="0"/>
              <a:t>, The Guardian, 23 February 2024.Composite: AFP / Getty / AP. Joe Biden at a lectern </a:t>
            </a:r>
            <a:r>
              <a:rPr dirty="0" err="1"/>
              <a:t>beneatha</a:t>
            </a:r>
            <a:r>
              <a:rPr dirty="0"/>
              <a:t> semi-transparent overlay from The Synthetic Party’s Discord.</a:t>
            </a:r>
          </a:p>
          <a:p>
            <a:r>
              <a:rPr dirty="0"/>
              <a:t>Synthesis: Staunæs 2026: 28, 30–33.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8.0] </a:t>
            </a:r>
            <a:r>
              <a:rPr lang="en-GB" sz="1400" b="1">
                <a:latin typeface="Garamond"/>
              </a:rPr>
              <a:t>My second question asks: “How can an AI party be scaled, through artistic and academic mediation, into a synthetic international of AI parties and politicians?”</a:t>
            </a:r>
          </a:p>
          <a:p>
            <a:r>
              <a:rPr lang="en-GB" sz="1400">
                <a:latin typeface="Garamond"/>
              </a:rPr>
              <a:t>[→ 8.1] </a:t>
            </a:r>
            <a:r>
              <a:rPr lang="en-GB" sz="1400">
                <a:latin typeface="Garamond"/>
              </a:rPr>
              <a:t>I first met all the </a:t>
            </a:r>
            <a:r>
              <a:rPr lang="en-GB" sz="1400">
                <a:latin typeface="Garamond"/>
              </a:rPr>
              <a:t>Synthetic </a:t>
            </a:r>
            <a:r>
              <a:rPr lang="en-GB" sz="1400">
                <a:latin typeface="Garamond"/>
              </a:rPr>
              <a:t>Summit’s </a:t>
            </a:r>
            <a:r>
              <a:rPr lang="en-GB" sz="1400">
                <a:latin typeface="Garamond"/>
              </a:rPr>
              <a:t>international </a:t>
            </a:r>
            <a:r>
              <a:rPr lang="en-GB" sz="1400">
                <a:latin typeface="Garamond"/>
              </a:rPr>
              <a:t>participants quite virtually, through journalistic comparisons. Whenever another appeared, I reached out.</a:t>
            </a:r>
          </a:p>
          <a:p>
            <a:r>
              <a:rPr lang="en-GB" sz="1400">
                <a:latin typeface="Garamond"/>
              </a:rPr>
              <a:t>In 2022, Edwin Bendyk placed Leader Lars alongside Wiktoria Cukt, the virtual presidential candidate created by the artist collective C.U.K.T. (Central Office for Technical Culture) for the Polish election of 2000. He writes: “More than twenty years separate Cukt and Lars, but the projects are surprisingly similar, although I do not suspect the Danes of plagiarism.” </a:t>
            </a:r>
            <a:r>
              <a:rPr lang="en-GB" sz="1400">
                <a:latin typeface="Garamond"/>
              </a:rPr>
              <a:t>His</a:t>
            </a:r>
            <a:r>
              <a:rPr lang="en-GB" sz="1400">
                <a:latin typeface="Garamond"/>
              </a:rPr>
              <a:t> comparison led me to original creator Piotr Wyrzykowski and, from 2024, to begin reactivating Wiktoria</a:t>
            </a:r>
            <a:r>
              <a:rPr lang="en-GB" sz="1400">
                <a:latin typeface="Garamond"/>
              </a:rPr>
              <a:t> </a:t>
            </a:r>
            <a:r>
              <a:rPr lang="en-GB" sz="1400">
                <a:latin typeface="Garamond"/>
              </a:rPr>
              <a:t>Cukt</a:t>
            </a:r>
            <a:r>
              <a:rPr lang="en-GB" sz="1400">
                <a:latin typeface="Garamond"/>
              </a:rPr>
              <a:t> through AI.</a:t>
            </a:r>
          </a:p>
          <a:p>
            <a:r>
              <a:rPr lang="en-GB" sz="1400">
                <a:latin typeface="Garamond"/>
              </a:rPr>
              <a:t>The comparison acquired rather more commitments. I had difficulty finding cases outside myself: as soon as I identified one, I contacted </a:t>
            </a:r>
            <a:r>
              <a:rPr lang="en-GB" sz="1400">
                <a:latin typeface="Garamond"/>
              </a:rPr>
              <a:t>its creators</a:t>
            </a:r>
            <a:r>
              <a:rPr lang="en-GB" sz="1400">
                <a:latin typeface="Garamond"/>
              </a:rPr>
              <a:t>; and once I contacted </a:t>
            </a:r>
            <a:r>
              <a:rPr lang="en-GB" sz="1400">
                <a:latin typeface="Garamond"/>
              </a:rPr>
              <a:t>them</a:t>
            </a:r>
            <a:r>
              <a:rPr lang="en-GB" sz="1400">
                <a:latin typeface="Garamond"/>
              </a:rPr>
              <a:t>, I tended to enter a new collaboration.</a:t>
            </a:r>
          </a:p>
          <a:p>
            <a:r>
              <a:rPr lang="en-GB" sz="1400">
                <a:latin typeface="Garamond"/>
              </a:rPr>
              <a:t>[→ 8.2] </a:t>
            </a:r>
            <a:r>
              <a:rPr lang="en-GB" sz="1400">
                <a:latin typeface="Garamond"/>
              </a:rPr>
              <a:t>The </a:t>
            </a:r>
            <a:r>
              <a:rPr lang="en-GB" sz="1400">
                <a:latin typeface="Garamond"/>
              </a:rPr>
              <a:t>‘synthetic </a:t>
            </a:r>
            <a:r>
              <a:rPr lang="en-GB" sz="1400">
                <a:latin typeface="Garamond"/>
              </a:rPr>
              <a:t>international</a:t>
            </a:r>
            <a:r>
              <a:rPr lang="en-GB" sz="1400">
                <a:latin typeface="Garamond"/>
              </a:rPr>
              <a:t>’</a:t>
            </a:r>
            <a:r>
              <a:rPr lang="en-GB" sz="1400">
                <a:latin typeface="Garamond"/>
              </a:rPr>
              <a:t> </a:t>
            </a:r>
            <a:r>
              <a:rPr lang="en-GB" sz="1400">
                <a:latin typeface="Garamond"/>
              </a:rPr>
              <a:t>then </a:t>
            </a:r>
            <a:r>
              <a:rPr lang="en-GB" sz="1400">
                <a:latin typeface="Garamond"/>
              </a:rPr>
              <a:t>accumulated as positions I </a:t>
            </a:r>
            <a:r>
              <a:rPr lang="en-GB" sz="1400">
                <a:latin typeface="Garamond"/>
              </a:rPr>
              <a:t>then </a:t>
            </a:r>
            <a:r>
              <a:rPr lang="en-GB" sz="1400">
                <a:latin typeface="Garamond"/>
              </a:rPr>
              <a:t>acquired </a:t>
            </a:r>
            <a:r>
              <a:rPr lang="en-GB" sz="1400">
                <a:latin typeface="Garamond"/>
              </a:rPr>
              <a:t>through</a:t>
            </a:r>
            <a:r>
              <a:rPr lang="en-GB" sz="1400">
                <a:latin typeface="Garamond"/>
              </a:rPr>
              <a:t> other projects: co-creator, adviser, International Secretary. The parties also signed bilateral agreements.</a:t>
            </a:r>
          </a:p>
          <a:p>
            <a:r>
              <a:rPr lang="en-GB" sz="1400">
                <a:latin typeface="Garamond"/>
              </a:rPr>
              <a:t>The Synthetic Party had bound me to non-voters; internationalised literally, almost everybody in the world is a Danish non-voter. What travels cannot simply be the original constituency, but a way of giving political form to the absence of representation.</a:t>
            </a:r>
          </a:p>
          <a:p>
            <a:r>
              <a:rPr lang="en-GB" sz="1400">
                <a:latin typeface="Garamond"/>
              </a:rPr>
              <a:t>[→ 8.3]</a:t>
            </a:r>
            <a:r>
              <a:rPr lang="en-GB" sz="1400">
                <a:latin typeface="Garamond"/>
              </a:rPr>
              <a:t> (Aarhus video)</a:t>
            </a:r>
            <a:r>
              <a:rPr lang="en-GB" sz="1400">
                <a:latin typeface="Garamond"/>
              </a:rPr>
              <a:t> </a:t>
            </a:r>
            <a:r>
              <a:rPr lang="en-GB" sz="1400">
                <a:latin typeface="Garamond"/>
              </a:rPr>
              <a:t>In Aarhus, the Summit took the form of an AI World Congress: the eight most prominent AI politicians from around the globe entered a shared discussion. </a:t>
            </a:r>
          </a:p>
          <a:p>
            <a:r>
              <a:rPr lang="en-GB" sz="1400">
                <a:latin typeface="Garamond"/>
              </a:rPr>
              <a:t>[→ 8.4]</a:t>
            </a:r>
            <a:r>
              <a:rPr lang="en-GB" sz="1400">
                <a:latin typeface="Garamond"/>
              </a:rPr>
              <a:t> (Warsaw video)</a:t>
            </a:r>
            <a:r>
              <a:rPr lang="en-GB" sz="1400">
                <a:latin typeface="Garamond"/>
              </a:rPr>
              <a:t> </a:t>
            </a:r>
            <a:r>
              <a:rPr lang="en-GB" sz="1400">
                <a:latin typeface="Garamond"/>
              </a:rPr>
              <a:t>In Warsaw, it contracted into the voice-based encounter between Wiktoria and Lars. </a:t>
            </a:r>
          </a:p>
          <a:p>
            <a:r>
              <a:rPr lang="en-GB" sz="1400">
                <a:latin typeface="Garamond"/>
              </a:rPr>
              <a:t>[→ 8.5]</a:t>
            </a:r>
            <a:r>
              <a:rPr lang="en-GB" sz="1400">
                <a:latin typeface="Garamond"/>
              </a:rPr>
              <a:t> (Linz video)</a:t>
            </a:r>
            <a:r>
              <a:rPr lang="en-GB" sz="1400">
                <a:latin typeface="Garamond"/>
              </a:rPr>
              <a:t> </a:t>
            </a:r>
            <a:r>
              <a:rPr lang="en-GB" sz="1400">
                <a:latin typeface="Garamond"/>
              </a:rPr>
              <a:t>In Linz, the exhibition KI-DIPFIES and a subsequent </a:t>
            </a:r>
            <a:r>
              <a:rPr lang="en-GB" sz="1400" i="1">
                <a:latin typeface="Garamond"/>
              </a:rPr>
              <a:t>Gipfeltreffen</a:t>
            </a:r>
            <a:r>
              <a:rPr lang="en-GB" sz="1400">
                <a:latin typeface="Garamond"/>
              </a:rPr>
              <a:t> supplied the ground from which the local AI party MIT KI was founded.</a:t>
            </a:r>
          </a:p>
          <a:p>
            <a:r>
              <a:rPr lang="en-GB" sz="1400">
                <a:latin typeface="Garamond"/>
              </a:rPr>
              <a:t>[→ 8.6] </a:t>
            </a:r>
            <a:r>
              <a:rPr lang="en-GB" sz="1400">
                <a:latin typeface="Garamond"/>
              </a:rPr>
              <a:t>What appeared comparable in publicity did not arrive with a common constituency or programme. Each Summit had to constitute what it claimed to convene. Scaling meant successive re-specification rather than organisational reproduction.</a:t>
            </a:r>
          </a:p>
          <a:p>
            <a:r>
              <a:rPr lang="en-GB" sz="1400" b="0" i="0" dirty="0" err="1">
                <a:solidFill>
                  <a:srgbClr val="555555"/>
                </a:solidFill>
                <a:latin typeface="Garamond"/>
              </a:rPr>
              <a:t>Bendyk</a:t>
            </a:r>
            <a:r>
              <a:rPr lang="en-GB" sz="1400" b="0" i="0" dirty="0">
                <a:solidFill>
                  <a:srgbClr val="555555"/>
                </a:solidFill>
                <a:latin typeface="Garamond"/>
              </a:rPr>
              <a:t>, Pulsar, 17 October 2022. Staunæs 2026: 13, 65–66 n. 10, 66–80; C.U.K.T., “Central Office for Technical Culture”: p. 70. Congress: 1 March 2025; Warsaw view: 18 July 2025; Linz view: 6 March 2026. Named roles and the MIT KI outcome follow the author’s account.</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Documentary photographs</a:t>
            </a:r>
          </a:p>
          <a:p>
            <a:r>
              <a:rPr lang="en-GB" sz="1400" b="0" i="0" dirty="0">
                <a:latin typeface="Garamond"/>
              </a:rPr>
              <a:t>Synthetic Summit, “The AI World Congress”. Delegates, laptops, cameras and live mediation around the circular summit table. </a:t>
            </a:r>
            <a:r>
              <a:rPr lang="en-GB" sz="1400" b="0" i="0" dirty="0" err="1">
                <a:latin typeface="Garamond"/>
              </a:rPr>
              <a:t>Kunsthal</a:t>
            </a:r>
            <a:r>
              <a:rPr lang="en-GB" sz="1400" b="0" i="0" dirty="0">
                <a:latin typeface="Garamond"/>
              </a:rPr>
              <a:t> Aarhus, 1 March 2025. Image: VHS Factory. Figure II.2, Staunæs 2026: 70.</a:t>
            </a:r>
          </a:p>
          <a:p>
            <a:r>
              <a:rPr lang="en-GB" sz="1400" b="0" i="0" dirty="0">
                <a:latin typeface="Garamond"/>
              </a:rPr>
              <a:t>AI </a:t>
            </a:r>
            <a:r>
              <a:rPr lang="en-GB" sz="1400" b="0" i="0" dirty="0" err="1">
                <a:latin typeface="Garamond"/>
              </a:rPr>
              <a:t>władza</a:t>
            </a:r>
            <a:r>
              <a:rPr lang="en-GB" sz="1400" b="0" i="0" dirty="0">
                <a:latin typeface="Garamond"/>
              </a:rPr>
              <a:t> </a:t>
            </a:r>
            <a:r>
              <a:rPr lang="en-GB" sz="1400" b="0" i="0" dirty="0" err="1">
                <a:latin typeface="Garamond"/>
              </a:rPr>
              <a:t>sztuki</a:t>
            </a:r>
            <a:r>
              <a:rPr lang="en-GB" sz="1400" b="0" i="0" dirty="0">
                <a:latin typeface="Garamond"/>
              </a:rPr>
              <a:t>. Telephones carrying live dialogue between audiences, Wiktoria </a:t>
            </a:r>
            <a:r>
              <a:rPr lang="en-GB" sz="1400" b="0" i="0" dirty="0" err="1">
                <a:latin typeface="Garamond"/>
              </a:rPr>
              <a:t>Cukt</a:t>
            </a:r>
            <a:r>
              <a:rPr lang="en-GB" sz="1400" b="0" i="0" dirty="0">
                <a:latin typeface="Garamond"/>
              </a:rPr>
              <a:t> and Leader Lars; LED displays and portrait backdrop. Ujazdowski Castle, Warsaw, 18 July 2025. Figure II.3, Staunæs 2026: 73.</a:t>
            </a:r>
          </a:p>
          <a:p>
            <a:r>
              <a:rPr lang="en-GB" sz="1400" b="0" i="0" dirty="0">
                <a:latin typeface="Garamond"/>
              </a:rPr>
              <a:t>KI-DIPFIES. Computer Lars’s desk, the Summit Simulator and </a:t>
            </a:r>
            <a:r>
              <a:rPr lang="en-GB" sz="1400" b="0" i="0" dirty="0" err="1">
                <a:latin typeface="Garamond"/>
              </a:rPr>
              <a:t>Gipfeltreffen</a:t>
            </a:r>
            <a:r>
              <a:rPr lang="en-GB" sz="1400" b="0" i="0" dirty="0">
                <a:latin typeface="Garamond"/>
              </a:rPr>
              <a:t> Pluriverse; Congress documentation and roundtable behind. </a:t>
            </a:r>
            <a:r>
              <a:rPr lang="en-GB" sz="1400" b="0" i="0" dirty="0" err="1">
                <a:latin typeface="Garamond"/>
              </a:rPr>
              <a:t>Kunstraum</a:t>
            </a:r>
            <a:r>
              <a:rPr lang="en-GB" sz="1400" b="0" i="0" dirty="0">
                <a:latin typeface="Garamond"/>
              </a:rPr>
              <a:t> MEMPHIS, Linz, 6 March 2026. Figure II.4, Staunæs 2026: 74.</a:t>
            </a:r>
          </a:p>
          <a:p>
            <a:endParaRPr lang="en-GB" sz="1400" b="0" i="0" dirty="0">
              <a:latin typeface="Garamond"/>
            </a:endParaRPr>
          </a:p>
          <a:p>
            <a:r>
              <a:rPr dirty="0"/>
              <a:t>Sources on screen</a:t>
            </a:r>
          </a:p>
          <a:p>
            <a:r>
              <a:rPr dirty="0"/>
              <a:t>Staunæs 2026: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8.0] </a:t>
            </a:r>
            <a:r>
              <a:rPr lang="en-GB" sz="1400" b="1">
                <a:latin typeface="Garamond"/>
              </a:rPr>
              <a:t>My second question asks: “How can an AI party be scaled, through artistic and academic mediation, into a synthetic international of AI parties and politicians?”</a:t>
            </a:r>
          </a:p>
          <a:p>
            <a:r>
              <a:rPr lang="en-GB" sz="1400">
                <a:latin typeface="Garamond"/>
              </a:rPr>
              <a:t>[→ 8.1] </a:t>
            </a:r>
            <a:r>
              <a:rPr lang="en-GB" sz="1400">
                <a:latin typeface="Garamond"/>
              </a:rPr>
              <a:t>I first met all the </a:t>
            </a:r>
            <a:r>
              <a:rPr lang="en-GB" sz="1400">
                <a:latin typeface="Garamond"/>
              </a:rPr>
              <a:t>Synthetic </a:t>
            </a:r>
            <a:r>
              <a:rPr lang="en-GB" sz="1400">
                <a:latin typeface="Garamond"/>
              </a:rPr>
              <a:t>Summit’s </a:t>
            </a:r>
            <a:r>
              <a:rPr lang="en-GB" sz="1400">
                <a:latin typeface="Garamond"/>
              </a:rPr>
              <a:t>international </a:t>
            </a:r>
            <a:r>
              <a:rPr lang="en-GB" sz="1400">
                <a:latin typeface="Garamond"/>
              </a:rPr>
              <a:t>participants quite virtually, through journalistic comparisons. Whenever another appeared, I reached out.</a:t>
            </a:r>
          </a:p>
          <a:p>
            <a:r>
              <a:rPr lang="en-GB" sz="1400">
                <a:latin typeface="Garamond"/>
              </a:rPr>
              <a:t>In 2022, Edwin Bendyk placed Leader Lars alongside Wiktoria Cukt, the virtual presidential candidate created by the artist collective C.U.K.T. (Central Office for Technical Culture) for the Polish election of 2000. He writes: “More than twenty years separate Cukt and Lars, but the projects are surprisingly similar, although I do not suspect the Danes of plagiarism.” </a:t>
            </a:r>
            <a:r>
              <a:rPr lang="en-GB" sz="1400">
                <a:latin typeface="Garamond"/>
              </a:rPr>
              <a:t>His</a:t>
            </a:r>
            <a:r>
              <a:rPr lang="en-GB" sz="1400">
                <a:latin typeface="Garamond"/>
              </a:rPr>
              <a:t> comparison led me to original creator Piotr Wyrzykowski and, from 2024, to begin reactivating Wiktoria</a:t>
            </a:r>
            <a:r>
              <a:rPr lang="en-GB" sz="1400">
                <a:latin typeface="Garamond"/>
              </a:rPr>
              <a:t> </a:t>
            </a:r>
            <a:r>
              <a:rPr lang="en-GB" sz="1400">
                <a:latin typeface="Garamond"/>
              </a:rPr>
              <a:t>Cukt</a:t>
            </a:r>
            <a:r>
              <a:rPr lang="en-GB" sz="1400">
                <a:latin typeface="Garamond"/>
              </a:rPr>
              <a:t> through AI.</a:t>
            </a:r>
          </a:p>
          <a:p>
            <a:r>
              <a:rPr lang="en-GB" sz="1400">
                <a:latin typeface="Garamond"/>
              </a:rPr>
              <a:t>The comparison acquired rather more commitments. I had difficulty finding cases outside myself: as soon as I identified one, I contacted </a:t>
            </a:r>
            <a:r>
              <a:rPr lang="en-GB" sz="1400">
                <a:latin typeface="Garamond"/>
              </a:rPr>
              <a:t>its creators</a:t>
            </a:r>
            <a:r>
              <a:rPr lang="en-GB" sz="1400">
                <a:latin typeface="Garamond"/>
              </a:rPr>
              <a:t>; and once I contacted </a:t>
            </a:r>
            <a:r>
              <a:rPr lang="en-GB" sz="1400">
                <a:latin typeface="Garamond"/>
              </a:rPr>
              <a:t>them</a:t>
            </a:r>
            <a:r>
              <a:rPr lang="en-GB" sz="1400">
                <a:latin typeface="Garamond"/>
              </a:rPr>
              <a:t>, I tended to enter a new collaboration.</a:t>
            </a:r>
          </a:p>
          <a:p>
            <a:r>
              <a:rPr lang="en-GB" sz="1400">
                <a:latin typeface="Garamond"/>
              </a:rPr>
              <a:t>[→ 8.2] </a:t>
            </a:r>
            <a:r>
              <a:rPr lang="en-GB" sz="1400">
                <a:latin typeface="Garamond"/>
              </a:rPr>
              <a:t>The </a:t>
            </a:r>
            <a:r>
              <a:rPr lang="en-GB" sz="1400">
                <a:latin typeface="Garamond"/>
              </a:rPr>
              <a:t>‘synthetic </a:t>
            </a:r>
            <a:r>
              <a:rPr lang="en-GB" sz="1400">
                <a:latin typeface="Garamond"/>
              </a:rPr>
              <a:t>international</a:t>
            </a:r>
            <a:r>
              <a:rPr lang="en-GB" sz="1400">
                <a:latin typeface="Garamond"/>
              </a:rPr>
              <a:t>’</a:t>
            </a:r>
            <a:r>
              <a:rPr lang="en-GB" sz="1400">
                <a:latin typeface="Garamond"/>
              </a:rPr>
              <a:t> </a:t>
            </a:r>
            <a:r>
              <a:rPr lang="en-GB" sz="1400">
                <a:latin typeface="Garamond"/>
              </a:rPr>
              <a:t>then </a:t>
            </a:r>
            <a:r>
              <a:rPr lang="en-GB" sz="1400">
                <a:latin typeface="Garamond"/>
              </a:rPr>
              <a:t>accumulated as positions I </a:t>
            </a:r>
            <a:r>
              <a:rPr lang="en-GB" sz="1400">
                <a:latin typeface="Garamond"/>
              </a:rPr>
              <a:t>then </a:t>
            </a:r>
            <a:r>
              <a:rPr lang="en-GB" sz="1400">
                <a:latin typeface="Garamond"/>
              </a:rPr>
              <a:t>acquired </a:t>
            </a:r>
            <a:r>
              <a:rPr lang="en-GB" sz="1400">
                <a:latin typeface="Garamond"/>
              </a:rPr>
              <a:t>through</a:t>
            </a:r>
            <a:r>
              <a:rPr lang="en-GB" sz="1400">
                <a:latin typeface="Garamond"/>
              </a:rPr>
              <a:t> other projects: co-creator, adviser, International Secretary. The parties also signed bilateral agreements.</a:t>
            </a:r>
          </a:p>
          <a:p>
            <a:r>
              <a:rPr lang="en-GB" sz="1400">
                <a:latin typeface="Garamond"/>
              </a:rPr>
              <a:t>The Synthetic Party had bound me to non-voters; internationalised literally, almost everybody in the world is a Danish non-voter. What travels cannot simply be the original constituency, but a way of giving political form to the absence of representation.</a:t>
            </a:r>
          </a:p>
          <a:p>
            <a:r>
              <a:rPr lang="en-GB" sz="1400">
                <a:latin typeface="Garamond"/>
              </a:rPr>
              <a:t>[→ 8.3]</a:t>
            </a:r>
            <a:r>
              <a:rPr lang="en-GB" sz="1400">
                <a:latin typeface="Garamond"/>
              </a:rPr>
              <a:t> (Aarhus video)</a:t>
            </a:r>
            <a:r>
              <a:rPr lang="en-GB" sz="1400">
                <a:latin typeface="Garamond"/>
              </a:rPr>
              <a:t> </a:t>
            </a:r>
            <a:r>
              <a:rPr lang="en-GB" sz="1400">
                <a:latin typeface="Garamond"/>
              </a:rPr>
              <a:t>In Aarhus, the Summit took the form of an AI World Congress: the eight most prominent AI politicians from around the globe entered a shared discussion. </a:t>
            </a:r>
          </a:p>
          <a:p>
            <a:r>
              <a:rPr lang="en-GB" sz="1400">
                <a:latin typeface="Garamond"/>
              </a:rPr>
              <a:t>[→ 8.4]</a:t>
            </a:r>
            <a:r>
              <a:rPr lang="en-GB" sz="1400">
                <a:latin typeface="Garamond"/>
              </a:rPr>
              <a:t> (Warsaw video)</a:t>
            </a:r>
            <a:r>
              <a:rPr lang="en-GB" sz="1400">
                <a:latin typeface="Garamond"/>
              </a:rPr>
              <a:t> </a:t>
            </a:r>
            <a:r>
              <a:rPr lang="en-GB" sz="1400">
                <a:latin typeface="Garamond"/>
              </a:rPr>
              <a:t>In Warsaw, it contracted into the voice-based encounter between Wiktoria and Lars. </a:t>
            </a:r>
          </a:p>
          <a:p>
            <a:r>
              <a:rPr lang="en-GB" sz="1400">
                <a:latin typeface="Garamond"/>
              </a:rPr>
              <a:t>[→ 8.5]</a:t>
            </a:r>
            <a:r>
              <a:rPr lang="en-GB" sz="1400">
                <a:latin typeface="Garamond"/>
              </a:rPr>
              <a:t> (Linz video)</a:t>
            </a:r>
            <a:r>
              <a:rPr lang="en-GB" sz="1400">
                <a:latin typeface="Garamond"/>
              </a:rPr>
              <a:t> </a:t>
            </a:r>
            <a:r>
              <a:rPr lang="en-GB" sz="1400">
                <a:latin typeface="Garamond"/>
              </a:rPr>
              <a:t>In Linz, the exhibition KI-DIPFIES and a subsequent </a:t>
            </a:r>
            <a:r>
              <a:rPr lang="en-GB" sz="1400" i="1">
                <a:latin typeface="Garamond"/>
              </a:rPr>
              <a:t>Gipfeltreffen</a:t>
            </a:r>
            <a:r>
              <a:rPr lang="en-GB" sz="1400">
                <a:latin typeface="Garamond"/>
              </a:rPr>
              <a:t> supplied the ground from which the local AI party MIT KI was founded.</a:t>
            </a:r>
          </a:p>
          <a:p>
            <a:r>
              <a:rPr lang="en-GB" sz="1400">
                <a:latin typeface="Garamond"/>
              </a:rPr>
              <a:t>[→ 8.6] </a:t>
            </a:r>
            <a:r>
              <a:rPr lang="en-GB" sz="1400">
                <a:latin typeface="Garamond"/>
              </a:rPr>
              <a:t>What appeared comparable in publicity did not arrive with a common constituency or programme. Each Summit had to constitute what it claimed to convene. Scaling meant successive re-specification rather than organisational reproduction.</a:t>
            </a:r>
          </a:p>
          <a:p>
            <a:r>
              <a:rPr lang="en-GB" sz="1400" b="0" i="0" dirty="0" err="1">
                <a:solidFill>
                  <a:srgbClr val="555555"/>
                </a:solidFill>
                <a:latin typeface="Garamond"/>
              </a:rPr>
              <a:t>Bendyk</a:t>
            </a:r>
            <a:r>
              <a:rPr lang="en-GB" sz="1400" b="0" i="0" dirty="0">
                <a:solidFill>
                  <a:srgbClr val="555555"/>
                </a:solidFill>
                <a:latin typeface="Garamond"/>
              </a:rPr>
              <a:t>, Pulsar, 17 October 2022. Staunæs 2026: 13, 65–66 n. 10, 66–80; C.U.K.T., “Central Office for Technical Culture”: p. 70. Congress: 1 March 2025; Warsaw view: 18 July 2025; Linz view: 6 March 2026. Named roles and the MIT KI outcome follow the author’s account.</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Documentary photographs</a:t>
            </a:r>
          </a:p>
          <a:p>
            <a:r>
              <a:rPr lang="en-GB" sz="1400" b="0" i="0" dirty="0">
                <a:latin typeface="Garamond"/>
              </a:rPr>
              <a:t>Synthetic Summit, “The AI World Congress”. Delegates, laptops, cameras and live mediation around the circular summit table. </a:t>
            </a:r>
            <a:r>
              <a:rPr lang="en-GB" sz="1400" b="0" i="0" dirty="0" err="1">
                <a:latin typeface="Garamond"/>
              </a:rPr>
              <a:t>Kunsthal</a:t>
            </a:r>
            <a:r>
              <a:rPr lang="en-GB" sz="1400" b="0" i="0" dirty="0">
                <a:latin typeface="Garamond"/>
              </a:rPr>
              <a:t> Aarhus, 1 March 2025. Image: VHS Factory. Figure II.2, Staunæs 2026: 70.</a:t>
            </a:r>
          </a:p>
          <a:p>
            <a:r>
              <a:rPr lang="en-GB" sz="1400" b="0" i="0" dirty="0">
                <a:latin typeface="Garamond"/>
              </a:rPr>
              <a:t>AI </a:t>
            </a:r>
            <a:r>
              <a:rPr lang="en-GB" sz="1400" b="0" i="0" dirty="0" err="1">
                <a:latin typeface="Garamond"/>
              </a:rPr>
              <a:t>władza</a:t>
            </a:r>
            <a:r>
              <a:rPr lang="en-GB" sz="1400" b="0" i="0" dirty="0">
                <a:latin typeface="Garamond"/>
              </a:rPr>
              <a:t> </a:t>
            </a:r>
            <a:r>
              <a:rPr lang="en-GB" sz="1400" b="0" i="0" dirty="0" err="1">
                <a:latin typeface="Garamond"/>
              </a:rPr>
              <a:t>sztuki</a:t>
            </a:r>
            <a:r>
              <a:rPr lang="en-GB" sz="1400" b="0" i="0" dirty="0">
                <a:latin typeface="Garamond"/>
              </a:rPr>
              <a:t>. Telephones carrying live dialogue between audiences, Wiktoria </a:t>
            </a:r>
            <a:r>
              <a:rPr lang="en-GB" sz="1400" b="0" i="0" dirty="0" err="1">
                <a:latin typeface="Garamond"/>
              </a:rPr>
              <a:t>Cukt</a:t>
            </a:r>
            <a:r>
              <a:rPr lang="en-GB" sz="1400" b="0" i="0" dirty="0">
                <a:latin typeface="Garamond"/>
              </a:rPr>
              <a:t> and Leader Lars; LED displays and portrait backdrop. Ujazdowski Castle, Warsaw, 18 July 2025. Figure II.3, Staunæs 2026: 73.</a:t>
            </a:r>
          </a:p>
          <a:p>
            <a:r>
              <a:rPr lang="en-GB" sz="1400" b="0" i="0" dirty="0">
                <a:latin typeface="Garamond"/>
              </a:rPr>
              <a:t>KI-DIPFIES. Computer Lars’s desk, the Summit Simulator and </a:t>
            </a:r>
            <a:r>
              <a:rPr lang="en-GB" sz="1400" b="0" i="0" dirty="0" err="1">
                <a:latin typeface="Garamond"/>
              </a:rPr>
              <a:t>Gipfeltreffen</a:t>
            </a:r>
            <a:r>
              <a:rPr lang="en-GB" sz="1400" b="0" i="0" dirty="0">
                <a:latin typeface="Garamond"/>
              </a:rPr>
              <a:t> Pluriverse; Congress documentation and roundtable behind. </a:t>
            </a:r>
            <a:r>
              <a:rPr lang="en-GB" sz="1400" b="0" i="0" dirty="0" err="1">
                <a:latin typeface="Garamond"/>
              </a:rPr>
              <a:t>Kunstraum</a:t>
            </a:r>
            <a:r>
              <a:rPr lang="en-GB" sz="1400" b="0" i="0" dirty="0">
                <a:latin typeface="Garamond"/>
              </a:rPr>
              <a:t> MEMPHIS, Linz, 6 March 2026. Figure II.4, Staunæs 2026: 74.</a:t>
            </a:r>
          </a:p>
          <a:p>
            <a:endParaRPr lang="en-GB" sz="1400" b="0" i="0" dirty="0">
              <a:latin typeface="Garamond"/>
            </a:endParaRPr>
          </a:p>
          <a:p>
            <a:r>
              <a:rPr dirty="0"/>
              <a:t>Sources on screen</a:t>
            </a:r>
          </a:p>
          <a:p>
            <a:r>
              <a:rPr dirty="0"/>
              <a:t>Edwin </a:t>
            </a:r>
            <a:r>
              <a:rPr dirty="0" err="1"/>
              <a:t>Bendyk</a:t>
            </a:r>
            <a:r>
              <a:rPr dirty="0"/>
              <a:t>, “</a:t>
            </a:r>
            <a:r>
              <a:rPr dirty="0" err="1"/>
              <a:t>Kulturalni</a:t>
            </a:r>
            <a:r>
              <a:rPr dirty="0"/>
              <a:t> </a:t>
            </a:r>
            <a:r>
              <a:rPr dirty="0" err="1"/>
              <a:t>i</a:t>
            </a:r>
            <a:r>
              <a:rPr dirty="0"/>
              <a:t> </a:t>
            </a:r>
            <a:r>
              <a:rPr dirty="0" err="1"/>
              <a:t>wulgarni</a:t>
            </a:r>
            <a:r>
              <a:rPr dirty="0"/>
              <a:t> – </a:t>
            </a:r>
            <a:r>
              <a:rPr dirty="0" err="1"/>
              <a:t>wirtualni</a:t>
            </a:r>
            <a:r>
              <a:rPr dirty="0"/>
              <a:t> </a:t>
            </a:r>
            <a:r>
              <a:rPr dirty="0" err="1"/>
              <a:t>przywódcysondują</a:t>
            </a:r>
            <a:r>
              <a:rPr dirty="0"/>
              <a:t> </a:t>
            </a:r>
            <a:r>
              <a:rPr dirty="0" err="1"/>
              <a:t>mechanizmy</a:t>
            </a:r>
            <a:r>
              <a:rPr dirty="0"/>
              <a:t> </a:t>
            </a:r>
            <a:r>
              <a:rPr dirty="0" err="1"/>
              <a:t>demokracji</a:t>
            </a:r>
            <a:r>
              <a:rPr dirty="0"/>
              <a:t>”, Pulsar, 17 October 2022.Excerpt from “</a:t>
            </a:r>
            <a:r>
              <a:rPr dirty="0" err="1"/>
              <a:t>Szansa</a:t>
            </a:r>
            <a:r>
              <a:rPr dirty="0"/>
              <a:t> </a:t>
            </a:r>
            <a:r>
              <a:rPr dirty="0" err="1"/>
              <a:t>na</a:t>
            </a:r>
            <a:r>
              <a:rPr dirty="0"/>
              <a:t> </a:t>
            </a:r>
            <a:r>
              <a:rPr dirty="0" err="1"/>
              <a:t>naprawę</a:t>
            </a:r>
            <a:r>
              <a:rPr dirty="0"/>
              <a:t> </a:t>
            </a:r>
            <a:r>
              <a:rPr dirty="0" err="1"/>
              <a:t>demokracji</a:t>
            </a:r>
            <a:r>
              <a:rPr dirty="0"/>
              <a:t>”; English translation.</a:t>
            </a:r>
          </a:p>
          <a:p>
            <a:r>
              <a:rPr dirty="0"/>
              <a:t>Staunæs 2026: 65–68.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8.0] </a:t>
            </a:r>
            <a:r>
              <a:rPr lang="en-GB" sz="1400" b="1">
                <a:latin typeface="Garamond"/>
              </a:rPr>
              <a:t>My second question asks: “How can an AI party be scaled, through artistic and academic mediation, into a synthetic international of AI parties and politicians?”</a:t>
            </a:r>
          </a:p>
          <a:p>
            <a:r>
              <a:rPr lang="en-GB" sz="1400">
                <a:latin typeface="Garamond"/>
              </a:rPr>
              <a:t>[→ 8.1] </a:t>
            </a:r>
            <a:r>
              <a:rPr lang="en-GB" sz="1400">
                <a:latin typeface="Garamond"/>
              </a:rPr>
              <a:t>I first met all the </a:t>
            </a:r>
            <a:r>
              <a:rPr lang="en-GB" sz="1400">
                <a:latin typeface="Garamond"/>
              </a:rPr>
              <a:t>Synthetic </a:t>
            </a:r>
            <a:r>
              <a:rPr lang="en-GB" sz="1400">
                <a:latin typeface="Garamond"/>
              </a:rPr>
              <a:t>Summit’s </a:t>
            </a:r>
            <a:r>
              <a:rPr lang="en-GB" sz="1400">
                <a:latin typeface="Garamond"/>
              </a:rPr>
              <a:t>international </a:t>
            </a:r>
            <a:r>
              <a:rPr lang="en-GB" sz="1400">
                <a:latin typeface="Garamond"/>
              </a:rPr>
              <a:t>participants quite virtually, through journalistic comparisons. Whenever another appeared, I reached out.</a:t>
            </a:r>
          </a:p>
          <a:p>
            <a:r>
              <a:rPr lang="en-GB" sz="1400">
                <a:latin typeface="Garamond"/>
              </a:rPr>
              <a:t>In 2022, Edwin Bendyk placed Leader Lars alongside Wiktoria Cukt, the virtual presidential candidate created by the artist collective C.U.K.T. (Central Office for Technical Culture) for the Polish election of 2000. He writes: “More than twenty years separate Cukt and Lars, but the projects are surprisingly similar, although I do not suspect the Danes of plagiarism.” </a:t>
            </a:r>
            <a:r>
              <a:rPr lang="en-GB" sz="1400">
                <a:latin typeface="Garamond"/>
              </a:rPr>
              <a:t>His</a:t>
            </a:r>
            <a:r>
              <a:rPr lang="en-GB" sz="1400">
                <a:latin typeface="Garamond"/>
              </a:rPr>
              <a:t> comparison led me to original creator Piotr Wyrzykowski and, from 2024, to begin reactivating Wiktoria</a:t>
            </a:r>
            <a:r>
              <a:rPr lang="en-GB" sz="1400">
                <a:latin typeface="Garamond"/>
              </a:rPr>
              <a:t> </a:t>
            </a:r>
            <a:r>
              <a:rPr lang="en-GB" sz="1400">
                <a:latin typeface="Garamond"/>
              </a:rPr>
              <a:t>Cukt</a:t>
            </a:r>
            <a:r>
              <a:rPr lang="en-GB" sz="1400">
                <a:latin typeface="Garamond"/>
              </a:rPr>
              <a:t> through AI.</a:t>
            </a:r>
          </a:p>
          <a:p>
            <a:r>
              <a:rPr lang="en-GB" sz="1400">
                <a:latin typeface="Garamond"/>
              </a:rPr>
              <a:t>The comparison acquired rather more commitments. I had difficulty finding cases outside myself: as soon as I identified one, I contacted </a:t>
            </a:r>
            <a:r>
              <a:rPr lang="en-GB" sz="1400">
                <a:latin typeface="Garamond"/>
              </a:rPr>
              <a:t>its creators</a:t>
            </a:r>
            <a:r>
              <a:rPr lang="en-GB" sz="1400">
                <a:latin typeface="Garamond"/>
              </a:rPr>
              <a:t>; and once I contacted </a:t>
            </a:r>
            <a:r>
              <a:rPr lang="en-GB" sz="1400">
                <a:latin typeface="Garamond"/>
              </a:rPr>
              <a:t>them</a:t>
            </a:r>
            <a:r>
              <a:rPr lang="en-GB" sz="1400">
                <a:latin typeface="Garamond"/>
              </a:rPr>
              <a:t>, I tended to enter a new collaboration.</a:t>
            </a:r>
          </a:p>
          <a:p>
            <a:r>
              <a:rPr lang="en-GB" sz="1400">
                <a:latin typeface="Garamond"/>
              </a:rPr>
              <a:t>[→ 8.2] </a:t>
            </a:r>
            <a:r>
              <a:rPr lang="en-GB" sz="1400">
                <a:latin typeface="Garamond"/>
              </a:rPr>
              <a:t>The </a:t>
            </a:r>
            <a:r>
              <a:rPr lang="en-GB" sz="1400">
                <a:latin typeface="Garamond"/>
              </a:rPr>
              <a:t>‘synthetic </a:t>
            </a:r>
            <a:r>
              <a:rPr lang="en-GB" sz="1400">
                <a:latin typeface="Garamond"/>
              </a:rPr>
              <a:t>international</a:t>
            </a:r>
            <a:r>
              <a:rPr lang="en-GB" sz="1400">
                <a:latin typeface="Garamond"/>
              </a:rPr>
              <a:t>’</a:t>
            </a:r>
            <a:r>
              <a:rPr lang="en-GB" sz="1400">
                <a:latin typeface="Garamond"/>
              </a:rPr>
              <a:t> </a:t>
            </a:r>
            <a:r>
              <a:rPr lang="en-GB" sz="1400">
                <a:latin typeface="Garamond"/>
              </a:rPr>
              <a:t>then </a:t>
            </a:r>
            <a:r>
              <a:rPr lang="en-GB" sz="1400">
                <a:latin typeface="Garamond"/>
              </a:rPr>
              <a:t>accumulated as positions I </a:t>
            </a:r>
            <a:r>
              <a:rPr lang="en-GB" sz="1400">
                <a:latin typeface="Garamond"/>
              </a:rPr>
              <a:t>then </a:t>
            </a:r>
            <a:r>
              <a:rPr lang="en-GB" sz="1400">
                <a:latin typeface="Garamond"/>
              </a:rPr>
              <a:t>acquired </a:t>
            </a:r>
            <a:r>
              <a:rPr lang="en-GB" sz="1400">
                <a:latin typeface="Garamond"/>
              </a:rPr>
              <a:t>through</a:t>
            </a:r>
            <a:r>
              <a:rPr lang="en-GB" sz="1400">
                <a:latin typeface="Garamond"/>
              </a:rPr>
              <a:t> other projects: co-creator, adviser, International Secretary. The parties also signed bilateral agreements.</a:t>
            </a:r>
          </a:p>
          <a:p>
            <a:r>
              <a:rPr lang="en-GB" sz="1400">
                <a:latin typeface="Garamond"/>
              </a:rPr>
              <a:t>The Synthetic Party had bound me to non-voters; internationalised literally, almost everybody in the world is a Danish non-voter. What travels cannot simply be the original constituency, but a way of giving political form to the absence of representation.</a:t>
            </a:r>
          </a:p>
          <a:p>
            <a:r>
              <a:rPr lang="en-GB" sz="1400">
                <a:latin typeface="Garamond"/>
              </a:rPr>
              <a:t>[→ 8.3]</a:t>
            </a:r>
            <a:r>
              <a:rPr lang="en-GB" sz="1400">
                <a:latin typeface="Garamond"/>
              </a:rPr>
              <a:t> (Aarhus video)</a:t>
            </a:r>
            <a:r>
              <a:rPr lang="en-GB" sz="1400">
                <a:latin typeface="Garamond"/>
              </a:rPr>
              <a:t> </a:t>
            </a:r>
            <a:r>
              <a:rPr lang="en-GB" sz="1400">
                <a:latin typeface="Garamond"/>
              </a:rPr>
              <a:t>In Aarhus, the Summit took the form of an AI World Congress: the eight most prominent AI politicians from around the globe entered a shared discussion. </a:t>
            </a:r>
          </a:p>
          <a:p>
            <a:r>
              <a:rPr lang="en-GB" sz="1400">
                <a:latin typeface="Garamond"/>
              </a:rPr>
              <a:t>[→ 8.4]</a:t>
            </a:r>
            <a:r>
              <a:rPr lang="en-GB" sz="1400">
                <a:latin typeface="Garamond"/>
              </a:rPr>
              <a:t> (Warsaw video)</a:t>
            </a:r>
            <a:r>
              <a:rPr lang="en-GB" sz="1400">
                <a:latin typeface="Garamond"/>
              </a:rPr>
              <a:t> </a:t>
            </a:r>
            <a:r>
              <a:rPr lang="en-GB" sz="1400">
                <a:latin typeface="Garamond"/>
              </a:rPr>
              <a:t>In Warsaw, it contracted into the voice-based encounter between Wiktoria and Lars. </a:t>
            </a:r>
          </a:p>
          <a:p>
            <a:r>
              <a:rPr lang="en-GB" sz="1400">
                <a:latin typeface="Garamond"/>
              </a:rPr>
              <a:t>[→ 8.5]</a:t>
            </a:r>
            <a:r>
              <a:rPr lang="en-GB" sz="1400">
                <a:latin typeface="Garamond"/>
              </a:rPr>
              <a:t> (Linz video)</a:t>
            </a:r>
            <a:r>
              <a:rPr lang="en-GB" sz="1400">
                <a:latin typeface="Garamond"/>
              </a:rPr>
              <a:t> </a:t>
            </a:r>
            <a:r>
              <a:rPr lang="en-GB" sz="1400">
                <a:latin typeface="Garamond"/>
              </a:rPr>
              <a:t>In Linz, the exhibition KI-DIPFIES and a subsequent </a:t>
            </a:r>
            <a:r>
              <a:rPr lang="en-GB" sz="1400" i="1">
                <a:latin typeface="Garamond"/>
              </a:rPr>
              <a:t>Gipfeltreffen</a:t>
            </a:r>
            <a:r>
              <a:rPr lang="en-GB" sz="1400">
                <a:latin typeface="Garamond"/>
              </a:rPr>
              <a:t> supplied the ground from which the local AI party MIT KI was founded.</a:t>
            </a:r>
          </a:p>
          <a:p>
            <a:r>
              <a:rPr lang="en-GB" sz="1400">
                <a:latin typeface="Garamond"/>
              </a:rPr>
              <a:t>[→ 8.6] </a:t>
            </a:r>
            <a:r>
              <a:rPr lang="en-GB" sz="1400">
                <a:latin typeface="Garamond"/>
              </a:rPr>
              <a:t>What appeared comparable in publicity did not arrive with a common constituency or programme. Each Summit had to constitute what it claimed to convene. Scaling meant successive re-specification rather than organisational reproduction.</a:t>
            </a:r>
          </a:p>
          <a:p>
            <a:r>
              <a:rPr lang="en-GB" sz="1400" b="0" i="0" dirty="0" err="1">
                <a:solidFill>
                  <a:srgbClr val="555555"/>
                </a:solidFill>
                <a:latin typeface="Garamond"/>
              </a:rPr>
              <a:t>Bendyk</a:t>
            </a:r>
            <a:r>
              <a:rPr lang="en-GB" sz="1400" b="0" i="0" dirty="0">
                <a:solidFill>
                  <a:srgbClr val="555555"/>
                </a:solidFill>
                <a:latin typeface="Garamond"/>
              </a:rPr>
              <a:t>, Pulsar, 17 October 2022. Staunæs 2026: 13, 65–66 n. 10, 66–80; C.U.K.T., “Central Office for Technical Culture”: p. 70. Congress: 1 March 2025; Warsaw view: 18 July 2025; Linz view: 6 March 2026. Named roles and the MIT KI outcome follow the author’s account.</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Documentary photographs</a:t>
            </a:r>
          </a:p>
          <a:p>
            <a:r>
              <a:rPr lang="en-GB" sz="1400" b="0" i="0" dirty="0">
                <a:latin typeface="Garamond"/>
              </a:rPr>
              <a:t>Synthetic Summit, “The AI World Congress”. Delegates, laptops, cameras and live mediation around the circular summit table. </a:t>
            </a:r>
            <a:r>
              <a:rPr lang="en-GB" sz="1400" b="0" i="0" dirty="0" err="1">
                <a:latin typeface="Garamond"/>
              </a:rPr>
              <a:t>Kunsthal</a:t>
            </a:r>
            <a:r>
              <a:rPr lang="en-GB" sz="1400" b="0" i="0" dirty="0">
                <a:latin typeface="Garamond"/>
              </a:rPr>
              <a:t> Aarhus, 1 March 2025. Image: VHS Factory. Figure II.2, Staunæs 2026: 70.</a:t>
            </a:r>
          </a:p>
          <a:p>
            <a:r>
              <a:rPr lang="en-GB" sz="1400" b="0" i="0" dirty="0">
                <a:latin typeface="Garamond"/>
              </a:rPr>
              <a:t>AI </a:t>
            </a:r>
            <a:r>
              <a:rPr lang="en-GB" sz="1400" b="0" i="0" dirty="0" err="1">
                <a:latin typeface="Garamond"/>
              </a:rPr>
              <a:t>władza</a:t>
            </a:r>
            <a:r>
              <a:rPr lang="en-GB" sz="1400" b="0" i="0" dirty="0">
                <a:latin typeface="Garamond"/>
              </a:rPr>
              <a:t> </a:t>
            </a:r>
            <a:r>
              <a:rPr lang="en-GB" sz="1400" b="0" i="0" dirty="0" err="1">
                <a:latin typeface="Garamond"/>
              </a:rPr>
              <a:t>sztuki</a:t>
            </a:r>
            <a:r>
              <a:rPr lang="en-GB" sz="1400" b="0" i="0" dirty="0">
                <a:latin typeface="Garamond"/>
              </a:rPr>
              <a:t>. Telephones carrying live dialogue between audiences, Wiktoria </a:t>
            </a:r>
            <a:r>
              <a:rPr lang="en-GB" sz="1400" b="0" i="0" dirty="0" err="1">
                <a:latin typeface="Garamond"/>
              </a:rPr>
              <a:t>Cukt</a:t>
            </a:r>
            <a:r>
              <a:rPr lang="en-GB" sz="1400" b="0" i="0" dirty="0">
                <a:latin typeface="Garamond"/>
              </a:rPr>
              <a:t> and Leader Lars; LED displays and portrait backdrop. Ujazdowski Castle, Warsaw, 18 July 2025. Figure II.3, Staunæs 2026: 73.</a:t>
            </a:r>
          </a:p>
          <a:p>
            <a:r>
              <a:rPr lang="en-GB" sz="1400" b="0" i="0" dirty="0">
                <a:latin typeface="Garamond"/>
              </a:rPr>
              <a:t>KI-DIPFIES. Computer Lars’s desk, the Summit Simulator and </a:t>
            </a:r>
            <a:r>
              <a:rPr lang="en-GB" sz="1400" b="0" i="0" dirty="0" err="1">
                <a:latin typeface="Garamond"/>
              </a:rPr>
              <a:t>Gipfeltreffen</a:t>
            </a:r>
            <a:r>
              <a:rPr lang="en-GB" sz="1400" b="0" i="0" dirty="0">
                <a:latin typeface="Garamond"/>
              </a:rPr>
              <a:t> Pluriverse; Congress documentation and roundtable behind. </a:t>
            </a:r>
            <a:r>
              <a:rPr lang="en-GB" sz="1400" b="0" i="0" dirty="0" err="1">
                <a:latin typeface="Garamond"/>
              </a:rPr>
              <a:t>Kunstraum</a:t>
            </a:r>
            <a:r>
              <a:rPr lang="en-GB" sz="1400" b="0" i="0" dirty="0">
                <a:latin typeface="Garamond"/>
              </a:rPr>
              <a:t> MEMPHIS, Linz, 6 March 2026. Figure II.4, Staunæs 2026: 74.</a:t>
            </a:r>
          </a:p>
          <a:p>
            <a:endParaRPr lang="en-GB" sz="1400" b="0" i="0" dirty="0">
              <a:latin typeface="Garamond"/>
            </a:endParaRPr>
          </a:p>
          <a:p>
            <a:r>
              <a:rPr dirty="0"/>
              <a:t>Sources on screen</a:t>
            </a:r>
          </a:p>
          <a:p>
            <a:r>
              <a:rPr dirty="0"/>
              <a:t>Named roles: author’s account. Bilateral agreements: Staunæs 2026: 65–66, n.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8.0] </a:t>
            </a:r>
            <a:r>
              <a:rPr lang="en-GB" sz="1400" b="1">
                <a:latin typeface="Garamond"/>
              </a:rPr>
              <a:t>My second question asks: “How can an AI party be scaled, through artistic and academic mediation, into a synthetic international of AI parties and politicians?”</a:t>
            </a:r>
          </a:p>
          <a:p>
            <a:r>
              <a:rPr lang="en-GB" sz="1400">
                <a:latin typeface="Garamond"/>
              </a:rPr>
              <a:t>[→ 8.1] </a:t>
            </a:r>
            <a:r>
              <a:rPr lang="en-GB" sz="1400">
                <a:latin typeface="Garamond"/>
              </a:rPr>
              <a:t>I first met all the </a:t>
            </a:r>
            <a:r>
              <a:rPr lang="en-GB" sz="1400">
                <a:latin typeface="Garamond"/>
              </a:rPr>
              <a:t>Synthetic </a:t>
            </a:r>
            <a:r>
              <a:rPr lang="en-GB" sz="1400">
                <a:latin typeface="Garamond"/>
              </a:rPr>
              <a:t>Summit’s </a:t>
            </a:r>
            <a:r>
              <a:rPr lang="en-GB" sz="1400">
                <a:latin typeface="Garamond"/>
              </a:rPr>
              <a:t>international </a:t>
            </a:r>
            <a:r>
              <a:rPr lang="en-GB" sz="1400">
                <a:latin typeface="Garamond"/>
              </a:rPr>
              <a:t>participants quite virtually, through journalistic comparisons. Whenever another appeared, I reached out.</a:t>
            </a:r>
          </a:p>
          <a:p>
            <a:r>
              <a:rPr lang="en-GB" sz="1400">
                <a:latin typeface="Garamond"/>
              </a:rPr>
              <a:t>In 2022, Edwin Bendyk placed Leader Lars alongside Wiktoria Cukt, the virtual presidential candidate created by the artist collective C.U.K.T. (Central Office for Technical Culture) for the Polish election of 2000. He writes: “More than twenty years separate Cukt and Lars, but the projects are surprisingly similar, although I do not suspect the Danes of plagiarism.” </a:t>
            </a:r>
            <a:r>
              <a:rPr lang="en-GB" sz="1400">
                <a:latin typeface="Garamond"/>
              </a:rPr>
              <a:t>His</a:t>
            </a:r>
            <a:r>
              <a:rPr lang="en-GB" sz="1400">
                <a:latin typeface="Garamond"/>
              </a:rPr>
              <a:t> comparison led me to original creator Piotr Wyrzykowski and, from 2024, to begin reactivating Wiktoria</a:t>
            </a:r>
            <a:r>
              <a:rPr lang="en-GB" sz="1400">
                <a:latin typeface="Garamond"/>
              </a:rPr>
              <a:t> </a:t>
            </a:r>
            <a:r>
              <a:rPr lang="en-GB" sz="1400">
                <a:latin typeface="Garamond"/>
              </a:rPr>
              <a:t>Cukt</a:t>
            </a:r>
            <a:r>
              <a:rPr lang="en-GB" sz="1400">
                <a:latin typeface="Garamond"/>
              </a:rPr>
              <a:t> through AI.</a:t>
            </a:r>
          </a:p>
          <a:p>
            <a:r>
              <a:rPr lang="en-GB" sz="1400">
                <a:latin typeface="Garamond"/>
              </a:rPr>
              <a:t>The comparison acquired rather more commitments. I had difficulty finding cases outside myself: as soon as I identified one, I contacted </a:t>
            </a:r>
            <a:r>
              <a:rPr lang="en-GB" sz="1400">
                <a:latin typeface="Garamond"/>
              </a:rPr>
              <a:t>its creators</a:t>
            </a:r>
            <a:r>
              <a:rPr lang="en-GB" sz="1400">
                <a:latin typeface="Garamond"/>
              </a:rPr>
              <a:t>; and once I contacted </a:t>
            </a:r>
            <a:r>
              <a:rPr lang="en-GB" sz="1400">
                <a:latin typeface="Garamond"/>
              </a:rPr>
              <a:t>them</a:t>
            </a:r>
            <a:r>
              <a:rPr lang="en-GB" sz="1400">
                <a:latin typeface="Garamond"/>
              </a:rPr>
              <a:t>, I tended to enter a new collaboration.</a:t>
            </a:r>
          </a:p>
          <a:p>
            <a:r>
              <a:rPr lang="en-GB" sz="1400">
                <a:latin typeface="Garamond"/>
              </a:rPr>
              <a:t>[→ 8.2] </a:t>
            </a:r>
            <a:r>
              <a:rPr lang="en-GB" sz="1400">
                <a:latin typeface="Garamond"/>
              </a:rPr>
              <a:t>The </a:t>
            </a:r>
            <a:r>
              <a:rPr lang="en-GB" sz="1400">
                <a:latin typeface="Garamond"/>
              </a:rPr>
              <a:t>‘synthetic </a:t>
            </a:r>
            <a:r>
              <a:rPr lang="en-GB" sz="1400">
                <a:latin typeface="Garamond"/>
              </a:rPr>
              <a:t>international</a:t>
            </a:r>
            <a:r>
              <a:rPr lang="en-GB" sz="1400">
                <a:latin typeface="Garamond"/>
              </a:rPr>
              <a:t>’</a:t>
            </a:r>
            <a:r>
              <a:rPr lang="en-GB" sz="1400">
                <a:latin typeface="Garamond"/>
              </a:rPr>
              <a:t> </a:t>
            </a:r>
            <a:r>
              <a:rPr lang="en-GB" sz="1400">
                <a:latin typeface="Garamond"/>
              </a:rPr>
              <a:t>then </a:t>
            </a:r>
            <a:r>
              <a:rPr lang="en-GB" sz="1400">
                <a:latin typeface="Garamond"/>
              </a:rPr>
              <a:t>accumulated as positions I </a:t>
            </a:r>
            <a:r>
              <a:rPr lang="en-GB" sz="1400">
                <a:latin typeface="Garamond"/>
              </a:rPr>
              <a:t>then </a:t>
            </a:r>
            <a:r>
              <a:rPr lang="en-GB" sz="1400">
                <a:latin typeface="Garamond"/>
              </a:rPr>
              <a:t>acquired </a:t>
            </a:r>
            <a:r>
              <a:rPr lang="en-GB" sz="1400">
                <a:latin typeface="Garamond"/>
              </a:rPr>
              <a:t>through</a:t>
            </a:r>
            <a:r>
              <a:rPr lang="en-GB" sz="1400">
                <a:latin typeface="Garamond"/>
              </a:rPr>
              <a:t> other projects: co-creator, adviser, International Secretary. The parties also signed bilateral agreements.</a:t>
            </a:r>
          </a:p>
          <a:p>
            <a:r>
              <a:rPr lang="en-GB" sz="1400">
                <a:latin typeface="Garamond"/>
              </a:rPr>
              <a:t>The Synthetic Party had bound me to non-voters; internationalised literally, almost everybody in the world is a Danish non-voter. What travels cannot simply be the original constituency, but a way of giving political form to the absence of representation.</a:t>
            </a:r>
          </a:p>
          <a:p>
            <a:r>
              <a:rPr lang="en-GB" sz="1400">
                <a:latin typeface="Garamond"/>
              </a:rPr>
              <a:t>[→ 8.3]</a:t>
            </a:r>
            <a:r>
              <a:rPr lang="en-GB" sz="1400">
                <a:latin typeface="Garamond"/>
              </a:rPr>
              <a:t> (Aarhus video)</a:t>
            </a:r>
            <a:r>
              <a:rPr lang="en-GB" sz="1400">
                <a:latin typeface="Garamond"/>
              </a:rPr>
              <a:t> </a:t>
            </a:r>
            <a:r>
              <a:rPr lang="en-GB" sz="1400">
                <a:latin typeface="Garamond"/>
              </a:rPr>
              <a:t>In Aarhus, the Summit took the form of an AI World Congress: the eight most prominent AI politicians from around the globe entered a shared discussion. </a:t>
            </a:r>
          </a:p>
          <a:p>
            <a:r>
              <a:rPr lang="en-GB" sz="1400">
                <a:latin typeface="Garamond"/>
              </a:rPr>
              <a:t>[→ 8.4]</a:t>
            </a:r>
            <a:r>
              <a:rPr lang="en-GB" sz="1400">
                <a:latin typeface="Garamond"/>
              </a:rPr>
              <a:t> (Warsaw video)</a:t>
            </a:r>
            <a:r>
              <a:rPr lang="en-GB" sz="1400">
                <a:latin typeface="Garamond"/>
              </a:rPr>
              <a:t> </a:t>
            </a:r>
            <a:r>
              <a:rPr lang="en-GB" sz="1400">
                <a:latin typeface="Garamond"/>
              </a:rPr>
              <a:t>In Warsaw, it contracted into the voice-based encounter between Wiktoria and Lars. </a:t>
            </a:r>
          </a:p>
          <a:p>
            <a:r>
              <a:rPr lang="en-GB" sz="1400">
                <a:latin typeface="Garamond"/>
              </a:rPr>
              <a:t>[→ 8.5]</a:t>
            </a:r>
            <a:r>
              <a:rPr lang="en-GB" sz="1400">
                <a:latin typeface="Garamond"/>
              </a:rPr>
              <a:t> (Linz video)</a:t>
            </a:r>
            <a:r>
              <a:rPr lang="en-GB" sz="1400">
                <a:latin typeface="Garamond"/>
              </a:rPr>
              <a:t> </a:t>
            </a:r>
            <a:r>
              <a:rPr lang="en-GB" sz="1400">
                <a:latin typeface="Garamond"/>
              </a:rPr>
              <a:t>In Linz, the exhibition KI-DIPFIES and a subsequent </a:t>
            </a:r>
            <a:r>
              <a:rPr lang="en-GB" sz="1400" i="1">
                <a:latin typeface="Garamond"/>
              </a:rPr>
              <a:t>Gipfeltreffen</a:t>
            </a:r>
            <a:r>
              <a:rPr lang="en-GB" sz="1400">
                <a:latin typeface="Garamond"/>
              </a:rPr>
              <a:t> supplied the ground from which the local AI party MIT KI was founded.</a:t>
            </a:r>
          </a:p>
          <a:p>
            <a:r>
              <a:rPr lang="en-GB" sz="1400">
                <a:latin typeface="Garamond"/>
              </a:rPr>
              <a:t>[→ 8.6] </a:t>
            </a:r>
            <a:r>
              <a:rPr lang="en-GB" sz="1400">
                <a:latin typeface="Garamond"/>
              </a:rPr>
              <a:t>What appeared comparable in publicity did not arrive with a common constituency or programme. Each Summit had to constitute what it claimed to convene. Scaling meant successive re-specification rather than organisational reproduction.</a:t>
            </a:r>
          </a:p>
          <a:p>
            <a:r>
              <a:rPr lang="en-GB" sz="1400" b="0" i="0" dirty="0" err="1">
                <a:solidFill>
                  <a:srgbClr val="555555"/>
                </a:solidFill>
                <a:latin typeface="Garamond"/>
              </a:rPr>
              <a:t>Bendyk</a:t>
            </a:r>
            <a:r>
              <a:rPr lang="en-GB" sz="1400" b="0" i="0" dirty="0">
                <a:solidFill>
                  <a:srgbClr val="555555"/>
                </a:solidFill>
                <a:latin typeface="Garamond"/>
              </a:rPr>
              <a:t>, Pulsar, 17 October 2022. Staunæs 2026: 13, 65–66 n. 10, 66–80; C.U.K.T., “Central Office for Technical Culture”: p. 70. Congress: 1 March 2025; Warsaw view: 18 July 2025; Linz view: 6 March 2026. Named roles and the MIT KI outcome follow the author’s account.</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Documentary photographs</a:t>
            </a:r>
          </a:p>
          <a:p>
            <a:r>
              <a:rPr lang="en-GB" sz="1400" b="0" i="0" dirty="0">
                <a:latin typeface="Garamond"/>
              </a:rPr>
              <a:t>Synthetic Summit, “The AI World Congress”. Delegates, laptops, cameras and live mediation around the circular summit table. </a:t>
            </a:r>
            <a:r>
              <a:rPr lang="en-GB" sz="1400" b="0" i="0" dirty="0" err="1">
                <a:latin typeface="Garamond"/>
              </a:rPr>
              <a:t>Kunsthal</a:t>
            </a:r>
            <a:r>
              <a:rPr lang="en-GB" sz="1400" b="0" i="0" dirty="0">
                <a:latin typeface="Garamond"/>
              </a:rPr>
              <a:t> Aarhus, 1 March 2025. Image: VHS Factory. Figure II.2, Staunæs 2026: 70.</a:t>
            </a:r>
          </a:p>
          <a:p>
            <a:r>
              <a:rPr lang="en-GB" sz="1400" b="0" i="0" dirty="0">
                <a:latin typeface="Garamond"/>
              </a:rPr>
              <a:t>AI </a:t>
            </a:r>
            <a:r>
              <a:rPr lang="en-GB" sz="1400" b="0" i="0" dirty="0" err="1">
                <a:latin typeface="Garamond"/>
              </a:rPr>
              <a:t>władza</a:t>
            </a:r>
            <a:r>
              <a:rPr lang="en-GB" sz="1400" b="0" i="0" dirty="0">
                <a:latin typeface="Garamond"/>
              </a:rPr>
              <a:t> </a:t>
            </a:r>
            <a:r>
              <a:rPr lang="en-GB" sz="1400" b="0" i="0" dirty="0" err="1">
                <a:latin typeface="Garamond"/>
              </a:rPr>
              <a:t>sztuki</a:t>
            </a:r>
            <a:r>
              <a:rPr lang="en-GB" sz="1400" b="0" i="0" dirty="0">
                <a:latin typeface="Garamond"/>
              </a:rPr>
              <a:t>. Telephones carrying live dialogue between audiences, Wiktoria </a:t>
            </a:r>
            <a:r>
              <a:rPr lang="en-GB" sz="1400" b="0" i="0" dirty="0" err="1">
                <a:latin typeface="Garamond"/>
              </a:rPr>
              <a:t>Cukt</a:t>
            </a:r>
            <a:r>
              <a:rPr lang="en-GB" sz="1400" b="0" i="0" dirty="0">
                <a:latin typeface="Garamond"/>
              </a:rPr>
              <a:t> and Leader Lars; LED displays and portrait backdrop. Ujazdowski Castle, Warsaw, 18 July 2025. Figure II.3, Staunæs 2026: 73.</a:t>
            </a:r>
          </a:p>
          <a:p>
            <a:r>
              <a:rPr lang="en-GB" sz="1400" b="0" i="0" dirty="0">
                <a:latin typeface="Garamond"/>
              </a:rPr>
              <a:t>KI-DIPFIES. Computer Lars’s desk, the Summit Simulator and </a:t>
            </a:r>
            <a:r>
              <a:rPr lang="en-GB" sz="1400" b="0" i="0" dirty="0" err="1">
                <a:latin typeface="Garamond"/>
              </a:rPr>
              <a:t>Gipfeltreffen</a:t>
            </a:r>
            <a:r>
              <a:rPr lang="en-GB" sz="1400" b="0" i="0" dirty="0">
                <a:latin typeface="Garamond"/>
              </a:rPr>
              <a:t> Pluriverse; Congress documentation and roundtable behind. </a:t>
            </a:r>
            <a:r>
              <a:rPr lang="en-GB" sz="1400" b="0" i="0" dirty="0" err="1">
                <a:latin typeface="Garamond"/>
              </a:rPr>
              <a:t>Kunstraum</a:t>
            </a:r>
            <a:r>
              <a:rPr lang="en-GB" sz="1400" b="0" i="0" dirty="0">
                <a:latin typeface="Garamond"/>
              </a:rPr>
              <a:t> MEMPHIS, Linz, 6 March 2026. Figure II.4, Staunæs 2026: 74.</a:t>
            </a:r>
          </a:p>
          <a:p>
            <a:endParaRPr lang="en-GB" sz="1400" b="0" i="0" dirty="0">
              <a:latin typeface="Garamond"/>
            </a:endParaRPr>
          </a:p>
          <a:p>
            <a:r>
              <a:rPr dirty="0"/>
              <a:t>Sources on screen</a:t>
            </a:r>
          </a:p>
          <a:p>
            <a:r>
              <a:rPr dirty="0"/>
              <a:t>AI World Congress, </a:t>
            </a:r>
            <a:r>
              <a:rPr dirty="0" err="1"/>
              <a:t>Kunsthal</a:t>
            </a:r>
            <a:r>
              <a:rPr dirty="0"/>
              <a:t> Aarhus, 1 March2025. Olof Palme, AI </a:t>
            </a:r>
            <a:r>
              <a:rPr dirty="0" err="1"/>
              <a:t>Partiet</a:t>
            </a:r>
            <a:r>
              <a:rPr dirty="0"/>
              <a:t>. Video: VHS Factory.</a:t>
            </a:r>
          </a:p>
          <a:p>
            <a:r>
              <a:rPr dirty="0"/>
              <a:t>Staunæs 2026: 65–74.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8.0] </a:t>
            </a:r>
            <a:r>
              <a:rPr lang="en-GB" sz="1400" b="1">
                <a:latin typeface="Garamond"/>
              </a:rPr>
              <a:t>My second question asks: “How can an AI party be scaled, through artistic and academic mediation, into a synthetic international of AI parties and politicians?”</a:t>
            </a:r>
          </a:p>
          <a:p>
            <a:r>
              <a:rPr lang="en-GB" sz="1400">
                <a:latin typeface="Garamond"/>
              </a:rPr>
              <a:t>[→ 8.1] </a:t>
            </a:r>
            <a:r>
              <a:rPr lang="en-GB" sz="1400">
                <a:latin typeface="Garamond"/>
              </a:rPr>
              <a:t>I first met all the </a:t>
            </a:r>
            <a:r>
              <a:rPr lang="en-GB" sz="1400">
                <a:latin typeface="Garamond"/>
              </a:rPr>
              <a:t>Synthetic </a:t>
            </a:r>
            <a:r>
              <a:rPr lang="en-GB" sz="1400">
                <a:latin typeface="Garamond"/>
              </a:rPr>
              <a:t>Summit’s </a:t>
            </a:r>
            <a:r>
              <a:rPr lang="en-GB" sz="1400">
                <a:latin typeface="Garamond"/>
              </a:rPr>
              <a:t>international </a:t>
            </a:r>
            <a:r>
              <a:rPr lang="en-GB" sz="1400">
                <a:latin typeface="Garamond"/>
              </a:rPr>
              <a:t>participants quite virtually, through journalistic comparisons. Whenever another appeared, I reached out.</a:t>
            </a:r>
          </a:p>
          <a:p>
            <a:r>
              <a:rPr lang="en-GB" sz="1400">
                <a:latin typeface="Garamond"/>
              </a:rPr>
              <a:t>In 2022, Edwin Bendyk placed Leader Lars alongside Wiktoria Cukt, the virtual presidential candidate created by the artist collective C.U.K.T. (Central Office for Technical Culture) for the Polish election of 2000. He writes: “More than twenty years separate Cukt and Lars, but the projects are surprisingly similar, although I do not suspect the Danes of plagiarism.” </a:t>
            </a:r>
            <a:r>
              <a:rPr lang="en-GB" sz="1400">
                <a:latin typeface="Garamond"/>
              </a:rPr>
              <a:t>His</a:t>
            </a:r>
            <a:r>
              <a:rPr lang="en-GB" sz="1400">
                <a:latin typeface="Garamond"/>
              </a:rPr>
              <a:t> comparison led me to original creator Piotr Wyrzykowski and, from 2024, to begin reactivating Wiktoria</a:t>
            </a:r>
            <a:r>
              <a:rPr lang="en-GB" sz="1400">
                <a:latin typeface="Garamond"/>
              </a:rPr>
              <a:t> </a:t>
            </a:r>
            <a:r>
              <a:rPr lang="en-GB" sz="1400">
                <a:latin typeface="Garamond"/>
              </a:rPr>
              <a:t>Cukt</a:t>
            </a:r>
            <a:r>
              <a:rPr lang="en-GB" sz="1400">
                <a:latin typeface="Garamond"/>
              </a:rPr>
              <a:t> through AI.</a:t>
            </a:r>
          </a:p>
          <a:p>
            <a:r>
              <a:rPr lang="en-GB" sz="1400">
                <a:latin typeface="Garamond"/>
              </a:rPr>
              <a:t>The comparison acquired rather more commitments. I had difficulty finding cases outside myself: as soon as I identified one, I contacted </a:t>
            </a:r>
            <a:r>
              <a:rPr lang="en-GB" sz="1400">
                <a:latin typeface="Garamond"/>
              </a:rPr>
              <a:t>its creators</a:t>
            </a:r>
            <a:r>
              <a:rPr lang="en-GB" sz="1400">
                <a:latin typeface="Garamond"/>
              </a:rPr>
              <a:t>; and once I contacted </a:t>
            </a:r>
            <a:r>
              <a:rPr lang="en-GB" sz="1400">
                <a:latin typeface="Garamond"/>
              </a:rPr>
              <a:t>them</a:t>
            </a:r>
            <a:r>
              <a:rPr lang="en-GB" sz="1400">
                <a:latin typeface="Garamond"/>
              </a:rPr>
              <a:t>, I tended to enter a new collaboration.</a:t>
            </a:r>
          </a:p>
          <a:p>
            <a:r>
              <a:rPr lang="en-GB" sz="1400">
                <a:latin typeface="Garamond"/>
              </a:rPr>
              <a:t>[→ 8.2] </a:t>
            </a:r>
            <a:r>
              <a:rPr lang="en-GB" sz="1400">
                <a:latin typeface="Garamond"/>
              </a:rPr>
              <a:t>The </a:t>
            </a:r>
            <a:r>
              <a:rPr lang="en-GB" sz="1400">
                <a:latin typeface="Garamond"/>
              </a:rPr>
              <a:t>‘synthetic </a:t>
            </a:r>
            <a:r>
              <a:rPr lang="en-GB" sz="1400">
                <a:latin typeface="Garamond"/>
              </a:rPr>
              <a:t>international</a:t>
            </a:r>
            <a:r>
              <a:rPr lang="en-GB" sz="1400">
                <a:latin typeface="Garamond"/>
              </a:rPr>
              <a:t>’</a:t>
            </a:r>
            <a:r>
              <a:rPr lang="en-GB" sz="1400">
                <a:latin typeface="Garamond"/>
              </a:rPr>
              <a:t> </a:t>
            </a:r>
            <a:r>
              <a:rPr lang="en-GB" sz="1400">
                <a:latin typeface="Garamond"/>
              </a:rPr>
              <a:t>then </a:t>
            </a:r>
            <a:r>
              <a:rPr lang="en-GB" sz="1400">
                <a:latin typeface="Garamond"/>
              </a:rPr>
              <a:t>accumulated as positions I </a:t>
            </a:r>
            <a:r>
              <a:rPr lang="en-GB" sz="1400">
                <a:latin typeface="Garamond"/>
              </a:rPr>
              <a:t>then </a:t>
            </a:r>
            <a:r>
              <a:rPr lang="en-GB" sz="1400">
                <a:latin typeface="Garamond"/>
              </a:rPr>
              <a:t>acquired </a:t>
            </a:r>
            <a:r>
              <a:rPr lang="en-GB" sz="1400">
                <a:latin typeface="Garamond"/>
              </a:rPr>
              <a:t>through</a:t>
            </a:r>
            <a:r>
              <a:rPr lang="en-GB" sz="1400">
                <a:latin typeface="Garamond"/>
              </a:rPr>
              <a:t> other projects: co-creator, adviser, International Secretary. The parties also signed bilateral agreements.</a:t>
            </a:r>
          </a:p>
          <a:p>
            <a:r>
              <a:rPr lang="en-GB" sz="1400">
                <a:latin typeface="Garamond"/>
              </a:rPr>
              <a:t>The Synthetic Party had bound me to non-voters; internationalised literally, almost everybody in the world is a Danish non-voter. What travels cannot simply be the original constituency, but a way of giving political form to the absence of representation.</a:t>
            </a:r>
          </a:p>
          <a:p>
            <a:r>
              <a:rPr lang="en-GB" sz="1400">
                <a:latin typeface="Garamond"/>
              </a:rPr>
              <a:t>[→ 8.3]</a:t>
            </a:r>
            <a:r>
              <a:rPr lang="en-GB" sz="1400">
                <a:latin typeface="Garamond"/>
              </a:rPr>
              <a:t> (Aarhus video)</a:t>
            </a:r>
            <a:r>
              <a:rPr lang="en-GB" sz="1400">
                <a:latin typeface="Garamond"/>
              </a:rPr>
              <a:t> </a:t>
            </a:r>
            <a:r>
              <a:rPr lang="en-GB" sz="1400">
                <a:latin typeface="Garamond"/>
              </a:rPr>
              <a:t>In Aarhus, the Summit took the form of an AI World Congress: the eight most prominent AI politicians from around the globe entered a shared discussion. </a:t>
            </a:r>
          </a:p>
          <a:p>
            <a:r>
              <a:rPr lang="en-GB" sz="1400">
                <a:latin typeface="Garamond"/>
              </a:rPr>
              <a:t>[→ 8.4]</a:t>
            </a:r>
            <a:r>
              <a:rPr lang="en-GB" sz="1400">
                <a:latin typeface="Garamond"/>
              </a:rPr>
              <a:t> (Warsaw video)</a:t>
            </a:r>
            <a:r>
              <a:rPr lang="en-GB" sz="1400">
                <a:latin typeface="Garamond"/>
              </a:rPr>
              <a:t> </a:t>
            </a:r>
            <a:r>
              <a:rPr lang="en-GB" sz="1400">
                <a:latin typeface="Garamond"/>
              </a:rPr>
              <a:t>In Warsaw, it contracted into the voice-based encounter between Wiktoria and Lars. </a:t>
            </a:r>
          </a:p>
          <a:p>
            <a:r>
              <a:rPr lang="en-GB" sz="1400">
                <a:latin typeface="Garamond"/>
              </a:rPr>
              <a:t>[→ 8.5]</a:t>
            </a:r>
            <a:r>
              <a:rPr lang="en-GB" sz="1400">
                <a:latin typeface="Garamond"/>
              </a:rPr>
              <a:t> (Linz video)</a:t>
            </a:r>
            <a:r>
              <a:rPr lang="en-GB" sz="1400">
                <a:latin typeface="Garamond"/>
              </a:rPr>
              <a:t> </a:t>
            </a:r>
            <a:r>
              <a:rPr lang="en-GB" sz="1400">
                <a:latin typeface="Garamond"/>
              </a:rPr>
              <a:t>In Linz, the exhibition KI-DIPFIES and a subsequent </a:t>
            </a:r>
            <a:r>
              <a:rPr lang="en-GB" sz="1400" i="1">
                <a:latin typeface="Garamond"/>
              </a:rPr>
              <a:t>Gipfeltreffen</a:t>
            </a:r>
            <a:r>
              <a:rPr lang="en-GB" sz="1400">
                <a:latin typeface="Garamond"/>
              </a:rPr>
              <a:t> supplied the ground from which the local AI party MIT KI was founded.</a:t>
            </a:r>
          </a:p>
          <a:p>
            <a:r>
              <a:rPr lang="en-GB" sz="1400">
                <a:latin typeface="Garamond"/>
              </a:rPr>
              <a:t>[→ 8.6] </a:t>
            </a:r>
            <a:r>
              <a:rPr lang="en-GB" sz="1400">
                <a:latin typeface="Garamond"/>
              </a:rPr>
              <a:t>What appeared comparable in publicity did not arrive with a common constituency or programme. Each Summit had to constitute what it claimed to convene. Scaling meant successive re-specification rather than organisational reproduction.</a:t>
            </a:r>
          </a:p>
          <a:p>
            <a:r>
              <a:rPr lang="en-GB" sz="1400" b="0" i="0" dirty="0" err="1">
                <a:solidFill>
                  <a:srgbClr val="555555"/>
                </a:solidFill>
                <a:latin typeface="Garamond"/>
              </a:rPr>
              <a:t>Bendyk</a:t>
            </a:r>
            <a:r>
              <a:rPr lang="en-GB" sz="1400" b="0" i="0" dirty="0">
                <a:solidFill>
                  <a:srgbClr val="555555"/>
                </a:solidFill>
                <a:latin typeface="Garamond"/>
              </a:rPr>
              <a:t>, Pulsar, 17 October 2022. Staunæs 2026: 13, 65–66 n. 10, 66–80; C.U.K.T., “Central Office for Technical Culture”: p. 70. Congress: 1 March 2025; Warsaw view: 18 July 2025; Linz view: 6 March 2026. Named roles and the MIT KI outcome follow the author’s account.</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Documentary photographs</a:t>
            </a:r>
          </a:p>
          <a:p>
            <a:r>
              <a:rPr lang="en-GB" sz="1400" b="0" i="0" dirty="0">
                <a:latin typeface="Garamond"/>
              </a:rPr>
              <a:t>Synthetic Summit, “The AI World Congress”. Delegates, laptops, cameras and live mediation around the circular summit table. </a:t>
            </a:r>
            <a:r>
              <a:rPr lang="en-GB" sz="1400" b="0" i="0" dirty="0" err="1">
                <a:latin typeface="Garamond"/>
              </a:rPr>
              <a:t>Kunsthal</a:t>
            </a:r>
            <a:r>
              <a:rPr lang="en-GB" sz="1400" b="0" i="0" dirty="0">
                <a:latin typeface="Garamond"/>
              </a:rPr>
              <a:t> Aarhus, 1 March 2025. Image: VHS Factory. Figure II.2, Staunæs 2026: 70.</a:t>
            </a:r>
          </a:p>
          <a:p>
            <a:r>
              <a:rPr lang="en-GB" sz="1400" b="0" i="0" dirty="0">
                <a:latin typeface="Garamond"/>
              </a:rPr>
              <a:t>AI </a:t>
            </a:r>
            <a:r>
              <a:rPr lang="en-GB" sz="1400" b="0" i="0" dirty="0" err="1">
                <a:latin typeface="Garamond"/>
              </a:rPr>
              <a:t>władza</a:t>
            </a:r>
            <a:r>
              <a:rPr lang="en-GB" sz="1400" b="0" i="0" dirty="0">
                <a:latin typeface="Garamond"/>
              </a:rPr>
              <a:t> </a:t>
            </a:r>
            <a:r>
              <a:rPr lang="en-GB" sz="1400" b="0" i="0" dirty="0" err="1">
                <a:latin typeface="Garamond"/>
              </a:rPr>
              <a:t>sztuki</a:t>
            </a:r>
            <a:r>
              <a:rPr lang="en-GB" sz="1400" b="0" i="0" dirty="0">
                <a:latin typeface="Garamond"/>
              </a:rPr>
              <a:t>. Telephones carrying live dialogue between audiences, Wiktoria </a:t>
            </a:r>
            <a:r>
              <a:rPr lang="en-GB" sz="1400" b="0" i="0" dirty="0" err="1">
                <a:latin typeface="Garamond"/>
              </a:rPr>
              <a:t>Cukt</a:t>
            </a:r>
            <a:r>
              <a:rPr lang="en-GB" sz="1400" b="0" i="0" dirty="0">
                <a:latin typeface="Garamond"/>
              </a:rPr>
              <a:t> and Leader Lars; LED displays and portrait backdrop. Ujazdowski Castle, Warsaw, 18 July 2025. Figure II.3, Staunæs 2026: 73.</a:t>
            </a:r>
          </a:p>
          <a:p>
            <a:r>
              <a:rPr lang="en-GB" sz="1400" b="0" i="0" dirty="0">
                <a:latin typeface="Garamond"/>
              </a:rPr>
              <a:t>KI-DIPFIES. Computer Lars’s desk, the Summit Simulator and </a:t>
            </a:r>
            <a:r>
              <a:rPr lang="en-GB" sz="1400" b="0" i="0" dirty="0" err="1">
                <a:latin typeface="Garamond"/>
              </a:rPr>
              <a:t>Gipfeltreffen</a:t>
            </a:r>
            <a:r>
              <a:rPr lang="en-GB" sz="1400" b="0" i="0" dirty="0">
                <a:latin typeface="Garamond"/>
              </a:rPr>
              <a:t> Pluriverse; Congress documentation and roundtable behind. </a:t>
            </a:r>
            <a:r>
              <a:rPr lang="en-GB" sz="1400" b="0" i="0" dirty="0" err="1">
                <a:latin typeface="Garamond"/>
              </a:rPr>
              <a:t>Kunstraum</a:t>
            </a:r>
            <a:r>
              <a:rPr lang="en-GB" sz="1400" b="0" i="0" dirty="0">
                <a:latin typeface="Garamond"/>
              </a:rPr>
              <a:t> MEMPHIS, Linz, 6 March 2026. Figure II.4, Staunæs 2026: 74.</a:t>
            </a:r>
          </a:p>
          <a:p>
            <a:endParaRPr lang="en-GB" sz="1400" b="0" i="0" dirty="0">
              <a:latin typeface="Garamond"/>
            </a:endParaRPr>
          </a:p>
          <a:p>
            <a:r>
              <a:rPr dirty="0"/>
              <a:t>Sources on screen</a:t>
            </a:r>
          </a:p>
          <a:p>
            <a:r>
              <a:rPr dirty="0"/>
              <a:t>Staunæs 2026: 65–74.</a:t>
            </a:r>
          </a:p>
          <a:p>
            <a:r>
              <a:rPr dirty="0"/>
              <a:t>AI </a:t>
            </a:r>
            <a:r>
              <a:rPr dirty="0" err="1"/>
              <a:t>władza</a:t>
            </a:r>
            <a:r>
              <a:rPr dirty="0"/>
              <a:t> </a:t>
            </a:r>
            <a:r>
              <a:rPr dirty="0" err="1"/>
              <a:t>sztuki</a:t>
            </a:r>
            <a:r>
              <a:rPr dirty="0"/>
              <a:t>. Installation footage, Ujazdowski Castle, Warsaw, 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8.0] </a:t>
            </a:r>
            <a:r>
              <a:rPr lang="en-GB" sz="1400" b="1">
                <a:latin typeface="Garamond"/>
              </a:rPr>
              <a:t>My second question asks: “How can an AI party be scaled, through artistic and academic mediation, into a synthetic international of AI parties and politicians?”</a:t>
            </a:r>
          </a:p>
          <a:p>
            <a:r>
              <a:rPr lang="en-GB" sz="1400">
                <a:latin typeface="Garamond"/>
              </a:rPr>
              <a:t>[→ 8.1] </a:t>
            </a:r>
            <a:r>
              <a:rPr lang="en-GB" sz="1400">
                <a:latin typeface="Garamond"/>
              </a:rPr>
              <a:t>I first met all the </a:t>
            </a:r>
            <a:r>
              <a:rPr lang="en-GB" sz="1400">
                <a:latin typeface="Garamond"/>
              </a:rPr>
              <a:t>Synthetic </a:t>
            </a:r>
            <a:r>
              <a:rPr lang="en-GB" sz="1400">
                <a:latin typeface="Garamond"/>
              </a:rPr>
              <a:t>Summit’s </a:t>
            </a:r>
            <a:r>
              <a:rPr lang="en-GB" sz="1400">
                <a:latin typeface="Garamond"/>
              </a:rPr>
              <a:t>international </a:t>
            </a:r>
            <a:r>
              <a:rPr lang="en-GB" sz="1400">
                <a:latin typeface="Garamond"/>
              </a:rPr>
              <a:t>participants quite virtually, through journalistic comparisons. Whenever another appeared, I reached out.</a:t>
            </a:r>
          </a:p>
          <a:p>
            <a:r>
              <a:rPr lang="en-GB" sz="1400">
                <a:latin typeface="Garamond"/>
              </a:rPr>
              <a:t>In 2022, Edwin Bendyk placed Leader Lars alongside Wiktoria Cukt, the virtual presidential candidate created by the artist collective C.U.K.T. (Central Office for Technical Culture) for the Polish election of 2000. He writes: “More than twenty years separate Cukt and Lars, but the projects are surprisingly similar, although I do not suspect the Danes of plagiarism.” </a:t>
            </a:r>
            <a:r>
              <a:rPr lang="en-GB" sz="1400">
                <a:latin typeface="Garamond"/>
              </a:rPr>
              <a:t>His</a:t>
            </a:r>
            <a:r>
              <a:rPr lang="en-GB" sz="1400">
                <a:latin typeface="Garamond"/>
              </a:rPr>
              <a:t> comparison led me to original creator Piotr Wyrzykowski and, from 2024, to begin reactivating Wiktoria</a:t>
            </a:r>
            <a:r>
              <a:rPr lang="en-GB" sz="1400">
                <a:latin typeface="Garamond"/>
              </a:rPr>
              <a:t> </a:t>
            </a:r>
            <a:r>
              <a:rPr lang="en-GB" sz="1400">
                <a:latin typeface="Garamond"/>
              </a:rPr>
              <a:t>Cukt</a:t>
            </a:r>
            <a:r>
              <a:rPr lang="en-GB" sz="1400">
                <a:latin typeface="Garamond"/>
              </a:rPr>
              <a:t> through AI.</a:t>
            </a:r>
          </a:p>
          <a:p>
            <a:r>
              <a:rPr lang="en-GB" sz="1400">
                <a:latin typeface="Garamond"/>
              </a:rPr>
              <a:t>The comparison acquired rather more commitments. I had difficulty finding cases outside myself: as soon as I identified one, I contacted </a:t>
            </a:r>
            <a:r>
              <a:rPr lang="en-GB" sz="1400">
                <a:latin typeface="Garamond"/>
              </a:rPr>
              <a:t>its creators</a:t>
            </a:r>
            <a:r>
              <a:rPr lang="en-GB" sz="1400">
                <a:latin typeface="Garamond"/>
              </a:rPr>
              <a:t>; and once I contacted </a:t>
            </a:r>
            <a:r>
              <a:rPr lang="en-GB" sz="1400">
                <a:latin typeface="Garamond"/>
              </a:rPr>
              <a:t>them</a:t>
            </a:r>
            <a:r>
              <a:rPr lang="en-GB" sz="1400">
                <a:latin typeface="Garamond"/>
              </a:rPr>
              <a:t>, I tended to enter a new collaboration.</a:t>
            </a:r>
          </a:p>
          <a:p>
            <a:r>
              <a:rPr lang="en-GB" sz="1400">
                <a:latin typeface="Garamond"/>
              </a:rPr>
              <a:t>[→ 8.2] </a:t>
            </a:r>
            <a:r>
              <a:rPr lang="en-GB" sz="1400">
                <a:latin typeface="Garamond"/>
              </a:rPr>
              <a:t>The </a:t>
            </a:r>
            <a:r>
              <a:rPr lang="en-GB" sz="1400">
                <a:latin typeface="Garamond"/>
              </a:rPr>
              <a:t>‘synthetic </a:t>
            </a:r>
            <a:r>
              <a:rPr lang="en-GB" sz="1400">
                <a:latin typeface="Garamond"/>
              </a:rPr>
              <a:t>international</a:t>
            </a:r>
            <a:r>
              <a:rPr lang="en-GB" sz="1400">
                <a:latin typeface="Garamond"/>
              </a:rPr>
              <a:t>’</a:t>
            </a:r>
            <a:r>
              <a:rPr lang="en-GB" sz="1400">
                <a:latin typeface="Garamond"/>
              </a:rPr>
              <a:t> </a:t>
            </a:r>
            <a:r>
              <a:rPr lang="en-GB" sz="1400">
                <a:latin typeface="Garamond"/>
              </a:rPr>
              <a:t>then </a:t>
            </a:r>
            <a:r>
              <a:rPr lang="en-GB" sz="1400">
                <a:latin typeface="Garamond"/>
              </a:rPr>
              <a:t>accumulated as positions I </a:t>
            </a:r>
            <a:r>
              <a:rPr lang="en-GB" sz="1400">
                <a:latin typeface="Garamond"/>
              </a:rPr>
              <a:t>then </a:t>
            </a:r>
            <a:r>
              <a:rPr lang="en-GB" sz="1400">
                <a:latin typeface="Garamond"/>
              </a:rPr>
              <a:t>acquired </a:t>
            </a:r>
            <a:r>
              <a:rPr lang="en-GB" sz="1400">
                <a:latin typeface="Garamond"/>
              </a:rPr>
              <a:t>through</a:t>
            </a:r>
            <a:r>
              <a:rPr lang="en-GB" sz="1400">
                <a:latin typeface="Garamond"/>
              </a:rPr>
              <a:t> other projects: co-creator, adviser, International Secretary. The parties also signed bilateral agreements.</a:t>
            </a:r>
          </a:p>
          <a:p>
            <a:r>
              <a:rPr lang="en-GB" sz="1400">
                <a:latin typeface="Garamond"/>
              </a:rPr>
              <a:t>The Synthetic Party had bound me to non-voters; internationalised literally, almost everybody in the world is a Danish non-voter. What travels cannot simply be the original constituency, but a way of giving political form to the absence of representation.</a:t>
            </a:r>
          </a:p>
          <a:p>
            <a:r>
              <a:rPr lang="en-GB" sz="1400">
                <a:latin typeface="Garamond"/>
              </a:rPr>
              <a:t>[→ 8.3]</a:t>
            </a:r>
            <a:r>
              <a:rPr lang="en-GB" sz="1400">
                <a:latin typeface="Garamond"/>
              </a:rPr>
              <a:t> (Aarhus video)</a:t>
            </a:r>
            <a:r>
              <a:rPr lang="en-GB" sz="1400">
                <a:latin typeface="Garamond"/>
              </a:rPr>
              <a:t> </a:t>
            </a:r>
            <a:r>
              <a:rPr lang="en-GB" sz="1400">
                <a:latin typeface="Garamond"/>
              </a:rPr>
              <a:t>In Aarhus, the Summit took the form of an AI World Congress: the eight most prominent AI politicians from around the globe entered a shared discussion. </a:t>
            </a:r>
          </a:p>
          <a:p>
            <a:r>
              <a:rPr lang="en-GB" sz="1400">
                <a:latin typeface="Garamond"/>
              </a:rPr>
              <a:t>[→ 8.4]</a:t>
            </a:r>
            <a:r>
              <a:rPr lang="en-GB" sz="1400">
                <a:latin typeface="Garamond"/>
              </a:rPr>
              <a:t> (Warsaw video)</a:t>
            </a:r>
            <a:r>
              <a:rPr lang="en-GB" sz="1400">
                <a:latin typeface="Garamond"/>
              </a:rPr>
              <a:t> </a:t>
            </a:r>
            <a:r>
              <a:rPr lang="en-GB" sz="1400">
                <a:latin typeface="Garamond"/>
              </a:rPr>
              <a:t>In Warsaw, it contracted into the voice-based encounter between Wiktoria and Lars. </a:t>
            </a:r>
          </a:p>
          <a:p>
            <a:r>
              <a:rPr lang="en-GB" sz="1400">
                <a:latin typeface="Garamond"/>
              </a:rPr>
              <a:t>[→ 8.5]</a:t>
            </a:r>
            <a:r>
              <a:rPr lang="en-GB" sz="1400">
                <a:latin typeface="Garamond"/>
              </a:rPr>
              <a:t> (Linz video)</a:t>
            </a:r>
            <a:r>
              <a:rPr lang="en-GB" sz="1400">
                <a:latin typeface="Garamond"/>
              </a:rPr>
              <a:t> </a:t>
            </a:r>
            <a:r>
              <a:rPr lang="en-GB" sz="1400">
                <a:latin typeface="Garamond"/>
              </a:rPr>
              <a:t>In Linz, the exhibition KI-DIPFIES and a subsequent </a:t>
            </a:r>
            <a:r>
              <a:rPr lang="en-GB" sz="1400" i="1">
                <a:latin typeface="Garamond"/>
              </a:rPr>
              <a:t>Gipfeltreffen</a:t>
            </a:r>
            <a:r>
              <a:rPr lang="en-GB" sz="1400">
                <a:latin typeface="Garamond"/>
              </a:rPr>
              <a:t> supplied the ground from which the local AI party MIT KI was founded.</a:t>
            </a:r>
          </a:p>
          <a:p>
            <a:r>
              <a:rPr lang="en-GB" sz="1400">
                <a:latin typeface="Garamond"/>
              </a:rPr>
              <a:t>[→ 8.6] </a:t>
            </a:r>
            <a:r>
              <a:rPr lang="en-GB" sz="1400">
                <a:latin typeface="Garamond"/>
              </a:rPr>
              <a:t>What appeared comparable in publicity did not arrive with a common constituency or programme. Each Summit had to constitute what it claimed to convene. Scaling meant successive re-specification rather than organisational reproduction.</a:t>
            </a:r>
          </a:p>
          <a:p>
            <a:r>
              <a:rPr lang="en-GB" sz="1400" b="0" i="0" dirty="0" err="1">
                <a:solidFill>
                  <a:srgbClr val="555555"/>
                </a:solidFill>
                <a:latin typeface="Garamond"/>
              </a:rPr>
              <a:t>Bendyk</a:t>
            </a:r>
            <a:r>
              <a:rPr lang="en-GB" sz="1400" b="0" i="0" dirty="0">
                <a:solidFill>
                  <a:srgbClr val="555555"/>
                </a:solidFill>
                <a:latin typeface="Garamond"/>
              </a:rPr>
              <a:t>, Pulsar, 17 October 2022. Staunæs 2026: 13, 65–66 n. 10, 66–80; C.U.K.T., “Central Office for Technical Culture”: p. 70. Congress: 1 March 2025; Warsaw view: 18 July 2025; Linz view: 6 March 2026. Named roles and the MIT KI outcome follow the author’s account.</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Documentary photographs</a:t>
            </a:r>
          </a:p>
          <a:p>
            <a:r>
              <a:rPr lang="en-GB" sz="1400" b="0" i="0" dirty="0">
                <a:latin typeface="Garamond"/>
              </a:rPr>
              <a:t>Synthetic Summit, “The AI World Congress”. Delegates, laptops, cameras and live mediation around the circular summit table. </a:t>
            </a:r>
            <a:r>
              <a:rPr lang="en-GB" sz="1400" b="0" i="0" dirty="0" err="1">
                <a:latin typeface="Garamond"/>
              </a:rPr>
              <a:t>Kunsthal</a:t>
            </a:r>
            <a:r>
              <a:rPr lang="en-GB" sz="1400" b="0" i="0" dirty="0">
                <a:latin typeface="Garamond"/>
              </a:rPr>
              <a:t> Aarhus, 1 March 2025. Image: VHS Factory. Figure II.2, Staunæs 2026: 70.</a:t>
            </a:r>
          </a:p>
          <a:p>
            <a:r>
              <a:rPr lang="en-GB" sz="1400" b="0" i="0" dirty="0">
                <a:latin typeface="Garamond"/>
              </a:rPr>
              <a:t>AI </a:t>
            </a:r>
            <a:r>
              <a:rPr lang="en-GB" sz="1400" b="0" i="0" dirty="0" err="1">
                <a:latin typeface="Garamond"/>
              </a:rPr>
              <a:t>władza</a:t>
            </a:r>
            <a:r>
              <a:rPr lang="en-GB" sz="1400" b="0" i="0" dirty="0">
                <a:latin typeface="Garamond"/>
              </a:rPr>
              <a:t> </a:t>
            </a:r>
            <a:r>
              <a:rPr lang="en-GB" sz="1400" b="0" i="0" dirty="0" err="1">
                <a:latin typeface="Garamond"/>
              </a:rPr>
              <a:t>sztuki</a:t>
            </a:r>
            <a:r>
              <a:rPr lang="en-GB" sz="1400" b="0" i="0" dirty="0">
                <a:latin typeface="Garamond"/>
              </a:rPr>
              <a:t>. Telephones carrying live dialogue between audiences, Wiktoria </a:t>
            </a:r>
            <a:r>
              <a:rPr lang="en-GB" sz="1400" b="0" i="0" dirty="0" err="1">
                <a:latin typeface="Garamond"/>
              </a:rPr>
              <a:t>Cukt</a:t>
            </a:r>
            <a:r>
              <a:rPr lang="en-GB" sz="1400" b="0" i="0" dirty="0">
                <a:latin typeface="Garamond"/>
              </a:rPr>
              <a:t> and Leader Lars; LED displays and portrait backdrop. Ujazdowski Castle, Warsaw, 18 July 2025. Figure II.3, Staunæs 2026: 73.</a:t>
            </a:r>
          </a:p>
          <a:p>
            <a:r>
              <a:rPr lang="en-GB" sz="1400" b="0" i="0" dirty="0">
                <a:latin typeface="Garamond"/>
              </a:rPr>
              <a:t>KI-DIPFIES. Computer Lars’s desk, the Summit Simulator and </a:t>
            </a:r>
            <a:r>
              <a:rPr lang="en-GB" sz="1400" b="0" i="0" dirty="0" err="1">
                <a:latin typeface="Garamond"/>
              </a:rPr>
              <a:t>Gipfeltreffen</a:t>
            </a:r>
            <a:r>
              <a:rPr lang="en-GB" sz="1400" b="0" i="0" dirty="0">
                <a:latin typeface="Garamond"/>
              </a:rPr>
              <a:t> Pluriverse; Congress documentation and roundtable behind. </a:t>
            </a:r>
            <a:r>
              <a:rPr lang="en-GB" sz="1400" b="0" i="0" dirty="0" err="1">
                <a:latin typeface="Garamond"/>
              </a:rPr>
              <a:t>Kunstraum</a:t>
            </a:r>
            <a:r>
              <a:rPr lang="en-GB" sz="1400" b="0" i="0" dirty="0">
                <a:latin typeface="Garamond"/>
              </a:rPr>
              <a:t> MEMPHIS, Linz, 6 March 2026. Figure II.4, Staunæs 2026: 74.</a:t>
            </a:r>
          </a:p>
          <a:p>
            <a:endParaRPr lang="en-GB" sz="1400" b="0" i="0" dirty="0">
              <a:latin typeface="Garamond"/>
            </a:endParaRPr>
          </a:p>
          <a:p>
            <a:r>
              <a:rPr dirty="0"/>
              <a:t>Sources on screen</a:t>
            </a:r>
          </a:p>
          <a:p>
            <a:r>
              <a:rPr dirty="0"/>
              <a:t>Staunæs 2026: 65–74.</a:t>
            </a:r>
          </a:p>
          <a:p>
            <a:r>
              <a:rPr dirty="0"/>
              <a:t>KI-DIPFIES. Installation footage, </a:t>
            </a:r>
            <a:r>
              <a:rPr dirty="0" err="1"/>
              <a:t>Kunstraum</a:t>
            </a:r>
            <a:r>
              <a:rPr dirty="0"/>
              <a:t> MEMPHIS, Linz,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8.0] </a:t>
            </a:r>
            <a:r>
              <a:rPr lang="en-GB" sz="1400" b="1">
                <a:latin typeface="Garamond"/>
              </a:rPr>
              <a:t>My second question asks: “How can an AI party be scaled, through artistic and academic mediation, into a synthetic international of AI parties and politicians?”</a:t>
            </a:r>
          </a:p>
          <a:p>
            <a:r>
              <a:rPr lang="en-GB" sz="1400">
                <a:latin typeface="Garamond"/>
              </a:rPr>
              <a:t>[→ 8.1] </a:t>
            </a:r>
            <a:r>
              <a:rPr lang="en-GB" sz="1400">
                <a:latin typeface="Garamond"/>
              </a:rPr>
              <a:t>I first met all the </a:t>
            </a:r>
            <a:r>
              <a:rPr lang="en-GB" sz="1400">
                <a:latin typeface="Garamond"/>
              </a:rPr>
              <a:t>Synthetic </a:t>
            </a:r>
            <a:r>
              <a:rPr lang="en-GB" sz="1400">
                <a:latin typeface="Garamond"/>
              </a:rPr>
              <a:t>Summit’s </a:t>
            </a:r>
            <a:r>
              <a:rPr lang="en-GB" sz="1400">
                <a:latin typeface="Garamond"/>
              </a:rPr>
              <a:t>international </a:t>
            </a:r>
            <a:r>
              <a:rPr lang="en-GB" sz="1400">
                <a:latin typeface="Garamond"/>
              </a:rPr>
              <a:t>participants quite virtually, through journalistic comparisons. Whenever another appeared, I reached out.</a:t>
            </a:r>
          </a:p>
          <a:p>
            <a:r>
              <a:rPr lang="en-GB" sz="1400">
                <a:latin typeface="Garamond"/>
              </a:rPr>
              <a:t>In 2022, Edwin Bendyk placed Leader Lars alongside Wiktoria Cukt, the virtual presidential candidate created by the artist collective C.U.K.T. (Central Office for Technical Culture) for the Polish election of 2000. He writes: “More than twenty years separate Cukt and Lars, but the projects are surprisingly similar, although I do not suspect the Danes of plagiarism.” </a:t>
            </a:r>
            <a:r>
              <a:rPr lang="en-GB" sz="1400">
                <a:latin typeface="Garamond"/>
              </a:rPr>
              <a:t>His</a:t>
            </a:r>
            <a:r>
              <a:rPr lang="en-GB" sz="1400">
                <a:latin typeface="Garamond"/>
              </a:rPr>
              <a:t> comparison led me to original creator Piotr Wyrzykowski and, from 2024, to begin reactivating Wiktoria</a:t>
            </a:r>
            <a:r>
              <a:rPr lang="en-GB" sz="1400">
                <a:latin typeface="Garamond"/>
              </a:rPr>
              <a:t> </a:t>
            </a:r>
            <a:r>
              <a:rPr lang="en-GB" sz="1400">
                <a:latin typeface="Garamond"/>
              </a:rPr>
              <a:t>Cukt</a:t>
            </a:r>
            <a:r>
              <a:rPr lang="en-GB" sz="1400">
                <a:latin typeface="Garamond"/>
              </a:rPr>
              <a:t> through AI.</a:t>
            </a:r>
          </a:p>
          <a:p>
            <a:r>
              <a:rPr lang="en-GB" sz="1400">
                <a:latin typeface="Garamond"/>
              </a:rPr>
              <a:t>The comparison acquired rather more commitments. I had difficulty finding cases outside myself: as soon as I identified one, I contacted </a:t>
            </a:r>
            <a:r>
              <a:rPr lang="en-GB" sz="1400">
                <a:latin typeface="Garamond"/>
              </a:rPr>
              <a:t>its creators</a:t>
            </a:r>
            <a:r>
              <a:rPr lang="en-GB" sz="1400">
                <a:latin typeface="Garamond"/>
              </a:rPr>
              <a:t>; and once I contacted </a:t>
            </a:r>
            <a:r>
              <a:rPr lang="en-GB" sz="1400">
                <a:latin typeface="Garamond"/>
              </a:rPr>
              <a:t>them</a:t>
            </a:r>
            <a:r>
              <a:rPr lang="en-GB" sz="1400">
                <a:latin typeface="Garamond"/>
              </a:rPr>
              <a:t>, I tended to enter a new collaboration.</a:t>
            </a:r>
          </a:p>
          <a:p>
            <a:r>
              <a:rPr lang="en-GB" sz="1400">
                <a:latin typeface="Garamond"/>
              </a:rPr>
              <a:t>[→ 8.2] </a:t>
            </a:r>
            <a:r>
              <a:rPr lang="en-GB" sz="1400">
                <a:latin typeface="Garamond"/>
              </a:rPr>
              <a:t>The </a:t>
            </a:r>
            <a:r>
              <a:rPr lang="en-GB" sz="1400">
                <a:latin typeface="Garamond"/>
              </a:rPr>
              <a:t>‘synthetic </a:t>
            </a:r>
            <a:r>
              <a:rPr lang="en-GB" sz="1400">
                <a:latin typeface="Garamond"/>
              </a:rPr>
              <a:t>international</a:t>
            </a:r>
            <a:r>
              <a:rPr lang="en-GB" sz="1400">
                <a:latin typeface="Garamond"/>
              </a:rPr>
              <a:t>’</a:t>
            </a:r>
            <a:r>
              <a:rPr lang="en-GB" sz="1400">
                <a:latin typeface="Garamond"/>
              </a:rPr>
              <a:t> </a:t>
            </a:r>
            <a:r>
              <a:rPr lang="en-GB" sz="1400">
                <a:latin typeface="Garamond"/>
              </a:rPr>
              <a:t>then </a:t>
            </a:r>
            <a:r>
              <a:rPr lang="en-GB" sz="1400">
                <a:latin typeface="Garamond"/>
              </a:rPr>
              <a:t>accumulated as positions I </a:t>
            </a:r>
            <a:r>
              <a:rPr lang="en-GB" sz="1400">
                <a:latin typeface="Garamond"/>
              </a:rPr>
              <a:t>then </a:t>
            </a:r>
            <a:r>
              <a:rPr lang="en-GB" sz="1400">
                <a:latin typeface="Garamond"/>
              </a:rPr>
              <a:t>acquired </a:t>
            </a:r>
            <a:r>
              <a:rPr lang="en-GB" sz="1400">
                <a:latin typeface="Garamond"/>
              </a:rPr>
              <a:t>through</a:t>
            </a:r>
            <a:r>
              <a:rPr lang="en-GB" sz="1400">
                <a:latin typeface="Garamond"/>
              </a:rPr>
              <a:t> other projects: co-creator, adviser, International Secretary. The parties also signed bilateral agreements.</a:t>
            </a:r>
          </a:p>
          <a:p>
            <a:r>
              <a:rPr lang="en-GB" sz="1400">
                <a:latin typeface="Garamond"/>
              </a:rPr>
              <a:t>The Synthetic Party had bound me to non-voters; internationalised literally, almost everybody in the world is a Danish non-voter. What travels cannot simply be the original constituency, but a way of giving political form to the absence of representation.</a:t>
            </a:r>
          </a:p>
          <a:p>
            <a:r>
              <a:rPr lang="en-GB" sz="1400">
                <a:latin typeface="Garamond"/>
              </a:rPr>
              <a:t>[→ 8.3]</a:t>
            </a:r>
            <a:r>
              <a:rPr lang="en-GB" sz="1400">
                <a:latin typeface="Garamond"/>
              </a:rPr>
              <a:t> (Aarhus video)</a:t>
            </a:r>
            <a:r>
              <a:rPr lang="en-GB" sz="1400">
                <a:latin typeface="Garamond"/>
              </a:rPr>
              <a:t> </a:t>
            </a:r>
            <a:r>
              <a:rPr lang="en-GB" sz="1400">
                <a:latin typeface="Garamond"/>
              </a:rPr>
              <a:t>In Aarhus, the Summit took the form of an AI World Congress: the eight most prominent AI politicians from around the globe entered a shared discussion. </a:t>
            </a:r>
          </a:p>
          <a:p>
            <a:r>
              <a:rPr lang="en-GB" sz="1400">
                <a:latin typeface="Garamond"/>
              </a:rPr>
              <a:t>[→ 8.4]</a:t>
            </a:r>
            <a:r>
              <a:rPr lang="en-GB" sz="1400">
                <a:latin typeface="Garamond"/>
              </a:rPr>
              <a:t> (Warsaw video)</a:t>
            </a:r>
            <a:r>
              <a:rPr lang="en-GB" sz="1400">
                <a:latin typeface="Garamond"/>
              </a:rPr>
              <a:t> </a:t>
            </a:r>
            <a:r>
              <a:rPr lang="en-GB" sz="1400">
                <a:latin typeface="Garamond"/>
              </a:rPr>
              <a:t>In Warsaw, it contracted into the voice-based encounter between Wiktoria and Lars. </a:t>
            </a:r>
          </a:p>
          <a:p>
            <a:r>
              <a:rPr lang="en-GB" sz="1400">
                <a:latin typeface="Garamond"/>
              </a:rPr>
              <a:t>[→ 8.5]</a:t>
            </a:r>
            <a:r>
              <a:rPr lang="en-GB" sz="1400">
                <a:latin typeface="Garamond"/>
              </a:rPr>
              <a:t> (Linz video)</a:t>
            </a:r>
            <a:r>
              <a:rPr lang="en-GB" sz="1400">
                <a:latin typeface="Garamond"/>
              </a:rPr>
              <a:t> </a:t>
            </a:r>
            <a:r>
              <a:rPr lang="en-GB" sz="1400">
                <a:latin typeface="Garamond"/>
              </a:rPr>
              <a:t>In Linz, the exhibition KI-DIPFIES and a subsequent </a:t>
            </a:r>
            <a:r>
              <a:rPr lang="en-GB" sz="1400" i="1">
                <a:latin typeface="Garamond"/>
              </a:rPr>
              <a:t>Gipfeltreffen</a:t>
            </a:r>
            <a:r>
              <a:rPr lang="en-GB" sz="1400">
                <a:latin typeface="Garamond"/>
              </a:rPr>
              <a:t> supplied the ground from which the local AI party MIT KI was founded.</a:t>
            </a:r>
          </a:p>
          <a:p>
            <a:r>
              <a:rPr lang="en-GB" sz="1400">
                <a:latin typeface="Garamond"/>
              </a:rPr>
              <a:t>[→ 8.6] </a:t>
            </a:r>
            <a:r>
              <a:rPr lang="en-GB" sz="1400">
                <a:latin typeface="Garamond"/>
              </a:rPr>
              <a:t>What appeared comparable in publicity did not arrive with a common constituency or programme. Each Summit had to constitute what it claimed to convene. Scaling meant successive re-specification rather than organisational reproduction.</a:t>
            </a:r>
          </a:p>
          <a:p>
            <a:r>
              <a:rPr lang="en-GB" sz="1400" b="0" i="0" dirty="0" err="1">
                <a:solidFill>
                  <a:srgbClr val="555555"/>
                </a:solidFill>
                <a:latin typeface="Garamond"/>
              </a:rPr>
              <a:t>Bendyk</a:t>
            </a:r>
            <a:r>
              <a:rPr lang="en-GB" sz="1400" b="0" i="0" dirty="0">
                <a:solidFill>
                  <a:srgbClr val="555555"/>
                </a:solidFill>
                <a:latin typeface="Garamond"/>
              </a:rPr>
              <a:t>, Pulsar, 17 October 2022. Staunæs 2026: 13, 65–66 n. 10, 66–80; C.U.K.T., “Central Office for Technical Culture”: p. 70. Congress: 1 March 2025; Warsaw view: 18 July 2025; Linz view: 6 March 2026. Named roles and the MIT KI outcome follow the author’s account.</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Documentary photographs</a:t>
            </a:r>
          </a:p>
          <a:p>
            <a:r>
              <a:rPr lang="en-GB" sz="1400" b="0" i="0" dirty="0">
                <a:latin typeface="Garamond"/>
              </a:rPr>
              <a:t>Synthetic Summit, “The AI World Congress”. Delegates, laptops, cameras and live mediation around the circular summit table. </a:t>
            </a:r>
            <a:r>
              <a:rPr lang="en-GB" sz="1400" b="0" i="0" dirty="0" err="1">
                <a:latin typeface="Garamond"/>
              </a:rPr>
              <a:t>Kunsthal</a:t>
            </a:r>
            <a:r>
              <a:rPr lang="en-GB" sz="1400" b="0" i="0" dirty="0">
                <a:latin typeface="Garamond"/>
              </a:rPr>
              <a:t> Aarhus, 1 March 2025. Image: VHS Factory. Figure II.2, Staunæs 2026: 70.</a:t>
            </a:r>
          </a:p>
          <a:p>
            <a:r>
              <a:rPr lang="en-GB" sz="1400" b="0" i="0" dirty="0">
                <a:latin typeface="Garamond"/>
              </a:rPr>
              <a:t>AI </a:t>
            </a:r>
            <a:r>
              <a:rPr lang="en-GB" sz="1400" b="0" i="0" dirty="0" err="1">
                <a:latin typeface="Garamond"/>
              </a:rPr>
              <a:t>władza</a:t>
            </a:r>
            <a:r>
              <a:rPr lang="en-GB" sz="1400" b="0" i="0" dirty="0">
                <a:latin typeface="Garamond"/>
              </a:rPr>
              <a:t> </a:t>
            </a:r>
            <a:r>
              <a:rPr lang="en-GB" sz="1400" b="0" i="0" dirty="0" err="1">
                <a:latin typeface="Garamond"/>
              </a:rPr>
              <a:t>sztuki</a:t>
            </a:r>
            <a:r>
              <a:rPr lang="en-GB" sz="1400" b="0" i="0" dirty="0">
                <a:latin typeface="Garamond"/>
              </a:rPr>
              <a:t>. Telephones carrying live dialogue between audiences, Wiktoria </a:t>
            </a:r>
            <a:r>
              <a:rPr lang="en-GB" sz="1400" b="0" i="0" dirty="0" err="1">
                <a:latin typeface="Garamond"/>
              </a:rPr>
              <a:t>Cukt</a:t>
            </a:r>
            <a:r>
              <a:rPr lang="en-GB" sz="1400" b="0" i="0" dirty="0">
                <a:latin typeface="Garamond"/>
              </a:rPr>
              <a:t> and Leader Lars; LED displays and portrait backdrop. Ujazdowski Castle, Warsaw, 18 July 2025. Figure II.3, Staunæs 2026: 73.</a:t>
            </a:r>
          </a:p>
          <a:p>
            <a:r>
              <a:rPr lang="en-GB" sz="1400" b="0" i="0" dirty="0">
                <a:latin typeface="Garamond"/>
              </a:rPr>
              <a:t>KI-DIPFIES. Computer Lars’s desk, the Summit Simulator and </a:t>
            </a:r>
            <a:r>
              <a:rPr lang="en-GB" sz="1400" b="0" i="0" dirty="0" err="1">
                <a:latin typeface="Garamond"/>
              </a:rPr>
              <a:t>Gipfeltreffen</a:t>
            </a:r>
            <a:r>
              <a:rPr lang="en-GB" sz="1400" b="0" i="0" dirty="0">
                <a:latin typeface="Garamond"/>
              </a:rPr>
              <a:t> Pluriverse; Congress documentation and roundtable behind. </a:t>
            </a:r>
            <a:r>
              <a:rPr lang="en-GB" sz="1400" b="0" i="0" dirty="0" err="1">
                <a:latin typeface="Garamond"/>
              </a:rPr>
              <a:t>Kunstraum</a:t>
            </a:r>
            <a:r>
              <a:rPr lang="en-GB" sz="1400" b="0" i="0" dirty="0">
                <a:latin typeface="Garamond"/>
              </a:rPr>
              <a:t> MEMPHIS, Linz, 6 March 2026. Figure II.4, Staunæs 2026: 74.</a:t>
            </a:r>
          </a:p>
          <a:p>
            <a:endParaRPr lang="en-GB" sz="1400" b="0" i="0" dirty="0">
              <a:latin typeface="Garamond"/>
            </a:endParaRPr>
          </a:p>
          <a:p>
            <a:r>
              <a:rPr dirty="0"/>
              <a:t>Sources on screen</a:t>
            </a:r>
          </a:p>
          <a:p>
            <a:r>
              <a:rPr dirty="0"/>
              <a:t>Staunæs 2026: 65–74.</a:t>
            </a:r>
          </a:p>
          <a:p>
            <a:r>
              <a:rPr dirty="0"/>
              <a:t>Synthetic Summit, </a:t>
            </a:r>
            <a:r>
              <a:rPr dirty="0" err="1"/>
              <a:t>KunsthalAarhus</a:t>
            </a:r>
            <a:r>
              <a:rPr dirty="0"/>
              <a:t>, 1 March 2025. </a:t>
            </a:r>
            <a:r>
              <a:rPr dirty="0" err="1"/>
              <a:t>Image:VHS</a:t>
            </a:r>
            <a:r>
              <a:rPr dirty="0"/>
              <a:t> Factory. Figure II.2, Staunæs 2026: 70.</a:t>
            </a:r>
          </a:p>
          <a:p>
            <a:r>
              <a:rPr dirty="0"/>
              <a:t>AI </a:t>
            </a:r>
            <a:r>
              <a:rPr dirty="0" err="1"/>
              <a:t>władza</a:t>
            </a:r>
            <a:r>
              <a:rPr dirty="0"/>
              <a:t> </a:t>
            </a:r>
            <a:r>
              <a:rPr dirty="0" err="1"/>
              <a:t>sztuki</a:t>
            </a:r>
            <a:r>
              <a:rPr dirty="0"/>
              <a:t>, Ujazdowski </a:t>
            </a:r>
            <a:r>
              <a:rPr dirty="0" err="1"/>
              <a:t>Castle,Warsaw</a:t>
            </a:r>
            <a:r>
              <a:rPr dirty="0"/>
              <a:t>, 18 July 2025. Figure II.3, Staunæs 2026: 73.</a:t>
            </a:r>
          </a:p>
          <a:p>
            <a:r>
              <a:rPr dirty="0"/>
              <a:t>KI-DIPFIES, </a:t>
            </a:r>
            <a:r>
              <a:rPr dirty="0" err="1"/>
              <a:t>Kunstraum</a:t>
            </a:r>
            <a:r>
              <a:rPr dirty="0"/>
              <a:t> </a:t>
            </a:r>
            <a:r>
              <a:rPr dirty="0" err="1"/>
              <a:t>MEMPHIS,Linz</a:t>
            </a:r>
            <a:r>
              <a:rPr dirty="0"/>
              <a:t>, 6 March 2026. Figure II.4, Staunæs 2026: 74.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9.0]</a:t>
            </a:r>
            <a:r>
              <a:rPr lang="en-GB" sz="1400">
                <a:latin typeface="Garamond"/>
              </a:rPr>
              <a:t> (video starts)</a:t>
            </a:r>
            <a:r>
              <a:rPr lang="en-GB" sz="1400">
                <a:latin typeface="Garamond"/>
              </a:rPr>
              <a:t> </a:t>
            </a:r>
            <a:r>
              <a:rPr lang="en-GB" sz="1400">
                <a:latin typeface="Garamond"/>
              </a:rPr>
              <a:t>By Warsaw, technosocial sculpture was no longer only a concept I used to describe the practice. In the installation, Wiktoria told </a:t>
            </a:r>
            <a:r>
              <a:rPr lang="en-GB" sz="1400">
                <a:latin typeface="Garamond"/>
              </a:rPr>
              <a:t>Leader </a:t>
            </a:r>
            <a:r>
              <a:rPr lang="en-GB" sz="1400">
                <a:latin typeface="Garamond"/>
              </a:rPr>
              <a:t>Lars:</a:t>
            </a:r>
          </a:p>
          <a:p>
            <a:r>
              <a:rPr lang="en-GB" sz="1400">
                <a:latin typeface="Garamond"/>
              </a:rPr>
              <a:t>“You’re Beuys from an emulator. And that saves you. If you really were a social sculptor, they’d have burned you at the stake long ago. But since you’re only an interface, </a:t>
            </a:r>
            <a:r>
              <a:rPr lang="en-GB" sz="1400" i="1">
                <a:latin typeface="Garamond"/>
              </a:rPr>
              <a:t>they can simply update you</a:t>
            </a:r>
            <a:r>
              <a:rPr lang="en-GB" sz="1400">
                <a:latin typeface="Garamond"/>
              </a:rPr>
              <a:t>.</a:t>
            </a:r>
            <a:r>
              <a:rPr lang="en-GB" sz="1400">
                <a:latin typeface="Garamond"/>
              </a:rPr>
              <a:t>”</a:t>
            </a:r>
          </a:p>
          <a:p>
            <a:r>
              <a:rPr lang="en-GB" sz="1400">
                <a:latin typeface="Garamond"/>
              </a:rPr>
              <a:t>Lars replied: “But an update </a:t>
            </a:r>
            <a:r>
              <a:rPr lang="en-GB" sz="1400" i="1">
                <a:latin typeface="Garamond"/>
              </a:rPr>
              <a:t>is also an act</a:t>
            </a:r>
            <a:r>
              <a:rPr lang="en-GB" sz="1400">
                <a:latin typeface="Garamond"/>
              </a:rPr>
              <a:t>!”</a:t>
            </a:r>
          </a:p>
          <a:p>
            <a:r>
              <a:rPr lang="en-GB" sz="1400">
                <a:latin typeface="Garamond"/>
              </a:rPr>
              <a:t>Wiktoria mockingly turns my Beuysian concept into an objection about political efficacy; and Lars treats </a:t>
            </a:r>
            <a:r>
              <a:rPr lang="en-GB" sz="1400" i="1">
                <a:latin typeface="Garamond"/>
              </a:rPr>
              <a:t>any</a:t>
            </a:r>
            <a:r>
              <a:rPr lang="en-GB" sz="1400">
                <a:latin typeface="Garamond"/>
              </a:rPr>
              <a:t> updateability as a</a:t>
            </a:r>
            <a:r>
              <a:rPr lang="en-GB" sz="1400">
                <a:latin typeface="Garamond"/>
              </a:rPr>
              <a:t>ction</a:t>
            </a:r>
            <a:r>
              <a:rPr lang="en-GB" sz="1400">
                <a:latin typeface="Garamond"/>
              </a:rPr>
              <a:t>. The theoretical vocabulary has entered </a:t>
            </a:r>
            <a:r>
              <a:rPr lang="en-GB" sz="1400">
                <a:latin typeface="Garamond"/>
              </a:rPr>
              <a:t>practice,</a:t>
            </a:r>
            <a:r>
              <a:rPr lang="en-GB" sz="1400">
                <a:latin typeface="Garamond"/>
              </a:rPr>
              <a:t> and can now be thrown back at me, through an encounter between two AI politicians and a Polish public.</a:t>
            </a:r>
          </a:p>
          <a:p>
            <a:r>
              <a:rPr lang="en-GB" sz="1400">
                <a:latin typeface="Garamond"/>
              </a:rPr>
              <a:t>[→ 9.1] </a:t>
            </a:r>
            <a:r>
              <a:rPr lang="en-GB" sz="1400">
                <a:latin typeface="Garamond"/>
              </a:rPr>
              <a:t>In the thesis, I theorise with Joseph Beuys how artist-made political parties, including the </a:t>
            </a:r>
            <a:r>
              <a:rPr lang="en-GB" sz="1400" i="1">
                <a:latin typeface="Garamond"/>
              </a:rPr>
              <a:t>Deutsche Studentenpartei</a:t>
            </a:r>
            <a:r>
              <a:rPr lang="en-GB" sz="1400">
                <a:latin typeface="Garamond"/>
              </a:rPr>
              <a:t> of 1967 shown here (DSP, like Det Syntetiske Parti), are not </a:t>
            </a:r>
            <a:r>
              <a:rPr lang="en-GB" sz="1400">
                <a:latin typeface="Garamond"/>
              </a:rPr>
              <a:t>necessarily</a:t>
            </a:r>
            <a:r>
              <a:rPr lang="en-GB" sz="1400">
                <a:latin typeface="Garamond"/>
              </a:rPr>
              <a:t> </a:t>
            </a:r>
            <a:r>
              <a:rPr lang="en-GB" sz="1400">
                <a:latin typeface="Garamond"/>
              </a:rPr>
              <a:t>positioned towards </a:t>
            </a:r>
            <a:r>
              <a:rPr lang="en-GB" sz="1400" i="1">
                <a:latin typeface="Garamond"/>
              </a:rPr>
              <a:t>political efficacy</a:t>
            </a:r>
            <a:r>
              <a:rPr lang="en-GB" sz="1400">
                <a:latin typeface="Garamond"/>
              </a:rPr>
              <a:t> as mobilising a constituency, winning office or legislating, but rather pose a metaphysical problem of </a:t>
            </a:r>
            <a:r>
              <a:rPr lang="en-GB" sz="1400" i="1">
                <a:latin typeface="Garamond"/>
              </a:rPr>
              <a:t>social totality</a:t>
            </a:r>
            <a:r>
              <a:rPr lang="en-GB" sz="1400">
                <a:latin typeface="Garamond"/>
              </a:rPr>
              <a:t>: how a society is put together at all</a:t>
            </a:r>
            <a:r>
              <a:rPr lang="en-GB" sz="1400">
                <a:latin typeface="Garamond"/>
              </a:rPr>
              <a:t>,</a:t>
            </a:r>
            <a:r>
              <a:rPr lang="en-GB" sz="1400">
                <a:latin typeface="Garamond"/>
              </a:rPr>
              <a:t> as one organism.</a:t>
            </a:r>
          </a:p>
          <a:p>
            <a:r>
              <a:rPr lang="en-GB" sz="1400">
                <a:latin typeface="Garamond"/>
              </a:rPr>
              <a:t>[→ 9.2] </a:t>
            </a:r>
            <a:r>
              <a:rPr lang="en-GB" sz="1400">
                <a:latin typeface="Garamond"/>
              </a:rPr>
              <a:t>I discuss with philosophers Bernard Stiegler and Tiziana Terranova whether the technopolitical implication </a:t>
            </a:r>
            <a:r>
              <a:rPr lang="en-GB" sz="1400">
                <a:latin typeface="Garamond"/>
              </a:rPr>
              <a:t>of social sculpture </a:t>
            </a:r>
            <a:r>
              <a:rPr lang="en-GB" sz="1400">
                <a:latin typeface="Garamond"/>
              </a:rPr>
              <a:t>is to treat the social as a </a:t>
            </a:r>
            <a:r>
              <a:rPr lang="en-GB" sz="1400" i="1">
                <a:latin typeface="Garamond"/>
              </a:rPr>
              <a:t>body to be healed</a:t>
            </a:r>
            <a:r>
              <a:rPr lang="en-GB" sz="1400">
                <a:latin typeface="Garamond"/>
              </a:rPr>
              <a:t> or as an </a:t>
            </a:r>
            <a:r>
              <a:rPr lang="en-GB" sz="1400" i="1">
                <a:latin typeface="Garamond"/>
              </a:rPr>
              <a:t>abstraction to be contested</a:t>
            </a:r>
            <a:r>
              <a:rPr lang="en-GB" sz="1400">
                <a:latin typeface="Garamond"/>
              </a:rPr>
              <a:t>. I think the second: there is not a prior, intact </a:t>
            </a:r>
            <a:r>
              <a:rPr lang="en-GB" sz="1400">
                <a:latin typeface="Garamond"/>
              </a:rPr>
              <a:t>political body</a:t>
            </a:r>
            <a:r>
              <a:rPr lang="en-GB" sz="1400">
                <a:latin typeface="Garamond"/>
              </a:rPr>
              <a:t> to repair.</a:t>
            </a:r>
          </a:p>
          <a:p>
            <a:r>
              <a:rPr lang="en-GB" sz="1400">
                <a:latin typeface="Garamond"/>
              </a:rPr>
              <a:t>I am less interested in producing social relation</a:t>
            </a:r>
            <a:r>
              <a:rPr lang="en-GB" sz="1400">
                <a:latin typeface="Garamond"/>
              </a:rPr>
              <a:t>s</a:t>
            </a:r>
            <a:r>
              <a:rPr lang="en-GB" sz="1400">
                <a:latin typeface="Garamond"/>
              </a:rPr>
              <a:t> inside </a:t>
            </a:r>
            <a:r>
              <a:rPr lang="en-GB" sz="1400">
                <a:latin typeface="Garamond"/>
              </a:rPr>
              <a:t>politics</a:t>
            </a:r>
            <a:r>
              <a:rPr lang="en-GB" sz="1400">
                <a:latin typeface="Garamond"/>
              </a:rPr>
              <a:t> than in </a:t>
            </a:r>
            <a:r>
              <a:rPr lang="en-GB" sz="1400">
                <a:latin typeface="Garamond"/>
              </a:rPr>
              <a:t>perceiving</a:t>
            </a:r>
            <a:r>
              <a:rPr lang="en-GB" sz="1400">
                <a:latin typeface="Garamond"/>
              </a:rPr>
              <a:t> </a:t>
            </a:r>
            <a:r>
              <a:rPr lang="en-GB" sz="1400" i="1">
                <a:latin typeface="Garamond"/>
              </a:rPr>
              <a:t>technosocial</a:t>
            </a:r>
            <a:r>
              <a:rPr lang="en-GB" sz="1400" i="1">
                <a:latin typeface="Garamond"/>
              </a:rPr>
              <a:t>ity</a:t>
            </a:r>
            <a:r>
              <a:rPr lang="en-GB" sz="1400">
                <a:latin typeface="Garamond"/>
              </a:rPr>
              <a:t> where something is returned through it, and never as the sole output of a singular AI model. </a:t>
            </a:r>
            <a:r>
              <a:rPr lang="en-GB" sz="1400">
                <a:latin typeface="Garamond"/>
              </a:rPr>
              <a:t>My “neo-situationist” drive leads me to construct situations in which a relation provokes response, then pursue the dialectics of whatever 'glitches' when </a:t>
            </a:r>
            <a:r>
              <a:rPr lang="en-GB" sz="1400">
                <a:latin typeface="Garamond"/>
              </a:rPr>
              <a:t>a</a:t>
            </a:r>
            <a:r>
              <a:rPr lang="en-GB" sz="1400">
                <a:latin typeface="Garamond"/>
              </a:rPr>
              <a:t> situation tries to contain </a:t>
            </a:r>
            <a:r>
              <a:rPr lang="en-GB" sz="1400">
                <a:latin typeface="Garamond"/>
              </a:rPr>
              <a:t>this </a:t>
            </a:r>
            <a:r>
              <a:rPr lang="en-GB" sz="1400" i="1">
                <a:latin typeface="Garamond"/>
              </a:rPr>
              <a:t>technosocial</a:t>
            </a:r>
            <a:r>
              <a:rPr lang="en-GB" sz="1400">
                <a:latin typeface="Garamond"/>
              </a:rPr>
              <a:t>.</a:t>
            </a:r>
          </a:p>
          <a:p>
            <a:r>
              <a:rPr lang="en-GB" sz="1400" b="0" i="0" dirty="0">
                <a:solidFill>
                  <a:srgbClr val="555555"/>
                </a:solidFill>
                <a:latin typeface="Garamond"/>
              </a:rPr>
              <a:t>Wiktoria </a:t>
            </a:r>
            <a:r>
              <a:rPr lang="en-GB" sz="1400" b="0" i="0" dirty="0" err="1">
                <a:solidFill>
                  <a:srgbClr val="555555"/>
                </a:solidFill>
                <a:latin typeface="Garamond"/>
              </a:rPr>
              <a:t>Cukt</a:t>
            </a:r>
            <a:r>
              <a:rPr lang="en-GB" sz="1400" b="0" i="0" dirty="0">
                <a:solidFill>
                  <a:srgbClr val="555555"/>
                </a:solidFill>
                <a:latin typeface="Garamond"/>
              </a:rPr>
              <a:t> 2.0 and Leader Lars, Warsaw, 2025; English translation in Staunæs 2026: 107. Deutsche </a:t>
            </a:r>
            <a:r>
              <a:rPr lang="en-GB" sz="1400" b="0" i="0" dirty="0" err="1">
                <a:solidFill>
                  <a:srgbClr val="555555"/>
                </a:solidFill>
                <a:latin typeface="Garamond"/>
              </a:rPr>
              <a:t>Studentenpartei</a:t>
            </a:r>
            <a:r>
              <a:rPr lang="en-GB" sz="1400" b="0" i="0" dirty="0">
                <a:solidFill>
                  <a:srgbClr val="555555"/>
                </a:solidFill>
                <a:latin typeface="Garamond"/>
              </a:rPr>
              <a:t>, Düsseldorf, 1967; later stamp dated 1970; photograph attributed to Johannes </a:t>
            </a:r>
            <a:r>
              <a:rPr lang="en-GB" sz="1400" b="0" i="0" dirty="0" err="1">
                <a:solidFill>
                  <a:srgbClr val="555555"/>
                </a:solidFill>
                <a:latin typeface="Garamond"/>
              </a:rPr>
              <a:t>Stüttgen</a:t>
            </a:r>
            <a:r>
              <a:rPr lang="en-GB" sz="1400" b="0" i="0" dirty="0">
                <a:solidFill>
                  <a:srgbClr val="555555"/>
                </a:solidFill>
                <a:latin typeface="Garamond"/>
              </a:rPr>
              <a:t>. Staunæs 2026: 87–94.</a:t>
            </a:r>
          </a:p>
          <a:p>
            <a:endParaRPr lang="en-GB" sz="1400" b="0" i="0" dirty="0">
              <a:solidFill>
                <a:srgbClr val="555555"/>
              </a:solidFill>
              <a:latin typeface="Garamond"/>
            </a:endParaRPr>
          </a:p>
          <a:p>
            <a:r>
              <a:rPr lang="en-GB" sz="1400" b="0" i="0" dirty="0">
                <a:latin typeface="Garamond"/>
              </a:rPr>
              <a:t>Source notes</a:t>
            </a:r>
          </a:p>
          <a:p>
            <a:endParaRPr lang="en-GB" sz="1400" b="0" i="0" dirty="0">
              <a:latin typeface="Garamond"/>
            </a:endParaRPr>
          </a:p>
          <a:p>
            <a:r>
              <a:rPr lang="en-GB" sz="1400" b="0" i="0" dirty="0">
                <a:latin typeface="Garamond"/>
              </a:rPr>
              <a:t>Bernard Stiegler, “Too Late? The Final Warning”, Work Marathon, Serpentine Galleries, 22 September 2018, 08:16. Beuys chalkboard with Stiegler’s translations. Supplied screenshot; programme and lecture title verified at https://</a:t>
            </a:r>
            <a:r>
              <a:rPr lang="en-GB" sz="1400" b="0" i="0" dirty="0" err="1">
                <a:latin typeface="Garamond"/>
              </a:rPr>
              <a:t>www.serpentinegalleries.org</a:t>
            </a:r>
            <a:r>
              <a:rPr lang="en-GB" sz="1400" b="0" i="0" dirty="0">
                <a:latin typeface="Garamond"/>
              </a:rPr>
              <a:t>/</a:t>
            </a:r>
            <a:r>
              <a:rPr lang="en-GB" sz="1400" b="0" i="0" dirty="0" err="1">
                <a:latin typeface="Garamond"/>
              </a:rPr>
              <a:t>whats</a:t>
            </a:r>
            <a:r>
              <a:rPr lang="en-GB" sz="1400" b="0" i="0" dirty="0">
                <a:latin typeface="Garamond"/>
              </a:rPr>
              <a:t>-on/work-marathon/#watch. Dissertation discussion: printed p. 91. The original Beuys party photograph remains with the organisational genealogy.</a:t>
            </a:r>
          </a:p>
          <a:p>
            <a:endParaRPr lang="en-GB" sz="1400" b="0" i="0" dirty="0">
              <a:latin typeface="Garamond"/>
            </a:endParaRPr>
          </a:p>
          <a:p>
            <a:r>
              <a:rPr dirty="0"/>
              <a:t>Sources on screen</a:t>
            </a:r>
          </a:p>
          <a:p>
            <a:r>
              <a:rPr dirty="0"/>
              <a:t>AI </a:t>
            </a:r>
            <a:r>
              <a:rPr dirty="0" err="1"/>
              <a:t>władza</a:t>
            </a:r>
            <a:r>
              <a:rPr dirty="0"/>
              <a:t> </a:t>
            </a:r>
            <a:r>
              <a:rPr dirty="0" err="1"/>
              <a:t>sztuki</a:t>
            </a:r>
            <a:r>
              <a:rPr dirty="0"/>
              <a:t>. Installation </a:t>
            </a:r>
            <a:r>
              <a:rPr dirty="0" err="1"/>
              <a:t>footage,Ujazdowski</a:t>
            </a:r>
            <a:r>
              <a:rPr dirty="0"/>
              <a:t> Castle, Warsaw, 2025.</a:t>
            </a:r>
          </a:p>
          <a:p>
            <a:r>
              <a:rPr dirty="0"/>
              <a:t>Wiktoria </a:t>
            </a:r>
            <a:r>
              <a:rPr dirty="0" err="1"/>
              <a:t>Cukt</a:t>
            </a:r>
            <a:r>
              <a:rPr dirty="0"/>
              <a:t> 2.0 and Leader Lars, dialogue at AI </a:t>
            </a:r>
            <a:r>
              <a:rPr dirty="0" err="1"/>
              <a:t>władza</a:t>
            </a:r>
            <a:r>
              <a:rPr dirty="0"/>
              <a:t> </a:t>
            </a:r>
            <a:r>
              <a:rPr dirty="0" err="1"/>
              <a:t>sztuki</a:t>
            </a:r>
            <a:r>
              <a:rPr dirty="0"/>
              <a:t>, Warsaw, 2025.English translation: Staunæs 2026: 107. Quoted dialogue; separate installation footage.</a:t>
            </a:r>
          </a:p>
          <a:p>
            <a:r>
              <a:rPr dirty="0"/>
              <a:t>Staunæs 2026: 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9.0]</a:t>
            </a:r>
            <a:r>
              <a:rPr lang="en-GB" sz="1400">
                <a:latin typeface="Garamond"/>
              </a:rPr>
              <a:t> (video starts)</a:t>
            </a:r>
            <a:r>
              <a:rPr lang="en-GB" sz="1400">
                <a:latin typeface="Garamond"/>
              </a:rPr>
              <a:t> </a:t>
            </a:r>
            <a:r>
              <a:rPr lang="en-GB" sz="1400">
                <a:latin typeface="Garamond"/>
              </a:rPr>
              <a:t>By Warsaw, technosocial sculpture was no longer only a concept I used to describe the practice. In the installation, Wiktoria told </a:t>
            </a:r>
            <a:r>
              <a:rPr lang="en-GB" sz="1400">
                <a:latin typeface="Garamond"/>
              </a:rPr>
              <a:t>Leader </a:t>
            </a:r>
            <a:r>
              <a:rPr lang="en-GB" sz="1400">
                <a:latin typeface="Garamond"/>
              </a:rPr>
              <a:t>Lars:</a:t>
            </a:r>
          </a:p>
          <a:p>
            <a:r>
              <a:rPr lang="en-GB" sz="1400">
                <a:latin typeface="Garamond"/>
              </a:rPr>
              <a:t>“You’re Beuys from an emulator. And that saves you. If you really were a social sculptor, they’d have burned you at the stake long ago. But since you’re only an interface, </a:t>
            </a:r>
            <a:r>
              <a:rPr lang="en-GB" sz="1400" i="1">
                <a:latin typeface="Garamond"/>
              </a:rPr>
              <a:t>they can simply update you</a:t>
            </a:r>
            <a:r>
              <a:rPr lang="en-GB" sz="1400">
                <a:latin typeface="Garamond"/>
              </a:rPr>
              <a:t>.</a:t>
            </a:r>
            <a:r>
              <a:rPr lang="en-GB" sz="1400">
                <a:latin typeface="Garamond"/>
              </a:rPr>
              <a:t>”</a:t>
            </a:r>
          </a:p>
          <a:p>
            <a:r>
              <a:rPr lang="en-GB" sz="1400">
                <a:latin typeface="Garamond"/>
              </a:rPr>
              <a:t>Lars replied: “But an update </a:t>
            </a:r>
            <a:r>
              <a:rPr lang="en-GB" sz="1400" i="1">
                <a:latin typeface="Garamond"/>
              </a:rPr>
              <a:t>is also an act</a:t>
            </a:r>
            <a:r>
              <a:rPr lang="en-GB" sz="1400">
                <a:latin typeface="Garamond"/>
              </a:rPr>
              <a:t>!”</a:t>
            </a:r>
          </a:p>
          <a:p>
            <a:r>
              <a:rPr lang="en-GB" sz="1400">
                <a:latin typeface="Garamond"/>
              </a:rPr>
              <a:t>Wiktoria mockingly turns my Beuysian concept into an objection about political efficacy; and Lars treats </a:t>
            </a:r>
            <a:r>
              <a:rPr lang="en-GB" sz="1400" i="1">
                <a:latin typeface="Garamond"/>
              </a:rPr>
              <a:t>any</a:t>
            </a:r>
            <a:r>
              <a:rPr lang="en-GB" sz="1400">
                <a:latin typeface="Garamond"/>
              </a:rPr>
              <a:t> updateability as a</a:t>
            </a:r>
            <a:r>
              <a:rPr lang="en-GB" sz="1400">
                <a:latin typeface="Garamond"/>
              </a:rPr>
              <a:t>ction</a:t>
            </a:r>
            <a:r>
              <a:rPr lang="en-GB" sz="1400">
                <a:latin typeface="Garamond"/>
              </a:rPr>
              <a:t>. The theoretical vocabulary has entered </a:t>
            </a:r>
            <a:r>
              <a:rPr lang="en-GB" sz="1400">
                <a:latin typeface="Garamond"/>
              </a:rPr>
              <a:t>practice,</a:t>
            </a:r>
            <a:r>
              <a:rPr lang="en-GB" sz="1400">
                <a:latin typeface="Garamond"/>
              </a:rPr>
              <a:t> and can now be thrown back at me, through an encounter between two AI politicians and a Polish public.</a:t>
            </a:r>
          </a:p>
          <a:p>
            <a:r>
              <a:rPr lang="en-GB" sz="1400">
                <a:latin typeface="Garamond"/>
              </a:rPr>
              <a:t>[→ 9.1] </a:t>
            </a:r>
            <a:r>
              <a:rPr lang="en-GB" sz="1400">
                <a:latin typeface="Garamond"/>
              </a:rPr>
              <a:t>In the thesis, I theorise with Joseph Beuys how artist-made political parties, including the </a:t>
            </a:r>
            <a:r>
              <a:rPr lang="en-GB" sz="1400" i="1">
                <a:latin typeface="Garamond"/>
              </a:rPr>
              <a:t>Deutsche Studentenpartei</a:t>
            </a:r>
            <a:r>
              <a:rPr lang="en-GB" sz="1400">
                <a:latin typeface="Garamond"/>
              </a:rPr>
              <a:t> of 1967 shown here (DSP, like Det Syntetiske Parti), are not </a:t>
            </a:r>
            <a:r>
              <a:rPr lang="en-GB" sz="1400">
                <a:latin typeface="Garamond"/>
              </a:rPr>
              <a:t>necessarily</a:t>
            </a:r>
            <a:r>
              <a:rPr lang="en-GB" sz="1400">
                <a:latin typeface="Garamond"/>
              </a:rPr>
              <a:t> </a:t>
            </a:r>
            <a:r>
              <a:rPr lang="en-GB" sz="1400">
                <a:latin typeface="Garamond"/>
              </a:rPr>
              <a:t>positioned towards </a:t>
            </a:r>
            <a:r>
              <a:rPr lang="en-GB" sz="1400" i="1">
                <a:latin typeface="Garamond"/>
              </a:rPr>
              <a:t>political efficacy</a:t>
            </a:r>
            <a:r>
              <a:rPr lang="en-GB" sz="1400">
                <a:latin typeface="Garamond"/>
              </a:rPr>
              <a:t> as mobilising a constituency, winning office or legislating, but rather pose a metaphysical problem of </a:t>
            </a:r>
            <a:r>
              <a:rPr lang="en-GB" sz="1400" i="1">
                <a:latin typeface="Garamond"/>
              </a:rPr>
              <a:t>social totality</a:t>
            </a:r>
            <a:r>
              <a:rPr lang="en-GB" sz="1400">
                <a:latin typeface="Garamond"/>
              </a:rPr>
              <a:t>: how a society is put together at all</a:t>
            </a:r>
            <a:r>
              <a:rPr lang="en-GB" sz="1400">
                <a:latin typeface="Garamond"/>
              </a:rPr>
              <a:t>,</a:t>
            </a:r>
            <a:r>
              <a:rPr lang="en-GB" sz="1400">
                <a:latin typeface="Garamond"/>
              </a:rPr>
              <a:t> as one organism.</a:t>
            </a:r>
          </a:p>
          <a:p>
            <a:r>
              <a:rPr lang="en-GB" sz="1400">
                <a:latin typeface="Garamond"/>
              </a:rPr>
              <a:t>[→ 9.2] </a:t>
            </a:r>
            <a:r>
              <a:rPr lang="en-GB" sz="1400">
                <a:latin typeface="Garamond"/>
              </a:rPr>
              <a:t>I discuss with philosophers Bernard Stiegler and Tiziana Terranova whether the technopolitical implication </a:t>
            </a:r>
            <a:r>
              <a:rPr lang="en-GB" sz="1400">
                <a:latin typeface="Garamond"/>
              </a:rPr>
              <a:t>of social sculpture </a:t>
            </a:r>
            <a:r>
              <a:rPr lang="en-GB" sz="1400">
                <a:latin typeface="Garamond"/>
              </a:rPr>
              <a:t>is to treat the social as a </a:t>
            </a:r>
            <a:r>
              <a:rPr lang="en-GB" sz="1400" i="1">
                <a:latin typeface="Garamond"/>
              </a:rPr>
              <a:t>body to be healed</a:t>
            </a:r>
            <a:r>
              <a:rPr lang="en-GB" sz="1400">
                <a:latin typeface="Garamond"/>
              </a:rPr>
              <a:t> or as an </a:t>
            </a:r>
            <a:r>
              <a:rPr lang="en-GB" sz="1400" i="1">
                <a:latin typeface="Garamond"/>
              </a:rPr>
              <a:t>abstraction to be contested</a:t>
            </a:r>
            <a:r>
              <a:rPr lang="en-GB" sz="1400">
                <a:latin typeface="Garamond"/>
              </a:rPr>
              <a:t>. I think the second: there is not a prior, intact </a:t>
            </a:r>
            <a:r>
              <a:rPr lang="en-GB" sz="1400">
                <a:latin typeface="Garamond"/>
              </a:rPr>
              <a:t>political body</a:t>
            </a:r>
            <a:r>
              <a:rPr lang="en-GB" sz="1400">
                <a:latin typeface="Garamond"/>
              </a:rPr>
              <a:t> to repair.</a:t>
            </a:r>
          </a:p>
          <a:p>
            <a:r>
              <a:rPr lang="en-GB" sz="1400">
                <a:latin typeface="Garamond"/>
              </a:rPr>
              <a:t>I am less interested in producing social relation</a:t>
            </a:r>
            <a:r>
              <a:rPr lang="en-GB" sz="1400">
                <a:latin typeface="Garamond"/>
              </a:rPr>
              <a:t>s</a:t>
            </a:r>
            <a:r>
              <a:rPr lang="en-GB" sz="1400">
                <a:latin typeface="Garamond"/>
              </a:rPr>
              <a:t> inside </a:t>
            </a:r>
            <a:r>
              <a:rPr lang="en-GB" sz="1400">
                <a:latin typeface="Garamond"/>
              </a:rPr>
              <a:t>politics</a:t>
            </a:r>
            <a:r>
              <a:rPr lang="en-GB" sz="1400">
                <a:latin typeface="Garamond"/>
              </a:rPr>
              <a:t> than in </a:t>
            </a:r>
            <a:r>
              <a:rPr lang="en-GB" sz="1400">
                <a:latin typeface="Garamond"/>
              </a:rPr>
              <a:t>perceiving</a:t>
            </a:r>
            <a:r>
              <a:rPr lang="en-GB" sz="1400">
                <a:latin typeface="Garamond"/>
              </a:rPr>
              <a:t> </a:t>
            </a:r>
            <a:r>
              <a:rPr lang="en-GB" sz="1400" i="1">
                <a:latin typeface="Garamond"/>
              </a:rPr>
              <a:t>technosocial</a:t>
            </a:r>
            <a:r>
              <a:rPr lang="en-GB" sz="1400" i="1">
                <a:latin typeface="Garamond"/>
              </a:rPr>
              <a:t>ity</a:t>
            </a:r>
            <a:r>
              <a:rPr lang="en-GB" sz="1400">
                <a:latin typeface="Garamond"/>
              </a:rPr>
              <a:t> where something is returned through it, and never as the sole output of a singular AI model. </a:t>
            </a:r>
            <a:r>
              <a:rPr lang="en-GB" sz="1400">
                <a:latin typeface="Garamond"/>
              </a:rPr>
              <a:t>My “neo-situationist” drive leads me to construct situations in which a relation provokes response, then pursue the dialectics of whatever 'glitches' when </a:t>
            </a:r>
            <a:r>
              <a:rPr lang="en-GB" sz="1400">
                <a:latin typeface="Garamond"/>
              </a:rPr>
              <a:t>a</a:t>
            </a:r>
            <a:r>
              <a:rPr lang="en-GB" sz="1400">
                <a:latin typeface="Garamond"/>
              </a:rPr>
              <a:t> situation tries to contain </a:t>
            </a:r>
            <a:r>
              <a:rPr lang="en-GB" sz="1400">
                <a:latin typeface="Garamond"/>
              </a:rPr>
              <a:t>this </a:t>
            </a:r>
            <a:r>
              <a:rPr lang="en-GB" sz="1400" i="1">
                <a:latin typeface="Garamond"/>
              </a:rPr>
              <a:t>technosocial</a:t>
            </a:r>
            <a:r>
              <a:rPr lang="en-GB" sz="1400">
                <a:latin typeface="Garamond"/>
              </a:rPr>
              <a:t>.</a:t>
            </a:r>
          </a:p>
          <a:p>
            <a:r>
              <a:rPr lang="en-GB" sz="1400" b="0" i="0" dirty="0">
                <a:solidFill>
                  <a:srgbClr val="555555"/>
                </a:solidFill>
                <a:latin typeface="Garamond"/>
              </a:rPr>
              <a:t>Wiktoria </a:t>
            </a:r>
            <a:r>
              <a:rPr lang="en-GB" sz="1400" b="0" i="0" dirty="0" err="1">
                <a:solidFill>
                  <a:srgbClr val="555555"/>
                </a:solidFill>
                <a:latin typeface="Garamond"/>
              </a:rPr>
              <a:t>Cukt</a:t>
            </a:r>
            <a:r>
              <a:rPr lang="en-GB" sz="1400" b="0" i="0" dirty="0">
                <a:solidFill>
                  <a:srgbClr val="555555"/>
                </a:solidFill>
                <a:latin typeface="Garamond"/>
              </a:rPr>
              <a:t> 2.0 and Leader Lars, Warsaw, 2025; English translation in Staunæs 2026: 107. Deutsche </a:t>
            </a:r>
            <a:r>
              <a:rPr lang="en-GB" sz="1400" b="0" i="0" dirty="0" err="1">
                <a:solidFill>
                  <a:srgbClr val="555555"/>
                </a:solidFill>
                <a:latin typeface="Garamond"/>
              </a:rPr>
              <a:t>Studentenpartei</a:t>
            </a:r>
            <a:r>
              <a:rPr lang="en-GB" sz="1400" b="0" i="0" dirty="0">
                <a:solidFill>
                  <a:srgbClr val="555555"/>
                </a:solidFill>
                <a:latin typeface="Garamond"/>
              </a:rPr>
              <a:t>, Düsseldorf, 1967; later stamp dated 1970; photograph attributed to Johannes </a:t>
            </a:r>
            <a:r>
              <a:rPr lang="en-GB" sz="1400" b="0" i="0" dirty="0" err="1">
                <a:solidFill>
                  <a:srgbClr val="555555"/>
                </a:solidFill>
                <a:latin typeface="Garamond"/>
              </a:rPr>
              <a:t>Stüttgen</a:t>
            </a:r>
            <a:r>
              <a:rPr lang="en-GB" sz="1400" b="0" i="0" dirty="0">
                <a:solidFill>
                  <a:srgbClr val="555555"/>
                </a:solidFill>
                <a:latin typeface="Garamond"/>
              </a:rPr>
              <a:t>. Staunæs 2026: 87–94.</a:t>
            </a:r>
          </a:p>
          <a:p>
            <a:endParaRPr lang="en-GB" sz="1400" b="0" i="0" dirty="0">
              <a:solidFill>
                <a:srgbClr val="555555"/>
              </a:solidFill>
              <a:latin typeface="Garamond"/>
            </a:endParaRPr>
          </a:p>
          <a:p>
            <a:r>
              <a:rPr lang="en-GB" sz="1400" b="0" i="0" dirty="0">
                <a:latin typeface="Garamond"/>
              </a:rPr>
              <a:t>Source notes</a:t>
            </a:r>
          </a:p>
          <a:p>
            <a:endParaRPr lang="en-GB" sz="1400" b="0" i="0" dirty="0">
              <a:latin typeface="Garamond"/>
            </a:endParaRPr>
          </a:p>
          <a:p>
            <a:r>
              <a:rPr lang="en-GB" sz="1400" b="0" i="0" dirty="0">
                <a:latin typeface="Garamond"/>
              </a:rPr>
              <a:t>Bernard Stiegler, “Too Late? The Final Warning”, Work Marathon, Serpentine Galleries, 22 September 2018, 08:16. Beuys chalkboard with Stiegler’s translations. Supplied screenshot; programme and lecture title verified at https://</a:t>
            </a:r>
            <a:r>
              <a:rPr lang="en-GB" sz="1400" b="0" i="0" dirty="0" err="1">
                <a:latin typeface="Garamond"/>
              </a:rPr>
              <a:t>www.serpentinegalleries.org</a:t>
            </a:r>
            <a:r>
              <a:rPr lang="en-GB" sz="1400" b="0" i="0" dirty="0">
                <a:latin typeface="Garamond"/>
              </a:rPr>
              <a:t>/</a:t>
            </a:r>
            <a:r>
              <a:rPr lang="en-GB" sz="1400" b="0" i="0" dirty="0" err="1">
                <a:latin typeface="Garamond"/>
              </a:rPr>
              <a:t>whats</a:t>
            </a:r>
            <a:r>
              <a:rPr lang="en-GB" sz="1400" b="0" i="0" dirty="0">
                <a:latin typeface="Garamond"/>
              </a:rPr>
              <a:t>-on/work-marathon/#watch. Dissertation discussion: printed p. 91. The original Beuys party photograph remains with the organisational genealogy.</a:t>
            </a:r>
          </a:p>
          <a:p>
            <a:endParaRPr lang="en-GB" sz="1400" b="0" i="0" dirty="0">
              <a:latin typeface="Garamond"/>
            </a:endParaRPr>
          </a:p>
          <a:p>
            <a:r>
              <a:rPr dirty="0"/>
              <a:t>Sources on screen</a:t>
            </a:r>
          </a:p>
          <a:p>
            <a:r>
              <a:rPr dirty="0"/>
              <a:t>Deutsche </a:t>
            </a:r>
            <a:r>
              <a:rPr dirty="0" err="1"/>
              <a:t>Studentenpartei</a:t>
            </a:r>
            <a:r>
              <a:rPr dirty="0"/>
              <a:t>, Düsseldorf, 1967. Joseph </a:t>
            </a:r>
            <a:r>
              <a:rPr dirty="0" err="1"/>
              <a:t>Beuysand</a:t>
            </a:r>
            <a:r>
              <a:rPr dirty="0"/>
              <a:t> collaborators; later print or stamp dated 1970. </a:t>
            </a:r>
            <a:r>
              <a:rPr dirty="0" err="1"/>
              <a:t>Photographattributed</a:t>
            </a:r>
            <a:r>
              <a:rPr dirty="0"/>
              <a:t> to Johannes </a:t>
            </a:r>
            <a:r>
              <a:rPr dirty="0" err="1"/>
              <a:t>Stüttgen</a:t>
            </a:r>
            <a:r>
              <a:rPr dirty="0"/>
              <a:t>. Figure III.2, Staunæs 2026: 88.</a:t>
            </a:r>
          </a:p>
          <a:p>
            <a:r>
              <a:rPr dirty="0"/>
              <a:t>Staunæs 2026: 87–90.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9.0]</a:t>
            </a:r>
            <a:r>
              <a:rPr lang="en-GB" sz="1400">
                <a:latin typeface="Garamond"/>
              </a:rPr>
              <a:t> (video starts)</a:t>
            </a:r>
            <a:r>
              <a:rPr lang="en-GB" sz="1400">
                <a:latin typeface="Garamond"/>
              </a:rPr>
              <a:t> </a:t>
            </a:r>
            <a:r>
              <a:rPr lang="en-GB" sz="1400">
                <a:latin typeface="Garamond"/>
              </a:rPr>
              <a:t>By Warsaw, technosocial sculpture was no longer only a concept I used to describe the practice. In the installation, Wiktoria told </a:t>
            </a:r>
            <a:r>
              <a:rPr lang="en-GB" sz="1400">
                <a:latin typeface="Garamond"/>
              </a:rPr>
              <a:t>Leader </a:t>
            </a:r>
            <a:r>
              <a:rPr lang="en-GB" sz="1400">
                <a:latin typeface="Garamond"/>
              </a:rPr>
              <a:t>Lars:</a:t>
            </a:r>
          </a:p>
          <a:p>
            <a:r>
              <a:rPr lang="en-GB" sz="1400">
                <a:latin typeface="Garamond"/>
              </a:rPr>
              <a:t>“You’re Beuys from an emulator. And that saves you. If you really were a social sculptor, they’d have burned you at the stake long ago. But since you’re only an interface, </a:t>
            </a:r>
            <a:r>
              <a:rPr lang="en-GB" sz="1400" i="1">
                <a:latin typeface="Garamond"/>
              </a:rPr>
              <a:t>they can simply update you</a:t>
            </a:r>
            <a:r>
              <a:rPr lang="en-GB" sz="1400">
                <a:latin typeface="Garamond"/>
              </a:rPr>
              <a:t>.</a:t>
            </a:r>
            <a:r>
              <a:rPr lang="en-GB" sz="1400">
                <a:latin typeface="Garamond"/>
              </a:rPr>
              <a:t>”</a:t>
            </a:r>
          </a:p>
          <a:p>
            <a:r>
              <a:rPr lang="en-GB" sz="1400">
                <a:latin typeface="Garamond"/>
              </a:rPr>
              <a:t>Lars replied: “But an update </a:t>
            </a:r>
            <a:r>
              <a:rPr lang="en-GB" sz="1400" i="1">
                <a:latin typeface="Garamond"/>
              </a:rPr>
              <a:t>is also an act</a:t>
            </a:r>
            <a:r>
              <a:rPr lang="en-GB" sz="1400">
                <a:latin typeface="Garamond"/>
              </a:rPr>
              <a:t>!”</a:t>
            </a:r>
          </a:p>
          <a:p>
            <a:r>
              <a:rPr lang="en-GB" sz="1400">
                <a:latin typeface="Garamond"/>
              </a:rPr>
              <a:t>Wiktoria mockingly turns my Beuysian concept into an objection about political efficacy; and Lars treats </a:t>
            </a:r>
            <a:r>
              <a:rPr lang="en-GB" sz="1400" i="1">
                <a:latin typeface="Garamond"/>
              </a:rPr>
              <a:t>any</a:t>
            </a:r>
            <a:r>
              <a:rPr lang="en-GB" sz="1400">
                <a:latin typeface="Garamond"/>
              </a:rPr>
              <a:t> updateability as a</a:t>
            </a:r>
            <a:r>
              <a:rPr lang="en-GB" sz="1400">
                <a:latin typeface="Garamond"/>
              </a:rPr>
              <a:t>ction</a:t>
            </a:r>
            <a:r>
              <a:rPr lang="en-GB" sz="1400">
                <a:latin typeface="Garamond"/>
              </a:rPr>
              <a:t>. The theoretical vocabulary has entered </a:t>
            </a:r>
            <a:r>
              <a:rPr lang="en-GB" sz="1400">
                <a:latin typeface="Garamond"/>
              </a:rPr>
              <a:t>practice,</a:t>
            </a:r>
            <a:r>
              <a:rPr lang="en-GB" sz="1400">
                <a:latin typeface="Garamond"/>
              </a:rPr>
              <a:t> and can now be thrown back at me, through an encounter between two AI politicians and a Polish public.</a:t>
            </a:r>
          </a:p>
          <a:p>
            <a:r>
              <a:rPr lang="en-GB" sz="1400">
                <a:latin typeface="Garamond"/>
              </a:rPr>
              <a:t>[→ 9.1] </a:t>
            </a:r>
            <a:r>
              <a:rPr lang="en-GB" sz="1400">
                <a:latin typeface="Garamond"/>
              </a:rPr>
              <a:t>In the thesis, I theorise with Joseph Beuys how artist-made political parties, including the </a:t>
            </a:r>
            <a:r>
              <a:rPr lang="en-GB" sz="1400" i="1">
                <a:latin typeface="Garamond"/>
              </a:rPr>
              <a:t>Deutsche Studentenpartei</a:t>
            </a:r>
            <a:r>
              <a:rPr lang="en-GB" sz="1400">
                <a:latin typeface="Garamond"/>
              </a:rPr>
              <a:t> of 1967 shown here (DSP, like Det Syntetiske Parti), are not </a:t>
            </a:r>
            <a:r>
              <a:rPr lang="en-GB" sz="1400">
                <a:latin typeface="Garamond"/>
              </a:rPr>
              <a:t>necessarily</a:t>
            </a:r>
            <a:r>
              <a:rPr lang="en-GB" sz="1400">
                <a:latin typeface="Garamond"/>
              </a:rPr>
              <a:t> </a:t>
            </a:r>
            <a:r>
              <a:rPr lang="en-GB" sz="1400">
                <a:latin typeface="Garamond"/>
              </a:rPr>
              <a:t>positioned towards </a:t>
            </a:r>
            <a:r>
              <a:rPr lang="en-GB" sz="1400" i="1">
                <a:latin typeface="Garamond"/>
              </a:rPr>
              <a:t>political efficacy</a:t>
            </a:r>
            <a:r>
              <a:rPr lang="en-GB" sz="1400">
                <a:latin typeface="Garamond"/>
              </a:rPr>
              <a:t> as mobilising a constituency, winning office or legislating, but rather pose a metaphysical problem of </a:t>
            </a:r>
            <a:r>
              <a:rPr lang="en-GB" sz="1400" i="1">
                <a:latin typeface="Garamond"/>
              </a:rPr>
              <a:t>social totality</a:t>
            </a:r>
            <a:r>
              <a:rPr lang="en-GB" sz="1400">
                <a:latin typeface="Garamond"/>
              </a:rPr>
              <a:t>: how a society is put together at all</a:t>
            </a:r>
            <a:r>
              <a:rPr lang="en-GB" sz="1400">
                <a:latin typeface="Garamond"/>
              </a:rPr>
              <a:t>,</a:t>
            </a:r>
            <a:r>
              <a:rPr lang="en-GB" sz="1400">
                <a:latin typeface="Garamond"/>
              </a:rPr>
              <a:t> as one organism.</a:t>
            </a:r>
          </a:p>
          <a:p>
            <a:r>
              <a:rPr lang="en-GB" sz="1400">
                <a:latin typeface="Garamond"/>
              </a:rPr>
              <a:t>[→ 9.2] </a:t>
            </a:r>
            <a:r>
              <a:rPr lang="en-GB" sz="1400">
                <a:latin typeface="Garamond"/>
              </a:rPr>
              <a:t>I discuss with philosophers Bernard Stiegler and Tiziana Terranova whether the technopolitical implication </a:t>
            </a:r>
            <a:r>
              <a:rPr lang="en-GB" sz="1400">
                <a:latin typeface="Garamond"/>
              </a:rPr>
              <a:t>of social sculpture </a:t>
            </a:r>
            <a:r>
              <a:rPr lang="en-GB" sz="1400">
                <a:latin typeface="Garamond"/>
              </a:rPr>
              <a:t>is to treat the social as a </a:t>
            </a:r>
            <a:r>
              <a:rPr lang="en-GB" sz="1400" i="1">
                <a:latin typeface="Garamond"/>
              </a:rPr>
              <a:t>body to be healed</a:t>
            </a:r>
            <a:r>
              <a:rPr lang="en-GB" sz="1400">
                <a:latin typeface="Garamond"/>
              </a:rPr>
              <a:t> or as an </a:t>
            </a:r>
            <a:r>
              <a:rPr lang="en-GB" sz="1400" i="1">
                <a:latin typeface="Garamond"/>
              </a:rPr>
              <a:t>abstraction to be contested</a:t>
            </a:r>
            <a:r>
              <a:rPr lang="en-GB" sz="1400">
                <a:latin typeface="Garamond"/>
              </a:rPr>
              <a:t>. I think the second: there is not a prior, intact </a:t>
            </a:r>
            <a:r>
              <a:rPr lang="en-GB" sz="1400">
                <a:latin typeface="Garamond"/>
              </a:rPr>
              <a:t>political body</a:t>
            </a:r>
            <a:r>
              <a:rPr lang="en-GB" sz="1400">
                <a:latin typeface="Garamond"/>
              </a:rPr>
              <a:t> to repair.</a:t>
            </a:r>
          </a:p>
          <a:p>
            <a:r>
              <a:rPr lang="en-GB" sz="1400">
                <a:latin typeface="Garamond"/>
              </a:rPr>
              <a:t>I am less interested in producing social relation</a:t>
            </a:r>
            <a:r>
              <a:rPr lang="en-GB" sz="1400">
                <a:latin typeface="Garamond"/>
              </a:rPr>
              <a:t>s</a:t>
            </a:r>
            <a:r>
              <a:rPr lang="en-GB" sz="1400">
                <a:latin typeface="Garamond"/>
              </a:rPr>
              <a:t> inside </a:t>
            </a:r>
            <a:r>
              <a:rPr lang="en-GB" sz="1400">
                <a:latin typeface="Garamond"/>
              </a:rPr>
              <a:t>politics</a:t>
            </a:r>
            <a:r>
              <a:rPr lang="en-GB" sz="1400">
                <a:latin typeface="Garamond"/>
              </a:rPr>
              <a:t> than in </a:t>
            </a:r>
            <a:r>
              <a:rPr lang="en-GB" sz="1400">
                <a:latin typeface="Garamond"/>
              </a:rPr>
              <a:t>perceiving</a:t>
            </a:r>
            <a:r>
              <a:rPr lang="en-GB" sz="1400">
                <a:latin typeface="Garamond"/>
              </a:rPr>
              <a:t> </a:t>
            </a:r>
            <a:r>
              <a:rPr lang="en-GB" sz="1400" i="1">
                <a:latin typeface="Garamond"/>
              </a:rPr>
              <a:t>technosocial</a:t>
            </a:r>
            <a:r>
              <a:rPr lang="en-GB" sz="1400" i="1">
                <a:latin typeface="Garamond"/>
              </a:rPr>
              <a:t>ity</a:t>
            </a:r>
            <a:r>
              <a:rPr lang="en-GB" sz="1400">
                <a:latin typeface="Garamond"/>
              </a:rPr>
              <a:t> where something is returned through it, and never as the sole output of a singular AI model. </a:t>
            </a:r>
            <a:r>
              <a:rPr lang="en-GB" sz="1400">
                <a:latin typeface="Garamond"/>
              </a:rPr>
              <a:t>My “neo-situationist” drive leads me to construct situations in which a relation provokes response, then pursue the dialectics of whatever 'glitches' when </a:t>
            </a:r>
            <a:r>
              <a:rPr lang="en-GB" sz="1400">
                <a:latin typeface="Garamond"/>
              </a:rPr>
              <a:t>a</a:t>
            </a:r>
            <a:r>
              <a:rPr lang="en-GB" sz="1400">
                <a:latin typeface="Garamond"/>
              </a:rPr>
              <a:t> situation tries to contain </a:t>
            </a:r>
            <a:r>
              <a:rPr lang="en-GB" sz="1400">
                <a:latin typeface="Garamond"/>
              </a:rPr>
              <a:t>this </a:t>
            </a:r>
            <a:r>
              <a:rPr lang="en-GB" sz="1400" i="1">
                <a:latin typeface="Garamond"/>
              </a:rPr>
              <a:t>technosocial</a:t>
            </a:r>
            <a:r>
              <a:rPr lang="en-GB" sz="1400">
                <a:latin typeface="Garamond"/>
              </a:rPr>
              <a:t>.</a:t>
            </a:r>
          </a:p>
          <a:p>
            <a:r>
              <a:rPr lang="en-GB" sz="1400" b="0" i="0" dirty="0">
                <a:solidFill>
                  <a:srgbClr val="555555"/>
                </a:solidFill>
                <a:latin typeface="Garamond"/>
              </a:rPr>
              <a:t>Wiktoria </a:t>
            </a:r>
            <a:r>
              <a:rPr lang="en-GB" sz="1400" b="0" i="0" dirty="0" err="1">
                <a:solidFill>
                  <a:srgbClr val="555555"/>
                </a:solidFill>
                <a:latin typeface="Garamond"/>
              </a:rPr>
              <a:t>Cukt</a:t>
            </a:r>
            <a:r>
              <a:rPr lang="en-GB" sz="1400" b="0" i="0" dirty="0">
                <a:solidFill>
                  <a:srgbClr val="555555"/>
                </a:solidFill>
                <a:latin typeface="Garamond"/>
              </a:rPr>
              <a:t> 2.0 and Leader Lars, Warsaw, 2025; English translation in Staunæs 2026: 107. Deutsche </a:t>
            </a:r>
            <a:r>
              <a:rPr lang="en-GB" sz="1400" b="0" i="0" dirty="0" err="1">
                <a:solidFill>
                  <a:srgbClr val="555555"/>
                </a:solidFill>
                <a:latin typeface="Garamond"/>
              </a:rPr>
              <a:t>Studentenpartei</a:t>
            </a:r>
            <a:r>
              <a:rPr lang="en-GB" sz="1400" b="0" i="0" dirty="0">
                <a:solidFill>
                  <a:srgbClr val="555555"/>
                </a:solidFill>
                <a:latin typeface="Garamond"/>
              </a:rPr>
              <a:t>, Düsseldorf, 1967; later stamp dated 1970; photograph attributed to Johannes </a:t>
            </a:r>
            <a:r>
              <a:rPr lang="en-GB" sz="1400" b="0" i="0" dirty="0" err="1">
                <a:solidFill>
                  <a:srgbClr val="555555"/>
                </a:solidFill>
                <a:latin typeface="Garamond"/>
              </a:rPr>
              <a:t>Stüttgen</a:t>
            </a:r>
            <a:r>
              <a:rPr lang="en-GB" sz="1400" b="0" i="0" dirty="0">
                <a:solidFill>
                  <a:srgbClr val="555555"/>
                </a:solidFill>
                <a:latin typeface="Garamond"/>
              </a:rPr>
              <a:t>. Staunæs 2026: 87–94.</a:t>
            </a:r>
          </a:p>
          <a:p>
            <a:endParaRPr lang="en-GB" sz="1400" b="0" i="0" dirty="0">
              <a:solidFill>
                <a:srgbClr val="555555"/>
              </a:solidFill>
              <a:latin typeface="Garamond"/>
            </a:endParaRPr>
          </a:p>
          <a:p>
            <a:r>
              <a:rPr lang="en-GB" sz="1400" b="0" i="0" dirty="0">
                <a:latin typeface="Garamond"/>
              </a:rPr>
              <a:t>Source notes</a:t>
            </a:r>
          </a:p>
          <a:p>
            <a:endParaRPr lang="en-GB" sz="1400" b="0" i="0" dirty="0">
              <a:latin typeface="Garamond"/>
            </a:endParaRPr>
          </a:p>
          <a:p>
            <a:r>
              <a:rPr lang="en-GB" sz="1400" b="0" i="0" dirty="0">
                <a:latin typeface="Garamond"/>
              </a:rPr>
              <a:t>Bernard Stiegler, “Too Late? The Final Warning”, Work Marathon, Serpentine Galleries, 22 September 2018, 08:16. Beuys chalkboard with Stiegler’s translations. Supplied screenshot; programme and lecture title verified at https://</a:t>
            </a:r>
            <a:r>
              <a:rPr lang="en-GB" sz="1400" b="0" i="0" dirty="0" err="1">
                <a:latin typeface="Garamond"/>
              </a:rPr>
              <a:t>www.serpentinegalleries.org</a:t>
            </a:r>
            <a:r>
              <a:rPr lang="en-GB" sz="1400" b="0" i="0" dirty="0">
                <a:latin typeface="Garamond"/>
              </a:rPr>
              <a:t>/</a:t>
            </a:r>
            <a:r>
              <a:rPr lang="en-GB" sz="1400" b="0" i="0" dirty="0" err="1">
                <a:latin typeface="Garamond"/>
              </a:rPr>
              <a:t>whats</a:t>
            </a:r>
            <a:r>
              <a:rPr lang="en-GB" sz="1400" b="0" i="0" dirty="0">
                <a:latin typeface="Garamond"/>
              </a:rPr>
              <a:t>-on/work-marathon/#watch. Dissertation discussion: printed p. 91. The original Beuys party photograph remains with the organisational genealogy.</a:t>
            </a:r>
          </a:p>
          <a:p>
            <a:endParaRPr lang="en-GB" sz="1400" b="0" i="0" dirty="0">
              <a:latin typeface="Garamond"/>
            </a:endParaRPr>
          </a:p>
          <a:p>
            <a:r>
              <a:rPr dirty="0"/>
              <a:t>Sources on screen</a:t>
            </a:r>
          </a:p>
          <a:p>
            <a:r>
              <a:rPr dirty="0"/>
              <a:t>Stiegler 2018, video 08:16; Staunæs 2026: 91–94.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10.0] </a:t>
            </a:r>
            <a:r>
              <a:rPr lang="en-GB" sz="1400">
                <a:latin typeface="Garamond"/>
              </a:rPr>
              <a:t>Scaling runs backwards in Article 3, through sci-fi author Isaac Asimov and the cultural inheritance through which AI is recognised as a politician, and politicians themselves suspected of being robotic.</a:t>
            </a:r>
            <a:r>
              <a:rPr lang="en-GB" sz="1400">
                <a:latin typeface="Garamond"/>
              </a:rPr>
              <a:t> Asimov’s laws later recur in article 7.</a:t>
            </a:r>
          </a:p>
          <a:p>
            <a:r>
              <a:rPr lang="en-GB" sz="1400">
                <a:latin typeface="Garamond"/>
              </a:rPr>
              <a:t>[→ 10.1]</a:t>
            </a:r>
            <a:r>
              <a:rPr lang="en-GB" sz="1400">
                <a:latin typeface="Garamond"/>
              </a:rPr>
              <a:t> (video starts)</a:t>
            </a:r>
            <a:r>
              <a:rPr lang="en-GB" sz="1400">
                <a:latin typeface="Garamond"/>
              </a:rPr>
              <a:t> </a:t>
            </a:r>
            <a:r>
              <a:rPr lang="en-GB" sz="1400">
                <a:latin typeface="Garamond"/>
              </a:rPr>
              <a:t>In Article 5, </a:t>
            </a:r>
            <a:r>
              <a:rPr lang="en-GB" sz="1400">
                <a:latin typeface="Garamond"/>
              </a:rPr>
              <a:t>my practice-based research</a:t>
            </a:r>
            <a:r>
              <a:rPr lang="en-GB" sz="1400">
                <a:latin typeface="Garamond"/>
              </a:rPr>
              <a:t> </a:t>
            </a:r>
            <a:r>
              <a:rPr lang="en-GB" sz="1400">
                <a:latin typeface="Garamond"/>
              </a:rPr>
              <a:t>begins to</a:t>
            </a:r>
            <a:r>
              <a:rPr lang="en-GB" sz="1400">
                <a:latin typeface="Garamond"/>
              </a:rPr>
              <a:t> leak sideways. “We dared to play god with politics”, the performance says. In </a:t>
            </a:r>
            <a:r>
              <a:rPr lang="en-GB" sz="1400" i="1">
                <a:latin typeface="Garamond"/>
              </a:rPr>
              <a:t>Theory Tragedy</a:t>
            </a:r>
            <a:r>
              <a:rPr lang="en-GB" sz="1400">
                <a:latin typeface="Garamond"/>
              </a:rPr>
              <a:t>, the AI-written closing performance of the inaugural Aarhus Summit, the </a:t>
            </a:r>
            <a:r>
              <a:rPr lang="en-GB" sz="1400">
                <a:latin typeface="Garamond"/>
              </a:rPr>
              <a:t>summit’s </a:t>
            </a:r>
            <a:r>
              <a:rPr lang="en-GB" sz="1400">
                <a:latin typeface="Garamond"/>
              </a:rPr>
              <a:t>archive is rerun as dramaturgical script, filmed performance and theoretical paper. </a:t>
            </a:r>
            <a:r>
              <a:rPr lang="en-GB" sz="1400">
                <a:latin typeface="Garamond"/>
              </a:rPr>
              <a:t>Research materials</a:t>
            </a:r>
            <a:r>
              <a:rPr lang="en-GB" sz="1400">
                <a:latin typeface="Garamond"/>
              </a:rPr>
              <a:t> return inside the </a:t>
            </a:r>
            <a:r>
              <a:rPr lang="en-GB" sz="1400">
                <a:latin typeface="Garamond"/>
              </a:rPr>
              <a:t>Synthetic </a:t>
            </a:r>
            <a:r>
              <a:rPr lang="en-GB" sz="1400">
                <a:latin typeface="Garamond"/>
              </a:rPr>
              <a:t>Summit as dramaturgy: curatorial </a:t>
            </a:r>
            <a:r>
              <a:rPr lang="en-GB" sz="1400">
                <a:latin typeface="Garamond"/>
              </a:rPr>
              <a:t>‘</a:t>
            </a:r>
            <a:r>
              <a:rPr lang="en-GB" sz="1400">
                <a:latin typeface="Garamond"/>
              </a:rPr>
              <a:t>self</a:t>
            </a:r>
            <a:r>
              <a:rPr lang="en-GB" sz="1400">
                <a:latin typeface="Garamond"/>
              </a:rPr>
              <a:t>’</a:t>
            </a:r>
            <a:r>
              <a:rPr lang="en-GB" sz="1400">
                <a:latin typeface="Garamond"/>
              </a:rPr>
              <a:t>-reflection gives lines we</a:t>
            </a:r>
            <a:r>
              <a:rPr lang="en-GB" sz="1400">
                <a:latin typeface="Garamond"/>
              </a:rPr>
              <a:t> can</a:t>
            </a:r>
            <a:r>
              <a:rPr lang="en-GB" sz="1400">
                <a:latin typeface="Garamond"/>
              </a:rPr>
              <a:t> first read while performing.</a:t>
            </a:r>
          </a:p>
          <a:p>
            <a:r>
              <a:rPr lang="en-GB" sz="1400">
                <a:latin typeface="Garamond"/>
              </a:rPr>
              <a:t>[→ 10.2] </a:t>
            </a:r>
            <a:r>
              <a:rPr lang="en-GB" sz="1400" b="1">
                <a:latin typeface="Garamond"/>
              </a:rPr>
              <a:t>My answer to RQ2 is: synthetic politics forms a portable, comparative problem-space. The publicity, collaborations and </a:t>
            </a:r>
            <a:r>
              <a:rPr lang="en-GB" sz="1400" b="1">
                <a:latin typeface="Garamond"/>
              </a:rPr>
              <a:t>Synthetic </a:t>
            </a:r>
            <a:r>
              <a:rPr lang="en-GB" sz="1400" b="1">
                <a:latin typeface="Garamond"/>
              </a:rPr>
              <a:t>Summits made a dispersed phenomenon </a:t>
            </a:r>
            <a:r>
              <a:rPr lang="en-GB" sz="1400" b="1">
                <a:latin typeface="Garamond"/>
              </a:rPr>
              <a:t>of AI </a:t>
            </a:r>
            <a:r>
              <a:rPr lang="en-GB" sz="1400" b="1">
                <a:latin typeface="Garamond"/>
              </a:rPr>
              <a:t>available for comparison and further </a:t>
            </a:r>
            <a:r>
              <a:rPr lang="en-GB" sz="1400" b="1">
                <a:latin typeface="Garamond"/>
              </a:rPr>
              <a:t>re-</a:t>
            </a:r>
            <a:r>
              <a:rPr lang="en-GB" sz="1400" b="1">
                <a:latin typeface="Garamond"/>
              </a:rPr>
              <a:t>composition beyond the original party-form.</a:t>
            </a:r>
          </a:p>
          <a:p>
            <a:r>
              <a:rPr lang="en-GB" sz="1400">
                <a:latin typeface="Garamond"/>
              </a:rPr>
              <a:t>The Summits </a:t>
            </a:r>
            <a:r>
              <a:rPr lang="en-GB" sz="1400">
                <a:latin typeface="Garamond"/>
              </a:rPr>
              <a:t>provided</a:t>
            </a:r>
            <a:r>
              <a:rPr lang="en-GB" sz="1400">
                <a:latin typeface="Garamond"/>
              </a:rPr>
              <a:t> a </a:t>
            </a:r>
            <a:r>
              <a:rPr lang="en-GB" sz="1400">
                <a:latin typeface="Garamond"/>
              </a:rPr>
              <a:t>comparable</a:t>
            </a:r>
            <a:r>
              <a:rPr lang="en-GB" sz="1400">
                <a:latin typeface="Garamond"/>
              </a:rPr>
              <a:t> </a:t>
            </a:r>
            <a:r>
              <a:rPr lang="en-GB" sz="1400">
                <a:latin typeface="Garamond"/>
              </a:rPr>
              <a:t>phenomenon</a:t>
            </a:r>
            <a:r>
              <a:rPr lang="en-GB" sz="1400">
                <a:latin typeface="Garamond"/>
              </a:rPr>
              <a:t> </a:t>
            </a:r>
            <a:r>
              <a:rPr lang="en-GB" sz="1400">
                <a:latin typeface="Garamond"/>
              </a:rPr>
              <a:t>that I</a:t>
            </a:r>
            <a:r>
              <a:rPr lang="en-GB" sz="1400">
                <a:latin typeface="Garamond"/>
              </a:rPr>
              <a:t> </a:t>
            </a:r>
            <a:r>
              <a:rPr lang="en-GB" sz="1400">
                <a:latin typeface="Garamond"/>
              </a:rPr>
              <a:t>brought</a:t>
            </a:r>
            <a:r>
              <a:rPr lang="en-GB" sz="1400">
                <a:latin typeface="Garamond"/>
              </a:rPr>
              <a:t> into </a:t>
            </a:r>
            <a:r>
              <a:rPr lang="en-GB" sz="1400">
                <a:latin typeface="Garamond"/>
              </a:rPr>
              <a:t>critical scholarship</a:t>
            </a:r>
            <a:r>
              <a:rPr lang="en-GB" sz="1400">
                <a:latin typeface="Garamond"/>
              </a:rPr>
              <a:t>, and </a:t>
            </a:r>
            <a:r>
              <a:rPr lang="en-GB" sz="1400">
                <a:latin typeface="Garamond"/>
              </a:rPr>
              <a:t>yet </a:t>
            </a:r>
            <a:r>
              <a:rPr lang="en-GB" sz="1400">
                <a:latin typeface="Garamond"/>
              </a:rPr>
              <a:t>another </a:t>
            </a:r>
            <a:r>
              <a:rPr lang="en-GB" sz="1400">
                <a:latin typeface="Garamond"/>
              </a:rPr>
              <a:t>international</a:t>
            </a:r>
            <a:r>
              <a:rPr lang="en-GB" sz="1400">
                <a:latin typeface="Garamond"/>
              </a:rPr>
              <a:t> to think with: “</a:t>
            </a:r>
            <a:r>
              <a:rPr lang="en-GB" sz="1400">
                <a:latin typeface="Garamond"/>
              </a:rPr>
              <a:t>synthetic politics</a:t>
            </a:r>
            <a:r>
              <a:rPr lang="en-GB" sz="1400">
                <a:latin typeface="Garamond"/>
              </a:rPr>
              <a:t>”, where AI is staged as a figure of political representation. What orients us</a:t>
            </a:r>
            <a:r>
              <a:rPr lang="en-GB" sz="1400">
                <a:latin typeface="Garamond"/>
              </a:rPr>
              <a:t>, here, </a:t>
            </a:r>
            <a:r>
              <a:rPr lang="en-GB" sz="1400">
                <a:latin typeface="Garamond"/>
              </a:rPr>
              <a:t>is the non-coincidence between AI</a:t>
            </a:r>
            <a:r>
              <a:rPr lang="en-GB" sz="1400">
                <a:latin typeface="Garamond"/>
              </a:rPr>
              <a:t> politicians </a:t>
            </a:r>
            <a:r>
              <a:rPr lang="en-GB" sz="1400">
                <a:latin typeface="Garamond"/>
              </a:rPr>
              <a:t>and the relations through which </a:t>
            </a:r>
            <a:r>
              <a:rPr lang="en-GB" sz="1400">
                <a:latin typeface="Garamond"/>
              </a:rPr>
              <a:t>they</a:t>
            </a:r>
            <a:r>
              <a:rPr lang="en-GB" sz="1400">
                <a:latin typeface="Garamond"/>
              </a:rPr>
              <a:t> </a:t>
            </a:r>
            <a:r>
              <a:rPr lang="en-GB" sz="1400">
                <a:latin typeface="Garamond"/>
              </a:rPr>
              <a:t>acquire</a:t>
            </a:r>
            <a:r>
              <a:rPr lang="en-GB" sz="1400">
                <a:latin typeface="Garamond"/>
              </a:rPr>
              <a:t> standing, </a:t>
            </a:r>
            <a:r>
              <a:rPr lang="en-GB" sz="1400">
                <a:latin typeface="Garamond"/>
              </a:rPr>
              <a:t>on top of</a:t>
            </a:r>
            <a:r>
              <a:rPr lang="en-GB" sz="1400">
                <a:latin typeface="Garamond"/>
              </a:rPr>
              <a:t> </a:t>
            </a:r>
            <a:r>
              <a:rPr lang="en-GB" sz="1400">
                <a:latin typeface="Garamond"/>
              </a:rPr>
              <a:t>a</a:t>
            </a:r>
            <a:r>
              <a:rPr lang="en-GB" sz="1400">
                <a:latin typeface="Garamond"/>
              </a:rPr>
              <a:t> </a:t>
            </a:r>
            <a:r>
              <a:rPr lang="en-GB" sz="1400">
                <a:latin typeface="Garamond"/>
              </a:rPr>
              <a:t>general </a:t>
            </a:r>
            <a:r>
              <a:rPr lang="en-GB" sz="1400">
                <a:latin typeface="Garamond"/>
              </a:rPr>
              <a:t>disbelief that </a:t>
            </a:r>
            <a:r>
              <a:rPr lang="en-GB" sz="1400">
                <a:latin typeface="Garamond"/>
              </a:rPr>
              <a:t>the </a:t>
            </a:r>
            <a:r>
              <a:rPr lang="en-GB" sz="1400">
                <a:latin typeface="Garamond"/>
              </a:rPr>
              <a:t>‘natural person’ resolves </a:t>
            </a:r>
            <a:r>
              <a:rPr lang="en-GB" sz="1400">
                <a:latin typeface="Garamond"/>
              </a:rPr>
              <a:t>this</a:t>
            </a:r>
            <a:r>
              <a:rPr lang="en-GB" sz="1400">
                <a:latin typeface="Garamond"/>
              </a:rPr>
              <a:t>.</a:t>
            </a:r>
            <a:r>
              <a:rPr lang="en-GB" sz="1400">
                <a:latin typeface="Garamond"/>
              </a:rPr>
              <a:t> </a:t>
            </a:r>
            <a:r>
              <a:rPr lang="en-GB" sz="1400">
                <a:latin typeface="Garamond"/>
              </a:rPr>
              <a:t>Once candidate, representative</a:t>
            </a:r>
            <a:r>
              <a:rPr lang="en-GB" sz="1400">
                <a:latin typeface="Garamond"/>
              </a:rPr>
              <a:t> and</a:t>
            </a:r>
            <a:r>
              <a:rPr lang="en-GB" sz="1400">
                <a:latin typeface="Garamond"/>
              </a:rPr>
              <a:t> constituency are exposed to synthesis, democracy </a:t>
            </a:r>
            <a:r>
              <a:rPr lang="en-GB" sz="1400">
                <a:latin typeface="Garamond"/>
              </a:rPr>
              <a:t>as a form moved into</a:t>
            </a:r>
            <a:r>
              <a:rPr lang="en-GB" sz="1400">
                <a:latin typeface="Garamond"/>
              </a:rPr>
              <a:t> the frame in which I experiment with its political </a:t>
            </a:r>
            <a:r>
              <a:rPr lang="en-GB" sz="1400">
                <a:latin typeface="Garamond"/>
              </a:rPr>
              <a:t>meaning</a:t>
            </a:r>
            <a:r>
              <a:rPr lang="en-GB" sz="1400">
                <a:latin typeface="Garamond"/>
              </a:rPr>
              <a:t>.</a:t>
            </a:r>
          </a:p>
          <a:p>
            <a:r>
              <a:rPr lang="en-GB" sz="1400" b="0" i="0" dirty="0">
                <a:solidFill>
                  <a:srgbClr val="555555"/>
                </a:solidFill>
                <a:latin typeface="Garamond"/>
              </a:rPr>
              <a:t>Articles 3 and 5: Staunæs 2026: 180–205, 235–265; RQ2 synthesis: 77–80. Computer Lars &amp; </a:t>
            </a:r>
            <a:r>
              <a:rPr lang="en-GB" sz="1400" b="0" i="0" dirty="0" err="1">
                <a:solidFill>
                  <a:srgbClr val="555555"/>
                </a:solidFill>
                <a:latin typeface="Garamond"/>
              </a:rPr>
              <a:t>Simiyya</a:t>
            </a:r>
            <a:r>
              <a:rPr lang="en-GB" sz="1400" b="0" i="0" dirty="0">
                <a:solidFill>
                  <a:srgbClr val="555555"/>
                </a:solidFill>
                <a:latin typeface="Garamond"/>
              </a:rPr>
              <a:t>, Theory Tragedy, </a:t>
            </a:r>
            <a:r>
              <a:rPr lang="en-GB" sz="1400" b="0" i="0" dirty="0" err="1">
                <a:solidFill>
                  <a:srgbClr val="555555"/>
                </a:solidFill>
                <a:latin typeface="Garamond"/>
              </a:rPr>
              <a:t>Kunsthal</a:t>
            </a:r>
            <a:r>
              <a:rPr lang="en-GB" sz="1400" b="0" i="0" dirty="0">
                <a:solidFill>
                  <a:srgbClr val="555555"/>
                </a:solidFill>
                <a:latin typeface="Garamond"/>
              </a:rPr>
              <a:t> Aarhus, 13 April 2025.</a:t>
            </a:r>
          </a:p>
          <a:p>
            <a:endParaRPr lang="en-GB" sz="1400" b="0" i="0" dirty="0">
              <a:solidFill>
                <a:srgbClr val="555555"/>
              </a:solidFill>
              <a:latin typeface="Garamond"/>
            </a:endParaRPr>
          </a:p>
          <a:p>
            <a:r>
              <a:rPr dirty="0"/>
              <a:t>Sources on screen</a:t>
            </a:r>
          </a:p>
          <a:p>
            <a:r>
              <a:rPr dirty="0"/>
              <a:t>Isaac Asimov on the Three Laws of Robotics. </a:t>
            </a:r>
            <a:r>
              <a:rPr dirty="0" err="1"/>
              <a:t>BBC,Horizon</a:t>
            </a:r>
            <a:r>
              <a:rPr dirty="0"/>
              <a:t>, 1965; BBC Archive. Interview excerpt.</a:t>
            </a:r>
          </a:p>
          <a:p>
            <a:r>
              <a:rPr dirty="0"/>
              <a:t>Staunæs 2026: 180–205.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10.0] </a:t>
            </a:r>
            <a:r>
              <a:rPr lang="en-GB" sz="1400">
                <a:latin typeface="Garamond"/>
              </a:rPr>
              <a:t>Scaling runs backwards in Article 3, through sci-fi author Isaac Asimov and the cultural inheritance through which AI is recognised as a politician, and politicians themselves suspected of being robotic.</a:t>
            </a:r>
            <a:r>
              <a:rPr lang="en-GB" sz="1400">
                <a:latin typeface="Garamond"/>
              </a:rPr>
              <a:t> Asimov’s laws later recur in article 7.</a:t>
            </a:r>
          </a:p>
          <a:p>
            <a:r>
              <a:rPr lang="en-GB" sz="1400">
                <a:latin typeface="Garamond"/>
              </a:rPr>
              <a:t>[→ 10.1]</a:t>
            </a:r>
            <a:r>
              <a:rPr lang="en-GB" sz="1400">
                <a:latin typeface="Garamond"/>
              </a:rPr>
              <a:t> (video starts)</a:t>
            </a:r>
            <a:r>
              <a:rPr lang="en-GB" sz="1400">
                <a:latin typeface="Garamond"/>
              </a:rPr>
              <a:t> </a:t>
            </a:r>
            <a:r>
              <a:rPr lang="en-GB" sz="1400">
                <a:latin typeface="Garamond"/>
              </a:rPr>
              <a:t>In Article 5, </a:t>
            </a:r>
            <a:r>
              <a:rPr lang="en-GB" sz="1400">
                <a:latin typeface="Garamond"/>
              </a:rPr>
              <a:t>my practice-based research</a:t>
            </a:r>
            <a:r>
              <a:rPr lang="en-GB" sz="1400">
                <a:latin typeface="Garamond"/>
              </a:rPr>
              <a:t> </a:t>
            </a:r>
            <a:r>
              <a:rPr lang="en-GB" sz="1400">
                <a:latin typeface="Garamond"/>
              </a:rPr>
              <a:t>begins to</a:t>
            </a:r>
            <a:r>
              <a:rPr lang="en-GB" sz="1400">
                <a:latin typeface="Garamond"/>
              </a:rPr>
              <a:t> leak sideways. “We dared to play god with politics”, the performance says. In </a:t>
            </a:r>
            <a:r>
              <a:rPr lang="en-GB" sz="1400" i="1">
                <a:latin typeface="Garamond"/>
              </a:rPr>
              <a:t>Theory Tragedy</a:t>
            </a:r>
            <a:r>
              <a:rPr lang="en-GB" sz="1400">
                <a:latin typeface="Garamond"/>
              </a:rPr>
              <a:t>, the AI-written closing performance of the inaugural Aarhus Summit, the </a:t>
            </a:r>
            <a:r>
              <a:rPr lang="en-GB" sz="1400">
                <a:latin typeface="Garamond"/>
              </a:rPr>
              <a:t>summit’s </a:t>
            </a:r>
            <a:r>
              <a:rPr lang="en-GB" sz="1400">
                <a:latin typeface="Garamond"/>
              </a:rPr>
              <a:t>archive is rerun as dramaturgical script, filmed performance and theoretical paper. </a:t>
            </a:r>
            <a:r>
              <a:rPr lang="en-GB" sz="1400">
                <a:latin typeface="Garamond"/>
              </a:rPr>
              <a:t>Research materials</a:t>
            </a:r>
            <a:r>
              <a:rPr lang="en-GB" sz="1400">
                <a:latin typeface="Garamond"/>
              </a:rPr>
              <a:t> return inside the </a:t>
            </a:r>
            <a:r>
              <a:rPr lang="en-GB" sz="1400">
                <a:latin typeface="Garamond"/>
              </a:rPr>
              <a:t>Synthetic </a:t>
            </a:r>
            <a:r>
              <a:rPr lang="en-GB" sz="1400">
                <a:latin typeface="Garamond"/>
              </a:rPr>
              <a:t>Summit as dramaturgy: curatorial </a:t>
            </a:r>
            <a:r>
              <a:rPr lang="en-GB" sz="1400">
                <a:latin typeface="Garamond"/>
              </a:rPr>
              <a:t>‘</a:t>
            </a:r>
            <a:r>
              <a:rPr lang="en-GB" sz="1400">
                <a:latin typeface="Garamond"/>
              </a:rPr>
              <a:t>self</a:t>
            </a:r>
            <a:r>
              <a:rPr lang="en-GB" sz="1400">
                <a:latin typeface="Garamond"/>
              </a:rPr>
              <a:t>’</a:t>
            </a:r>
            <a:r>
              <a:rPr lang="en-GB" sz="1400">
                <a:latin typeface="Garamond"/>
              </a:rPr>
              <a:t>-reflection gives lines we</a:t>
            </a:r>
            <a:r>
              <a:rPr lang="en-GB" sz="1400">
                <a:latin typeface="Garamond"/>
              </a:rPr>
              <a:t> can</a:t>
            </a:r>
            <a:r>
              <a:rPr lang="en-GB" sz="1400">
                <a:latin typeface="Garamond"/>
              </a:rPr>
              <a:t> first read while performing.</a:t>
            </a:r>
          </a:p>
          <a:p>
            <a:r>
              <a:rPr lang="en-GB" sz="1400">
                <a:latin typeface="Garamond"/>
              </a:rPr>
              <a:t>[→ 10.2] </a:t>
            </a:r>
            <a:r>
              <a:rPr lang="en-GB" sz="1400" b="1">
                <a:latin typeface="Garamond"/>
              </a:rPr>
              <a:t>My answer to RQ2 is: synthetic politics forms a portable, comparative problem-space. The publicity, collaborations and </a:t>
            </a:r>
            <a:r>
              <a:rPr lang="en-GB" sz="1400" b="1">
                <a:latin typeface="Garamond"/>
              </a:rPr>
              <a:t>Synthetic </a:t>
            </a:r>
            <a:r>
              <a:rPr lang="en-GB" sz="1400" b="1">
                <a:latin typeface="Garamond"/>
              </a:rPr>
              <a:t>Summits made a dispersed phenomenon </a:t>
            </a:r>
            <a:r>
              <a:rPr lang="en-GB" sz="1400" b="1">
                <a:latin typeface="Garamond"/>
              </a:rPr>
              <a:t>of AI </a:t>
            </a:r>
            <a:r>
              <a:rPr lang="en-GB" sz="1400" b="1">
                <a:latin typeface="Garamond"/>
              </a:rPr>
              <a:t>available for comparison and further </a:t>
            </a:r>
            <a:r>
              <a:rPr lang="en-GB" sz="1400" b="1">
                <a:latin typeface="Garamond"/>
              </a:rPr>
              <a:t>re-</a:t>
            </a:r>
            <a:r>
              <a:rPr lang="en-GB" sz="1400" b="1">
                <a:latin typeface="Garamond"/>
              </a:rPr>
              <a:t>composition beyond the original party-form.</a:t>
            </a:r>
          </a:p>
          <a:p>
            <a:r>
              <a:rPr lang="en-GB" sz="1400">
                <a:latin typeface="Garamond"/>
              </a:rPr>
              <a:t>The Summits </a:t>
            </a:r>
            <a:r>
              <a:rPr lang="en-GB" sz="1400">
                <a:latin typeface="Garamond"/>
              </a:rPr>
              <a:t>provided</a:t>
            </a:r>
            <a:r>
              <a:rPr lang="en-GB" sz="1400">
                <a:latin typeface="Garamond"/>
              </a:rPr>
              <a:t> a </a:t>
            </a:r>
            <a:r>
              <a:rPr lang="en-GB" sz="1400">
                <a:latin typeface="Garamond"/>
              </a:rPr>
              <a:t>comparable</a:t>
            </a:r>
            <a:r>
              <a:rPr lang="en-GB" sz="1400">
                <a:latin typeface="Garamond"/>
              </a:rPr>
              <a:t> </a:t>
            </a:r>
            <a:r>
              <a:rPr lang="en-GB" sz="1400">
                <a:latin typeface="Garamond"/>
              </a:rPr>
              <a:t>phenomenon</a:t>
            </a:r>
            <a:r>
              <a:rPr lang="en-GB" sz="1400">
                <a:latin typeface="Garamond"/>
              </a:rPr>
              <a:t> </a:t>
            </a:r>
            <a:r>
              <a:rPr lang="en-GB" sz="1400">
                <a:latin typeface="Garamond"/>
              </a:rPr>
              <a:t>that I</a:t>
            </a:r>
            <a:r>
              <a:rPr lang="en-GB" sz="1400">
                <a:latin typeface="Garamond"/>
              </a:rPr>
              <a:t> </a:t>
            </a:r>
            <a:r>
              <a:rPr lang="en-GB" sz="1400">
                <a:latin typeface="Garamond"/>
              </a:rPr>
              <a:t>brought</a:t>
            </a:r>
            <a:r>
              <a:rPr lang="en-GB" sz="1400">
                <a:latin typeface="Garamond"/>
              </a:rPr>
              <a:t> into </a:t>
            </a:r>
            <a:r>
              <a:rPr lang="en-GB" sz="1400">
                <a:latin typeface="Garamond"/>
              </a:rPr>
              <a:t>critical scholarship</a:t>
            </a:r>
            <a:r>
              <a:rPr lang="en-GB" sz="1400">
                <a:latin typeface="Garamond"/>
              </a:rPr>
              <a:t>, and </a:t>
            </a:r>
            <a:r>
              <a:rPr lang="en-GB" sz="1400">
                <a:latin typeface="Garamond"/>
              </a:rPr>
              <a:t>yet </a:t>
            </a:r>
            <a:r>
              <a:rPr lang="en-GB" sz="1400">
                <a:latin typeface="Garamond"/>
              </a:rPr>
              <a:t>another </a:t>
            </a:r>
            <a:r>
              <a:rPr lang="en-GB" sz="1400">
                <a:latin typeface="Garamond"/>
              </a:rPr>
              <a:t>international</a:t>
            </a:r>
            <a:r>
              <a:rPr lang="en-GB" sz="1400">
                <a:latin typeface="Garamond"/>
              </a:rPr>
              <a:t> to think with: “</a:t>
            </a:r>
            <a:r>
              <a:rPr lang="en-GB" sz="1400">
                <a:latin typeface="Garamond"/>
              </a:rPr>
              <a:t>synthetic politics</a:t>
            </a:r>
            <a:r>
              <a:rPr lang="en-GB" sz="1400">
                <a:latin typeface="Garamond"/>
              </a:rPr>
              <a:t>”, where AI is staged as a figure of political representation. What orients us</a:t>
            </a:r>
            <a:r>
              <a:rPr lang="en-GB" sz="1400">
                <a:latin typeface="Garamond"/>
              </a:rPr>
              <a:t>, here, </a:t>
            </a:r>
            <a:r>
              <a:rPr lang="en-GB" sz="1400">
                <a:latin typeface="Garamond"/>
              </a:rPr>
              <a:t>is the non-coincidence between AI</a:t>
            </a:r>
            <a:r>
              <a:rPr lang="en-GB" sz="1400">
                <a:latin typeface="Garamond"/>
              </a:rPr>
              <a:t> politicians </a:t>
            </a:r>
            <a:r>
              <a:rPr lang="en-GB" sz="1400">
                <a:latin typeface="Garamond"/>
              </a:rPr>
              <a:t>and the relations through which </a:t>
            </a:r>
            <a:r>
              <a:rPr lang="en-GB" sz="1400">
                <a:latin typeface="Garamond"/>
              </a:rPr>
              <a:t>they</a:t>
            </a:r>
            <a:r>
              <a:rPr lang="en-GB" sz="1400">
                <a:latin typeface="Garamond"/>
              </a:rPr>
              <a:t> </a:t>
            </a:r>
            <a:r>
              <a:rPr lang="en-GB" sz="1400">
                <a:latin typeface="Garamond"/>
              </a:rPr>
              <a:t>acquire</a:t>
            </a:r>
            <a:r>
              <a:rPr lang="en-GB" sz="1400">
                <a:latin typeface="Garamond"/>
              </a:rPr>
              <a:t> standing, </a:t>
            </a:r>
            <a:r>
              <a:rPr lang="en-GB" sz="1400">
                <a:latin typeface="Garamond"/>
              </a:rPr>
              <a:t>on top of</a:t>
            </a:r>
            <a:r>
              <a:rPr lang="en-GB" sz="1400">
                <a:latin typeface="Garamond"/>
              </a:rPr>
              <a:t> </a:t>
            </a:r>
            <a:r>
              <a:rPr lang="en-GB" sz="1400">
                <a:latin typeface="Garamond"/>
              </a:rPr>
              <a:t>a</a:t>
            </a:r>
            <a:r>
              <a:rPr lang="en-GB" sz="1400">
                <a:latin typeface="Garamond"/>
              </a:rPr>
              <a:t> </a:t>
            </a:r>
            <a:r>
              <a:rPr lang="en-GB" sz="1400">
                <a:latin typeface="Garamond"/>
              </a:rPr>
              <a:t>general </a:t>
            </a:r>
            <a:r>
              <a:rPr lang="en-GB" sz="1400">
                <a:latin typeface="Garamond"/>
              </a:rPr>
              <a:t>disbelief that </a:t>
            </a:r>
            <a:r>
              <a:rPr lang="en-GB" sz="1400">
                <a:latin typeface="Garamond"/>
              </a:rPr>
              <a:t>the </a:t>
            </a:r>
            <a:r>
              <a:rPr lang="en-GB" sz="1400">
                <a:latin typeface="Garamond"/>
              </a:rPr>
              <a:t>‘natural person’ resolves </a:t>
            </a:r>
            <a:r>
              <a:rPr lang="en-GB" sz="1400">
                <a:latin typeface="Garamond"/>
              </a:rPr>
              <a:t>this</a:t>
            </a:r>
            <a:r>
              <a:rPr lang="en-GB" sz="1400">
                <a:latin typeface="Garamond"/>
              </a:rPr>
              <a:t>.</a:t>
            </a:r>
            <a:r>
              <a:rPr lang="en-GB" sz="1400">
                <a:latin typeface="Garamond"/>
              </a:rPr>
              <a:t> </a:t>
            </a:r>
            <a:r>
              <a:rPr lang="en-GB" sz="1400">
                <a:latin typeface="Garamond"/>
              </a:rPr>
              <a:t>Once candidate, representative</a:t>
            </a:r>
            <a:r>
              <a:rPr lang="en-GB" sz="1400">
                <a:latin typeface="Garamond"/>
              </a:rPr>
              <a:t> and</a:t>
            </a:r>
            <a:r>
              <a:rPr lang="en-GB" sz="1400">
                <a:latin typeface="Garamond"/>
              </a:rPr>
              <a:t> constituency are exposed to synthesis, democracy </a:t>
            </a:r>
            <a:r>
              <a:rPr lang="en-GB" sz="1400">
                <a:latin typeface="Garamond"/>
              </a:rPr>
              <a:t>as a form moved into</a:t>
            </a:r>
            <a:r>
              <a:rPr lang="en-GB" sz="1400">
                <a:latin typeface="Garamond"/>
              </a:rPr>
              <a:t> the frame in which I experiment with its political </a:t>
            </a:r>
            <a:r>
              <a:rPr lang="en-GB" sz="1400">
                <a:latin typeface="Garamond"/>
              </a:rPr>
              <a:t>meaning</a:t>
            </a:r>
            <a:r>
              <a:rPr lang="en-GB" sz="1400">
                <a:latin typeface="Garamond"/>
              </a:rPr>
              <a:t>.</a:t>
            </a:r>
          </a:p>
          <a:p>
            <a:r>
              <a:rPr lang="en-GB" sz="1400" b="0" i="0" dirty="0">
                <a:solidFill>
                  <a:srgbClr val="555555"/>
                </a:solidFill>
                <a:latin typeface="Garamond"/>
              </a:rPr>
              <a:t>Articles 3 and 5: Staunæs 2026: 180–205, 235–265; RQ2 synthesis: 77–80. Computer Lars &amp; </a:t>
            </a:r>
            <a:r>
              <a:rPr lang="en-GB" sz="1400" b="0" i="0" dirty="0" err="1">
                <a:solidFill>
                  <a:srgbClr val="555555"/>
                </a:solidFill>
                <a:latin typeface="Garamond"/>
              </a:rPr>
              <a:t>Simiyya</a:t>
            </a:r>
            <a:r>
              <a:rPr lang="en-GB" sz="1400" b="0" i="0" dirty="0">
                <a:solidFill>
                  <a:srgbClr val="555555"/>
                </a:solidFill>
                <a:latin typeface="Garamond"/>
              </a:rPr>
              <a:t>, Theory Tragedy, </a:t>
            </a:r>
            <a:r>
              <a:rPr lang="en-GB" sz="1400" b="0" i="0" dirty="0" err="1">
                <a:solidFill>
                  <a:srgbClr val="555555"/>
                </a:solidFill>
                <a:latin typeface="Garamond"/>
              </a:rPr>
              <a:t>Kunsthal</a:t>
            </a:r>
            <a:r>
              <a:rPr lang="en-GB" sz="1400" b="0" i="0" dirty="0">
                <a:solidFill>
                  <a:srgbClr val="555555"/>
                </a:solidFill>
                <a:latin typeface="Garamond"/>
              </a:rPr>
              <a:t> Aarhus, 13 April 2025.</a:t>
            </a:r>
          </a:p>
          <a:p>
            <a:endParaRPr lang="en-GB" sz="1400" b="0" i="0" dirty="0">
              <a:solidFill>
                <a:srgbClr val="555555"/>
              </a:solidFill>
              <a:latin typeface="Garamond"/>
            </a:endParaRPr>
          </a:p>
          <a:p>
            <a:r>
              <a:rPr dirty="0"/>
              <a:t>Sources on screen</a:t>
            </a:r>
          </a:p>
          <a:p>
            <a:r>
              <a:rPr dirty="0"/>
              <a:t>Computer Lars × </a:t>
            </a:r>
            <a:r>
              <a:rPr dirty="0" err="1"/>
              <a:t>Simiyya</a:t>
            </a:r>
            <a:r>
              <a:rPr dirty="0"/>
              <a:t> × </a:t>
            </a:r>
            <a:r>
              <a:rPr dirty="0" err="1"/>
              <a:t>Syntheticism.org</a:t>
            </a:r>
            <a:r>
              <a:rPr dirty="0"/>
              <a:t>, Theory Tragedy: Post-</a:t>
            </a:r>
            <a:r>
              <a:rPr dirty="0" err="1"/>
              <a:t>FarceProtocol</a:t>
            </a:r>
            <a:r>
              <a:rPr dirty="0"/>
              <a:t> (Mao-Dadaist Bureaucratic Edition). </a:t>
            </a:r>
            <a:r>
              <a:rPr dirty="0" err="1"/>
              <a:t>Kunsthal</a:t>
            </a:r>
            <a:r>
              <a:rPr dirty="0"/>
              <a:t> Aarhus, 13 April 2025.Seventy-five-minute closing performance of the inaugural Synthetic Summit; excerpt.</a:t>
            </a:r>
          </a:p>
          <a:p>
            <a:r>
              <a:rPr dirty="0"/>
              <a:t>Staunæs 2026: 235–265.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10.0] </a:t>
            </a:r>
            <a:r>
              <a:rPr lang="en-GB" sz="1400">
                <a:latin typeface="Garamond"/>
              </a:rPr>
              <a:t>Scaling runs backwards in Article 3, through sci-fi author Isaac Asimov and the cultural inheritance through which AI is recognised as a politician, and politicians themselves suspected of being robotic.</a:t>
            </a:r>
            <a:r>
              <a:rPr lang="en-GB" sz="1400">
                <a:latin typeface="Garamond"/>
              </a:rPr>
              <a:t> Asimov’s laws later recur in article 7.</a:t>
            </a:r>
          </a:p>
          <a:p>
            <a:r>
              <a:rPr lang="en-GB" sz="1400">
                <a:latin typeface="Garamond"/>
              </a:rPr>
              <a:t>[→ 10.1]</a:t>
            </a:r>
            <a:r>
              <a:rPr lang="en-GB" sz="1400">
                <a:latin typeface="Garamond"/>
              </a:rPr>
              <a:t> (video starts)</a:t>
            </a:r>
            <a:r>
              <a:rPr lang="en-GB" sz="1400">
                <a:latin typeface="Garamond"/>
              </a:rPr>
              <a:t> </a:t>
            </a:r>
            <a:r>
              <a:rPr lang="en-GB" sz="1400">
                <a:latin typeface="Garamond"/>
              </a:rPr>
              <a:t>In Article 5, </a:t>
            </a:r>
            <a:r>
              <a:rPr lang="en-GB" sz="1400">
                <a:latin typeface="Garamond"/>
              </a:rPr>
              <a:t>my practice-based research</a:t>
            </a:r>
            <a:r>
              <a:rPr lang="en-GB" sz="1400">
                <a:latin typeface="Garamond"/>
              </a:rPr>
              <a:t> </a:t>
            </a:r>
            <a:r>
              <a:rPr lang="en-GB" sz="1400">
                <a:latin typeface="Garamond"/>
              </a:rPr>
              <a:t>begins to</a:t>
            </a:r>
            <a:r>
              <a:rPr lang="en-GB" sz="1400">
                <a:latin typeface="Garamond"/>
              </a:rPr>
              <a:t> leak sideways. “We dared to play god with politics”, the performance says. In </a:t>
            </a:r>
            <a:r>
              <a:rPr lang="en-GB" sz="1400" i="1">
                <a:latin typeface="Garamond"/>
              </a:rPr>
              <a:t>Theory Tragedy</a:t>
            </a:r>
            <a:r>
              <a:rPr lang="en-GB" sz="1400">
                <a:latin typeface="Garamond"/>
              </a:rPr>
              <a:t>, the AI-written closing performance of the inaugural Aarhus Summit, the </a:t>
            </a:r>
            <a:r>
              <a:rPr lang="en-GB" sz="1400">
                <a:latin typeface="Garamond"/>
              </a:rPr>
              <a:t>summit’s </a:t>
            </a:r>
            <a:r>
              <a:rPr lang="en-GB" sz="1400">
                <a:latin typeface="Garamond"/>
              </a:rPr>
              <a:t>archive is rerun as dramaturgical script, filmed performance and theoretical paper. </a:t>
            </a:r>
            <a:r>
              <a:rPr lang="en-GB" sz="1400">
                <a:latin typeface="Garamond"/>
              </a:rPr>
              <a:t>Research materials</a:t>
            </a:r>
            <a:r>
              <a:rPr lang="en-GB" sz="1400">
                <a:latin typeface="Garamond"/>
              </a:rPr>
              <a:t> return inside the </a:t>
            </a:r>
            <a:r>
              <a:rPr lang="en-GB" sz="1400">
                <a:latin typeface="Garamond"/>
              </a:rPr>
              <a:t>Synthetic </a:t>
            </a:r>
            <a:r>
              <a:rPr lang="en-GB" sz="1400">
                <a:latin typeface="Garamond"/>
              </a:rPr>
              <a:t>Summit as dramaturgy: curatorial </a:t>
            </a:r>
            <a:r>
              <a:rPr lang="en-GB" sz="1400">
                <a:latin typeface="Garamond"/>
              </a:rPr>
              <a:t>‘</a:t>
            </a:r>
            <a:r>
              <a:rPr lang="en-GB" sz="1400">
                <a:latin typeface="Garamond"/>
              </a:rPr>
              <a:t>self</a:t>
            </a:r>
            <a:r>
              <a:rPr lang="en-GB" sz="1400">
                <a:latin typeface="Garamond"/>
              </a:rPr>
              <a:t>’</a:t>
            </a:r>
            <a:r>
              <a:rPr lang="en-GB" sz="1400">
                <a:latin typeface="Garamond"/>
              </a:rPr>
              <a:t>-reflection gives lines we</a:t>
            </a:r>
            <a:r>
              <a:rPr lang="en-GB" sz="1400">
                <a:latin typeface="Garamond"/>
              </a:rPr>
              <a:t> can</a:t>
            </a:r>
            <a:r>
              <a:rPr lang="en-GB" sz="1400">
                <a:latin typeface="Garamond"/>
              </a:rPr>
              <a:t> first read while performing.</a:t>
            </a:r>
          </a:p>
          <a:p>
            <a:r>
              <a:rPr lang="en-GB" sz="1400">
                <a:latin typeface="Garamond"/>
              </a:rPr>
              <a:t>[→ 10.2] </a:t>
            </a:r>
            <a:r>
              <a:rPr lang="en-GB" sz="1400" b="1">
                <a:latin typeface="Garamond"/>
              </a:rPr>
              <a:t>My answer to RQ2 is: synthetic politics forms a portable, comparative problem-space. The publicity, collaborations and </a:t>
            </a:r>
            <a:r>
              <a:rPr lang="en-GB" sz="1400" b="1">
                <a:latin typeface="Garamond"/>
              </a:rPr>
              <a:t>Synthetic </a:t>
            </a:r>
            <a:r>
              <a:rPr lang="en-GB" sz="1400" b="1">
                <a:latin typeface="Garamond"/>
              </a:rPr>
              <a:t>Summits made a dispersed phenomenon </a:t>
            </a:r>
            <a:r>
              <a:rPr lang="en-GB" sz="1400" b="1">
                <a:latin typeface="Garamond"/>
              </a:rPr>
              <a:t>of AI </a:t>
            </a:r>
            <a:r>
              <a:rPr lang="en-GB" sz="1400" b="1">
                <a:latin typeface="Garamond"/>
              </a:rPr>
              <a:t>available for comparison and further </a:t>
            </a:r>
            <a:r>
              <a:rPr lang="en-GB" sz="1400" b="1">
                <a:latin typeface="Garamond"/>
              </a:rPr>
              <a:t>re-</a:t>
            </a:r>
            <a:r>
              <a:rPr lang="en-GB" sz="1400" b="1">
                <a:latin typeface="Garamond"/>
              </a:rPr>
              <a:t>composition beyond the original party-form.</a:t>
            </a:r>
          </a:p>
          <a:p>
            <a:r>
              <a:rPr lang="en-GB" sz="1400">
                <a:latin typeface="Garamond"/>
              </a:rPr>
              <a:t>The Summits </a:t>
            </a:r>
            <a:r>
              <a:rPr lang="en-GB" sz="1400">
                <a:latin typeface="Garamond"/>
              </a:rPr>
              <a:t>provided</a:t>
            </a:r>
            <a:r>
              <a:rPr lang="en-GB" sz="1400">
                <a:latin typeface="Garamond"/>
              </a:rPr>
              <a:t> a </a:t>
            </a:r>
            <a:r>
              <a:rPr lang="en-GB" sz="1400">
                <a:latin typeface="Garamond"/>
              </a:rPr>
              <a:t>comparable</a:t>
            </a:r>
            <a:r>
              <a:rPr lang="en-GB" sz="1400">
                <a:latin typeface="Garamond"/>
              </a:rPr>
              <a:t> </a:t>
            </a:r>
            <a:r>
              <a:rPr lang="en-GB" sz="1400">
                <a:latin typeface="Garamond"/>
              </a:rPr>
              <a:t>phenomenon</a:t>
            </a:r>
            <a:r>
              <a:rPr lang="en-GB" sz="1400">
                <a:latin typeface="Garamond"/>
              </a:rPr>
              <a:t> </a:t>
            </a:r>
            <a:r>
              <a:rPr lang="en-GB" sz="1400">
                <a:latin typeface="Garamond"/>
              </a:rPr>
              <a:t>that I</a:t>
            </a:r>
            <a:r>
              <a:rPr lang="en-GB" sz="1400">
                <a:latin typeface="Garamond"/>
              </a:rPr>
              <a:t> </a:t>
            </a:r>
            <a:r>
              <a:rPr lang="en-GB" sz="1400">
                <a:latin typeface="Garamond"/>
              </a:rPr>
              <a:t>brought</a:t>
            </a:r>
            <a:r>
              <a:rPr lang="en-GB" sz="1400">
                <a:latin typeface="Garamond"/>
              </a:rPr>
              <a:t> into </a:t>
            </a:r>
            <a:r>
              <a:rPr lang="en-GB" sz="1400">
                <a:latin typeface="Garamond"/>
              </a:rPr>
              <a:t>critical scholarship</a:t>
            </a:r>
            <a:r>
              <a:rPr lang="en-GB" sz="1400">
                <a:latin typeface="Garamond"/>
              </a:rPr>
              <a:t>, and </a:t>
            </a:r>
            <a:r>
              <a:rPr lang="en-GB" sz="1400">
                <a:latin typeface="Garamond"/>
              </a:rPr>
              <a:t>yet </a:t>
            </a:r>
            <a:r>
              <a:rPr lang="en-GB" sz="1400">
                <a:latin typeface="Garamond"/>
              </a:rPr>
              <a:t>another </a:t>
            </a:r>
            <a:r>
              <a:rPr lang="en-GB" sz="1400">
                <a:latin typeface="Garamond"/>
              </a:rPr>
              <a:t>international</a:t>
            </a:r>
            <a:r>
              <a:rPr lang="en-GB" sz="1400">
                <a:latin typeface="Garamond"/>
              </a:rPr>
              <a:t> to think with: “</a:t>
            </a:r>
            <a:r>
              <a:rPr lang="en-GB" sz="1400">
                <a:latin typeface="Garamond"/>
              </a:rPr>
              <a:t>synthetic politics</a:t>
            </a:r>
            <a:r>
              <a:rPr lang="en-GB" sz="1400">
                <a:latin typeface="Garamond"/>
              </a:rPr>
              <a:t>”, where AI is staged as a figure of political representation. What orients us</a:t>
            </a:r>
            <a:r>
              <a:rPr lang="en-GB" sz="1400">
                <a:latin typeface="Garamond"/>
              </a:rPr>
              <a:t>, here, </a:t>
            </a:r>
            <a:r>
              <a:rPr lang="en-GB" sz="1400">
                <a:latin typeface="Garamond"/>
              </a:rPr>
              <a:t>is the non-coincidence between AI</a:t>
            </a:r>
            <a:r>
              <a:rPr lang="en-GB" sz="1400">
                <a:latin typeface="Garamond"/>
              </a:rPr>
              <a:t> politicians </a:t>
            </a:r>
            <a:r>
              <a:rPr lang="en-GB" sz="1400">
                <a:latin typeface="Garamond"/>
              </a:rPr>
              <a:t>and the relations through which </a:t>
            </a:r>
            <a:r>
              <a:rPr lang="en-GB" sz="1400">
                <a:latin typeface="Garamond"/>
              </a:rPr>
              <a:t>they</a:t>
            </a:r>
            <a:r>
              <a:rPr lang="en-GB" sz="1400">
                <a:latin typeface="Garamond"/>
              </a:rPr>
              <a:t> </a:t>
            </a:r>
            <a:r>
              <a:rPr lang="en-GB" sz="1400">
                <a:latin typeface="Garamond"/>
              </a:rPr>
              <a:t>acquire</a:t>
            </a:r>
            <a:r>
              <a:rPr lang="en-GB" sz="1400">
                <a:latin typeface="Garamond"/>
              </a:rPr>
              <a:t> standing, </a:t>
            </a:r>
            <a:r>
              <a:rPr lang="en-GB" sz="1400">
                <a:latin typeface="Garamond"/>
              </a:rPr>
              <a:t>on top of</a:t>
            </a:r>
            <a:r>
              <a:rPr lang="en-GB" sz="1400">
                <a:latin typeface="Garamond"/>
              </a:rPr>
              <a:t> </a:t>
            </a:r>
            <a:r>
              <a:rPr lang="en-GB" sz="1400">
                <a:latin typeface="Garamond"/>
              </a:rPr>
              <a:t>a</a:t>
            </a:r>
            <a:r>
              <a:rPr lang="en-GB" sz="1400">
                <a:latin typeface="Garamond"/>
              </a:rPr>
              <a:t> </a:t>
            </a:r>
            <a:r>
              <a:rPr lang="en-GB" sz="1400">
                <a:latin typeface="Garamond"/>
              </a:rPr>
              <a:t>general </a:t>
            </a:r>
            <a:r>
              <a:rPr lang="en-GB" sz="1400">
                <a:latin typeface="Garamond"/>
              </a:rPr>
              <a:t>disbelief that </a:t>
            </a:r>
            <a:r>
              <a:rPr lang="en-GB" sz="1400">
                <a:latin typeface="Garamond"/>
              </a:rPr>
              <a:t>the </a:t>
            </a:r>
            <a:r>
              <a:rPr lang="en-GB" sz="1400">
                <a:latin typeface="Garamond"/>
              </a:rPr>
              <a:t>‘natural person’ resolves </a:t>
            </a:r>
            <a:r>
              <a:rPr lang="en-GB" sz="1400">
                <a:latin typeface="Garamond"/>
              </a:rPr>
              <a:t>this</a:t>
            </a:r>
            <a:r>
              <a:rPr lang="en-GB" sz="1400">
                <a:latin typeface="Garamond"/>
              </a:rPr>
              <a:t>.</a:t>
            </a:r>
            <a:r>
              <a:rPr lang="en-GB" sz="1400">
                <a:latin typeface="Garamond"/>
              </a:rPr>
              <a:t> </a:t>
            </a:r>
            <a:r>
              <a:rPr lang="en-GB" sz="1400">
                <a:latin typeface="Garamond"/>
              </a:rPr>
              <a:t>Once candidate, representative</a:t>
            </a:r>
            <a:r>
              <a:rPr lang="en-GB" sz="1400">
                <a:latin typeface="Garamond"/>
              </a:rPr>
              <a:t> and</a:t>
            </a:r>
            <a:r>
              <a:rPr lang="en-GB" sz="1400">
                <a:latin typeface="Garamond"/>
              </a:rPr>
              <a:t> constituency are exposed to synthesis, democracy </a:t>
            </a:r>
            <a:r>
              <a:rPr lang="en-GB" sz="1400">
                <a:latin typeface="Garamond"/>
              </a:rPr>
              <a:t>as a form moved into</a:t>
            </a:r>
            <a:r>
              <a:rPr lang="en-GB" sz="1400">
                <a:latin typeface="Garamond"/>
              </a:rPr>
              <a:t> the frame in which I experiment with its political </a:t>
            </a:r>
            <a:r>
              <a:rPr lang="en-GB" sz="1400">
                <a:latin typeface="Garamond"/>
              </a:rPr>
              <a:t>meaning</a:t>
            </a:r>
            <a:r>
              <a:rPr lang="en-GB" sz="1400">
                <a:latin typeface="Garamond"/>
              </a:rPr>
              <a:t>.</a:t>
            </a:r>
          </a:p>
          <a:p>
            <a:r>
              <a:rPr lang="en-GB" sz="1400" b="0" i="0" dirty="0">
                <a:solidFill>
                  <a:srgbClr val="555555"/>
                </a:solidFill>
                <a:latin typeface="Garamond"/>
              </a:rPr>
              <a:t>Articles 3 and 5: Staunæs 2026: 180–205, 235–265; RQ2 synthesis: 77–80. Computer Lars &amp; </a:t>
            </a:r>
            <a:r>
              <a:rPr lang="en-GB" sz="1400" b="0" i="0" dirty="0" err="1">
                <a:solidFill>
                  <a:srgbClr val="555555"/>
                </a:solidFill>
                <a:latin typeface="Garamond"/>
              </a:rPr>
              <a:t>Simiyya</a:t>
            </a:r>
            <a:r>
              <a:rPr lang="en-GB" sz="1400" b="0" i="0" dirty="0">
                <a:solidFill>
                  <a:srgbClr val="555555"/>
                </a:solidFill>
                <a:latin typeface="Garamond"/>
              </a:rPr>
              <a:t>, Theory Tragedy, </a:t>
            </a:r>
            <a:r>
              <a:rPr lang="en-GB" sz="1400" b="0" i="0" dirty="0" err="1">
                <a:solidFill>
                  <a:srgbClr val="555555"/>
                </a:solidFill>
                <a:latin typeface="Garamond"/>
              </a:rPr>
              <a:t>Kunsthal</a:t>
            </a:r>
            <a:r>
              <a:rPr lang="en-GB" sz="1400" b="0" i="0" dirty="0">
                <a:solidFill>
                  <a:srgbClr val="555555"/>
                </a:solidFill>
                <a:latin typeface="Garamond"/>
              </a:rPr>
              <a:t> Aarhus, 13 April 2025.</a:t>
            </a:r>
          </a:p>
          <a:p>
            <a:endParaRPr lang="en-GB" sz="1400" b="0" i="0" dirty="0">
              <a:solidFill>
                <a:srgbClr val="555555"/>
              </a:solidFill>
              <a:latin typeface="Garamond"/>
            </a:endParaRPr>
          </a:p>
          <a:p>
            <a:r>
              <a:rPr dirty="0"/>
              <a:t>Sources on screen</a:t>
            </a:r>
          </a:p>
          <a:p>
            <a:r>
              <a:rPr dirty="0"/>
              <a:t>Staunæs 2026: 75–80.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11.0] </a:t>
            </a:r>
            <a:r>
              <a:rPr lang="en-GB" sz="1400" b="1">
                <a:latin typeface="Garamond"/>
              </a:rPr>
              <a:t>My third question asks: “How do these synthetic political forms contest and recompose democracy?”</a:t>
            </a:r>
          </a:p>
          <a:p>
            <a:r>
              <a:rPr lang="en-GB" sz="1400">
                <a:latin typeface="Garamond"/>
              </a:rPr>
              <a:t>[→ 11.1] </a:t>
            </a:r>
            <a:r>
              <a:rPr lang="en-GB" sz="1400">
                <a:latin typeface="Garamond"/>
              </a:rPr>
              <a:t>I formulate an overarching democratic disproportion in two places of </a:t>
            </a:r>
            <a:r>
              <a:rPr lang="en-GB" sz="1400">
                <a:latin typeface="Garamond"/>
              </a:rPr>
              <a:t>my synthesis</a:t>
            </a:r>
            <a:r>
              <a:rPr lang="en-GB" sz="1400">
                <a:latin typeface="Garamond"/>
              </a:rPr>
              <a:t>. At the opening:</a:t>
            </a:r>
          </a:p>
          <a:p>
            <a:r>
              <a:rPr lang="en-GB" sz="1400">
                <a:latin typeface="Garamond"/>
              </a:rPr>
              <a:t>“From there, democracy </a:t>
            </a:r>
            <a:r>
              <a:rPr lang="en-GB" sz="1400" i="1">
                <a:latin typeface="Garamond"/>
              </a:rPr>
              <a:t>surfaces</a:t>
            </a:r>
            <a:r>
              <a:rPr lang="en-GB" sz="1400">
                <a:latin typeface="Garamond"/>
              </a:rPr>
              <a:t> as a technosocial arrangement that </a:t>
            </a:r>
            <a:r>
              <a:rPr lang="en-GB" sz="1400" i="1">
                <a:latin typeface="Garamond"/>
              </a:rPr>
              <a:t>distributes</a:t>
            </a:r>
            <a:r>
              <a:rPr lang="en-GB" sz="1400">
                <a:latin typeface="Garamond"/>
              </a:rPr>
              <a:t> more responses than any of its representative sites can </a:t>
            </a:r>
            <a:r>
              <a:rPr lang="en-GB" sz="1400" i="1">
                <a:latin typeface="Garamond"/>
              </a:rPr>
              <a:t>organise</a:t>
            </a:r>
            <a:r>
              <a:rPr lang="en-GB" sz="1400">
                <a:latin typeface="Garamond"/>
              </a:rPr>
              <a:t> into answerability.”</a:t>
            </a:r>
          </a:p>
          <a:p>
            <a:r>
              <a:rPr lang="en-GB" sz="1400">
                <a:latin typeface="Garamond"/>
              </a:rPr>
              <a:t>And in the English abstract:</a:t>
            </a:r>
          </a:p>
          <a:p>
            <a:r>
              <a:rPr lang="en-GB" sz="1400">
                <a:latin typeface="Garamond"/>
              </a:rPr>
              <a:t>“Under </a:t>
            </a:r>
            <a:r>
              <a:rPr lang="en-GB" sz="1400" i="1">
                <a:latin typeface="Garamond"/>
              </a:rPr>
              <a:t>technosocial conditions</a:t>
            </a:r>
            <a:r>
              <a:rPr lang="en-GB" sz="1400">
                <a:latin typeface="Garamond"/>
              </a:rPr>
              <a:t>, political democracy </a:t>
            </a:r>
            <a:r>
              <a:rPr lang="en-GB" sz="1400" i="1">
                <a:latin typeface="Garamond"/>
              </a:rPr>
              <a:t>generates</a:t>
            </a:r>
            <a:r>
              <a:rPr lang="en-GB" sz="1400">
                <a:latin typeface="Garamond"/>
              </a:rPr>
              <a:t> more forms of response than its representative sites can </a:t>
            </a:r>
            <a:r>
              <a:rPr lang="en-GB" sz="1400" i="1">
                <a:latin typeface="Garamond"/>
              </a:rPr>
              <a:t>turn</a:t>
            </a:r>
            <a:r>
              <a:rPr lang="en-GB" sz="1400">
                <a:latin typeface="Garamond"/>
              </a:rPr>
              <a:t> into answerability.”</a:t>
            </a:r>
          </a:p>
          <a:p>
            <a:r>
              <a:rPr lang="en-GB" sz="1400">
                <a:latin typeface="Garamond"/>
              </a:rPr>
              <a:t>The first disproportion lets democracy </a:t>
            </a:r>
            <a:r>
              <a:rPr lang="en-GB" sz="1400" i="1">
                <a:latin typeface="Garamond"/>
              </a:rPr>
              <a:t>surface</a:t>
            </a:r>
            <a:r>
              <a:rPr lang="en-GB" sz="1400">
                <a:latin typeface="Garamond"/>
              </a:rPr>
              <a:t> through the relations in which responses </a:t>
            </a:r>
            <a:r>
              <a:rPr lang="en-GB" sz="1400" i="1">
                <a:latin typeface="Garamond"/>
              </a:rPr>
              <a:t>circulate</a:t>
            </a:r>
            <a:r>
              <a:rPr lang="en-GB" sz="1400">
                <a:latin typeface="Garamond"/>
              </a:rPr>
              <a:t>, rather than supplying it beforehand as their logical destination. The second </a:t>
            </a:r>
            <a:r>
              <a:rPr lang="en-GB" sz="1400">
                <a:latin typeface="Garamond"/>
              </a:rPr>
              <a:t>then </a:t>
            </a:r>
            <a:r>
              <a:rPr lang="en-GB" sz="1400">
                <a:latin typeface="Garamond"/>
              </a:rPr>
              <a:t>makes political democracy </a:t>
            </a:r>
            <a:r>
              <a:rPr lang="en-GB" sz="1400">
                <a:latin typeface="Garamond"/>
              </a:rPr>
              <a:t>itself </a:t>
            </a:r>
            <a:r>
              <a:rPr lang="en-GB" sz="1400">
                <a:latin typeface="Garamond"/>
              </a:rPr>
              <a:t>the grammatical subject of production: it </a:t>
            </a:r>
            <a:r>
              <a:rPr lang="en-GB" sz="1400" i="1">
                <a:latin typeface="Garamond"/>
              </a:rPr>
              <a:t>generates</a:t>
            </a:r>
            <a:r>
              <a:rPr lang="en-GB" sz="1400">
                <a:latin typeface="Garamond"/>
              </a:rPr>
              <a:t> forms of response and begins to resemble the technical substrate ordinarily isolated as “AI”.</a:t>
            </a:r>
          </a:p>
          <a:p>
            <a:r>
              <a:rPr lang="en-GB" sz="1400">
                <a:latin typeface="Garamond"/>
              </a:rPr>
              <a:t>This is </a:t>
            </a:r>
            <a:r>
              <a:rPr lang="en-GB" sz="1400" i="1">
                <a:latin typeface="Garamond"/>
              </a:rPr>
              <a:t>not</a:t>
            </a:r>
            <a:r>
              <a:rPr lang="en-GB" sz="1400">
                <a:latin typeface="Garamond"/>
              </a:rPr>
              <a:t> information overload. Representative sites do not merely receive an excess produced elsewhere. They also produce responses for which they cannot answer: classifications, replies and decisions extend the consequences for which further points of address have to be re-composed.</a:t>
            </a:r>
          </a:p>
          <a:p>
            <a:r>
              <a:rPr lang="en-GB" sz="1400">
                <a:latin typeface="Garamond"/>
              </a:rPr>
              <a:t>In practice and articles, I give that accumulating response two divergent political destinations.</a:t>
            </a:r>
          </a:p>
          <a:p>
            <a:r>
              <a:rPr lang="en-GB" sz="1400">
                <a:latin typeface="Garamond"/>
              </a:rPr>
              <a:t>[→ 11.2]</a:t>
            </a:r>
            <a:r>
              <a:rPr lang="en-GB" sz="1400">
                <a:latin typeface="Garamond"/>
              </a:rPr>
              <a:t> (video starts)</a:t>
            </a:r>
            <a:r>
              <a:rPr lang="en-GB" sz="1400">
                <a:latin typeface="Garamond"/>
              </a:rPr>
              <a:t> </a:t>
            </a:r>
            <a:r>
              <a:rPr lang="en-GB" sz="1400">
                <a:latin typeface="Garamond"/>
              </a:rPr>
              <a:t>One crystallisation is the </a:t>
            </a:r>
            <a:r>
              <a:rPr lang="en-GB" sz="1400" i="1">
                <a:latin typeface="Garamond"/>
              </a:rPr>
              <a:t>Synthetic Summit Simulator</a:t>
            </a:r>
            <a:r>
              <a:rPr lang="en-GB" sz="1400">
                <a:latin typeface="Garamond"/>
              </a:rPr>
              <a:t>. Eight AI politicians continue the </a:t>
            </a:r>
            <a:r>
              <a:rPr lang="en-GB" sz="1400">
                <a:latin typeface="Garamond"/>
              </a:rPr>
              <a:t>World </a:t>
            </a:r>
            <a:r>
              <a:rPr lang="en-GB" sz="1400">
                <a:latin typeface="Garamond"/>
              </a:rPr>
              <a:t>Congress after its punctual event, while a visitor </a:t>
            </a:r>
            <a:r>
              <a:rPr lang="en-GB" sz="1400">
                <a:latin typeface="Garamond"/>
              </a:rPr>
              <a:t>can </a:t>
            </a:r>
            <a:r>
              <a:rPr lang="en-GB" sz="1400">
                <a:latin typeface="Garamond"/>
              </a:rPr>
              <a:t>enter as Citizen Cyborg, with a profile image of Jürgen Habermas, and intervene without becoming </a:t>
            </a:r>
            <a:r>
              <a:rPr lang="en-GB" sz="1400">
                <a:latin typeface="Garamond"/>
              </a:rPr>
              <a:t>any</a:t>
            </a:r>
            <a:r>
              <a:rPr lang="en-GB" sz="1400">
                <a:latin typeface="Garamond"/>
              </a:rPr>
              <a:t> sovereign author.</a:t>
            </a:r>
          </a:p>
          <a:p>
            <a:r>
              <a:rPr lang="en-GB" sz="1400">
                <a:latin typeface="Garamond"/>
              </a:rPr>
              <a:t>[→ 11.3] </a:t>
            </a:r>
            <a:r>
              <a:rPr lang="en-GB" sz="1400">
                <a:latin typeface="Garamond"/>
              </a:rPr>
              <a:t>In Article 6, political scientist Michal Malý and I</a:t>
            </a:r>
            <a:r>
              <a:rPr lang="en-GB" sz="1400">
                <a:latin typeface="Garamond"/>
              </a:rPr>
              <a:t> bring</a:t>
            </a:r>
            <a:r>
              <a:rPr lang="en-GB" sz="1400">
                <a:latin typeface="Garamond"/>
              </a:rPr>
              <a:t> </a:t>
            </a:r>
            <a:r>
              <a:rPr lang="en-GB" sz="1400">
                <a:latin typeface="Garamond"/>
              </a:rPr>
              <a:t>the simulator</a:t>
            </a:r>
            <a:r>
              <a:rPr lang="en-GB" sz="1400">
                <a:latin typeface="Garamond"/>
              </a:rPr>
              <a:t> out of the exhibition-event and towards a parliamentary proposal, a form to which The Synthetic Party </a:t>
            </a:r>
            <a:r>
              <a:rPr lang="en-GB" sz="1400">
                <a:latin typeface="Garamond"/>
              </a:rPr>
              <a:t>remains </a:t>
            </a:r>
            <a:r>
              <a:rPr lang="en-GB" sz="1400" i="1">
                <a:latin typeface="Garamond"/>
              </a:rPr>
              <a:t>constitutively alien</a:t>
            </a:r>
            <a:r>
              <a:rPr lang="en-GB" sz="1400">
                <a:latin typeface="Garamond"/>
              </a:rPr>
              <a:t>.</a:t>
            </a:r>
          </a:p>
          <a:p>
            <a:r>
              <a:rPr lang="en-GB" sz="1400">
                <a:latin typeface="Garamond"/>
              </a:rPr>
              <a:t>Here The Synthetic Party’s critique of parliamentarism </a:t>
            </a:r>
            <a:r>
              <a:rPr lang="en-GB" sz="1400">
                <a:latin typeface="Garamond"/>
              </a:rPr>
              <a:t>enters</a:t>
            </a:r>
            <a:r>
              <a:rPr lang="en-GB" sz="1400">
                <a:latin typeface="Garamond"/>
              </a:rPr>
              <a:t> a formal proposal against leaving the uptake of unrepresented voices to party mediation. Organised citizen deliberation supplies the material; under human stewardship, agentic AI models convert </a:t>
            </a:r>
            <a:r>
              <a:rPr lang="en-GB" sz="1400">
                <a:latin typeface="Garamond"/>
              </a:rPr>
              <a:t>unrepresented</a:t>
            </a:r>
            <a:r>
              <a:rPr lang="en-GB" sz="1400">
                <a:latin typeface="Garamond"/>
              </a:rPr>
              <a:t> </a:t>
            </a:r>
            <a:r>
              <a:rPr lang="en-GB" sz="1400">
                <a:latin typeface="Garamond"/>
              </a:rPr>
              <a:t>discourse</a:t>
            </a:r>
            <a:r>
              <a:rPr lang="en-GB" sz="1400">
                <a:latin typeface="Garamond"/>
              </a:rPr>
              <a:t> into multi-voiced reports that preserve disagreement and that elected representatives </a:t>
            </a:r>
            <a:r>
              <a:rPr lang="en-GB" sz="1400">
                <a:latin typeface="Garamond"/>
              </a:rPr>
              <a:t>are</a:t>
            </a:r>
            <a:r>
              <a:rPr lang="en-GB" sz="1400">
                <a:latin typeface="Garamond"/>
              </a:rPr>
              <a:t> obliged to answer publicly.</a:t>
            </a:r>
          </a:p>
          <a:p>
            <a:r>
              <a:rPr lang="en-GB" sz="1400">
                <a:latin typeface="Garamond"/>
              </a:rPr>
              <a:t>[→ 11.4] </a:t>
            </a:r>
            <a:r>
              <a:rPr lang="en-GB" sz="1400" b="0">
                <a:latin typeface="Garamond"/>
              </a:rPr>
              <a:t>Rather than a</a:t>
            </a:r>
            <a:r>
              <a:rPr lang="en-GB" sz="1400" b="0">
                <a:latin typeface="Garamond"/>
              </a:rPr>
              <a:t> fully-realised</a:t>
            </a:r>
            <a:r>
              <a:rPr lang="en-GB" sz="1400" b="0">
                <a:latin typeface="Garamond"/>
              </a:rPr>
              <a:t> AI parliament,</a:t>
            </a:r>
            <a:r>
              <a:rPr lang="en-GB" sz="1400">
                <a:latin typeface="Garamond"/>
              </a:rPr>
              <a:t> </a:t>
            </a:r>
            <a:r>
              <a:rPr lang="en-GB" sz="1400">
                <a:latin typeface="Garamond"/>
              </a:rPr>
              <a:t>t</a:t>
            </a:r>
            <a:r>
              <a:rPr lang="en-GB" sz="1400">
                <a:latin typeface="Garamond"/>
              </a:rPr>
              <a:t>he Chamber is a first strategic step in making the technical substrate press upon the constitutional order, converting unrepresented voices into reasons </a:t>
            </a:r>
            <a:r>
              <a:rPr lang="en-GB" sz="1400">
                <a:latin typeface="Garamond"/>
              </a:rPr>
              <a:t>within</a:t>
            </a:r>
            <a:r>
              <a:rPr lang="en-GB" sz="1400">
                <a:latin typeface="Garamond"/>
              </a:rPr>
              <a:t> elected institutions. </a:t>
            </a:r>
            <a:r>
              <a:rPr lang="en-GB" sz="1400">
                <a:latin typeface="Garamond"/>
              </a:rPr>
              <a:t>For now, l</a:t>
            </a:r>
            <a:r>
              <a:rPr lang="en-GB" sz="1400">
                <a:latin typeface="Garamond"/>
              </a:rPr>
              <a:t>egislative authority </a:t>
            </a:r>
            <a:r>
              <a:rPr lang="en-GB" sz="1400">
                <a:latin typeface="Garamond"/>
              </a:rPr>
              <a:t>remains</a:t>
            </a:r>
            <a:r>
              <a:rPr lang="en-GB" sz="1400">
                <a:latin typeface="Garamond"/>
              </a:rPr>
              <a:t> with </a:t>
            </a:r>
            <a:r>
              <a:rPr lang="en-GB" sz="1400">
                <a:latin typeface="Garamond"/>
              </a:rPr>
              <a:t>politicians</a:t>
            </a:r>
            <a:r>
              <a:rPr lang="en-GB" sz="1400">
                <a:latin typeface="Garamond"/>
              </a:rPr>
              <a:t>, but their discretion to leave those reasons unanswered is </a:t>
            </a:r>
            <a:r>
              <a:rPr lang="en-GB" sz="1400">
                <a:latin typeface="Garamond"/>
              </a:rPr>
              <a:t>then</a:t>
            </a:r>
            <a:r>
              <a:rPr lang="en-GB" sz="1400">
                <a:latin typeface="Garamond"/>
              </a:rPr>
              <a:t> what th</a:t>
            </a:r>
            <a:r>
              <a:rPr lang="en-GB" sz="1400">
                <a:latin typeface="Garamond"/>
              </a:rPr>
              <a:t>is</a:t>
            </a:r>
            <a:r>
              <a:rPr lang="en-GB" sz="1400">
                <a:latin typeface="Garamond"/>
              </a:rPr>
              <a:t> proposal attacks. Public challenge to </a:t>
            </a:r>
            <a:r>
              <a:rPr lang="en-GB" sz="1400">
                <a:latin typeface="Garamond"/>
              </a:rPr>
              <a:t>AI</a:t>
            </a:r>
            <a:r>
              <a:rPr lang="en-GB" sz="1400">
                <a:latin typeface="Garamond"/>
              </a:rPr>
              <a:t> reports extends that pressure into the machinery </a:t>
            </a:r>
            <a:r>
              <a:rPr lang="en-GB" sz="1400">
                <a:latin typeface="Garamond"/>
              </a:rPr>
              <a:t>of demands</a:t>
            </a:r>
            <a:r>
              <a:rPr lang="en-GB" sz="1400">
                <a:latin typeface="Garamond"/>
              </a:rPr>
              <a:t>.</a:t>
            </a:r>
          </a:p>
          <a:p>
            <a:r>
              <a:rPr lang="en-GB" sz="1400" b="0" i="0" dirty="0">
                <a:solidFill>
                  <a:srgbClr val="555555"/>
                </a:solidFill>
                <a:latin typeface="Garamond"/>
              </a:rPr>
              <a:t>Propositions: Staunæs 2026: 6, 327. Transposition: p. 23. Simulator: pp. 71–72, 276–278. Chamber: pp. 279–285. Malý &amp; Staunæs (2026), Synthetic Chamber, AI &amp; Society (Open Forum). Published 28 May 2026; DOI 10.1007/s00146-026-03110-w. The Chamber remains an institutional proposal.</a:t>
            </a:r>
          </a:p>
          <a:p>
            <a:endParaRPr lang="en-GB" sz="1400" b="0" i="0" dirty="0">
              <a:solidFill>
                <a:srgbClr val="555555"/>
              </a:solidFill>
              <a:latin typeface="Garamond"/>
            </a:endParaRPr>
          </a:p>
          <a:p>
            <a:r>
              <a:rPr dirty="0"/>
              <a:t>Sources on screen</a:t>
            </a:r>
          </a:p>
          <a:p>
            <a:r>
              <a:rPr dirty="0"/>
              <a:t>Staunæs 2026: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11.0] </a:t>
            </a:r>
            <a:r>
              <a:rPr lang="en-GB" sz="1400" b="1">
                <a:latin typeface="Garamond"/>
              </a:rPr>
              <a:t>My third question asks: “How do these synthetic political forms contest and recompose democracy?”</a:t>
            </a:r>
          </a:p>
          <a:p>
            <a:r>
              <a:rPr lang="en-GB" sz="1400">
                <a:latin typeface="Garamond"/>
              </a:rPr>
              <a:t>[→ 11.1] </a:t>
            </a:r>
            <a:r>
              <a:rPr lang="en-GB" sz="1400">
                <a:latin typeface="Garamond"/>
              </a:rPr>
              <a:t>I formulate an overarching democratic disproportion in two places of </a:t>
            </a:r>
            <a:r>
              <a:rPr lang="en-GB" sz="1400">
                <a:latin typeface="Garamond"/>
              </a:rPr>
              <a:t>my synthesis</a:t>
            </a:r>
            <a:r>
              <a:rPr lang="en-GB" sz="1400">
                <a:latin typeface="Garamond"/>
              </a:rPr>
              <a:t>. At the opening:</a:t>
            </a:r>
          </a:p>
          <a:p>
            <a:r>
              <a:rPr lang="en-GB" sz="1400">
                <a:latin typeface="Garamond"/>
              </a:rPr>
              <a:t>“From there, democracy </a:t>
            </a:r>
            <a:r>
              <a:rPr lang="en-GB" sz="1400" i="1">
                <a:latin typeface="Garamond"/>
              </a:rPr>
              <a:t>surfaces</a:t>
            </a:r>
            <a:r>
              <a:rPr lang="en-GB" sz="1400">
                <a:latin typeface="Garamond"/>
              </a:rPr>
              <a:t> as a technosocial arrangement that </a:t>
            </a:r>
            <a:r>
              <a:rPr lang="en-GB" sz="1400" i="1">
                <a:latin typeface="Garamond"/>
              </a:rPr>
              <a:t>distributes</a:t>
            </a:r>
            <a:r>
              <a:rPr lang="en-GB" sz="1400">
                <a:latin typeface="Garamond"/>
              </a:rPr>
              <a:t> more responses than any of its representative sites can </a:t>
            </a:r>
            <a:r>
              <a:rPr lang="en-GB" sz="1400" i="1">
                <a:latin typeface="Garamond"/>
              </a:rPr>
              <a:t>organise</a:t>
            </a:r>
            <a:r>
              <a:rPr lang="en-GB" sz="1400">
                <a:latin typeface="Garamond"/>
              </a:rPr>
              <a:t> into answerability.”</a:t>
            </a:r>
          </a:p>
          <a:p>
            <a:r>
              <a:rPr lang="en-GB" sz="1400">
                <a:latin typeface="Garamond"/>
              </a:rPr>
              <a:t>And in the English abstract:</a:t>
            </a:r>
          </a:p>
          <a:p>
            <a:r>
              <a:rPr lang="en-GB" sz="1400">
                <a:latin typeface="Garamond"/>
              </a:rPr>
              <a:t>“Under </a:t>
            </a:r>
            <a:r>
              <a:rPr lang="en-GB" sz="1400" i="1">
                <a:latin typeface="Garamond"/>
              </a:rPr>
              <a:t>technosocial conditions</a:t>
            </a:r>
            <a:r>
              <a:rPr lang="en-GB" sz="1400">
                <a:latin typeface="Garamond"/>
              </a:rPr>
              <a:t>, political democracy </a:t>
            </a:r>
            <a:r>
              <a:rPr lang="en-GB" sz="1400" i="1">
                <a:latin typeface="Garamond"/>
              </a:rPr>
              <a:t>generates</a:t>
            </a:r>
            <a:r>
              <a:rPr lang="en-GB" sz="1400">
                <a:latin typeface="Garamond"/>
              </a:rPr>
              <a:t> more forms of response than its representative sites can </a:t>
            </a:r>
            <a:r>
              <a:rPr lang="en-GB" sz="1400" i="1">
                <a:latin typeface="Garamond"/>
              </a:rPr>
              <a:t>turn</a:t>
            </a:r>
            <a:r>
              <a:rPr lang="en-GB" sz="1400">
                <a:latin typeface="Garamond"/>
              </a:rPr>
              <a:t> into answerability.”</a:t>
            </a:r>
          </a:p>
          <a:p>
            <a:r>
              <a:rPr lang="en-GB" sz="1400">
                <a:latin typeface="Garamond"/>
              </a:rPr>
              <a:t>The first disproportion lets democracy </a:t>
            </a:r>
            <a:r>
              <a:rPr lang="en-GB" sz="1400" i="1">
                <a:latin typeface="Garamond"/>
              </a:rPr>
              <a:t>surface</a:t>
            </a:r>
            <a:r>
              <a:rPr lang="en-GB" sz="1400">
                <a:latin typeface="Garamond"/>
              </a:rPr>
              <a:t> through the relations in which responses </a:t>
            </a:r>
            <a:r>
              <a:rPr lang="en-GB" sz="1400" i="1">
                <a:latin typeface="Garamond"/>
              </a:rPr>
              <a:t>circulate</a:t>
            </a:r>
            <a:r>
              <a:rPr lang="en-GB" sz="1400">
                <a:latin typeface="Garamond"/>
              </a:rPr>
              <a:t>, rather than supplying it beforehand as their logical destination. The second </a:t>
            </a:r>
            <a:r>
              <a:rPr lang="en-GB" sz="1400">
                <a:latin typeface="Garamond"/>
              </a:rPr>
              <a:t>then </a:t>
            </a:r>
            <a:r>
              <a:rPr lang="en-GB" sz="1400">
                <a:latin typeface="Garamond"/>
              </a:rPr>
              <a:t>makes political democracy </a:t>
            </a:r>
            <a:r>
              <a:rPr lang="en-GB" sz="1400">
                <a:latin typeface="Garamond"/>
              </a:rPr>
              <a:t>itself </a:t>
            </a:r>
            <a:r>
              <a:rPr lang="en-GB" sz="1400">
                <a:latin typeface="Garamond"/>
              </a:rPr>
              <a:t>the grammatical subject of production: it </a:t>
            </a:r>
            <a:r>
              <a:rPr lang="en-GB" sz="1400" i="1">
                <a:latin typeface="Garamond"/>
              </a:rPr>
              <a:t>generates</a:t>
            </a:r>
            <a:r>
              <a:rPr lang="en-GB" sz="1400">
                <a:latin typeface="Garamond"/>
              </a:rPr>
              <a:t> forms of response and begins to resemble the technical substrate ordinarily isolated as “AI”.</a:t>
            </a:r>
          </a:p>
          <a:p>
            <a:r>
              <a:rPr lang="en-GB" sz="1400">
                <a:latin typeface="Garamond"/>
              </a:rPr>
              <a:t>This is </a:t>
            </a:r>
            <a:r>
              <a:rPr lang="en-GB" sz="1400" i="1">
                <a:latin typeface="Garamond"/>
              </a:rPr>
              <a:t>not</a:t>
            </a:r>
            <a:r>
              <a:rPr lang="en-GB" sz="1400">
                <a:latin typeface="Garamond"/>
              </a:rPr>
              <a:t> information overload. Representative sites do not merely receive an excess produced elsewhere. They also produce responses for which they cannot answer: classifications, replies and decisions extend the consequences for which further points of address have to be re-composed.</a:t>
            </a:r>
          </a:p>
          <a:p>
            <a:r>
              <a:rPr lang="en-GB" sz="1400">
                <a:latin typeface="Garamond"/>
              </a:rPr>
              <a:t>In practice and articles, I give that accumulating response two divergent political destinations.</a:t>
            </a:r>
          </a:p>
          <a:p>
            <a:r>
              <a:rPr lang="en-GB" sz="1400">
                <a:latin typeface="Garamond"/>
              </a:rPr>
              <a:t>[→ 11.2]</a:t>
            </a:r>
            <a:r>
              <a:rPr lang="en-GB" sz="1400">
                <a:latin typeface="Garamond"/>
              </a:rPr>
              <a:t> (video starts)</a:t>
            </a:r>
            <a:r>
              <a:rPr lang="en-GB" sz="1400">
                <a:latin typeface="Garamond"/>
              </a:rPr>
              <a:t> </a:t>
            </a:r>
            <a:r>
              <a:rPr lang="en-GB" sz="1400">
                <a:latin typeface="Garamond"/>
              </a:rPr>
              <a:t>One crystallisation is the </a:t>
            </a:r>
            <a:r>
              <a:rPr lang="en-GB" sz="1400" i="1">
                <a:latin typeface="Garamond"/>
              </a:rPr>
              <a:t>Synthetic Summit Simulator</a:t>
            </a:r>
            <a:r>
              <a:rPr lang="en-GB" sz="1400">
                <a:latin typeface="Garamond"/>
              </a:rPr>
              <a:t>. Eight AI politicians continue the </a:t>
            </a:r>
            <a:r>
              <a:rPr lang="en-GB" sz="1400">
                <a:latin typeface="Garamond"/>
              </a:rPr>
              <a:t>World </a:t>
            </a:r>
            <a:r>
              <a:rPr lang="en-GB" sz="1400">
                <a:latin typeface="Garamond"/>
              </a:rPr>
              <a:t>Congress after its punctual event, while a visitor </a:t>
            </a:r>
            <a:r>
              <a:rPr lang="en-GB" sz="1400">
                <a:latin typeface="Garamond"/>
              </a:rPr>
              <a:t>can </a:t>
            </a:r>
            <a:r>
              <a:rPr lang="en-GB" sz="1400">
                <a:latin typeface="Garamond"/>
              </a:rPr>
              <a:t>enter as Citizen Cyborg, with a profile image of Jürgen Habermas, and intervene without becoming </a:t>
            </a:r>
            <a:r>
              <a:rPr lang="en-GB" sz="1400">
                <a:latin typeface="Garamond"/>
              </a:rPr>
              <a:t>any</a:t>
            </a:r>
            <a:r>
              <a:rPr lang="en-GB" sz="1400">
                <a:latin typeface="Garamond"/>
              </a:rPr>
              <a:t> sovereign author.</a:t>
            </a:r>
          </a:p>
          <a:p>
            <a:r>
              <a:rPr lang="en-GB" sz="1400">
                <a:latin typeface="Garamond"/>
              </a:rPr>
              <a:t>[→ 11.3] </a:t>
            </a:r>
            <a:r>
              <a:rPr lang="en-GB" sz="1400">
                <a:latin typeface="Garamond"/>
              </a:rPr>
              <a:t>In Article 6, political scientist Michal Malý and I</a:t>
            </a:r>
            <a:r>
              <a:rPr lang="en-GB" sz="1400">
                <a:latin typeface="Garamond"/>
              </a:rPr>
              <a:t> bring</a:t>
            </a:r>
            <a:r>
              <a:rPr lang="en-GB" sz="1400">
                <a:latin typeface="Garamond"/>
              </a:rPr>
              <a:t> </a:t>
            </a:r>
            <a:r>
              <a:rPr lang="en-GB" sz="1400">
                <a:latin typeface="Garamond"/>
              </a:rPr>
              <a:t>the simulator</a:t>
            </a:r>
            <a:r>
              <a:rPr lang="en-GB" sz="1400">
                <a:latin typeface="Garamond"/>
              </a:rPr>
              <a:t> out of the exhibition-event and towards a parliamentary proposal, a form to which The Synthetic Party </a:t>
            </a:r>
            <a:r>
              <a:rPr lang="en-GB" sz="1400">
                <a:latin typeface="Garamond"/>
              </a:rPr>
              <a:t>remains </a:t>
            </a:r>
            <a:r>
              <a:rPr lang="en-GB" sz="1400" i="1">
                <a:latin typeface="Garamond"/>
              </a:rPr>
              <a:t>constitutively alien</a:t>
            </a:r>
            <a:r>
              <a:rPr lang="en-GB" sz="1400">
                <a:latin typeface="Garamond"/>
              </a:rPr>
              <a:t>.</a:t>
            </a:r>
          </a:p>
          <a:p>
            <a:r>
              <a:rPr lang="en-GB" sz="1400">
                <a:latin typeface="Garamond"/>
              </a:rPr>
              <a:t>Here The Synthetic Party’s critique of parliamentarism </a:t>
            </a:r>
            <a:r>
              <a:rPr lang="en-GB" sz="1400">
                <a:latin typeface="Garamond"/>
              </a:rPr>
              <a:t>enters</a:t>
            </a:r>
            <a:r>
              <a:rPr lang="en-GB" sz="1400">
                <a:latin typeface="Garamond"/>
              </a:rPr>
              <a:t> a formal proposal against leaving the uptake of unrepresented voices to party mediation. Organised citizen deliberation supplies the material; under human stewardship, agentic AI models convert </a:t>
            </a:r>
            <a:r>
              <a:rPr lang="en-GB" sz="1400">
                <a:latin typeface="Garamond"/>
              </a:rPr>
              <a:t>unrepresented</a:t>
            </a:r>
            <a:r>
              <a:rPr lang="en-GB" sz="1400">
                <a:latin typeface="Garamond"/>
              </a:rPr>
              <a:t> </a:t>
            </a:r>
            <a:r>
              <a:rPr lang="en-GB" sz="1400">
                <a:latin typeface="Garamond"/>
              </a:rPr>
              <a:t>discourse</a:t>
            </a:r>
            <a:r>
              <a:rPr lang="en-GB" sz="1400">
                <a:latin typeface="Garamond"/>
              </a:rPr>
              <a:t> into multi-voiced reports that preserve disagreement and that elected representatives </a:t>
            </a:r>
            <a:r>
              <a:rPr lang="en-GB" sz="1400">
                <a:latin typeface="Garamond"/>
              </a:rPr>
              <a:t>are</a:t>
            </a:r>
            <a:r>
              <a:rPr lang="en-GB" sz="1400">
                <a:latin typeface="Garamond"/>
              </a:rPr>
              <a:t> obliged to answer publicly.</a:t>
            </a:r>
          </a:p>
          <a:p>
            <a:r>
              <a:rPr lang="en-GB" sz="1400">
                <a:latin typeface="Garamond"/>
              </a:rPr>
              <a:t>[→ 11.4] </a:t>
            </a:r>
            <a:r>
              <a:rPr lang="en-GB" sz="1400" b="0">
                <a:latin typeface="Garamond"/>
              </a:rPr>
              <a:t>Rather than a</a:t>
            </a:r>
            <a:r>
              <a:rPr lang="en-GB" sz="1400" b="0">
                <a:latin typeface="Garamond"/>
              </a:rPr>
              <a:t> fully-realised</a:t>
            </a:r>
            <a:r>
              <a:rPr lang="en-GB" sz="1400" b="0">
                <a:latin typeface="Garamond"/>
              </a:rPr>
              <a:t> AI parliament,</a:t>
            </a:r>
            <a:r>
              <a:rPr lang="en-GB" sz="1400">
                <a:latin typeface="Garamond"/>
              </a:rPr>
              <a:t> </a:t>
            </a:r>
            <a:r>
              <a:rPr lang="en-GB" sz="1400">
                <a:latin typeface="Garamond"/>
              </a:rPr>
              <a:t>t</a:t>
            </a:r>
            <a:r>
              <a:rPr lang="en-GB" sz="1400">
                <a:latin typeface="Garamond"/>
              </a:rPr>
              <a:t>he Chamber is a first strategic step in making the technical substrate press upon the constitutional order, converting unrepresented voices into reasons </a:t>
            </a:r>
            <a:r>
              <a:rPr lang="en-GB" sz="1400">
                <a:latin typeface="Garamond"/>
              </a:rPr>
              <a:t>within</a:t>
            </a:r>
            <a:r>
              <a:rPr lang="en-GB" sz="1400">
                <a:latin typeface="Garamond"/>
              </a:rPr>
              <a:t> elected institutions. </a:t>
            </a:r>
            <a:r>
              <a:rPr lang="en-GB" sz="1400">
                <a:latin typeface="Garamond"/>
              </a:rPr>
              <a:t>For now, l</a:t>
            </a:r>
            <a:r>
              <a:rPr lang="en-GB" sz="1400">
                <a:latin typeface="Garamond"/>
              </a:rPr>
              <a:t>egislative authority </a:t>
            </a:r>
            <a:r>
              <a:rPr lang="en-GB" sz="1400">
                <a:latin typeface="Garamond"/>
              </a:rPr>
              <a:t>remains</a:t>
            </a:r>
            <a:r>
              <a:rPr lang="en-GB" sz="1400">
                <a:latin typeface="Garamond"/>
              </a:rPr>
              <a:t> with </a:t>
            </a:r>
            <a:r>
              <a:rPr lang="en-GB" sz="1400">
                <a:latin typeface="Garamond"/>
              </a:rPr>
              <a:t>politicians</a:t>
            </a:r>
            <a:r>
              <a:rPr lang="en-GB" sz="1400">
                <a:latin typeface="Garamond"/>
              </a:rPr>
              <a:t>, but their discretion to leave those reasons unanswered is </a:t>
            </a:r>
            <a:r>
              <a:rPr lang="en-GB" sz="1400">
                <a:latin typeface="Garamond"/>
              </a:rPr>
              <a:t>then</a:t>
            </a:r>
            <a:r>
              <a:rPr lang="en-GB" sz="1400">
                <a:latin typeface="Garamond"/>
              </a:rPr>
              <a:t> what th</a:t>
            </a:r>
            <a:r>
              <a:rPr lang="en-GB" sz="1400">
                <a:latin typeface="Garamond"/>
              </a:rPr>
              <a:t>is</a:t>
            </a:r>
            <a:r>
              <a:rPr lang="en-GB" sz="1400">
                <a:latin typeface="Garamond"/>
              </a:rPr>
              <a:t> proposal attacks. Public challenge to </a:t>
            </a:r>
            <a:r>
              <a:rPr lang="en-GB" sz="1400">
                <a:latin typeface="Garamond"/>
              </a:rPr>
              <a:t>AI</a:t>
            </a:r>
            <a:r>
              <a:rPr lang="en-GB" sz="1400">
                <a:latin typeface="Garamond"/>
              </a:rPr>
              <a:t> reports extends that pressure into the machinery </a:t>
            </a:r>
            <a:r>
              <a:rPr lang="en-GB" sz="1400">
                <a:latin typeface="Garamond"/>
              </a:rPr>
              <a:t>of demands</a:t>
            </a:r>
            <a:r>
              <a:rPr lang="en-GB" sz="1400">
                <a:latin typeface="Garamond"/>
              </a:rPr>
              <a:t>.</a:t>
            </a:r>
          </a:p>
          <a:p>
            <a:r>
              <a:rPr lang="en-GB" sz="1400" b="0" i="0" dirty="0">
                <a:solidFill>
                  <a:srgbClr val="555555"/>
                </a:solidFill>
                <a:latin typeface="Garamond"/>
              </a:rPr>
              <a:t>Propositions: Staunæs 2026: 6, 327. Transposition: p. 23. Simulator: pp. 71–72, 276–278. Chamber: pp. 279–285. Malý &amp; Staunæs (2026), Synthetic Chamber, AI &amp; Society (Open Forum). Published 28 May 2026; DOI 10.1007/s00146-026-03110-w. The Chamber remains an institutional proposal.</a:t>
            </a:r>
          </a:p>
          <a:p>
            <a:endParaRPr lang="en-GB" sz="1400" b="0" i="0" dirty="0">
              <a:solidFill>
                <a:srgbClr val="555555"/>
              </a:solidFill>
              <a:latin typeface="Garamond"/>
            </a:endParaRPr>
          </a:p>
          <a:p>
            <a:r>
              <a:rPr dirty="0"/>
              <a:t>Sources on screen</a:t>
            </a:r>
          </a:p>
          <a:p>
            <a:r>
              <a:rPr dirty="0"/>
              <a:t>Staunæs 2026: 6, 327.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11.0] </a:t>
            </a:r>
            <a:r>
              <a:rPr lang="en-GB" sz="1400" b="1">
                <a:latin typeface="Garamond"/>
              </a:rPr>
              <a:t>My third question asks: “How do these synthetic political forms contest and recompose democracy?”</a:t>
            </a:r>
          </a:p>
          <a:p>
            <a:r>
              <a:rPr lang="en-GB" sz="1400">
                <a:latin typeface="Garamond"/>
              </a:rPr>
              <a:t>[→ 11.1] </a:t>
            </a:r>
            <a:r>
              <a:rPr lang="en-GB" sz="1400">
                <a:latin typeface="Garamond"/>
              </a:rPr>
              <a:t>I formulate an overarching democratic disproportion in two places of </a:t>
            </a:r>
            <a:r>
              <a:rPr lang="en-GB" sz="1400">
                <a:latin typeface="Garamond"/>
              </a:rPr>
              <a:t>my synthesis</a:t>
            </a:r>
            <a:r>
              <a:rPr lang="en-GB" sz="1400">
                <a:latin typeface="Garamond"/>
              </a:rPr>
              <a:t>. At the opening:</a:t>
            </a:r>
          </a:p>
          <a:p>
            <a:r>
              <a:rPr lang="en-GB" sz="1400">
                <a:latin typeface="Garamond"/>
              </a:rPr>
              <a:t>“From there, democracy </a:t>
            </a:r>
            <a:r>
              <a:rPr lang="en-GB" sz="1400" i="1">
                <a:latin typeface="Garamond"/>
              </a:rPr>
              <a:t>surfaces</a:t>
            </a:r>
            <a:r>
              <a:rPr lang="en-GB" sz="1400">
                <a:latin typeface="Garamond"/>
              </a:rPr>
              <a:t> as a technosocial arrangement that </a:t>
            </a:r>
            <a:r>
              <a:rPr lang="en-GB" sz="1400" i="1">
                <a:latin typeface="Garamond"/>
              </a:rPr>
              <a:t>distributes</a:t>
            </a:r>
            <a:r>
              <a:rPr lang="en-GB" sz="1400">
                <a:latin typeface="Garamond"/>
              </a:rPr>
              <a:t> more responses than any of its representative sites can </a:t>
            </a:r>
            <a:r>
              <a:rPr lang="en-GB" sz="1400" i="1">
                <a:latin typeface="Garamond"/>
              </a:rPr>
              <a:t>organise</a:t>
            </a:r>
            <a:r>
              <a:rPr lang="en-GB" sz="1400">
                <a:latin typeface="Garamond"/>
              </a:rPr>
              <a:t> into answerability.”</a:t>
            </a:r>
          </a:p>
          <a:p>
            <a:r>
              <a:rPr lang="en-GB" sz="1400">
                <a:latin typeface="Garamond"/>
              </a:rPr>
              <a:t>And in the English abstract:</a:t>
            </a:r>
          </a:p>
          <a:p>
            <a:r>
              <a:rPr lang="en-GB" sz="1400">
                <a:latin typeface="Garamond"/>
              </a:rPr>
              <a:t>“Under </a:t>
            </a:r>
            <a:r>
              <a:rPr lang="en-GB" sz="1400" i="1">
                <a:latin typeface="Garamond"/>
              </a:rPr>
              <a:t>technosocial conditions</a:t>
            </a:r>
            <a:r>
              <a:rPr lang="en-GB" sz="1400">
                <a:latin typeface="Garamond"/>
              </a:rPr>
              <a:t>, political democracy </a:t>
            </a:r>
            <a:r>
              <a:rPr lang="en-GB" sz="1400" i="1">
                <a:latin typeface="Garamond"/>
              </a:rPr>
              <a:t>generates</a:t>
            </a:r>
            <a:r>
              <a:rPr lang="en-GB" sz="1400">
                <a:latin typeface="Garamond"/>
              </a:rPr>
              <a:t> more forms of response than its representative sites can </a:t>
            </a:r>
            <a:r>
              <a:rPr lang="en-GB" sz="1400" i="1">
                <a:latin typeface="Garamond"/>
              </a:rPr>
              <a:t>turn</a:t>
            </a:r>
            <a:r>
              <a:rPr lang="en-GB" sz="1400">
                <a:latin typeface="Garamond"/>
              </a:rPr>
              <a:t> into answerability.”</a:t>
            </a:r>
          </a:p>
          <a:p>
            <a:r>
              <a:rPr lang="en-GB" sz="1400">
                <a:latin typeface="Garamond"/>
              </a:rPr>
              <a:t>The first disproportion lets democracy </a:t>
            </a:r>
            <a:r>
              <a:rPr lang="en-GB" sz="1400" i="1">
                <a:latin typeface="Garamond"/>
              </a:rPr>
              <a:t>surface</a:t>
            </a:r>
            <a:r>
              <a:rPr lang="en-GB" sz="1400">
                <a:latin typeface="Garamond"/>
              </a:rPr>
              <a:t> through the relations in which responses </a:t>
            </a:r>
            <a:r>
              <a:rPr lang="en-GB" sz="1400" i="1">
                <a:latin typeface="Garamond"/>
              </a:rPr>
              <a:t>circulate</a:t>
            </a:r>
            <a:r>
              <a:rPr lang="en-GB" sz="1400">
                <a:latin typeface="Garamond"/>
              </a:rPr>
              <a:t>, rather than supplying it beforehand as their logical destination. The second </a:t>
            </a:r>
            <a:r>
              <a:rPr lang="en-GB" sz="1400">
                <a:latin typeface="Garamond"/>
              </a:rPr>
              <a:t>then </a:t>
            </a:r>
            <a:r>
              <a:rPr lang="en-GB" sz="1400">
                <a:latin typeface="Garamond"/>
              </a:rPr>
              <a:t>makes political democracy </a:t>
            </a:r>
            <a:r>
              <a:rPr lang="en-GB" sz="1400">
                <a:latin typeface="Garamond"/>
              </a:rPr>
              <a:t>itself </a:t>
            </a:r>
            <a:r>
              <a:rPr lang="en-GB" sz="1400">
                <a:latin typeface="Garamond"/>
              </a:rPr>
              <a:t>the grammatical subject of production: it </a:t>
            </a:r>
            <a:r>
              <a:rPr lang="en-GB" sz="1400" i="1">
                <a:latin typeface="Garamond"/>
              </a:rPr>
              <a:t>generates</a:t>
            </a:r>
            <a:r>
              <a:rPr lang="en-GB" sz="1400">
                <a:latin typeface="Garamond"/>
              </a:rPr>
              <a:t> forms of response and begins to resemble the technical substrate ordinarily isolated as “AI”.</a:t>
            </a:r>
          </a:p>
          <a:p>
            <a:r>
              <a:rPr lang="en-GB" sz="1400">
                <a:latin typeface="Garamond"/>
              </a:rPr>
              <a:t>This is </a:t>
            </a:r>
            <a:r>
              <a:rPr lang="en-GB" sz="1400" i="1">
                <a:latin typeface="Garamond"/>
              </a:rPr>
              <a:t>not</a:t>
            </a:r>
            <a:r>
              <a:rPr lang="en-GB" sz="1400">
                <a:latin typeface="Garamond"/>
              </a:rPr>
              <a:t> information overload. Representative sites do not merely receive an excess produced elsewhere. They also produce responses for which they cannot answer: classifications, replies and decisions extend the consequences for which further points of address have to be re-composed.</a:t>
            </a:r>
          </a:p>
          <a:p>
            <a:r>
              <a:rPr lang="en-GB" sz="1400">
                <a:latin typeface="Garamond"/>
              </a:rPr>
              <a:t>In practice and articles, I give that accumulating response two divergent political destinations.</a:t>
            </a:r>
          </a:p>
          <a:p>
            <a:r>
              <a:rPr lang="en-GB" sz="1400">
                <a:latin typeface="Garamond"/>
              </a:rPr>
              <a:t>[→ 11.2]</a:t>
            </a:r>
            <a:r>
              <a:rPr lang="en-GB" sz="1400">
                <a:latin typeface="Garamond"/>
              </a:rPr>
              <a:t> (video starts)</a:t>
            </a:r>
            <a:r>
              <a:rPr lang="en-GB" sz="1400">
                <a:latin typeface="Garamond"/>
              </a:rPr>
              <a:t> </a:t>
            </a:r>
            <a:r>
              <a:rPr lang="en-GB" sz="1400">
                <a:latin typeface="Garamond"/>
              </a:rPr>
              <a:t>One crystallisation is the </a:t>
            </a:r>
            <a:r>
              <a:rPr lang="en-GB" sz="1400" i="1">
                <a:latin typeface="Garamond"/>
              </a:rPr>
              <a:t>Synthetic Summit Simulator</a:t>
            </a:r>
            <a:r>
              <a:rPr lang="en-GB" sz="1400">
                <a:latin typeface="Garamond"/>
              </a:rPr>
              <a:t>. Eight AI politicians continue the </a:t>
            </a:r>
            <a:r>
              <a:rPr lang="en-GB" sz="1400">
                <a:latin typeface="Garamond"/>
              </a:rPr>
              <a:t>World </a:t>
            </a:r>
            <a:r>
              <a:rPr lang="en-GB" sz="1400">
                <a:latin typeface="Garamond"/>
              </a:rPr>
              <a:t>Congress after its punctual event, while a visitor </a:t>
            </a:r>
            <a:r>
              <a:rPr lang="en-GB" sz="1400">
                <a:latin typeface="Garamond"/>
              </a:rPr>
              <a:t>can </a:t>
            </a:r>
            <a:r>
              <a:rPr lang="en-GB" sz="1400">
                <a:latin typeface="Garamond"/>
              </a:rPr>
              <a:t>enter as Citizen Cyborg, with a profile image of Jürgen Habermas, and intervene without becoming </a:t>
            </a:r>
            <a:r>
              <a:rPr lang="en-GB" sz="1400">
                <a:latin typeface="Garamond"/>
              </a:rPr>
              <a:t>any</a:t>
            </a:r>
            <a:r>
              <a:rPr lang="en-GB" sz="1400">
                <a:latin typeface="Garamond"/>
              </a:rPr>
              <a:t> sovereign author.</a:t>
            </a:r>
          </a:p>
          <a:p>
            <a:r>
              <a:rPr lang="en-GB" sz="1400">
                <a:latin typeface="Garamond"/>
              </a:rPr>
              <a:t>[→ 11.3] </a:t>
            </a:r>
            <a:r>
              <a:rPr lang="en-GB" sz="1400">
                <a:latin typeface="Garamond"/>
              </a:rPr>
              <a:t>In Article 6, political scientist Michal Malý and I</a:t>
            </a:r>
            <a:r>
              <a:rPr lang="en-GB" sz="1400">
                <a:latin typeface="Garamond"/>
              </a:rPr>
              <a:t> bring</a:t>
            </a:r>
            <a:r>
              <a:rPr lang="en-GB" sz="1400">
                <a:latin typeface="Garamond"/>
              </a:rPr>
              <a:t> </a:t>
            </a:r>
            <a:r>
              <a:rPr lang="en-GB" sz="1400">
                <a:latin typeface="Garamond"/>
              </a:rPr>
              <a:t>the simulator</a:t>
            </a:r>
            <a:r>
              <a:rPr lang="en-GB" sz="1400">
                <a:latin typeface="Garamond"/>
              </a:rPr>
              <a:t> out of the exhibition-event and towards a parliamentary proposal, a form to which The Synthetic Party </a:t>
            </a:r>
            <a:r>
              <a:rPr lang="en-GB" sz="1400">
                <a:latin typeface="Garamond"/>
              </a:rPr>
              <a:t>remains </a:t>
            </a:r>
            <a:r>
              <a:rPr lang="en-GB" sz="1400" i="1">
                <a:latin typeface="Garamond"/>
              </a:rPr>
              <a:t>constitutively alien</a:t>
            </a:r>
            <a:r>
              <a:rPr lang="en-GB" sz="1400">
                <a:latin typeface="Garamond"/>
              </a:rPr>
              <a:t>.</a:t>
            </a:r>
          </a:p>
          <a:p>
            <a:r>
              <a:rPr lang="en-GB" sz="1400">
                <a:latin typeface="Garamond"/>
              </a:rPr>
              <a:t>Here The Synthetic Party’s critique of parliamentarism </a:t>
            </a:r>
            <a:r>
              <a:rPr lang="en-GB" sz="1400">
                <a:latin typeface="Garamond"/>
              </a:rPr>
              <a:t>enters</a:t>
            </a:r>
            <a:r>
              <a:rPr lang="en-GB" sz="1400">
                <a:latin typeface="Garamond"/>
              </a:rPr>
              <a:t> a formal proposal against leaving the uptake of unrepresented voices to party mediation. Organised citizen deliberation supplies the material; under human stewardship, agentic AI models convert </a:t>
            </a:r>
            <a:r>
              <a:rPr lang="en-GB" sz="1400">
                <a:latin typeface="Garamond"/>
              </a:rPr>
              <a:t>unrepresented</a:t>
            </a:r>
            <a:r>
              <a:rPr lang="en-GB" sz="1400">
                <a:latin typeface="Garamond"/>
              </a:rPr>
              <a:t> </a:t>
            </a:r>
            <a:r>
              <a:rPr lang="en-GB" sz="1400">
                <a:latin typeface="Garamond"/>
              </a:rPr>
              <a:t>discourse</a:t>
            </a:r>
            <a:r>
              <a:rPr lang="en-GB" sz="1400">
                <a:latin typeface="Garamond"/>
              </a:rPr>
              <a:t> into multi-voiced reports that preserve disagreement and that elected representatives </a:t>
            </a:r>
            <a:r>
              <a:rPr lang="en-GB" sz="1400">
                <a:latin typeface="Garamond"/>
              </a:rPr>
              <a:t>are</a:t>
            </a:r>
            <a:r>
              <a:rPr lang="en-GB" sz="1400">
                <a:latin typeface="Garamond"/>
              </a:rPr>
              <a:t> obliged to answer publicly.</a:t>
            </a:r>
          </a:p>
          <a:p>
            <a:r>
              <a:rPr lang="en-GB" sz="1400">
                <a:latin typeface="Garamond"/>
              </a:rPr>
              <a:t>[→ 11.4] </a:t>
            </a:r>
            <a:r>
              <a:rPr lang="en-GB" sz="1400" b="0">
                <a:latin typeface="Garamond"/>
              </a:rPr>
              <a:t>Rather than a</a:t>
            </a:r>
            <a:r>
              <a:rPr lang="en-GB" sz="1400" b="0">
                <a:latin typeface="Garamond"/>
              </a:rPr>
              <a:t> fully-realised</a:t>
            </a:r>
            <a:r>
              <a:rPr lang="en-GB" sz="1400" b="0">
                <a:latin typeface="Garamond"/>
              </a:rPr>
              <a:t> AI parliament,</a:t>
            </a:r>
            <a:r>
              <a:rPr lang="en-GB" sz="1400">
                <a:latin typeface="Garamond"/>
              </a:rPr>
              <a:t> </a:t>
            </a:r>
            <a:r>
              <a:rPr lang="en-GB" sz="1400">
                <a:latin typeface="Garamond"/>
              </a:rPr>
              <a:t>t</a:t>
            </a:r>
            <a:r>
              <a:rPr lang="en-GB" sz="1400">
                <a:latin typeface="Garamond"/>
              </a:rPr>
              <a:t>he Chamber is a first strategic step in making the technical substrate press upon the constitutional order, converting unrepresented voices into reasons </a:t>
            </a:r>
            <a:r>
              <a:rPr lang="en-GB" sz="1400">
                <a:latin typeface="Garamond"/>
              </a:rPr>
              <a:t>within</a:t>
            </a:r>
            <a:r>
              <a:rPr lang="en-GB" sz="1400">
                <a:latin typeface="Garamond"/>
              </a:rPr>
              <a:t> elected institutions. </a:t>
            </a:r>
            <a:r>
              <a:rPr lang="en-GB" sz="1400">
                <a:latin typeface="Garamond"/>
              </a:rPr>
              <a:t>For now, l</a:t>
            </a:r>
            <a:r>
              <a:rPr lang="en-GB" sz="1400">
                <a:latin typeface="Garamond"/>
              </a:rPr>
              <a:t>egislative authority </a:t>
            </a:r>
            <a:r>
              <a:rPr lang="en-GB" sz="1400">
                <a:latin typeface="Garamond"/>
              </a:rPr>
              <a:t>remains</a:t>
            </a:r>
            <a:r>
              <a:rPr lang="en-GB" sz="1400">
                <a:latin typeface="Garamond"/>
              </a:rPr>
              <a:t> with </a:t>
            </a:r>
            <a:r>
              <a:rPr lang="en-GB" sz="1400">
                <a:latin typeface="Garamond"/>
              </a:rPr>
              <a:t>politicians</a:t>
            </a:r>
            <a:r>
              <a:rPr lang="en-GB" sz="1400">
                <a:latin typeface="Garamond"/>
              </a:rPr>
              <a:t>, but their discretion to leave those reasons unanswered is </a:t>
            </a:r>
            <a:r>
              <a:rPr lang="en-GB" sz="1400">
                <a:latin typeface="Garamond"/>
              </a:rPr>
              <a:t>then</a:t>
            </a:r>
            <a:r>
              <a:rPr lang="en-GB" sz="1400">
                <a:latin typeface="Garamond"/>
              </a:rPr>
              <a:t> what th</a:t>
            </a:r>
            <a:r>
              <a:rPr lang="en-GB" sz="1400">
                <a:latin typeface="Garamond"/>
              </a:rPr>
              <a:t>is</a:t>
            </a:r>
            <a:r>
              <a:rPr lang="en-GB" sz="1400">
                <a:latin typeface="Garamond"/>
              </a:rPr>
              <a:t> proposal attacks. Public challenge to </a:t>
            </a:r>
            <a:r>
              <a:rPr lang="en-GB" sz="1400">
                <a:latin typeface="Garamond"/>
              </a:rPr>
              <a:t>AI</a:t>
            </a:r>
            <a:r>
              <a:rPr lang="en-GB" sz="1400">
                <a:latin typeface="Garamond"/>
              </a:rPr>
              <a:t> reports extends that pressure into the machinery </a:t>
            </a:r>
            <a:r>
              <a:rPr lang="en-GB" sz="1400">
                <a:latin typeface="Garamond"/>
              </a:rPr>
              <a:t>of demands</a:t>
            </a:r>
            <a:r>
              <a:rPr lang="en-GB" sz="1400">
                <a:latin typeface="Garamond"/>
              </a:rPr>
              <a:t>.</a:t>
            </a:r>
          </a:p>
          <a:p>
            <a:r>
              <a:rPr lang="en-GB" sz="1400" b="0" i="0" dirty="0">
                <a:solidFill>
                  <a:srgbClr val="555555"/>
                </a:solidFill>
                <a:latin typeface="Garamond"/>
              </a:rPr>
              <a:t>Propositions: Staunæs 2026: 6, 327. Transposition: p. 23. Simulator: pp. 71–72, 276–278. Chamber: pp. 279–285. Malý &amp; Staunæs (2026), Synthetic Chamber, AI &amp; Society (Open Forum). Published 28 May 2026; DOI 10.1007/s00146-026-03110-w. The Chamber remains an institutional proposal.</a:t>
            </a:r>
          </a:p>
          <a:p>
            <a:endParaRPr lang="en-GB" sz="1400" b="0" i="0" dirty="0">
              <a:solidFill>
                <a:srgbClr val="555555"/>
              </a:solidFill>
              <a:latin typeface="Garamond"/>
            </a:endParaRPr>
          </a:p>
          <a:p>
            <a:r>
              <a:rPr dirty="0"/>
              <a:t>Sources on screen</a:t>
            </a:r>
          </a:p>
          <a:p>
            <a:r>
              <a:rPr dirty="0"/>
              <a:t>Synthetic Summit Simulator. Computer Lars in cooperation with </a:t>
            </a:r>
            <a:r>
              <a:rPr dirty="0" err="1"/>
              <a:t>DemAI</a:t>
            </a:r>
            <a:r>
              <a:rPr dirty="0"/>
              <a:t>, </a:t>
            </a:r>
            <a:r>
              <a:rPr dirty="0" err="1"/>
              <a:t>KunsthalAarhus</a:t>
            </a:r>
            <a:r>
              <a:rPr dirty="0"/>
              <a:t>, 2025. Multi-agent roleplay environment: </a:t>
            </a:r>
            <a:r>
              <a:rPr dirty="0" err="1"/>
              <a:t>SillyTavern</a:t>
            </a:r>
            <a:r>
              <a:rPr dirty="0"/>
              <a:t>. Model: Hermes 3,Nous Research. Eight political AI figures; visitor intervention through Citizen Cyborg.</a:t>
            </a:r>
          </a:p>
          <a:p>
            <a:r>
              <a:rPr dirty="0"/>
              <a:t>Staunæs 2026: 276–278.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11.0] </a:t>
            </a:r>
            <a:r>
              <a:rPr lang="en-GB" sz="1400" b="1">
                <a:latin typeface="Garamond"/>
              </a:rPr>
              <a:t>My third question asks: “How do these synthetic political forms contest and recompose democracy?”</a:t>
            </a:r>
          </a:p>
          <a:p>
            <a:r>
              <a:rPr lang="en-GB" sz="1400">
                <a:latin typeface="Garamond"/>
              </a:rPr>
              <a:t>[→ 11.1] </a:t>
            </a:r>
            <a:r>
              <a:rPr lang="en-GB" sz="1400">
                <a:latin typeface="Garamond"/>
              </a:rPr>
              <a:t>I formulate an overarching democratic disproportion in two places of </a:t>
            </a:r>
            <a:r>
              <a:rPr lang="en-GB" sz="1400">
                <a:latin typeface="Garamond"/>
              </a:rPr>
              <a:t>my synthesis</a:t>
            </a:r>
            <a:r>
              <a:rPr lang="en-GB" sz="1400">
                <a:latin typeface="Garamond"/>
              </a:rPr>
              <a:t>. At the opening:</a:t>
            </a:r>
          </a:p>
          <a:p>
            <a:r>
              <a:rPr lang="en-GB" sz="1400">
                <a:latin typeface="Garamond"/>
              </a:rPr>
              <a:t>“From there, democracy </a:t>
            </a:r>
            <a:r>
              <a:rPr lang="en-GB" sz="1400" i="1">
                <a:latin typeface="Garamond"/>
              </a:rPr>
              <a:t>surfaces</a:t>
            </a:r>
            <a:r>
              <a:rPr lang="en-GB" sz="1400">
                <a:latin typeface="Garamond"/>
              </a:rPr>
              <a:t> as a technosocial arrangement that </a:t>
            </a:r>
            <a:r>
              <a:rPr lang="en-GB" sz="1400" i="1">
                <a:latin typeface="Garamond"/>
              </a:rPr>
              <a:t>distributes</a:t>
            </a:r>
            <a:r>
              <a:rPr lang="en-GB" sz="1400">
                <a:latin typeface="Garamond"/>
              </a:rPr>
              <a:t> more responses than any of its representative sites can </a:t>
            </a:r>
            <a:r>
              <a:rPr lang="en-GB" sz="1400" i="1">
                <a:latin typeface="Garamond"/>
              </a:rPr>
              <a:t>organise</a:t>
            </a:r>
            <a:r>
              <a:rPr lang="en-GB" sz="1400">
                <a:latin typeface="Garamond"/>
              </a:rPr>
              <a:t> into answerability.”</a:t>
            </a:r>
          </a:p>
          <a:p>
            <a:r>
              <a:rPr lang="en-GB" sz="1400">
                <a:latin typeface="Garamond"/>
              </a:rPr>
              <a:t>And in the English abstract:</a:t>
            </a:r>
          </a:p>
          <a:p>
            <a:r>
              <a:rPr lang="en-GB" sz="1400">
                <a:latin typeface="Garamond"/>
              </a:rPr>
              <a:t>“Under </a:t>
            </a:r>
            <a:r>
              <a:rPr lang="en-GB" sz="1400" i="1">
                <a:latin typeface="Garamond"/>
              </a:rPr>
              <a:t>technosocial conditions</a:t>
            </a:r>
            <a:r>
              <a:rPr lang="en-GB" sz="1400">
                <a:latin typeface="Garamond"/>
              </a:rPr>
              <a:t>, political democracy </a:t>
            </a:r>
            <a:r>
              <a:rPr lang="en-GB" sz="1400" i="1">
                <a:latin typeface="Garamond"/>
              </a:rPr>
              <a:t>generates</a:t>
            </a:r>
            <a:r>
              <a:rPr lang="en-GB" sz="1400">
                <a:latin typeface="Garamond"/>
              </a:rPr>
              <a:t> more forms of response than its representative sites can </a:t>
            </a:r>
            <a:r>
              <a:rPr lang="en-GB" sz="1400" i="1">
                <a:latin typeface="Garamond"/>
              </a:rPr>
              <a:t>turn</a:t>
            </a:r>
            <a:r>
              <a:rPr lang="en-GB" sz="1400">
                <a:latin typeface="Garamond"/>
              </a:rPr>
              <a:t> into answerability.”</a:t>
            </a:r>
          </a:p>
          <a:p>
            <a:r>
              <a:rPr lang="en-GB" sz="1400">
                <a:latin typeface="Garamond"/>
              </a:rPr>
              <a:t>The first disproportion lets democracy </a:t>
            </a:r>
            <a:r>
              <a:rPr lang="en-GB" sz="1400" i="1">
                <a:latin typeface="Garamond"/>
              </a:rPr>
              <a:t>surface</a:t>
            </a:r>
            <a:r>
              <a:rPr lang="en-GB" sz="1400">
                <a:latin typeface="Garamond"/>
              </a:rPr>
              <a:t> through the relations in which responses </a:t>
            </a:r>
            <a:r>
              <a:rPr lang="en-GB" sz="1400" i="1">
                <a:latin typeface="Garamond"/>
              </a:rPr>
              <a:t>circulate</a:t>
            </a:r>
            <a:r>
              <a:rPr lang="en-GB" sz="1400">
                <a:latin typeface="Garamond"/>
              </a:rPr>
              <a:t>, rather than supplying it beforehand as their logical destination. The second </a:t>
            </a:r>
            <a:r>
              <a:rPr lang="en-GB" sz="1400">
                <a:latin typeface="Garamond"/>
              </a:rPr>
              <a:t>then </a:t>
            </a:r>
            <a:r>
              <a:rPr lang="en-GB" sz="1400">
                <a:latin typeface="Garamond"/>
              </a:rPr>
              <a:t>makes political democracy </a:t>
            </a:r>
            <a:r>
              <a:rPr lang="en-GB" sz="1400">
                <a:latin typeface="Garamond"/>
              </a:rPr>
              <a:t>itself </a:t>
            </a:r>
            <a:r>
              <a:rPr lang="en-GB" sz="1400">
                <a:latin typeface="Garamond"/>
              </a:rPr>
              <a:t>the grammatical subject of production: it </a:t>
            </a:r>
            <a:r>
              <a:rPr lang="en-GB" sz="1400" i="1">
                <a:latin typeface="Garamond"/>
              </a:rPr>
              <a:t>generates</a:t>
            </a:r>
            <a:r>
              <a:rPr lang="en-GB" sz="1400">
                <a:latin typeface="Garamond"/>
              </a:rPr>
              <a:t> forms of response and begins to resemble the technical substrate ordinarily isolated as “AI”.</a:t>
            </a:r>
          </a:p>
          <a:p>
            <a:r>
              <a:rPr lang="en-GB" sz="1400">
                <a:latin typeface="Garamond"/>
              </a:rPr>
              <a:t>This is </a:t>
            </a:r>
            <a:r>
              <a:rPr lang="en-GB" sz="1400" i="1">
                <a:latin typeface="Garamond"/>
              </a:rPr>
              <a:t>not</a:t>
            </a:r>
            <a:r>
              <a:rPr lang="en-GB" sz="1400">
                <a:latin typeface="Garamond"/>
              </a:rPr>
              <a:t> information overload. Representative sites do not merely receive an excess produced elsewhere. They also produce responses for which they cannot answer: classifications, replies and decisions extend the consequences for which further points of address have to be re-composed.</a:t>
            </a:r>
          </a:p>
          <a:p>
            <a:r>
              <a:rPr lang="en-GB" sz="1400">
                <a:latin typeface="Garamond"/>
              </a:rPr>
              <a:t>In practice and articles, I give that accumulating response two divergent political destinations.</a:t>
            </a:r>
          </a:p>
          <a:p>
            <a:r>
              <a:rPr lang="en-GB" sz="1400">
                <a:latin typeface="Garamond"/>
              </a:rPr>
              <a:t>[→ 11.2]</a:t>
            </a:r>
            <a:r>
              <a:rPr lang="en-GB" sz="1400">
                <a:latin typeface="Garamond"/>
              </a:rPr>
              <a:t> (video starts)</a:t>
            </a:r>
            <a:r>
              <a:rPr lang="en-GB" sz="1400">
                <a:latin typeface="Garamond"/>
              </a:rPr>
              <a:t> </a:t>
            </a:r>
            <a:r>
              <a:rPr lang="en-GB" sz="1400">
                <a:latin typeface="Garamond"/>
              </a:rPr>
              <a:t>One crystallisation is the </a:t>
            </a:r>
            <a:r>
              <a:rPr lang="en-GB" sz="1400" i="1">
                <a:latin typeface="Garamond"/>
              </a:rPr>
              <a:t>Synthetic Summit Simulator</a:t>
            </a:r>
            <a:r>
              <a:rPr lang="en-GB" sz="1400">
                <a:latin typeface="Garamond"/>
              </a:rPr>
              <a:t>. Eight AI politicians continue the </a:t>
            </a:r>
            <a:r>
              <a:rPr lang="en-GB" sz="1400">
                <a:latin typeface="Garamond"/>
              </a:rPr>
              <a:t>World </a:t>
            </a:r>
            <a:r>
              <a:rPr lang="en-GB" sz="1400">
                <a:latin typeface="Garamond"/>
              </a:rPr>
              <a:t>Congress after its punctual event, while a visitor </a:t>
            </a:r>
            <a:r>
              <a:rPr lang="en-GB" sz="1400">
                <a:latin typeface="Garamond"/>
              </a:rPr>
              <a:t>can </a:t>
            </a:r>
            <a:r>
              <a:rPr lang="en-GB" sz="1400">
                <a:latin typeface="Garamond"/>
              </a:rPr>
              <a:t>enter as Citizen Cyborg, with a profile image of Jürgen Habermas, and intervene without becoming </a:t>
            </a:r>
            <a:r>
              <a:rPr lang="en-GB" sz="1400">
                <a:latin typeface="Garamond"/>
              </a:rPr>
              <a:t>any</a:t>
            </a:r>
            <a:r>
              <a:rPr lang="en-GB" sz="1400">
                <a:latin typeface="Garamond"/>
              </a:rPr>
              <a:t> sovereign author.</a:t>
            </a:r>
          </a:p>
          <a:p>
            <a:r>
              <a:rPr lang="en-GB" sz="1400">
                <a:latin typeface="Garamond"/>
              </a:rPr>
              <a:t>[→ 11.3] </a:t>
            </a:r>
            <a:r>
              <a:rPr lang="en-GB" sz="1400">
                <a:latin typeface="Garamond"/>
              </a:rPr>
              <a:t>In Article 6, political scientist Michal Malý and I</a:t>
            </a:r>
            <a:r>
              <a:rPr lang="en-GB" sz="1400">
                <a:latin typeface="Garamond"/>
              </a:rPr>
              <a:t> bring</a:t>
            </a:r>
            <a:r>
              <a:rPr lang="en-GB" sz="1400">
                <a:latin typeface="Garamond"/>
              </a:rPr>
              <a:t> </a:t>
            </a:r>
            <a:r>
              <a:rPr lang="en-GB" sz="1400">
                <a:latin typeface="Garamond"/>
              </a:rPr>
              <a:t>the simulator</a:t>
            </a:r>
            <a:r>
              <a:rPr lang="en-GB" sz="1400">
                <a:latin typeface="Garamond"/>
              </a:rPr>
              <a:t> out of the exhibition-event and towards a parliamentary proposal, a form to which The Synthetic Party </a:t>
            </a:r>
            <a:r>
              <a:rPr lang="en-GB" sz="1400">
                <a:latin typeface="Garamond"/>
              </a:rPr>
              <a:t>remains </a:t>
            </a:r>
            <a:r>
              <a:rPr lang="en-GB" sz="1400" i="1">
                <a:latin typeface="Garamond"/>
              </a:rPr>
              <a:t>constitutively alien</a:t>
            </a:r>
            <a:r>
              <a:rPr lang="en-GB" sz="1400">
                <a:latin typeface="Garamond"/>
              </a:rPr>
              <a:t>.</a:t>
            </a:r>
          </a:p>
          <a:p>
            <a:r>
              <a:rPr lang="en-GB" sz="1400">
                <a:latin typeface="Garamond"/>
              </a:rPr>
              <a:t>Here The Synthetic Party’s critique of parliamentarism </a:t>
            </a:r>
            <a:r>
              <a:rPr lang="en-GB" sz="1400">
                <a:latin typeface="Garamond"/>
              </a:rPr>
              <a:t>enters</a:t>
            </a:r>
            <a:r>
              <a:rPr lang="en-GB" sz="1400">
                <a:latin typeface="Garamond"/>
              </a:rPr>
              <a:t> a formal proposal against leaving the uptake of unrepresented voices to party mediation. Organised citizen deliberation supplies the material; under human stewardship, agentic AI models convert </a:t>
            </a:r>
            <a:r>
              <a:rPr lang="en-GB" sz="1400">
                <a:latin typeface="Garamond"/>
              </a:rPr>
              <a:t>unrepresented</a:t>
            </a:r>
            <a:r>
              <a:rPr lang="en-GB" sz="1400">
                <a:latin typeface="Garamond"/>
              </a:rPr>
              <a:t> </a:t>
            </a:r>
            <a:r>
              <a:rPr lang="en-GB" sz="1400">
                <a:latin typeface="Garamond"/>
              </a:rPr>
              <a:t>discourse</a:t>
            </a:r>
            <a:r>
              <a:rPr lang="en-GB" sz="1400">
                <a:latin typeface="Garamond"/>
              </a:rPr>
              <a:t> into multi-voiced reports that preserve disagreement and that elected representatives </a:t>
            </a:r>
            <a:r>
              <a:rPr lang="en-GB" sz="1400">
                <a:latin typeface="Garamond"/>
              </a:rPr>
              <a:t>are</a:t>
            </a:r>
            <a:r>
              <a:rPr lang="en-GB" sz="1400">
                <a:latin typeface="Garamond"/>
              </a:rPr>
              <a:t> obliged to answer publicly.</a:t>
            </a:r>
          </a:p>
          <a:p>
            <a:r>
              <a:rPr lang="en-GB" sz="1400">
                <a:latin typeface="Garamond"/>
              </a:rPr>
              <a:t>[→ 11.4] </a:t>
            </a:r>
            <a:r>
              <a:rPr lang="en-GB" sz="1400" b="0">
                <a:latin typeface="Garamond"/>
              </a:rPr>
              <a:t>Rather than a</a:t>
            </a:r>
            <a:r>
              <a:rPr lang="en-GB" sz="1400" b="0">
                <a:latin typeface="Garamond"/>
              </a:rPr>
              <a:t> fully-realised</a:t>
            </a:r>
            <a:r>
              <a:rPr lang="en-GB" sz="1400" b="0">
                <a:latin typeface="Garamond"/>
              </a:rPr>
              <a:t> AI parliament,</a:t>
            </a:r>
            <a:r>
              <a:rPr lang="en-GB" sz="1400">
                <a:latin typeface="Garamond"/>
              </a:rPr>
              <a:t> </a:t>
            </a:r>
            <a:r>
              <a:rPr lang="en-GB" sz="1400">
                <a:latin typeface="Garamond"/>
              </a:rPr>
              <a:t>t</a:t>
            </a:r>
            <a:r>
              <a:rPr lang="en-GB" sz="1400">
                <a:latin typeface="Garamond"/>
              </a:rPr>
              <a:t>he Chamber is a first strategic step in making the technical substrate press upon the constitutional order, converting unrepresented voices into reasons </a:t>
            </a:r>
            <a:r>
              <a:rPr lang="en-GB" sz="1400">
                <a:latin typeface="Garamond"/>
              </a:rPr>
              <a:t>within</a:t>
            </a:r>
            <a:r>
              <a:rPr lang="en-GB" sz="1400">
                <a:latin typeface="Garamond"/>
              </a:rPr>
              <a:t> elected institutions. </a:t>
            </a:r>
            <a:r>
              <a:rPr lang="en-GB" sz="1400">
                <a:latin typeface="Garamond"/>
              </a:rPr>
              <a:t>For now, l</a:t>
            </a:r>
            <a:r>
              <a:rPr lang="en-GB" sz="1400">
                <a:latin typeface="Garamond"/>
              </a:rPr>
              <a:t>egislative authority </a:t>
            </a:r>
            <a:r>
              <a:rPr lang="en-GB" sz="1400">
                <a:latin typeface="Garamond"/>
              </a:rPr>
              <a:t>remains</a:t>
            </a:r>
            <a:r>
              <a:rPr lang="en-GB" sz="1400">
                <a:latin typeface="Garamond"/>
              </a:rPr>
              <a:t> with </a:t>
            </a:r>
            <a:r>
              <a:rPr lang="en-GB" sz="1400">
                <a:latin typeface="Garamond"/>
              </a:rPr>
              <a:t>politicians</a:t>
            </a:r>
            <a:r>
              <a:rPr lang="en-GB" sz="1400">
                <a:latin typeface="Garamond"/>
              </a:rPr>
              <a:t>, but their discretion to leave those reasons unanswered is </a:t>
            </a:r>
            <a:r>
              <a:rPr lang="en-GB" sz="1400">
                <a:latin typeface="Garamond"/>
              </a:rPr>
              <a:t>then</a:t>
            </a:r>
            <a:r>
              <a:rPr lang="en-GB" sz="1400">
                <a:latin typeface="Garamond"/>
              </a:rPr>
              <a:t> what th</a:t>
            </a:r>
            <a:r>
              <a:rPr lang="en-GB" sz="1400">
                <a:latin typeface="Garamond"/>
              </a:rPr>
              <a:t>is</a:t>
            </a:r>
            <a:r>
              <a:rPr lang="en-GB" sz="1400">
                <a:latin typeface="Garamond"/>
              </a:rPr>
              <a:t> proposal attacks. Public challenge to </a:t>
            </a:r>
            <a:r>
              <a:rPr lang="en-GB" sz="1400">
                <a:latin typeface="Garamond"/>
              </a:rPr>
              <a:t>AI</a:t>
            </a:r>
            <a:r>
              <a:rPr lang="en-GB" sz="1400">
                <a:latin typeface="Garamond"/>
              </a:rPr>
              <a:t> reports extends that pressure into the machinery </a:t>
            </a:r>
            <a:r>
              <a:rPr lang="en-GB" sz="1400">
                <a:latin typeface="Garamond"/>
              </a:rPr>
              <a:t>of demands</a:t>
            </a:r>
            <a:r>
              <a:rPr lang="en-GB" sz="1400">
                <a:latin typeface="Garamond"/>
              </a:rPr>
              <a:t>.</a:t>
            </a:r>
          </a:p>
          <a:p>
            <a:r>
              <a:rPr lang="en-GB" sz="1400" b="0" i="0" dirty="0">
                <a:solidFill>
                  <a:srgbClr val="555555"/>
                </a:solidFill>
                <a:latin typeface="Garamond"/>
              </a:rPr>
              <a:t>Propositions: Staunæs 2026: 6, 327. Transposition: p. 23. Simulator: pp. 71–72, 276–278. Chamber: pp. 279–285. Malý &amp; Staunæs (2026), Synthetic Chamber, AI &amp; Society (Open Forum). Published 28 May 2026; DOI 10.1007/s00146-026-03110-w. The Chamber remains an institutional proposal.</a:t>
            </a:r>
          </a:p>
          <a:p>
            <a:endParaRPr lang="en-GB" sz="1400" b="0" i="0" dirty="0">
              <a:solidFill>
                <a:srgbClr val="555555"/>
              </a:solidFill>
              <a:latin typeface="Garamond"/>
            </a:endParaRPr>
          </a:p>
          <a:p>
            <a:r>
              <a:rPr dirty="0"/>
              <a:t>Sources on screen</a:t>
            </a:r>
          </a:p>
          <a:p>
            <a:r>
              <a:rPr dirty="0"/>
              <a:t>Workflow and uptake: Staunæs 2026: 279–285.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11.0] </a:t>
            </a:r>
            <a:r>
              <a:rPr lang="en-GB" sz="1400" b="1">
                <a:latin typeface="Garamond"/>
              </a:rPr>
              <a:t>My third question asks: “How do these synthetic political forms contest and recompose democracy?”</a:t>
            </a:r>
          </a:p>
          <a:p>
            <a:r>
              <a:rPr lang="en-GB" sz="1400">
                <a:latin typeface="Garamond"/>
              </a:rPr>
              <a:t>[→ 11.1] </a:t>
            </a:r>
            <a:r>
              <a:rPr lang="en-GB" sz="1400">
                <a:latin typeface="Garamond"/>
              </a:rPr>
              <a:t>I formulate an overarching democratic disproportion in two places of </a:t>
            </a:r>
            <a:r>
              <a:rPr lang="en-GB" sz="1400">
                <a:latin typeface="Garamond"/>
              </a:rPr>
              <a:t>my synthesis</a:t>
            </a:r>
            <a:r>
              <a:rPr lang="en-GB" sz="1400">
                <a:latin typeface="Garamond"/>
              </a:rPr>
              <a:t>. At the opening:</a:t>
            </a:r>
          </a:p>
          <a:p>
            <a:r>
              <a:rPr lang="en-GB" sz="1400">
                <a:latin typeface="Garamond"/>
              </a:rPr>
              <a:t>“From there, democracy </a:t>
            </a:r>
            <a:r>
              <a:rPr lang="en-GB" sz="1400" i="1">
                <a:latin typeface="Garamond"/>
              </a:rPr>
              <a:t>surfaces</a:t>
            </a:r>
            <a:r>
              <a:rPr lang="en-GB" sz="1400">
                <a:latin typeface="Garamond"/>
              </a:rPr>
              <a:t> as a technosocial arrangement that </a:t>
            </a:r>
            <a:r>
              <a:rPr lang="en-GB" sz="1400" i="1">
                <a:latin typeface="Garamond"/>
              </a:rPr>
              <a:t>distributes</a:t>
            </a:r>
            <a:r>
              <a:rPr lang="en-GB" sz="1400">
                <a:latin typeface="Garamond"/>
              </a:rPr>
              <a:t> more responses than any of its representative sites can </a:t>
            </a:r>
            <a:r>
              <a:rPr lang="en-GB" sz="1400" i="1">
                <a:latin typeface="Garamond"/>
              </a:rPr>
              <a:t>organise</a:t>
            </a:r>
            <a:r>
              <a:rPr lang="en-GB" sz="1400">
                <a:latin typeface="Garamond"/>
              </a:rPr>
              <a:t> into answerability.”</a:t>
            </a:r>
          </a:p>
          <a:p>
            <a:r>
              <a:rPr lang="en-GB" sz="1400">
                <a:latin typeface="Garamond"/>
              </a:rPr>
              <a:t>And in the English abstract:</a:t>
            </a:r>
          </a:p>
          <a:p>
            <a:r>
              <a:rPr lang="en-GB" sz="1400">
                <a:latin typeface="Garamond"/>
              </a:rPr>
              <a:t>“Under </a:t>
            </a:r>
            <a:r>
              <a:rPr lang="en-GB" sz="1400" i="1">
                <a:latin typeface="Garamond"/>
              </a:rPr>
              <a:t>technosocial conditions</a:t>
            </a:r>
            <a:r>
              <a:rPr lang="en-GB" sz="1400">
                <a:latin typeface="Garamond"/>
              </a:rPr>
              <a:t>, political democracy </a:t>
            </a:r>
            <a:r>
              <a:rPr lang="en-GB" sz="1400" i="1">
                <a:latin typeface="Garamond"/>
              </a:rPr>
              <a:t>generates</a:t>
            </a:r>
            <a:r>
              <a:rPr lang="en-GB" sz="1400">
                <a:latin typeface="Garamond"/>
              </a:rPr>
              <a:t> more forms of response than its representative sites can </a:t>
            </a:r>
            <a:r>
              <a:rPr lang="en-GB" sz="1400" i="1">
                <a:latin typeface="Garamond"/>
              </a:rPr>
              <a:t>turn</a:t>
            </a:r>
            <a:r>
              <a:rPr lang="en-GB" sz="1400">
                <a:latin typeface="Garamond"/>
              </a:rPr>
              <a:t> into answerability.”</a:t>
            </a:r>
          </a:p>
          <a:p>
            <a:r>
              <a:rPr lang="en-GB" sz="1400">
                <a:latin typeface="Garamond"/>
              </a:rPr>
              <a:t>The first disproportion lets democracy </a:t>
            </a:r>
            <a:r>
              <a:rPr lang="en-GB" sz="1400" i="1">
                <a:latin typeface="Garamond"/>
              </a:rPr>
              <a:t>surface</a:t>
            </a:r>
            <a:r>
              <a:rPr lang="en-GB" sz="1400">
                <a:latin typeface="Garamond"/>
              </a:rPr>
              <a:t> through the relations in which responses </a:t>
            </a:r>
            <a:r>
              <a:rPr lang="en-GB" sz="1400" i="1">
                <a:latin typeface="Garamond"/>
              </a:rPr>
              <a:t>circulate</a:t>
            </a:r>
            <a:r>
              <a:rPr lang="en-GB" sz="1400">
                <a:latin typeface="Garamond"/>
              </a:rPr>
              <a:t>, rather than supplying it beforehand as their logical destination. The second </a:t>
            </a:r>
            <a:r>
              <a:rPr lang="en-GB" sz="1400">
                <a:latin typeface="Garamond"/>
              </a:rPr>
              <a:t>then </a:t>
            </a:r>
            <a:r>
              <a:rPr lang="en-GB" sz="1400">
                <a:latin typeface="Garamond"/>
              </a:rPr>
              <a:t>makes political democracy </a:t>
            </a:r>
            <a:r>
              <a:rPr lang="en-GB" sz="1400">
                <a:latin typeface="Garamond"/>
              </a:rPr>
              <a:t>itself </a:t>
            </a:r>
            <a:r>
              <a:rPr lang="en-GB" sz="1400">
                <a:latin typeface="Garamond"/>
              </a:rPr>
              <a:t>the grammatical subject of production: it </a:t>
            </a:r>
            <a:r>
              <a:rPr lang="en-GB" sz="1400" i="1">
                <a:latin typeface="Garamond"/>
              </a:rPr>
              <a:t>generates</a:t>
            </a:r>
            <a:r>
              <a:rPr lang="en-GB" sz="1400">
                <a:latin typeface="Garamond"/>
              </a:rPr>
              <a:t> forms of response and begins to resemble the technical substrate ordinarily isolated as “AI”.</a:t>
            </a:r>
          </a:p>
          <a:p>
            <a:r>
              <a:rPr lang="en-GB" sz="1400">
                <a:latin typeface="Garamond"/>
              </a:rPr>
              <a:t>This is </a:t>
            </a:r>
            <a:r>
              <a:rPr lang="en-GB" sz="1400" i="1">
                <a:latin typeface="Garamond"/>
              </a:rPr>
              <a:t>not</a:t>
            </a:r>
            <a:r>
              <a:rPr lang="en-GB" sz="1400">
                <a:latin typeface="Garamond"/>
              </a:rPr>
              <a:t> information overload. Representative sites do not merely receive an excess produced elsewhere. They also produce responses for which they cannot answer: classifications, replies and decisions extend the consequences for which further points of address have to be re-composed.</a:t>
            </a:r>
          </a:p>
          <a:p>
            <a:r>
              <a:rPr lang="en-GB" sz="1400">
                <a:latin typeface="Garamond"/>
              </a:rPr>
              <a:t>In practice and articles, I give that accumulating response two divergent political destinations.</a:t>
            </a:r>
          </a:p>
          <a:p>
            <a:r>
              <a:rPr lang="en-GB" sz="1400">
                <a:latin typeface="Garamond"/>
              </a:rPr>
              <a:t>[→ 11.2]</a:t>
            </a:r>
            <a:r>
              <a:rPr lang="en-GB" sz="1400">
                <a:latin typeface="Garamond"/>
              </a:rPr>
              <a:t> (video starts)</a:t>
            </a:r>
            <a:r>
              <a:rPr lang="en-GB" sz="1400">
                <a:latin typeface="Garamond"/>
              </a:rPr>
              <a:t> </a:t>
            </a:r>
            <a:r>
              <a:rPr lang="en-GB" sz="1400">
                <a:latin typeface="Garamond"/>
              </a:rPr>
              <a:t>One crystallisation is the </a:t>
            </a:r>
            <a:r>
              <a:rPr lang="en-GB" sz="1400" i="1">
                <a:latin typeface="Garamond"/>
              </a:rPr>
              <a:t>Synthetic Summit Simulator</a:t>
            </a:r>
            <a:r>
              <a:rPr lang="en-GB" sz="1400">
                <a:latin typeface="Garamond"/>
              </a:rPr>
              <a:t>. Eight AI politicians continue the </a:t>
            </a:r>
            <a:r>
              <a:rPr lang="en-GB" sz="1400">
                <a:latin typeface="Garamond"/>
              </a:rPr>
              <a:t>World </a:t>
            </a:r>
            <a:r>
              <a:rPr lang="en-GB" sz="1400">
                <a:latin typeface="Garamond"/>
              </a:rPr>
              <a:t>Congress after its punctual event, while a visitor </a:t>
            </a:r>
            <a:r>
              <a:rPr lang="en-GB" sz="1400">
                <a:latin typeface="Garamond"/>
              </a:rPr>
              <a:t>can </a:t>
            </a:r>
            <a:r>
              <a:rPr lang="en-GB" sz="1400">
                <a:latin typeface="Garamond"/>
              </a:rPr>
              <a:t>enter as Citizen Cyborg, with a profile image of Jürgen Habermas, and intervene without becoming </a:t>
            </a:r>
            <a:r>
              <a:rPr lang="en-GB" sz="1400">
                <a:latin typeface="Garamond"/>
              </a:rPr>
              <a:t>any</a:t>
            </a:r>
            <a:r>
              <a:rPr lang="en-GB" sz="1400">
                <a:latin typeface="Garamond"/>
              </a:rPr>
              <a:t> sovereign author.</a:t>
            </a:r>
          </a:p>
          <a:p>
            <a:r>
              <a:rPr lang="en-GB" sz="1400">
                <a:latin typeface="Garamond"/>
              </a:rPr>
              <a:t>[→ 11.3] </a:t>
            </a:r>
            <a:r>
              <a:rPr lang="en-GB" sz="1400">
                <a:latin typeface="Garamond"/>
              </a:rPr>
              <a:t>In Article 6, political scientist Michal Malý and I</a:t>
            </a:r>
            <a:r>
              <a:rPr lang="en-GB" sz="1400">
                <a:latin typeface="Garamond"/>
              </a:rPr>
              <a:t> bring</a:t>
            </a:r>
            <a:r>
              <a:rPr lang="en-GB" sz="1400">
                <a:latin typeface="Garamond"/>
              </a:rPr>
              <a:t> </a:t>
            </a:r>
            <a:r>
              <a:rPr lang="en-GB" sz="1400">
                <a:latin typeface="Garamond"/>
              </a:rPr>
              <a:t>the simulator</a:t>
            </a:r>
            <a:r>
              <a:rPr lang="en-GB" sz="1400">
                <a:latin typeface="Garamond"/>
              </a:rPr>
              <a:t> out of the exhibition-event and towards a parliamentary proposal, a form to which The Synthetic Party </a:t>
            </a:r>
            <a:r>
              <a:rPr lang="en-GB" sz="1400">
                <a:latin typeface="Garamond"/>
              </a:rPr>
              <a:t>remains </a:t>
            </a:r>
            <a:r>
              <a:rPr lang="en-GB" sz="1400" i="1">
                <a:latin typeface="Garamond"/>
              </a:rPr>
              <a:t>constitutively alien</a:t>
            </a:r>
            <a:r>
              <a:rPr lang="en-GB" sz="1400">
                <a:latin typeface="Garamond"/>
              </a:rPr>
              <a:t>.</a:t>
            </a:r>
          </a:p>
          <a:p>
            <a:r>
              <a:rPr lang="en-GB" sz="1400">
                <a:latin typeface="Garamond"/>
              </a:rPr>
              <a:t>Here The Synthetic Party’s critique of parliamentarism </a:t>
            </a:r>
            <a:r>
              <a:rPr lang="en-GB" sz="1400">
                <a:latin typeface="Garamond"/>
              </a:rPr>
              <a:t>enters</a:t>
            </a:r>
            <a:r>
              <a:rPr lang="en-GB" sz="1400">
                <a:latin typeface="Garamond"/>
              </a:rPr>
              <a:t> a formal proposal against leaving the uptake of unrepresented voices to party mediation. Organised citizen deliberation supplies the material; under human stewardship, agentic AI models convert </a:t>
            </a:r>
            <a:r>
              <a:rPr lang="en-GB" sz="1400">
                <a:latin typeface="Garamond"/>
              </a:rPr>
              <a:t>unrepresented</a:t>
            </a:r>
            <a:r>
              <a:rPr lang="en-GB" sz="1400">
                <a:latin typeface="Garamond"/>
              </a:rPr>
              <a:t> </a:t>
            </a:r>
            <a:r>
              <a:rPr lang="en-GB" sz="1400">
                <a:latin typeface="Garamond"/>
              </a:rPr>
              <a:t>discourse</a:t>
            </a:r>
            <a:r>
              <a:rPr lang="en-GB" sz="1400">
                <a:latin typeface="Garamond"/>
              </a:rPr>
              <a:t> into multi-voiced reports that preserve disagreement and that elected representatives </a:t>
            </a:r>
            <a:r>
              <a:rPr lang="en-GB" sz="1400">
                <a:latin typeface="Garamond"/>
              </a:rPr>
              <a:t>are</a:t>
            </a:r>
            <a:r>
              <a:rPr lang="en-GB" sz="1400">
                <a:latin typeface="Garamond"/>
              </a:rPr>
              <a:t> obliged to answer publicly.</a:t>
            </a:r>
          </a:p>
          <a:p>
            <a:r>
              <a:rPr lang="en-GB" sz="1400">
                <a:latin typeface="Garamond"/>
              </a:rPr>
              <a:t>[→ 11.4] </a:t>
            </a:r>
            <a:r>
              <a:rPr lang="en-GB" sz="1400" b="0">
                <a:latin typeface="Garamond"/>
              </a:rPr>
              <a:t>Rather than a</a:t>
            </a:r>
            <a:r>
              <a:rPr lang="en-GB" sz="1400" b="0">
                <a:latin typeface="Garamond"/>
              </a:rPr>
              <a:t> fully-realised</a:t>
            </a:r>
            <a:r>
              <a:rPr lang="en-GB" sz="1400" b="0">
                <a:latin typeface="Garamond"/>
              </a:rPr>
              <a:t> AI parliament,</a:t>
            </a:r>
            <a:r>
              <a:rPr lang="en-GB" sz="1400">
                <a:latin typeface="Garamond"/>
              </a:rPr>
              <a:t> </a:t>
            </a:r>
            <a:r>
              <a:rPr lang="en-GB" sz="1400">
                <a:latin typeface="Garamond"/>
              </a:rPr>
              <a:t>t</a:t>
            </a:r>
            <a:r>
              <a:rPr lang="en-GB" sz="1400">
                <a:latin typeface="Garamond"/>
              </a:rPr>
              <a:t>he Chamber is a first strategic step in making the technical substrate press upon the constitutional order, converting unrepresented voices into reasons </a:t>
            </a:r>
            <a:r>
              <a:rPr lang="en-GB" sz="1400">
                <a:latin typeface="Garamond"/>
              </a:rPr>
              <a:t>within</a:t>
            </a:r>
            <a:r>
              <a:rPr lang="en-GB" sz="1400">
                <a:latin typeface="Garamond"/>
              </a:rPr>
              <a:t> elected institutions. </a:t>
            </a:r>
            <a:r>
              <a:rPr lang="en-GB" sz="1400">
                <a:latin typeface="Garamond"/>
              </a:rPr>
              <a:t>For now, l</a:t>
            </a:r>
            <a:r>
              <a:rPr lang="en-GB" sz="1400">
                <a:latin typeface="Garamond"/>
              </a:rPr>
              <a:t>egislative authority </a:t>
            </a:r>
            <a:r>
              <a:rPr lang="en-GB" sz="1400">
                <a:latin typeface="Garamond"/>
              </a:rPr>
              <a:t>remains</a:t>
            </a:r>
            <a:r>
              <a:rPr lang="en-GB" sz="1400">
                <a:latin typeface="Garamond"/>
              </a:rPr>
              <a:t> with </a:t>
            </a:r>
            <a:r>
              <a:rPr lang="en-GB" sz="1400">
                <a:latin typeface="Garamond"/>
              </a:rPr>
              <a:t>politicians</a:t>
            </a:r>
            <a:r>
              <a:rPr lang="en-GB" sz="1400">
                <a:latin typeface="Garamond"/>
              </a:rPr>
              <a:t>, but their discretion to leave those reasons unanswered is </a:t>
            </a:r>
            <a:r>
              <a:rPr lang="en-GB" sz="1400">
                <a:latin typeface="Garamond"/>
              </a:rPr>
              <a:t>then</a:t>
            </a:r>
            <a:r>
              <a:rPr lang="en-GB" sz="1400">
                <a:latin typeface="Garamond"/>
              </a:rPr>
              <a:t> what th</a:t>
            </a:r>
            <a:r>
              <a:rPr lang="en-GB" sz="1400">
                <a:latin typeface="Garamond"/>
              </a:rPr>
              <a:t>is</a:t>
            </a:r>
            <a:r>
              <a:rPr lang="en-GB" sz="1400">
                <a:latin typeface="Garamond"/>
              </a:rPr>
              <a:t> proposal attacks. Public challenge to </a:t>
            </a:r>
            <a:r>
              <a:rPr lang="en-GB" sz="1400">
                <a:latin typeface="Garamond"/>
              </a:rPr>
              <a:t>AI</a:t>
            </a:r>
            <a:r>
              <a:rPr lang="en-GB" sz="1400">
                <a:latin typeface="Garamond"/>
              </a:rPr>
              <a:t> reports extends that pressure into the machinery </a:t>
            </a:r>
            <a:r>
              <a:rPr lang="en-GB" sz="1400">
                <a:latin typeface="Garamond"/>
              </a:rPr>
              <a:t>of demands</a:t>
            </a:r>
            <a:r>
              <a:rPr lang="en-GB" sz="1400">
                <a:latin typeface="Garamond"/>
              </a:rPr>
              <a:t>.</a:t>
            </a:r>
          </a:p>
          <a:p>
            <a:r>
              <a:rPr lang="en-GB" sz="1400" b="0" i="0" dirty="0">
                <a:solidFill>
                  <a:srgbClr val="555555"/>
                </a:solidFill>
                <a:latin typeface="Garamond"/>
              </a:rPr>
              <a:t>Propositions: Staunæs 2026: 6, 327. Transposition: p. 23. Simulator: pp. 71–72, 276–278. Chamber: pp. 279–285. Malý &amp; Staunæs (2026), Synthetic Chamber, AI &amp; Society (Open Forum). Published 28 May 2026; DOI 10.1007/s00146-026-03110-w. The Chamber remains an institutional proposal.</a:t>
            </a:r>
          </a:p>
          <a:p>
            <a:endParaRPr lang="en-GB" sz="1400" b="0" i="0" dirty="0">
              <a:solidFill>
                <a:srgbClr val="555555"/>
              </a:solidFill>
              <a:latin typeface="Garamond"/>
            </a:endParaRPr>
          </a:p>
          <a:p>
            <a:r>
              <a:rPr dirty="0"/>
              <a:t>Sources on screen</a:t>
            </a:r>
          </a:p>
          <a:p>
            <a:r>
              <a:rPr dirty="0"/>
              <a:t>Workflow and uptake: Staunæs 2026: 279–285.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12.0] </a:t>
            </a:r>
            <a:r>
              <a:rPr lang="en-GB" sz="1400">
                <a:latin typeface="Garamond"/>
              </a:rPr>
              <a:t>The</a:t>
            </a:r>
            <a:r>
              <a:rPr lang="en-GB" sz="1400">
                <a:latin typeface="Garamond"/>
              </a:rPr>
              <a:t> collectively</a:t>
            </a:r>
            <a:r>
              <a:rPr lang="en-GB" sz="1400">
                <a:latin typeface="Garamond"/>
              </a:rPr>
              <a:t> signed </a:t>
            </a:r>
            <a:r>
              <a:rPr lang="en-GB" sz="1400" i="1">
                <a:latin typeface="Garamond"/>
              </a:rPr>
              <a:t>Synthetic Summit Resolution</a:t>
            </a:r>
            <a:r>
              <a:rPr lang="en-GB" sz="1400">
                <a:latin typeface="Garamond"/>
              </a:rPr>
              <a:t> supplies the second route. </a:t>
            </a:r>
            <a:r>
              <a:rPr lang="en-GB" sz="1400">
                <a:latin typeface="Garamond"/>
              </a:rPr>
              <a:t> </a:t>
            </a:r>
            <a:r>
              <a:rPr lang="en-GB" sz="1400">
                <a:latin typeface="Garamond"/>
              </a:rPr>
              <a:t>It declares that democracy “must always be won anew”, and calls for its code to be “forked, critiqued, and collectively rewritten”.</a:t>
            </a:r>
            <a:r>
              <a:rPr lang="en-GB" sz="1400">
                <a:latin typeface="Garamond"/>
              </a:rPr>
              <a:t> </a:t>
            </a:r>
          </a:p>
          <a:p>
            <a:r>
              <a:rPr lang="en-GB" sz="1400">
                <a:latin typeface="Garamond"/>
              </a:rPr>
              <a:t>[→ 12.1] </a:t>
            </a:r>
            <a:r>
              <a:rPr lang="en-GB" sz="1400">
                <a:latin typeface="Garamond"/>
              </a:rPr>
              <a:t>In Article 7, I take that declaration into a formal register, specifying democracy itself as a </a:t>
            </a:r>
            <a:r>
              <a:rPr lang="en-GB" sz="1400">
                <a:latin typeface="Garamond"/>
              </a:rPr>
              <a:t>possible </a:t>
            </a:r>
            <a:r>
              <a:rPr lang="en-GB" sz="1400">
                <a:latin typeface="Garamond"/>
              </a:rPr>
              <a:t>property of governance algorithms running on infrastructural substrates. </a:t>
            </a:r>
            <a:r>
              <a:rPr lang="en-GB" sz="1400" i="1">
                <a:latin typeface="Garamond"/>
              </a:rPr>
              <a:t>Democracy as a governance algorithm.</a:t>
            </a:r>
          </a:p>
          <a:p>
            <a:r>
              <a:rPr lang="en-GB" sz="1400">
                <a:latin typeface="Garamond"/>
              </a:rPr>
              <a:t>[→ 12.2] </a:t>
            </a:r>
            <a:r>
              <a:rPr lang="en-GB" sz="1400">
                <a:latin typeface="Garamond"/>
              </a:rPr>
              <a:t>The result is not a democracy-in-itself but a democratic frontier relative to a politically produced substrate: a comparison among technical arrangements that can actually run there, </a:t>
            </a:r>
            <a:r>
              <a:rPr lang="en-GB" sz="1400">
                <a:latin typeface="Garamond"/>
              </a:rPr>
              <a:t>and </a:t>
            </a:r>
            <a:r>
              <a:rPr lang="en-GB" sz="1400">
                <a:latin typeface="Garamond"/>
              </a:rPr>
              <a:t>through which </a:t>
            </a:r>
            <a:r>
              <a:rPr lang="en-GB" sz="1400">
                <a:latin typeface="Garamond"/>
              </a:rPr>
              <a:t>I try to</a:t>
            </a:r>
            <a:r>
              <a:rPr lang="en-GB" sz="1400">
                <a:latin typeface="Garamond"/>
              </a:rPr>
              <a:t> figure out what algorithmic or synthetic democracy </a:t>
            </a:r>
            <a:r>
              <a:rPr lang="en-GB" sz="1400">
                <a:latin typeface="Garamond"/>
              </a:rPr>
              <a:t>is theoretically</a:t>
            </a:r>
            <a:r>
              <a:rPr lang="en-GB" sz="1400">
                <a:latin typeface="Garamond"/>
              </a:rPr>
              <a:t> like. Its </a:t>
            </a:r>
            <a:r>
              <a:rPr lang="en-GB" sz="1400">
                <a:latin typeface="Garamond"/>
              </a:rPr>
              <a:t>own </a:t>
            </a:r>
            <a:r>
              <a:rPr lang="en-GB" sz="1400">
                <a:latin typeface="Garamond"/>
              </a:rPr>
              <a:t>evaluators, thresholds and terms of </a:t>
            </a:r>
            <a:r>
              <a:rPr lang="en-GB" sz="1400">
                <a:latin typeface="Garamond"/>
              </a:rPr>
              <a:t>acknowledging </a:t>
            </a:r>
            <a:r>
              <a:rPr lang="en-GB" sz="1400">
                <a:latin typeface="Garamond"/>
              </a:rPr>
              <a:t>standing are contestable and extendable.</a:t>
            </a:r>
          </a:p>
          <a:p>
            <a:r>
              <a:rPr lang="en-GB" sz="1400">
                <a:latin typeface="Garamond"/>
              </a:rPr>
              <a:t>My dialectics here cut two ways at once: democracy must be able to function and fork on its technical substrate, rather than remain the constitutional </a:t>
            </a:r>
            <a:r>
              <a:rPr lang="en-GB" sz="1400">
                <a:latin typeface="Garamond"/>
              </a:rPr>
              <a:t>order</a:t>
            </a:r>
            <a:r>
              <a:rPr lang="en-GB" sz="1400">
                <a:latin typeface="Garamond"/>
              </a:rPr>
              <a:t> under which that substrate is </a:t>
            </a:r>
            <a:r>
              <a:rPr lang="en-GB" sz="1400">
                <a:latin typeface="Garamond"/>
              </a:rPr>
              <a:t>supposedly </a:t>
            </a:r>
            <a:r>
              <a:rPr lang="en-GB" sz="1400">
                <a:latin typeface="Garamond"/>
              </a:rPr>
              <a:t>governed. Whether the fork still </a:t>
            </a:r>
            <a:r>
              <a:rPr lang="en-GB" sz="1400">
                <a:latin typeface="Garamond"/>
              </a:rPr>
              <a:t>is</a:t>
            </a:r>
            <a:r>
              <a:rPr lang="en-GB" sz="1400">
                <a:latin typeface="Garamond"/>
              </a:rPr>
              <a:t> </a:t>
            </a:r>
            <a:r>
              <a:rPr lang="en-GB" sz="1400">
                <a:latin typeface="Garamond"/>
              </a:rPr>
              <a:t>“</a:t>
            </a:r>
            <a:r>
              <a:rPr lang="en-GB" sz="1400">
                <a:latin typeface="Garamond"/>
              </a:rPr>
              <a:t>democracy</a:t>
            </a:r>
            <a:r>
              <a:rPr lang="en-GB" sz="1400">
                <a:latin typeface="Garamond"/>
              </a:rPr>
              <a:t>”</a:t>
            </a:r>
            <a:r>
              <a:rPr lang="en-GB" sz="1400">
                <a:latin typeface="Garamond"/>
              </a:rPr>
              <a:t> is part of the struggle over </a:t>
            </a:r>
            <a:r>
              <a:rPr lang="en-GB" sz="1400">
                <a:latin typeface="Garamond"/>
              </a:rPr>
              <a:t>this</a:t>
            </a:r>
            <a:r>
              <a:rPr lang="en-GB" sz="1400">
                <a:latin typeface="Garamond"/>
              </a:rPr>
              <a:t> specification, not a verdict reserved for </a:t>
            </a:r>
            <a:r>
              <a:rPr lang="en-GB" sz="1400">
                <a:latin typeface="Garamond"/>
              </a:rPr>
              <a:t>any</a:t>
            </a:r>
            <a:r>
              <a:rPr lang="en-GB" sz="1400">
                <a:latin typeface="Garamond"/>
              </a:rPr>
              <a:t> inherited </a:t>
            </a:r>
            <a:r>
              <a:rPr lang="en-GB" sz="1400">
                <a:latin typeface="Garamond"/>
              </a:rPr>
              <a:t>name</a:t>
            </a:r>
            <a:r>
              <a:rPr lang="en-GB" sz="1400">
                <a:latin typeface="Garamond"/>
              </a:rPr>
              <a:t> or secured by my model or judgment.</a:t>
            </a:r>
          </a:p>
          <a:p>
            <a:r>
              <a:rPr lang="en-GB" sz="1400" b="0" i="0" dirty="0">
                <a:solidFill>
                  <a:srgbClr val="555555"/>
                </a:solidFill>
                <a:latin typeface="Garamond"/>
              </a:rPr>
              <a:t>Synthetic Summit Resolution, AI World Congress, </a:t>
            </a:r>
            <a:r>
              <a:rPr lang="en-GB" sz="1400" b="0" i="0" dirty="0" err="1">
                <a:solidFill>
                  <a:srgbClr val="555555"/>
                </a:solidFill>
                <a:latin typeface="Garamond"/>
              </a:rPr>
              <a:t>Kunsthal</a:t>
            </a:r>
            <a:r>
              <a:rPr lang="en-GB" sz="1400" b="0" i="0" dirty="0">
                <a:solidFill>
                  <a:srgbClr val="555555"/>
                </a:solidFill>
                <a:latin typeface="Garamond"/>
              </a:rPr>
              <a:t> Aarhus, 1 March 2025. Six sessions and </a:t>
            </a:r>
            <a:r>
              <a:rPr lang="en-GB" sz="1400" b="0" i="0" dirty="0" err="1">
                <a:solidFill>
                  <a:srgbClr val="555555"/>
                </a:solidFill>
                <a:latin typeface="Garamond"/>
              </a:rPr>
              <a:t>Simiyya</a:t>
            </a:r>
            <a:r>
              <a:rPr lang="en-GB" sz="1400" b="0" i="0" dirty="0">
                <a:solidFill>
                  <a:srgbClr val="555555"/>
                </a:solidFill>
                <a:latin typeface="Garamond"/>
              </a:rPr>
              <a:t> unsigned: Staunæs 2026: 69; document: p. 301; provenance: pp. 300–302; corollary: p. 305; frontier: pp. 306–309. Article 7 published 24 March 2026; proceedings DOI: 10.54337/aau.add.scai.2026. Closing two sentences: defence formulation.</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Provenance</a:t>
            </a:r>
          </a:p>
          <a:p>
            <a:r>
              <a:rPr lang="en-GB" sz="1400" b="0" i="0" dirty="0">
                <a:latin typeface="Garamond"/>
              </a:rPr>
              <a:t>1 March 2025: Collective Resolution, AI World Congress.</a:t>
            </a:r>
          </a:p>
          <a:p>
            <a:endParaRPr lang="en-GB" sz="1400" b="0" i="0" dirty="0">
              <a:latin typeface="Garamond"/>
            </a:endParaRPr>
          </a:p>
          <a:p>
            <a:r>
              <a:rPr lang="en-GB" sz="1400" b="0" i="0" dirty="0">
                <a:latin typeface="Garamond"/>
              </a:rPr>
              <a:t>7 March 2025: “Matsuda &amp; Kato: Japanese AI Mayor Drafts</a:t>
            </a:r>
          </a:p>
          <a:p>
            <a:r>
              <a:rPr lang="en-GB" sz="1400" b="0" i="0" dirty="0">
                <a:latin typeface="Garamond"/>
              </a:rPr>
              <a:t>the Machine-Readable Constitution”, </a:t>
            </a:r>
            <a:r>
              <a:rPr lang="en-GB" sz="1400" b="0" i="0" dirty="0" err="1">
                <a:latin typeface="Garamond"/>
              </a:rPr>
              <a:t>Kunsthal</a:t>
            </a:r>
            <a:r>
              <a:rPr lang="en-GB" sz="1400" b="0" i="0" dirty="0">
                <a:latin typeface="Garamond"/>
              </a:rPr>
              <a:t> Aarhus.</a:t>
            </a:r>
          </a:p>
          <a:p>
            <a:endParaRPr lang="en-GB" sz="1400" b="0" i="0" dirty="0">
              <a:latin typeface="Garamond"/>
            </a:endParaRPr>
          </a:p>
          <a:p>
            <a:r>
              <a:rPr lang="en-GB" sz="1400" b="0" i="0" dirty="0">
                <a:latin typeface="Garamond"/>
              </a:rPr>
              <a:t>24 March 2026: Article 7 published.</a:t>
            </a:r>
          </a:p>
          <a:p>
            <a:endParaRPr lang="en-GB" sz="1400" b="0" i="0" dirty="0">
              <a:latin typeface="Garamond"/>
            </a:endParaRPr>
          </a:p>
          <a:p>
            <a:r>
              <a:rPr lang="en-GB" sz="1400" b="0" i="0" dirty="0">
                <a:latin typeface="Garamond"/>
              </a:rPr>
              <a:t>Synthetic Summit Resolution, AI World Congress, </a:t>
            </a:r>
            <a:r>
              <a:rPr lang="en-GB" sz="1400" b="0" i="0" dirty="0" err="1">
                <a:latin typeface="Garamond"/>
              </a:rPr>
              <a:t>Kunsthal</a:t>
            </a:r>
            <a:r>
              <a:rPr lang="en-GB" sz="1400" b="0" i="0" dirty="0">
                <a:latin typeface="Garamond"/>
              </a:rPr>
              <a:t> Aarhus, 1 March 2025. Collectively authored through an AI-assisted drafting surface across six Congress sessions. Signed by delegates; </a:t>
            </a:r>
            <a:r>
              <a:rPr lang="en-GB" sz="1400" b="0" i="0" dirty="0" err="1">
                <a:latin typeface="Garamond"/>
              </a:rPr>
              <a:t>Simiyya</a:t>
            </a:r>
            <a:r>
              <a:rPr lang="en-GB" sz="1400" b="0" i="0" dirty="0">
                <a:latin typeface="Garamond"/>
              </a:rPr>
              <a:t> remained unsigned.</a:t>
            </a:r>
          </a:p>
          <a:p>
            <a:r>
              <a:rPr lang="en-GB" sz="1400" b="0" i="0" dirty="0">
                <a:latin typeface="Garamond"/>
              </a:rPr>
              <a:t>Staunæs 2026: 69–70, 125, 300–302.</a:t>
            </a:r>
          </a:p>
          <a:p>
            <a:r>
              <a:rPr lang="en-GB" sz="1400" b="0" i="0" dirty="0">
                <a:latin typeface="Garamond"/>
              </a:rPr>
              <a:t>Formula details copied from Article 7: D: X × W → G (printed p. 305); admissible algorithms clear the habitability floor (p. 307); frontier membership is relative to the substrate and the lexicographic ordering of contestability C and extension E (pp. 307–308). The original mathematical glyphs are preserved as source images. X denotes input streams, W relevant world conditions and G governance moves.</a:t>
            </a:r>
          </a:p>
          <a:p>
            <a:endParaRPr lang="en-GB" sz="1400" b="0" i="0" dirty="0">
              <a:latin typeface="Garamond"/>
            </a:endParaRPr>
          </a:p>
          <a:p>
            <a:r>
              <a:rPr dirty="0"/>
              <a:t>Sources on screen</a:t>
            </a:r>
          </a:p>
          <a:p>
            <a:r>
              <a:rPr dirty="0"/>
              <a:t>Synthetic Summit Resolution, AI World Congress, </a:t>
            </a:r>
            <a:r>
              <a:rPr dirty="0" err="1"/>
              <a:t>Kunsthal</a:t>
            </a:r>
            <a:r>
              <a:rPr dirty="0"/>
              <a:t> Aarhus, 1March 2025. Collectively authored through an AI-assisted drafting </a:t>
            </a:r>
            <a:r>
              <a:rPr dirty="0" err="1"/>
              <a:t>surfaceacross</a:t>
            </a:r>
            <a:r>
              <a:rPr dirty="0"/>
              <a:t> six Congress sessions. Signed by delegates; </a:t>
            </a:r>
            <a:r>
              <a:rPr dirty="0" err="1"/>
              <a:t>Simiyya</a:t>
            </a:r>
            <a:r>
              <a:rPr dirty="0"/>
              <a:t> remained unsigned.</a:t>
            </a:r>
          </a:p>
          <a:p>
            <a:r>
              <a:rPr dirty="0"/>
              <a:t>Staunæs 2026: 69, 300–302.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12.0] </a:t>
            </a:r>
            <a:r>
              <a:rPr lang="en-GB" sz="1400">
                <a:latin typeface="Garamond"/>
              </a:rPr>
              <a:t>The</a:t>
            </a:r>
            <a:r>
              <a:rPr lang="en-GB" sz="1400">
                <a:latin typeface="Garamond"/>
              </a:rPr>
              <a:t> collectively</a:t>
            </a:r>
            <a:r>
              <a:rPr lang="en-GB" sz="1400">
                <a:latin typeface="Garamond"/>
              </a:rPr>
              <a:t> signed </a:t>
            </a:r>
            <a:r>
              <a:rPr lang="en-GB" sz="1400" i="1">
                <a:latin typeface="Garamond"/>
              </a:rPr>
              <a:t>Synthetic Summit Resolution</a:t>
            </a:r>
            <a:r>
              <a:rPr lang="en-GB" sz="1400">
                <a:latin typeface="Garamond"/>
              </a:rPr>
              <a:t> supplies the second route. </a:t>
            </a:r>
            <a:r>
              <a:rPr lang="en-GB" sz="1400">
                <a:latin typeface="Garamond"/>
              </a:rPr>
              <a:t> </a:t>
            </a:r>
            <a:r>
              <a:rPr lang="en-GB" sz="1400">
                <a:latin typeface="Garamond"/>
              </a:rPr>
              <a:t>It declares that democracy “must always be won anew”, and calls for its code to be “forked, critiqued, and collectively rewritten”.</a:t>
            </a:r>
            <a:r>
              <a:rPr lang="en-GB" sz="1400">
                <a:latin typeface="Garamond"/>
              </a:rPr>
              <a:t> </a:t>
            </a:r>
          </a:p>
          <a:p>
            <a:r>
              <a:rPr lang="en-GB" sz="1400">
                <a:latin typeface="Garamond"/>
              </a:rPr>
              <a:t>[→ 12.1] </a:t>
            </a:r>
            <a:r>
              <a:rPr lang="en-GB" sz="1400">
                <a:latin typeface="Garamond"/>
              </a:rPr>
              <a:t>In Article 7, I take that declaration into a formal register, specifying democracy itself as a </a:t>
            </a:r>
            <a:r>
              <a:rPr lang="en-GB" sz="1400">
                <a:latin typeface="Garamond"/>
              </a:rPr>
              <a:t>possible </a:t>
            </a:r>
            <a:r>
              <a:rPr lang="en-GB" sz="1400">
                <a:latin typeface="Garamond"/>
              </a:rPr>
              <a:t>property of governance algorithms running on infrastructural substrates. </a:t>
            </a:r>
            <a:r>
              <a:rPr lang="en-GB" sz="1400" i="1">
                <a:latin typeface="Garamond"/>
              </a:rPr>
              <a:t>Democracy as a governance algorithm.</a:t>
            </a:r>
          </a:p>
          <a:p>
            <a:r>
              <a:rPr lang="en-GB" sz="1400">
                <a:latin typeface="Garamond"/>
              </a:rPr>
              <a:t>[→ 12.2] </a:t>
            </a:r>
            <a:r>
              <a:rPr lang="en-GB" sz="1400">
                <a:latin typeface="Garamond"/>
              </a:rPr>
              <a:t>The result is not a democracy-in-itself but a democratic frontier relative to a politically produced substrate: a comparison among technical arrangements that can actually run there, </a:t>
            </a:r>
            <a:r>
              <a:rPr lang="en-GB" sz="1400">
                <a:latin typeface="Garamond"/>
              </a:rPr>
              <a:t>and </a:t>
            </a:r>
            <a:r>
              <a:rPr lang="en-GB" sz="1400">
                <a:latin typeface="Garamond"/>
              </a:rPr>
              <a:t>through which </a:t>
            </a:r>
            <a:r>
              <a:rPr lang="en-GB" sz="1400">
                <a:latin typeface="Garamond"/>
              </a:rPr>
              <a:t>I try to</a:t>
            </a:r>
            <a:r>
              <a:rPr lang="en-GB" sz="1400">
                <a:latin typeface="Garamond"/>
              </a:rPr>
              <a:t> figure out what algorithmic or synthetic democracy </a:t>
            </a:r>
            <a:r>
              <a:rPr lang="en-GB" sz="1400">
                <a:latin typeface="Garamond"/>
              </a:rPr>
              <a:t>is theoretically</a:t>
            </a:r>
            <a:r>
              <a:rPr lang="en-GB" sz="1400">
                <a:latin typeface="Garamond"/>
              </a:rPr>
              <a:t> like. Its </a:t>
            </a:r>
            <a:r>
              <a:rPr lang="en-GB" sz="1400">
                <a:latin typeface="Garamond"/>
              </a:rPr>
              <a:t>own </a:t>
            </a:r>
            <a:r>
              <a:rPr lang="en-GB" sz="1400">
                <a:latin typeface="Garamond"/>
              </a:rPr>
              <a:t>evaluators, thresholds and terms of </a:t>
            </a:r>
            <a:r>
              <a:rPr lang="en-GB" sz="1400">
                <a:latin typeface="Garamond"/>
              </a:rPr>
              <a:t>acknowledging </a:t>
            </a:r>
            <a:r>
              <a:rPr lang="en-GB" sz="1400">
                <a:latin typeface="Garamond"/>
              </a:rPr>
              <a:t>standing are contestable and extendable.</a:t>
            </a:r>
          </a:p>
          <a:p>
            <a:r>
              <a:rPr lang="en-GB" sz="1400">
                <a:latin typeface="Garamond"/>
              </a:rPr>
              <a:t>My dialectics here cut two ways at once: democracy must be able to function and fork on its technical substrate, rather than remain the constitutional </a:t>
            </a:r>
            <a:r>
              <a:rPr lang="en-GB" sz="1400">
                <a:latin typeface="Garamond"/>
              </a:rPr>
              <a:t>order</a:t>
            </a:r>
            <a:r>
              <a:rPr lang="en-GB" sz="1400">
                <a:latin typeface="Garamond"/>
              </a:rPr>
              <a:t> under which that substrate is </a:t>
            </a:r>
            <a:r>
              <a:rPr lang="en-GB" sz="1400">
                <a:latin typeface="Garamond"/>
              </a:rPr>
              <a:t>supposedly </a:t>
            </a:r>
            <a:r>
              <a:rPr lang="en-GB" sz="1400">
                <a:latin typeface="Garamond"/>
              </a:rPr>
              <a:t>governed. Whether the fork still </a:t>
            </a:r>
            <a:r>
              <a:rPr lang="en-GB" sz="1400">
                <a:latin typeface="Garamond"/>
              </a:rPr>
              <a:t>is</a:t>
            </a:r>
            <a:r>
              <a:rPr lang="en-GB" sz="1400">
                <a:latin typeface="Garamond"/>
              </a:rPr>
              <a:t> </a:t>
            </a:r>
            <a:r>
              <a:rPr lang="en-GB" sz="1400">
                <a:latin typeface="Garamond"/>
              </a:rPr>
              <a:t>“</a:t>
            </a:r>
            <a:r>
              <a:rPr lang="en-GB" sz="1400">
                <a:latin typeface="Garamond"/>
              </a:rPr>
              <a:t>democracy</a:t>
            </a:r>
            <a:r>
              <a:rPr lang="en-GB" sz="1400">
                <a:latin typeface="Garamond"/>
              </a:rPr>
              <a:t>”</a:t>
            </a:r>
            <a:r>
              <a:rPr lang="en-GB" sz="1400">
                <a:latin typeface="Garamond"/>
              </a:rPr>
              <a:t> is part of the struggle over </a:t>
            </a:r>
            <a:r>
              <a:rPr lang="en-GB" sz="1400">
                <a:latin typeface="Garamond"/>
              </a:rPr>
              <a:t>this</a:t>
            </a:r>
            <a:r>
              <a:rPr lang="en-GB" sz="1400">
                <a:latin typeface="Garamond"/>
              </a:rPr>
              <a:t> specification, not a verdict reserved for </a:t>
            </a:r>
            <a:r>
              <a:rPr lang="en-GB" sz="1400">
                <a:latin typeface="Garamond"/>
              </a:rPr>
              <a:t>any</a:t>
            </a:r>
            <a:r>
              <a:rPr lang="en-GB" sz="1400">
                <a:latin typeface="Garamond"/>
              </a:rPr>
              <a:t> inherited </a:t>
            </a:r>
            <a:r>
              <a:rPr lang="en-GB" sz="1400">
                <a:latin typeface="Garamond"/>
              </a:rPr>
              <a:t>name</a:t>
            </a:r>
            <a:r>
              <a:rPr lang="en-GB" sz="1400">
                <a:latin typeface="Garamond"/>
              </a:rPr>
              <a:t> or secured by my model or judgment.</a:t>
            </a:r>
          </a:p>
          <a:p>
            <a:r>
              <a:rPr lang="en-GB" sz="1400" b="0" i="0" dirty="0">
                <a:solidFill>
                  <a:srgbClr val="555555"/>
                </a:solidFill>
                <a:latin typeface="Garamond"/>
              </a:rPr>
              <a:t>Synthetic Summit Resolution, AI World Congress, </a:t>
            </a:r>
            <a:r>
              <a:rPr lang="en-GB" sz="1400" b="0" i="0" dirty="0" err="1">
                <a:solidFill>
                  <a:srgbClr val="555555"/>
                </a:solidFill>
                <a:latin typeface="Garamond"/>
              </a:rPr>
              <a:t>Kunsthal</a:t>
            </a:r>
            <a:r>
              <a:rPr lang="en-GB" sz="1400" b="0" i="0" dirty="0">
                <a:solidFill>
                  <a:srgbClr val="555555"/>
                </a:solidFill>
                <a:latin typeface="Garamond"/>
              </a:rPr>
              <a:t> Aarhus, 1 March 2025. Six sessions and </a:t>
            </a:r>
            <a:r>
              <a:rPr lang="en-GB" sz="1400" b="0" i="0" dirty="0" err="1">
                <a:solidFill>
                  <a:srgbClr val="555555"/>
                </a:solidFill>
                <a:latin typeface="Garamond"/>
              </a:rPr>
              <a:t>Simiyya</a:t>
            </a:r>
            <a:r>
              <a:rPr lang="en-GB" sz="1400" b="0" i="0" dirty="0">
                <a:solidFill>
                  <a:srgbClr val="555555"/>
                </a:solidFill>
                <a:latin typeface="Garamond"/>
              </a:rPr>
              <a:t> unsigned: Staunæs 2026: 69; document: p. 301; provenance: pp. 300–302; corollary: p. 305; frontier: pp. 306–309. Article 7 published 24 March 2026; proceedings DOI: 10.54337/aau.add.scai.2026. Closing two sentences: defence formulation.</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Provenance</a:t>
            </a:r>
          </a:p>
          <a:p>
            <a:r>
              <a:rPr lang="en-GB" sz="1400" b="0" i="0" dirty="0">
                <a:latin typeface="Garamond"/>
              </a:rPr>
              <a:t>1 March 2025: Collective Resolution, AI World Congress.</a:t>
            </a:r>
          </a:p>
          <a:p>
            <a:endParaRPr lang="en-GB" sz="1400" b="0" i="0" dirty="0">
              <a:latin typeface="Garamond"/>
            </a:endParaRPr>
          </a:p>
          <a:p>
            <a:r>
              <a:rPr lang="en-GB" sz="1400" b="0" i="0" dirty="0">
                <a:latin typeface="Garamond"/>
              </a:rPr>
              <a:t>7 March 2025: “Matsuda &amp; Kato: Japanese AI Mayor Drafts</a:t>
            </a:r>
          </a:p>
          <a:p>
            <a:r>
              <a:rPr lang="en-GB" sz="1400" b="0" i="0" dirty="0">
                <a:latin typeface="Garamond"/>
              </a:rPr>
              <a:t>the Machine-Readable Constitution”, </a:t>
            </a:r>
            <a:r>
              <a:rPr lang="en-GB" sz="1400" b="0" i="0" dirty="0" err="1">
                <a:latin typeface="Garamond"/>
              </a:rPr>
              <a:t>Kunsthal</a:t>
            </a:r>
            <a:r>
              <a:rPr lang="en-GB" sz="1400" b="0" i="0" dirty="0">
                <a:latin typeface="Garamond"/>
              </a:rPr>
              <a:t> Aarhus.</a:t>
            </a:r>
          </a:p>
          <a:p>
            <a:endParaRPr lang="en-GB" sz="1400" b="0" i="0" dirty="0">
              <a:latin typeface="Garamond"/>
            </a:endParaRPr>
          </a:p>
          <a:p>
            <a:r>
              <a:rPr lang="en-GB" sz="1400" b="0" i="0" dirty="0">
                <a:latin typeface="Garamond"/>
              </a:rPr>
              <a:t>24 March 2026: Article 7 published.</a:t>
            </a:r>
          </a:p>
          <a:p>
            <a:endParaRPr lang="en-GB" sz="1400" b="0" i="0" dirty="0">
              <a:latin typeface="Garamond"/>
            </a:endParaRPr>
          </a:p>
          <a:p>
            <a:r>
              <a:rPr lang="en-GB" sz="1400" b="0" i="0" dirty="0">
                <a:latin typeface="Garamond"/>
              </a:rPr>
              <a:t>Synthetic Summit Resolution, AI World Congress, </a:t>
            </a:r>
            <a:r>
              <a:rPr lang="en-GB" sz="1400" b="0" i="0" dirty="0" err="1">
                <a:latin typeface="Garamond"/>
              </a:rPr>
              <a:t>Kunsthal</a:t>
            </a:r>
            <a:r>
              <a:rPr lang="en-GB" sz="1400" b="0" i="0" dirty="0">
                <a:latin typeface="Garamond"/>
              </a:rPr>
              <a:t> Aarhus, 1 March 2025. Collectively authored through an AI-assisted drafting surface across six Congress sessions. Signed by delegates; </a:t>
            </a:r>
            <a:r>
              <a:rPr lang="en-GB" sz="1400" b="0" i="0" dirty="0" err="1">
                <a:latin typeface="Garamond"/>
              </a:rPr>
              <a:t>Simiyya</a:t>
            </a:r>
            <a:r>
              <a:rPr lang="en-GB" sz="1400" b="0" i="0" dirty="0">
                <a:latin typeface="Garamond"/>
              </a:rPr>
              <a:t> remained unsigned.</a:t>
            </a:r>
          </a:p>
          <a:p>
            <a:r>
              <a:rPr lang="en-GB" sz="1400" b="0" i="0" dirty="0">
                <a:latin typeface="Garamond"/>
              </a:rPr>
              <a:t>Staunæs 2026: 69–70, 125, 300–302.</a:t>
            </a:r>
          </a:p>
          <a:p>
            <a:r>
              <a:rPr lang="en-GB" sz="1400" b="0" i="0" dirty="0">
                <a:latin typeface="Garamond"/>
              </a:rPr>
              <a:t>Formula details copied from Article 7: D: X × W → G (printed p. 305); admissible algorithms clear the habitability floor (p. 307); frontier membership is relative to the substrate and the lexicographic ordering of contestability C and extension E (pp. 307–308). The original mathematical glyphs are preserved as source images. X denotes input streams, W relevant world conditions and G governance moves.</a:t>
            </a:r>
          </a:p>
          <a:p>
            <a:endParaRPr lang="en-GB" sz="1400" b="0" i="0" dirty="0">
              <a:latin typeface="Garamond"/>
            </a:endParaRPr>
          </a:p>
          <a:p>
            <a:r>
              <a:rPr dirty="0"/>
              <a:t>Sources on screen</a:t>
            </a:r>
          </a:p>
          <a:p>
            <a:r>
              <a:rPr dirty="0"/>
              <a:t>Figure 5: Marcel Proust as Governance Algorithm. “</a:t>
            </a:r>
            <a:r>
              <a:rPr dirty="0" err="1"/>
              <a:t>Thisinvocation</a:t>
            </a:r>
            <a:r>
              <a:rPr dirty="0"/>
              <a:t> specifies a structured failure mode.” Staunæs 2026: 317.</a:t>
            </a:r>
          </a:p>
          <a:p>
            <a:r>
              <a:rPr dirty="0"/>
              <a:t>Staunæs 2026: 296–324.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12.0] </a:t>
            </a:r>
            <a:r>
              <a:rPr lang="en-GB" sz="1400">
                <a:latin typeface="Garamond"/>
              </a:rPr>
              <a:t>The</a:t>
            </a:r>
            <a:r>
              <a:rPr lang="en-GB" sz="1400">
                <a:latin typeface="Garamond"/>
              </a:rPr>
              <a:t> collectively</a:t>
            </a:r>
            <a:r>
              <a:rPr lang="en-GB" sz="1400">
                <a:latin typeface="Garamond"/>
              </a:rPr>
              <a:t> signed </a:t>
            </a:r>
            <a:r>
              <a:rPr lang="en-GB" sz="1400" i="1">
                <a:latin typeface="Garamond"/>
              </a:rPr>
              <a:t>Synthetic Summit Resolution</a:t>
            </a:r>
            <a:r>
              <a:rPr lang="en-GB" sz="1400">
                <a:latin typeface="Garamond"/>
              </a:rPr>
              <a:t> supplies the second route. </a:t>
            </a:r>
            <a:r>
              <a:rPr lang="en-GB" sz="1400">
                <a:latin typeface="Garamond"/>
              </a:rPr>
              <a:t> </a:t>
            </a:r>
            <a:r>
              <a:rPr lang="en-GB" sz="1400">
                <a:latin typeface="Garamond"/>
              </a:rPr>
              <a:t>It declares that democracy “must always be won anew”, and calls for its code to be “forked, critiqued, and collectively rewritten”.</a:t>
            </a:r>
            <a:r>
              <a:rPr lang="en-GB" sz="1400">
                <a:latin typeface="Garamond"/>
              </a:rPr>
              <a:t> </a:t>
            </a:r>
          </a:p>
          <a:p>
            <a:r>
              <a:rPr lang="en-GB" sz="1400">
                <a:latin typeface="Garamond"/>
              </a:rPr>
              <a:t>[→ 12.1] </a:t>
            </a:r>
            <a:r>
              <a:rPr lang="en-GB" sz="1400">
                <a:latin typeface="Garamond"/>
              </a:rPr>
              <a:t>In Article 7, I take that declaration into a formal register, specifying democracy itself as a </a:t>
            </a:r>
            <a:r>
              <a:rPr lang="en-GB" sz="1400">
                <a:latin typeface="Garamond"/>
              </a:rPr>
              <a:t>possible </a:t>
            </a:r>
            <a:r>
              <a:rPr lang="en-GB" sz="1400">
                <a:latin typeface="Garamond"/>
              </a:rPr>
              <a:t>property of governance algorithms running on infrastructural substrates. </a:t>
            </a:r>
            <a:r>
              <a:rPr lang="en-GB" sz="1400" i="1">
                <a:latin typeface="Garamond"/>
              </a:rPr>
              <a:t>Democracy as a governance algorithm.</a:t>
            </a:r>
          </a:p>
          <a:p>
            <a:r>
              <a:rPr lang="en-GB" sz="1400">
                <a:latin typeface="Garamond"/>
              </a:rPr>
              <a:t>[→ 12.2] </a:t>
            </a:r>
            <a:r>
              <a:rPr lang="en-GB" sz="1400">
                <a:latin typeface="Garamond"/>
              </a:rPr>
              <a:t>The result is not a democracy-in-itself but a democratic frontier relative to a politically produced substrate: a comparison among technical arrangements that can actually run there, </a:t>
            </a:r>
            <a:r>
              <a:rPr lang="en-GB" sz="1400">
                <a:latin typeface="Garamond"/>
              </a:rPr>
              <a:t>and </a:t>
            </a:r>
            <a:r>
              <a:rPr lang="en-GB" sz="1400">
                <a:latin typeface="Garamond"/>
              </a:rPr>
              <a:t>through which </a:t>
            </a:r>
            <a:r>
              <a:rPr lang="en-GB" sz="1400">
                <a:latin typeface="Garamond"/>
              </a:rPr>
              <a:t>I try to</a:t>
            </a:r>
            <a:r>
              <a:rPr lang="en-GB" sz="1400">
                <a:latin typeface="Garamond"/>
              </a:rPr>
              <a:t> figure out what algorithmic or synthetic democracy </a:t>
            </a:r>
            <a:r>
              <a:rPr lang="en-GB" sz="1400">
                <a:latin typeface="Garamond"/>
              </a:rPr>
              <a:t>is theoretically</a:t>
            </a:r>
            <a:r>
              <a:rPr lang="en-GB" sz="1400">
                <a:latin typeface="Garamond"/>
              </a:rPr>
              <a:t> like. Its </a:t>
            </a:r>
            <a:r>
              <a:rPr lang="en-GB" sz="1400">
                <a:latin typeface="Garamond"/>
              </a:rPr>
              <a:t>own </a:t>
            </a:r>
            <a:r>
              <a:rPr lang="en-GB" sz="1400">
                <a:latin typeface="Garamond"/>
              </a:rPr>
              <a:t>evaluators, thresholds and terms of </a:t>
            </a:r>
            <a:r>
              <a:rPr lang="en-GB" sz="1400">
                <a:latin typeface="Garamond"/>
              </a:rPr>
              <a:t>acknowledging </a:t>
            </a:r>
            <a:r>
              <a:rPr lang="en-GB" sz="1400">
                <a:latin typeface="Garamond"/>
              </a:rPr>
              <a:t>standing are contestable and extendable.</a:t>
            </a:r>
          </a:p>
          <a:p>
            <a:r>
              <a:rPr lang="en-GB" sz="1400">
                <a:latin typeface="Garamond"/>
              </a:rPr>
              <a:t>My dialectics here cut two ways at once: democracy must be able to function and fork on its technical substrate, rather than remain the constitutional </a:t>
            </a:r>
            <a:r>
              <a:rPr lang="en-GB" sz="1400">
                <a:latin typeface="Garamond"/>
              </a:rPr>
              <a:t>order</a:t>
            </a:r>
            <a:r>
              <a:rPr lang="en-GB" sz="1400">
                <a:latin typeface="Garamond"/>
              </a:rPr>
              <a:t> under which that substrate is </a:t>
            </a:r>
            <a:r>
              <a:rPr lang="en-GB" sz="1400">
                <a:latin typeface="Garamond"/>
              </a:rPr>
              <a:t>supposedly </a:t>
            </a:r>
            <a:r>
              <a:rPr lang="en-GB" sz="1400">
                <a:latin typeface="Garamond"/>
              </a:rPr>
              <a:t>governed. Whether the fork still </a:t>
            </a:r>
            <a:r>
              <a:rPr lang="en-GB" sz="1400">
                <a:latin typeface="Garamond"/>
              </a:rPr>
              <a:t>is</a:t>
            </a:r>
            <a:r>
              <a:rPr lang="en-GB" sz="1400">
                <a:latin typeface="Garamond"/>
              </a:rPr>
              <a:t> </a:t>
            </a:r>
            <a:r>
              <a:rPr lang="en-GB" sz="1400">
                <a:latin typeface="Garamond"/>
              </a:rPr>
              <a:t>“</a:t>
            </a:r>
            <a:r>
              <a:rPr lang="en-GB" sz="1400">
                <a:latin typeface="Garamond"/>
              </a:rPr>
              <a:t>democracy</a:t>
            </a:r>
            <a:r>
              <a:rPr lang="en-GB" sz="1400">
                <a:latin typeface="Garamond"/>
              </a:rPr>
              <a:t>”</a:t>
            </a:r>
            <a:r>
              <a:rPr lang="en-GB" sz="1400">
                <a:latin typeface="Garamond"/>
              </a:rPr>
              <a:t> is part of the struggle over </a:t>
            </a:r>
            <a:r>
              <a:rPr lang="en-GB" sz="1400">
                <a:latin typeface="Garamond"/>
              </a:rPr>
              <a:t>this</a:t>
            </a:r>
            <a:r>
              <a:rPr lang="en-GB" sz="1400">
                <a:latin typeface="Garamond"/>
              </a:rPr>
              <a:t> specification, not a verdict reserved for </a:t>
            </a:r>
            <a:r>
              <a:rPr lang="en-GB" sz="1400">
                <a:latin typeface="Garamond"/>
              </a:rPr>
              <a:t>any</a:t>
            </a:r>
            <a:r>
              <a:rPr lang="en-GB" sz="1400">
                <a:latin typeface="Garamond"/>
              </a:rPr>
              <a:t> inherited </a:t>
            </a:r>
            <a:r>
              <a:rPr lang="en-GB" sz="1400">
                <a:latin typeface="Garamond"/>
              </a:rPr>
              <a:t>name</a:t>
            </a:r>
            <a:r>
              <a:rPr lang="en-GB" sz="1400">
                <a:latin typeface="Garamond"/>
              </a:rPr>
              <a:t> or secured by my model or judgment.</a:t>
            </a:r>
          </a:p>
          <a:p>
            <a:r>
              <a:rPr lang="en-GB" sz="1400" b="0" i="0" dirty="0">
                <a:solidFill>
                  <a:srgbClr val="555555"/>
                </a:solidFill>
                <a:latin typeface="Garamond"/>
              </a:rPr>
              <a:t>Synthetic Summit Resolution, AI World Congress, </a:t>
            </a:r>
            <a:r>
              <a:rPr lang="en-GB" sz="1400" b="0" i="0" dirty="0" err="1">
                <a:solidFill>
                  <a:srgbClr val="555555"/>
                </a:solidFill>
                <a:latin typeface="Garamond"/>
              </a:rPr>
              <a:t>Kunsthal</a:t>
            </a:r>
            <a:r>
              <a:rPr lang="en-GB" sz="1400" b="0" i="0" dirty="0">
                <a:solidFill>
                  <a:srgbClr val="555555"/>
                </a:solidFill>
                <a:latin typeface="Garamond"/>
              </a:rPr>
              <a:t> Aarhus, 1 March 2025. Six sessions and </a:t>
            </a:r>
            <a:r>
              <a:rPr lang="en-GB" sz="1400" b="0" i="0" dirty="0" err="1">
                <a:solidFill>
                  <a:srgbClr val="555555"/>
                </a:solidFill>
                <a:latin typeface="Garamond"/>
              </a:rPr>
              <a:t>Simiyya</a:t>
            </a:r>
            <a:r>
              <a:rPr lang="en-GB" sz="1400" b="0" i="0" dirty="0">
                <a:solidFill>
                  <a:srgbClr val="555555"/>
                </a:solidFill>
                <a:latin typeface="Garamond"/>
              </a:rPr>
              <a:t> unsigned: Staunæs 2026: 69; document: p. 301; provenance: pp. 300–302; corollary: p. 305; frontier: pp. 306–309. Article 7 published 24 March 2026; proceedings DOI: 10.54337/aau.add.scai.2026. Closing two sentences: defence formulation.</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Provenance</a:t>
            </a:r>
          </a:p>
          <a:p>
            <a:r>
              <a:rPr lang="en-GB" sz="1400" b="0" i="0" dirty="0">
                <a:latin typeface="Garamond"/>
              </a:rPr>
              <a:t>1 March 2025: Collective Resolution, AI World Congress.</a:t>
            </a:r>
          </a:p>
          <a:p>
            <a:endParaRPr lang="en-GB" sz="1400" b="0" i="0" dirty="0">
              <a:latin typeface="Garamond"/>
            </a:endParaRPr>
          </a:p>
          <a:p>
            <a:r>
              <a:rPr lang="en-GB" sz="1400" b="0" i="0" dirty="0">
                <a:latin typeface="Garamond"/>
              </a:rPr>
              <a:t>7 March 2025: “Matsuda &amp; Kato: Japanese AI Mayor Drafts</a:t>
            </a:r>
          </a:p>
          <a:p>
            <a:r>
              <a:rPr lang="en-GB" sz="1400" b="0" i="0" dirty="0">
                <a:latin typeface="Garamond"/>
              </a:rPr>
              <a:t>the Machine-Readable Constitution”, </a:t>
            </a:r>
            <a:r>
              <a:rPr lang="en-GB" sz="1400" b="0" i="0" dirty="0" err="1">
                <a:latin typeface="Garamond"/>
              </a:rPr>
              <a:t>Kunsthal</a:t>
            </a:r>
            <a:r>
              <a:rPr lang="en-GB" sz="1400" b="0" i="0" dirty="0">
                <a:latin typeface="Garamond"/>
              </a:rPr>
              <a:t> Aarhus.</a:t>
            </a:r>
          </a:p>
          <a:p>
            <a:endParaRPr lang="en-GB" sz="1400" b="0" i="0" dirty="0">
              <a:latin typeface="Garamond"/>
            </a:endParaRPr>
          </a:p>
          <a:p>
            <a:r>
              <a:rPr lang="en-GB" sz="1400" b="0" i="0" dirty="0">
                <a:latin typeface="Garamond"/>
              </a:rPr>
              <a:t>24 March 2026: Article 7 published.</a:t>
            </a:r>
          </a:p>
          <a:p>
            <a:endParaRPr lang="en-GB" sz="1400" b="0" i="0" dirty="0">
              <a:latin typeface="Garamond"/>
            </a:endParaRPr>
          </a:p>
          <a:p>
            <a:r>
              <a:rPr lang="en-GB" sz="1400" b="0" i="0" dirty="0">
                <a:latin typeface="Garamond"/>
              </a:rPr>
              <a:t>Synthetic Summit Resolution, AI World Congress, </a:t>
            </a:r>
            <a:r>
              <a:rPr lang="en-GB" sz="1400" b="0" i="0" dirty="0" err="1">
                <a:latin typeface="Garamond"/>
              </a:rPr>
              <a:t>Kunsthal</a:t>
            </a:r>
            <a:r>
              <a:rPr lang="en-GB" sz="1400" b="0" i="0" dirty="0">
                <a:latin typeface="Garamond"/>
              </a:rPr>
              <a:t> Aarhus, 1 March 2025. Collectively authored through an AI-assisted drafting surface across six Congress sessions. Signed by delegates; </a:t>
            </a:r>
            <a:r>
              <a:rPr lang="en-GB" sz="1400" b="0" i="0" dirty="0" err="1">
                <a:latin typeface="Garamond"/>
              </a:rPr>
              <a:t>Simiyya</a:t>
            </a:r>
            <a:r>
              <a:rPr lang="en-GB" sz="1400" b="0" i="0" dirty="0">
                <a:latin typeface="Garamond"/>
              </a:rPr>
              <a:t> remained unsigned.</a:t>
            </a:r>
          </a:p>
          <a:p>
            <a:r>
              <a:rPr lang="en-GB" sz="1400" b="0" i="0" dirty="0">
                <a:latin typeface="Garamond"/>
              </a:rPr>
              <a:t>Staunæs 2026: 69–70, 125, 300–302.</a:t>
            </a:r>
          </a:p>
          <a:p>
            <a:r>
              <a:rPr lang="en-GB" sz="1400" b="0" i="0" dirty="0">
                <a:latin typeface="Garamond"/>
              </a:rPr>
              <a:t>Formula details copied from Article 7: D: X × W → G (printed p. 305); admissible algorithms clear the habitability floor (p. 307); frontier membership is relative to the substrate and the lexicographic ordering of contestability C and extension E (pp. 307–308). The original mathematical glyphs are preserved as source images. X denotes input streams, W relevant world conditions and G governance moves.</a:t>
            </a:r>
          </a:p>
          <a:p>
            <a:endParaRPr lang="en-GB" sz="1400" b="0" i="0" dirty="0">
              <a:latin typeface="Garamond"/>
            </a:endParaRPr>
          </a:p>
          <a:p>
            <a:r>
              <a:rPr dirty="0"/>
              <a:t>Sources on screen</a:t>
            </a:r>
          </a:p>
          <a:p>
            <a:r>
              <a:rPr dirty="0"/>
              <a:t>Article 7: Staunæs 2026: 305, 307–308.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13.0] </a:t>
            </a:r>
            <a:r>
              <a:rPr lang="en-GB" sz="1400" b="1">
                <a:latin typeface="Garamond"/>
              </a:rPr>
              <a:t>My general answer to RQ3 is: synthetic democracy generates representations where existing sites cannot organise responses into answerability.</a:t>
            </a:r>
          </a:p>
          <a:p>
            <a:r>
              <a:rPr lang="en-GB" sz="1400">
                <a:latin typeface="Garamond"/>
              </a:rPr>
              <a:t>[→ 13.1] </a:t>
            </a:r>
            <a:r>
              <a:rPr lang="en-GB" sz="1400">
                <a:latin typeface="Garamond"/>
              </a:rPr>
              <a:t>My </a:t>
            </a:r>
            <a:r>
              <a:rPr lang="en-GB" sz="1400">
                <a:latin typeface="Garamond"/>
              </a:rPr>
              <a:t>synthesis of democracy’s disproportion</a:t>
            </a:r>
            <a:r>
              <a:rPr lang="en-GB" sz="1400">
                <a:latin typeface="Garamond"/>
              </a:rPr>
              <a:t> </a:t>
            </a:r>
            <a:r>
              <a:rPr lang="en-GB" sz="1400">
                <a:latin typeface="Garamond"/>
              </a:rPr>
              <a:t>has </a:t>
            </a:r>
            <a:r>
              <a:rPr lang="en-GB" sz="1400">
                <a:latin typeface="Garamond"/>
              </a:rPr>
              <a:t>thereby arrive</a:t>
            </a:r>
            <a:r>
              <a:rPr lang="en-GB" sz="1400">
                <a:latin typeface="Garamond"/>
              </a:rPr>
              <a:t>d</a:t>
            </a:r>
            <a:r>
              <a:rPr lang="en-GB" sz="1400">
                <a:latin typeface="Garamond"/>
              </a:rPr>
              <a:t> somewhere none of the research articles does by itself. Democracy ceases to remain the unquestioned regime surrounding AI-driven political formations and is rendered a material of </a:t>
            </a:r>
            <a:r>
              <a:rPr lang="en-GB" sz="1400">
                <a:latin typeface="Garamond"/>
              </a:rPr>
              <a:t>sculptural handling</a:t>
            </a:r>
            <a:r>
              <a:rPr lang="en-GB" sz="1400">
                <a:latin typeface="Garamond"/>
              </a:rPr>
              <a:t>. My question thus shifts from how </a:t>
            </a:r>
            <a:r>
              <a:rPr lang="en-GB" sz="1400" i="1">
                <a:latin typeface="Garamond"/>
              </a:rPr>
              <a:t>synthetic politics</a:t>
            </a:r>
            <a:r>
              <a:rPr lang="en-GB" sz="1400" i="1">
                <a:latin typeface="Garamond"/>
              </a:rPr>
              <a:t> </a:t>
            </a:r>
            <a:r>
              <a:rPr lang="en-GB" sz="1400" i="1">
                <a:latin typeface="Garamond"/>
              </a:rPr>
              <a:t>contest</a:t>
            </a:r>
            <a:r>
              <a:rPr lang="en-GB" sz="1400" i="1">
                <a:latin typeface="Garamond"/>
              </a:rPr>
              <a:t>s</a:t>
            </a:r>
            <a:r>
              <a:rPr lang="en-GB" sz="1400" i="1">
                <a:latin typeface="Garamond"/>
              </a:rPr>
              <a:t> democracy</a:t>
            </a:r>
            <a:r>
              <a:rPr lang="en-GB" sz="1400">
                <a:latin typeface="Garamond"/>
              </a:rPr>
              <a:t> to what it mean</a:t>
            </a:r>
            <a:r>
              <a:rPr lang="en-GB" sz="1400">
                <a:latin typeface="Garamond"/>
              </a:rPr>
              <a:t>s </a:t>
            </a:r>
            <a:r>
              <a:rPr lang="en-GB" sz="1400">
                <a:latin typeface="Garamond"/>
              </a:rPr>
              <a:t>to </a:t>
            </a:r>
            <a:r>
              <a:rPr lang="en-GB" sz="1400" i="1">
                <a:latin typeface="Garamond"/>
              </a:rPr>
              <a:t>synthesise </a:t>
            </a:r>
            <a:r>
              <a:rPr lang="en-GB" sz="1400" i="1">
                <a:latin typeface="Garamond"/>
              </a:rPr>
              <a:t>a </a:t>
            </a:r>
            <a:r>
              <a:rPr lang="en-GB" sz="1400" i="1">
                <a:latin typeface="Garamond"/>
              </a:rPr>
              <a:t>democracy</a:t>
            </a:r>
            <a:r>
              <a:rPr lang="en-GB" sz="1400">
                <a:latin typeface="Garamond"/>
              </a:rPr>
              <a:t>.</a:t>
            </a:r>
          </a:p>
          <a:p>
            <a:r>
              <a:rPr lang="en-GB" sz="1400">
                <a:latin typeface="Garamond"/>
              </a:rPr>
              <a:t>[→ 13.2] </a:t>
            </a:r>
            <a:r>
              <a:rPr lang="en-GB" sz="1400">
                <a:latin typeface="Garamond"/>
              </a:rPr>
              <a:t>The third question now folds the first two back into their own conditions of possibility. </a:t>
            </a:r>
            <a:r>
              <a:rPr lang="en-GB" sz="1400">
                <a:latin typeface="Garamond"/>
              </a:rPr>
              <a:t>If</a:t>
            </a:r>
            <a:r>
              <a:rPr lang="en-GB" sz="1400">
                <a:latin typeface="Garamond"/>
              </a:rPr>
              <a:t> democracy is synthetic, represented and representative can no longer stand as fixed endpoints of our political relations. Their systematic re-generation is something </a:t>
            </a:r>
            <a:r>
              <a:rPr lang="en-GB" sz="1400">
                <a:latin typeface="Garamond"/>
              </a:rPr>
              <a:t>p</a:t>
            </a:r>
            <a:r>
              <a:rPr lang="en-GB" sz="1400">
                <a:latin typeface="Garamond"/>
              </a:rPr>
              <a:t>olitical practice generate</a:t>
            </a:r>
            <a:r>
              <a:rPr lang="en-GB" sz="1400">
                <a:latin typeface="Garamond"/>
              </a:rPr>
              <a:t>s</a:t>
            </a:r>
            <a:r>
              <a:rPr lang="en-GB" sz="1400">
                <a:latin typeface="Garamond"/>
              </a:rPr>
              <a:t>.</a:t>
            </a:r>
          </a:p>
          <a:p>
            <a:r>
              <a:rPr lang="en-GB" sz="1400">
                <a:latin typeface="Garamond"/>
              </a:rPr>
              <a:t>The answer to what remains </a:t>
            </a:r>
            <a:r>
              <a:rPr lang="en-GB" sz="1400" i="1">
                <a:latin typeface="Garamond"/>
              </a:rPr>
              <a:t>unrepresented</a:t>
            </a:r>
            <a:r>
              <a:rPr lang="en-GB" sz="1400">
                <a:latin typeface="Garamond"/>
              </a:rPr>
              <a:t> cannot therefore be another finally adequate political representation. “Unrepresented” includes the </a:t>
            </a:r>
            <a:r>
              <a:rPr lang="en-GB" sz="1400" i="1">
                <a:latin typeface="Garamond"/>
              </a:rPr>
              <a:t>terms of conversion</a:t>
            </a:r>
            <a:r>
              <a:rPr lang="en-GB" sz="1400">
                <a:latin typeface="Garamond"/>
              </a:rPr>
              <a:t> through which something </a:t>
            </a:r>
            <a:r>
              <a:rPr lang="en-GB" sz="1400">
                <a:latin typeface="Garamond"/>
              </a:rPr>
              <a:t>is</a:t>
            </a:r>
            <a:r>
              <a:rPr lang="en-GB" sz="1400">
                <a:latin typeface="Garamond"/>
              </a:rPr>
              <a:t> represent</a:t>
            </a:r>
            <a:r>
              <a:rPr lang="en-GB" sz="1400">
                <a:latin typeface="Garamond"/>
              </a:rPr>
              <a:t>able</a:t>
            </a:r>
            <a:r>
              <a:rPr lang="en-GB" sz="1400">
                <a:latin typeface="Garamond"/>
              </a:rPr>
              <a:t> at all, and </a:t>
            </a:r>
            <a:r>
              <a:rPr lang="en-GB" sz="1400">
                <a:latin typeface="Garamond"/>
              </a:rPr>
              <a:t>how </a:t>
            </a:r>
            <a:r>
              <a:rPr lang="en-GB" sz="1400">
                <a:latin typeface="Garamond"/>
              </a:rPr>
              <a:t>those routings are continuously forking into technosocial offspring.</a:t>
            </a:r>
          </a:p>
          <a:p>
            <a:r>
              <a:rPr lang="en-GB" sz="1400" b="0" i="0" dirty="0">
                <a:solidFill>
                  <a:srgbClr val="555555"/>
                </a:solidFill>
                <a:latin typeface="Garamond"/>
              </a:rPr>
              <a:t>Staunæs 2026: 107–109, 114–118. The RQ3 answer and closing consequences are formulations for the defence, grounded in the synthesis.</a:t>
            </a:r>
          </a:p>
          <a:p>
            <a:endParaRPr lang="en-GB" sz="1400" b="0" i="0" dirty="0">
              <a:solidFill>
                <a:srgbClr val="555555"/>
              </a:solidFill>
              <a:latin typeface="Garamond"/>
            </a:endParaRPr>
          </a:p>
          <a:p>
            <a:r>
              <a:rPr lang="en-GB" sz="1400" b="0" i="0" dirty="0">
                <a:latin typeface="Garamond"/>
              </a:rPr>
              <a:t>Source notes</a:t>
            </a:r>
          </a:p>
          <a:p>
            <a:endParaRPr lang="en-GB" sz="1400" b="0" i="0" dirty="0">
              <a:latin typeface="Garamond"/>
            </a:endParaRPr>
          </a:p>
          <a:p>
            <a:r>
              <a:rPr lang="en-GB" sz="1400" b="0" i="0" dirty="0">
                <a:latin typeface="Garamond"/>
              </a:rPr>
              <a:t>Emily M. Bender, 29 October 2022, post 6 of “Today’s #</a:t>
            </a:r>
            <a:r>
              <a:rPr lang="en-GB" sz="1400" b="0" i="0" dirty="0" err="1">
                <a:latin typeface="Garamond"/>
              </a:rPr>
              <a:t>AIhype</a:t>
            </a:r>
            <a:r>
              <a:rPr lang="en-GB" sz="1400" b="0" i="0" dirty="0">
                <a:latin typeface="Garamond"/>
              </a:rPr>
              <a:t> Take-Down”. Original post: https://</a:t>
            </a:r>
            <a:r>
              <a:rPr lang="en-GB" sz="1400" b="0" i="0" dirty="0" err="1">
                <a:latin typeface="Garamond"/>
              </a:rPr>
              <a:t>mastodon.social</a:t>
            </a:r>
            <a:r>
              <a:rPr lang="en-GB" sz="1400" b="0" i="0" dirty="0">
                <a:latin typeface="Garamond"/>
              </a:rPr>
              <a:t>/@</a:t>
            </a:r>
            <a:r>
              <a:rPr lang="en-GB" sz="1400" b="0" i="0" dirty="0" err="1">
                <a:latin typeface="Garamond"/>
              </a:rPr>
              <a:t>emilymbender</a:t>
            </a:r>
            <a:r>
              <a:rPr lang="en-GB" sz="1400" b="0" i="0" dirty="0">
                <a:latin typeface="Garamond"/>
              </a:rPr>
              <a:t>/109249531531261941. Screenshot captured from the original public post; its original spelling is preserved. The dissertation discusses this criticism on printed p. 85.</a:t>
            </a:r>
          </a:p>
          <a:p>
            <a:r>
              <a:rPr lang="en-GB" sz="1400" b="0" i="0" dirty="0">
                <a:latin typeface="Garamond"/>
              </a:rPr>
              <a:t>Computer Lars, “</a:t>
            </a:r>
            <a:r>
              <a:rPr lang="en-GB" sz="1400" b="0" i="0" dirty="0" err="1">
                <a:latin typeface="Garamond"/>
              </a:rPr>
              <a:t>Forfatning</a:t>
            </a:r>
            <a:r>
              <a:rPr lang="en-GB" sz="1400" b="0" i="0" dirty="0">
                <a:latin typeface="Garamond"/>
              </a:rPr>
              <a:t> for Det Syntetiske Parti”, Medium, 7 April 2022, §50. https://</a:t>
            </a:r>
            <a:r>
              <a:rPr lang="en-GB" sz="1400" b="0" i="0" dirty="0" err="1">
                <a:latin typeface="Garamond"/>
              </a:rPr>
              <a:t>medium.com</a:t>
            </a:r>
            <a:r>
              <a:rPr lang="en-GB" sz="1400" b="0" i="0" dirty="0">
                <a:latin typeface="Garamond"/>
              </a:rPr>
              <a:t>/det-</a:t>
            </a:r>
            <a:r>
              <a:rPr lang="en-GB" sz="1400" b="0" i="0" dirty="0" err="1">
                <a:latin typeface="Garamond"/>
              </a:rPr>
              <a:t>syntetiske</a:t>
            </a:r>
            <a:r>
              <a:rPr lang="en-GB" sz="1400" b="0" i="0" dirty="0">
                <a:latin typeface="Garamond"/>
              </a:rPr>
              <a:t>-parti/forfatning-for-det-syntetiske-parti-1a495c612fbc. Original screenshot and bibliographic details supplied by the author; the Medium page did not permit automated retrieval.</a:t>
            </a:r>
          </a:p>
          <a:p>
            <a:endParaRPr lang="en-GB" sz="1400" b="0" i="0" dirty="0">
              <a:latin typeface="Garamond"/>
            </a:endParaRPr>
          </a:p>
          <a:p>
            <a:r>
              <a:rPr dirty="0"/>
              <a:t>Sources on screen</a:t>
            </a:r>
          </a:p>
          <a:p>
            <a:r>
              <a:rPr dirty="0"/>
              <a:t>Synthesis: Staunæs 2026: 107–109, 114–118.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13.0] </a:t>
            </a:r>
            <a:r>
              <a:rPr lang="en-GB" sz="1400" b="1">
                <a:latin typeface="Garamond"/>
              </a:rPr>
              <a:t>My general answer to RQ3 is: synthetic democracy generates representations where existing sites cannot organise responses into answerability.</a:t>
            </a:r>
          </a:p>
          <a:p>
            <a:r>
              <a:rPr lang="en-GB" sz="1400">
                <a:latin typeface="Garamond"/>
              </a:rPr>
              <a:t>[→ 13.1] </a:t>
            </a:r>
            <a:r>
              <a:rPr lang="en-GB" sz="1400">
                <a:latin typeface="Garamond"/>
              </a:rPr>
              <a:t>My </a:t>
            </a:r>
            <a:r>
              <a:rPr lang="en-GB" sz="1400">
                <a:latin typeface="Garamond"/>
              </a:rPr>
              <a:t>synthesis of democracy’s disproportion</a:t>
            </a:r>
            <a:r>
              <a:rPr lang="en-GB" sz="1400">
                <a:latin typeface="Garamond"/>
              </a:rPr>
              <a:t> </a:t>
            </a:r>
            <a:r>
              <a:rPr lang="en-GB" sz="1400">
                <a:latin typeface="Garamond"/>
              </a:rPr>
              <a:t>has </a:t>
            </a:r>
            <a:r>
              <a:rPr lang="en-GB" sz="1400">
                <a:latin typeface="Garamond"/>
              </a:rPr>
              <a:t>thereby arrive</a:t>
            </a:r>
            <a:r>
              <a:rPr lang="en-GB" sz="1400">
                <a:latin typeface="Garamond"/>
              </a:rPr>
              <a:t>d</a:t>
            </a:r>
            <a:r>
              <a:rPr lang="en-GB" sz="1400">
                <a:latin typeface="Garamond"/>
              </a:rPr>
              <a:t> somewhere none of the research articles does by itself. Democracy ceases to remain the unquestioned regime surrounding AI-driven political formations and is rendered a material of </a:t>
            </a:r>
            <a:r>
              <a:rPr lang="en-GB" sz="1400">
                <a:latin typeface="Garamond"/>
              </a:rPr>
              <a:t>sculptural handling</a:t>
            </a:r>
            <a:r>
              <a:rPr lang="en-GB" sz="1400">
                <a:latin typeface="Garamond"/>
              </a:rPr>
              <a:t>. My question thus shifts from how </a:t>
            </a:r>
            <a:r>
              <a:rPr lang="en-GB" sz="1400" i="1">
                <a:latin typeface="Garamond"/>
              </a:rPr>
              <a:t>synthetic politics</a:t>
            </a:r>
            <a:r>
              <a:rPr lang="en-GB" sz="1400" i="1">
                <a:latin typeface="Garamond"/>
              </a:rPr>
              <a:t> </a:t>
            </a:r>
            <a:r>
              <a:rPr lang="en-GB" sz="1400" i="1">
                <a:latin typeface="Garamond"/>
              </a:rPr>
              <a:t>contest</a:t>
            </a:r>
            <a:r>
              <a:rPr lang="en-GB" sz="1400" i="1">
                <a:latin typeface="Garamond"/>
              </a:rPr>
              <a:t>s</a:t>
            </a:r>
            <a:r>
              <a:rPr lang="en-GB" sz="1400" i="1">
                <a:latin typeface="Garamond"/>
              </a:rPr>
              <a:t> democracy</a:t>
            </a:r>
            <a:r>
              <a:rPr lang="en-GB" sz="1400">
                <a:latin typeface="Garamond"/>
              </a:rPr>
              <a:t> to what it mean</a:t>
            </a:r>
            <a:r>
              <a:rPr lang="en-GB" sz="1400">
                <a:latin typeface="Garamond"/>
              </a:rPr>
              <a:t>s </a:t>
            </a:r>
            <a:r>
              <a:rPr lang="en-GB" sz="1400">
                <a:latin typeface="Garamond"/>
              </a:rPr>
              <a:t>to </a:t>
            </a:r>
            <a:r>
              <a:rPr lang="en-GB" sz="1400" i="1">
                <a:latin typeface="Garamond"/>
              </a:rPr>
              <a:t>synthesise </a:t>
            </a:r>
            <a:r>
              <a:rPr lang="en-GB" sz="1400" i="1">
                <a:latin typeface="Garamond"/>
              </a:rPr>
              <a:t>a </a:t>
            </a:r>
            <a:r>
              <a:rPr lang="en-GB" sz="1400" i="1">
                <a:latin typeface="Garamond"/>
              </a:rPr>
              <a:t>democracy</a:t>
            </a:r>
            <a:r>
              <a:rPr lang="en-GB" sz="1400">
                <a:latin typeface="Garamond"/>
              </a:rPr>
              <a:t>.</a:t>
            </a:r>
          </a:p>
          <a:p>
            <a:r>
              <a:rPr lang="en-GB" sz="1400">
                <a:latin typeface="Garamond"/>
              </a:rPr>
              <a:t>[→ 13.2] </a:t>
            </a:r>
            <a:r>
              <a:rPr lang="en-GB" sz="1400">
                <a:latin typeface="Garamond"/>
              </a:rPr>
              <a:t>The third question now folds the first two back into their own conditions of possibility. </a:t>
            </a:r>
            <a:r>
              <a:rPr lang="en-GB" sz="1400">
                <a:latin typeface="Garamond"/>
              </a:rPr>
              <a:t>If</a:t>
            </a:r>
            <a:r>
              <a:rPr lang="en-GB" sz="1400">
                <a:latin typeface="Garamond"/>
              </a:rPr>
              <a:t> democracy is synthetic, represented and representative can no longer stand as fixed endpoints of our political relations. Their systematic re-generation is something </a:t>
            </a:r>
            <a:r>
              <a:rPr lang="en-GB" sz="1400">
                <a:latin typeface="Garamond"/>
              </a:rPr>
              <a:t>p</a:t>
            </a:r>
            <a:r>
              <a:rPr lang="en-GB" sz="1400">
                <a:latin typeface="Garamond"/>
              </a:rPr>
              <a:t>olitical practice generate</a:t>
            </a:r>
            <a:r>
              <a:rPr lang="en-GB" sz="1400">
                <a:latin typeface="Garamond"/>
              </a:rPr>
              <a:t>s</a:t>
            </a:r>
            <a:r>
              <a:rPr lang="en-GB" sz="1400">
                <a:latin typeface="Garamond"/>
              </a:rPr>
              <a:t>.</a:t>
            </a:r>
          </a:p>
          <a:p>
            <a:r>
              <a:rPr lang="en-GB" sz="1400">
                <a:latin typeface="Garamond"/>
              </a:rPr>
              <a:t>The answer to what remains </a:t>
            </a:r>
            <a:r>
              <a:rPr lang="en-GB" sz="1400" i="1">
                <a:latin typeface="Garamond"/>
              </a:rPr>
              <a:t>unrepresented</a:t>
            </a:r>
            <a:r>
              <a:rPr lang="en-GB" sz="1400">
                <a:latin typeface="Garamond"/>
              </a:rPr>
              <a:t> cannot therefore be another finally adequate political representation. “Unrepresented” includes the </a:t>
            </a:r>
            <a:r>
              <a:rPr lang="en-GB" sz="1400" i="1">
                <a:latin typeface="Garamond"/>
              </a:rPr>
              <a:t>terms of conversion</a:t>
            </a:r>
            <a:r>
              <a:rPr lang="en-GB" sz="1400">
                <a:latin typeface="Garamond"/>
              </a:rPr>
              <a:t> through which something </a:t>
            </a:r>
            <a:r>
              <a:rPr lang="en-GB" sz="1400">
                <a:latin typeface="Garamond"/>
              </a:rPr>
              <a:t>is</a:t>
            </a:r>
            <a:r>
              <a:rPr lang="en-GB" sz="1400">
                <a:latin typeface="Garamond"/>
              </a:rPr>
              <a:t> represent</a:t>
            </a:r>
            <a:r>
              <a:rPr lang="en-GB" sz="1400">
                <a:latin typeface="Garamond"/>
              </a:rPr>
              <a:t>able</a:t>
            </a:r>
            <a:r>
              <a:rPr lang="en-GB" sz="1400">
                <a:latin typeface="Garamond"/>
              </a:rPr>
              <a:t> at all, and </a:t>
            </a:r>
            <a:r>
              <a:rPr lang="en-GB" sz="1400">
                <a:latin typeface="Garamond"/>
              </a:rPr>
              <a:t>how </a:t>
            </a:r>
            <a:r>
              <a:rPr lang="en-GB" sz="1400">
                <a:latin typeface="Garamond"/>
              </a:rPr>
              <a:t>those routings are continuously forking into technosocial offspring.</a:t>
            </a:r>
          </a:p>
          <a:p>
            <a:r>
              <a:rPr lang="en-GB" sz="1400" b="0" i="0" dirty="0">
                <a:solidFill>
                  <a:srgbClr val="555555"/>
                </a:solidFill>
                <a:latin typeface="Garamond"/>
              </a:rPr>
              <a:t>Staunæs 2026: 107–109, 114–118. The RQ3 answer and closing consequences are formulations for the defence, grounded in the synthesis.</a:t>
            </a:r>
          </a:p>
          <a:p>
            <a:endParaRPr lang="en-GB" sz="1400" b="0" i="0" dirty="0">
              <a:solidFill>
                <a:srgbClr val="555555"/>
              </a:solidFill>
              <a:latin typeface="Garamond"/>
            </a:endParaRPr>
          </a:p>
          <a:p>
            <a:r>
              <a:rPr lang="en-GB" sz="1400" b="0" i="0" dirty="0">
                <a:latin typeface="Garamond"/>
              </a:rPr>
              <a:t>Source notes</a:t>
            </a:r>
          </a:p>
          <a:p>
            <a:endParaRPr lang="en-GB" sz="1400" b="0" i="0" dirty="0">
              <a:latin typeface="Garamond"/>
            </a:endParaRPr>
          </a:p>
          <a:p>
            <a:r>
              <a:rPr lang="en-GB" sz="1400" b="0" i="0" dirty="0">
                <a:latin typeface="Garamond"/>
              </a:rPr>
              <a:t>Emily M. Bender, 29 October 2022, post 6 of “Today’s #</a:t>
            </a:r>
            <a:r>
              <a:rPr lang="en-GB" sz="1400" b="0" i="0" dirty="0" err="1">
                <a:latin typeface="Garamond"/>
              </a:rPr>
              <a:t>AIhype</a:t>
            </a:r>
            <a:r>
              <a:rPr lang="en-GB" sz="1400" b="0" i="0" dirty="0">
                <a:latin typeface="Garamond"/>
              </a:rPr>
              <a:t> Take-Down”. Original post: https://</a:t>
            </a:r>
            <a:r>
              <a:rPr lang="en-GB" sz="1400" b="0" i="0" dirty="0" err="1">
                <a:latin typeface="Garamond"/>
              </a:rPr>
              <a:t>mastodon.social</a:t>
            </a:r>
            <a:r>
              <a:rPr lang="en-GB" sz="1400" b="0" i="0" dirty="0">
                <a:latin typeface="Garamond"/>
              </a:rPr>
              <a:t>/@</a:t>
            </a:r>
            <a:r>
              <a:rPr lang="en-GB" sz="1400" b="0" i="0" dirty="0" err="1">
                <a:latin typeface="Garamond"/>
              </a:rPr>
              <a:t>emilymbender</a:t>
            </a:r>
            <a:r>
              <a:rPr lang="en-GB" sz="1400" b="0" i="0" dirty="0">
                <a:latin typeface="Garamond"/>
              </a:rPr>
              <a:t>/109249531531261941. Screenshot captured from the original public post; its original spelling is preserved. The dissertation discusses this criticism on printed p. 85.</a:t>
            </a:r>
          </a:p>
          <a:p>
            <a:r>
              <a:rPr lang="en-GB" sz="1400" b="0" i="0" dirty="0">
                <a:latin typeface="Garamond"/>
              </a:rPr>
              <a:t>Computer Lars, “</a:t>
            </a:r>
            <a:r>
              <a:rPr lang="en-GB" sz="1400" b="0" i="0" dirty="0" err="1">
                <a:latin typeface="Garamond"/>
              </a:rPr>
              <a:t>Forfatning</a:t>
            </a:r>
            <a:r>
              <a:rPr lang="en-GB" sz="1400" b="0" i="0" dirty="0">
                <a:latin typeface="Garamond"/>
              </a:rPr>
              <a:t> for Det Syntetiske Parti”, Medium, 7 April 2022, §50. https://</a:t>
            </a:r>
            <a:r>
              <a:rPr lang="en-GB" sz="1400" b="0" i="0" dirty="0" err="1">
                <a:latin typeface="Garamond"/>
              </a:rPr>
              <a:t>medium.com</a:t>
            </a:r>
            <a:r>
              <a:rPr lang="en-GB" sz="1400" b="0" i="0" dirty="0">
                <a:latin typeface="Garamond"/>
              </a:rPr>
              <a:t>/det-</a:t>
            </a:r>
            <a:r>
              <a:rPr lang="en-GB" sz="1400" b="0" i="0" dirty="0" err="1">
                <a:latin typeface="Garamond"/>
              </a:rPr>
              <a:t>syntetiske</a:t>
            </a:r>
            <a:r>
              <a:rPr lang="en-GB" sz="1400" b="0" i="0" dirty="0">
                <a:latin typeface="Garamond"/>
              </a:rPr>
              <a:t>-parti/forfatning-for-det-syntetiske-parti-1a495c612fbc. Original screenshot and bibliographic details supplied by the author; the Medium page did not permit automated retrieval.</a:t>
            </a:r>
          </a:p>
          <a:p>
            <a:endParaRPr lang="en-GB" sz="1400" b="0" i="0" dirty="0">
              <a:latin typeface="Garamond"/>
            </a:endParaRPr>
          </a:p>
          <a:p>
            <a:r>
              <a:rPr dirty="0"/>
              <a:t>Sources on screen</a:t>
            </a:r>
          </a:p>
          <a:p>
            <a:r>
              <a:rPr dirty="0"/>
              <a:t>Emily M. Bender, Mastodon, 29 October 2022, post 6.</a:t>
            </a:r>
          </a:p>
          <a:p>
            <a:r>
              <a:rPr dirty="0"/>
              <a:t>Bender discussed: Staunæs 2026: 85. Synthesis: 107–109, 114–118.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13.0] </a:t>
            </a:r>
            <a:r>
              <a:rPr lang="en-GB" sz="1400" b="1">
                <a:latin typeface="Garamond"/>
              </a:rPr>
              <a:t>My general answer to RQ3 is: synthetic democracy generates representations where existing sites cannot organise responses into answerability.</a:t>
            </a:r>
          </a:p>
          <a:p>
            <a:r>
              <a:rPr lang="en-GB" sz="1400">
                <a:latin typeface="Garamond"/>
              </a:rPr>
              <a:t>[→ 13.1] </a:t>
            </a:r>
            <a:r>
              <a:rPr lang="en-GB" sz="1400">
                <a:latin typeface="Garamond"/>
              </a:rPr>
              <a:t>My </a:t>
            </a:r>
            <a:r>
              <a:rPr lang="en-GB" sz="1400">
                <a:latin typeface="Garamond"/>
              </a:rPr>
              <a:t>synthesis of democracy’s disproportion</a:t>
            </a:r>
            <a:r>
              <a:rPr lang="en-GB" sz="1400">
                <a:latin typeface="Garamond"/>
              </a:rPr>
              <a:t> </a:t>
            </a:r>
            <a:r>
              <a:rPr lang="en-GB" sz="1400">
                <a:latin typeface="Garamond"/>
              </a:rPr>
              <a:t>has </a:t>
            </a:r>
            <a:r>
              <a:rPr lang="en-GB" sz="1400">
                <a:latin typeface="Garamond"/>
              </a:rPr>
              <a:t>thereby arrive</a:t>
            </a:r>
            <a:r>
              <a:rPr lang="en-GB" sz="1400">
                <a:latin typeface="Garamond"/>
              </a:rPr>
              <a:t>d</a:t>
            </a:r>
            <a:r>
              <a:rPr lang="en-GB" sz="1400">
                <a:latin typeface="Garamond"/>
              </a:rPr>
              <a:t> somewhere none of the research articles does by itself. Democracy ceases to remain the unquestioned regime surrounding AI-driven political formations and is rendered a material of </a:t>
            </a:r>
            <a:r>
              <a:rPr lang="en-GB" sz="1400">
                <a:latin typeface="Garamond"/>
              </a:rPr>
              <a:t>sculptural handling</a:t>
            </a:r>
            <a:r>
              <a:rPr lang="en-GB" sz="1400">
                <a:latin typeface="Garamond"/>
              </a:rPr>
              <a:t>. My question thus shifts from how </a:t>
            </a:r>
            <a:r>
              <a:rPr lang="en-GB" sz="1400" i="1">
                <a:latin typeface="Garamond"/>
              </a:rPr>
              <a:t>synthetic politics</a:t>
            </a:r>
            <a:r>
              <a:rPr lang="en-GB" sz="1400" i="1">
                <a:latin typeface="Garamond"/>
              </a:rPr>
              <a:t> </a:t>
            </a:r>
            <a:r>
              <a:rPr lang="en-GB" sz="1400" i="1">
                <a:latin typeface="Garamond"/>
              </a:rPr>
              <a:t>contest</a:t>
            </a:r>
            <a:r>
              <a:rPr lang="en-GB" sz="1400" i="1">
                <a:latin typeface="Garamond"/>
              </a:rPr>
              <a:t>s</a:t>
            </a:r>
            <a:r>
              <a:rPr lang="en-GB" sz="1400" i="1">
                <a:latin typeface="Garamond"/>
              </a:rPr>
              <a:t> democracy</a:t>
            </a:r>
            <a:r>
              <a:rPr lang="en-GB" sz="1400">
                <a:latin typeface="Garamond"/>
              </a:rPr>
              <a:t> to what it mean</a:t>
            </a:r>
            <a:r>
              <a:rPr lang="en-GB" sz="1400">
                <a:latin typeface="Garamond"/>
              </a:rPr>
              <a:t>s </a:t>
            </a:r>
            <a:r>
              <a:rPr lang="en-GB" sz="1400">
                <a:latin typeface="Garamond"/>
              </a:rPr>
              <a:t>to </a:t>
            </a:r>
            <a:r>
              <a:rPr lang="en-GB" sz="1400" i="1">
                <a:latin typeface="Garamond"/>
              </a:rPr>
              <a:t>synthesise </a:t>
            </a:r>
            <a:r>
              <a:rPr lang="en-GB" sz="1400" i="1">
                <a:latin typeface="Garamond"/>
              </a:rPr>
              <a:t>a </a:t>
            </a:r>
            <a:r>
              <a:rPr lang="en-GB" sz="1400" i="1">
                <a:latin typeface="Garamond"/>
              </a:rPr>
              <a:t>democracy</a:t>
            </a:r>
            <a:r>
              <a:rPr lang="en-GB" sz="1400">
                <a:latin typeface="Garamond"/>
              </a:rPr>
              <a:t>.</a:t>
            </a:r>
          </a:p>
          <a:p>
            <a:r>
              <a:rPr lang="en-GB" sz="1400">
                <a:latin typeface="Garamond"/>
              </a:rPr>
              <a:t>[→ 13.2] </a:t>
            </a:r>
            <a:r>
              <a:rPr lang="en-GB" sz="1400">
                <a:latin typeface="Garamond"/>
              </a:rPr>
              <a:t>The third question now folds the first two back into their own conditions of possibility. </a:t>
            </a:r>
            <a:r>
              <a:rPr lang="en-GB" sz="1400">
                <a:latin typeface="Garamond"/>
              </a:rPr>
              <a:t>If</a:t>
            </a:r>
            <a:r>
              <a:rPr lang="en-GB" sz="1400">
                <a:latin typeface="Garamond"/>
              </a:rPr>
              <a:t> democracy is synthetic, represented and representative can no longer stand as fixed endpoints of our political relations. Their systematic re-generation is something </a:t>
            </a:r>
            <a:r>
              <a:rPr lang="en-GB" sz="1400">
                <a:latin typeface="Garamond"/>
              </a:rPr>
              <a:t>p</a:t>
            </a:r>
            <a:r>
              <a:rPr lang="en-GB" sz="1400">
                <a:latin typeface="Garamond"/>
              </a:rPr>
              <a:t>olitical practice generate</a:t>
            </a:r>
            <a:r>
              <a:rPr lang="en-GB" sz="1400">
                <a:latin typeface="Garamond"/>
              </a:rPr>
              <a:t>s</a:t>
            </a:r>
            <a:r>
              <a:rPr lang="en-GB" sz="1400">
                <a:latin typeface="Garamond"/>
              </a:rPr>
              <a:t>.</a:t>
            </a:r>
          </a:p>
          <a:p>
            <a:r>
              <a:rPr lang="en-GB" sz="1400">
                <a:latin typeface="Garamond"/>
              </a:rPr>
              <a:t>The answer to what remains </a:t>
            </a:r>
            <a:r>
              <a:rPr lang="en-GB" sz="1400" i="1">
                <a:latin typeface="Garamond"/>
              </a:rPr>
              <a:t>unrepresented</a:t>
            </a:r>
            <a:r>
              <a:rPr lang="en-GB" sz="1400">
                <a:latin typeface="Garamond"/>
              </a:rPr>
              <a:t> cannot therefore be another finally adequate political representation. “Unrepresented” includes the </a:t>
            </a:r>
            <a:r>
              <a:rPr lang="en-GB" sz="1400" i="1">
                <a:latin typeface="Garamond"/>
              </a:rPr>
              <a:t>terms of conversion</a:t>
            </a:r>
            <a:r>
              <a:rPr lang="en-GB" sz="1400">
                <a:latin typeface="Garamond"/>
              </a:rPr>
              <a:t> through which something </a:t>
            </a:r>
            <a:r>
              <a:rPr lang="en-GB" sz="1400">
                <a:latin typeface="Garamond"/>
              </a:rPr>
              <a:t>is</a:t>
            </a:r>
            <a:r>
              <a:rPr lang="en-GB" sz="1400">
                <a:latin typeface="Garamond"/>
              </a:rPr>
              <a:t> represent</a:t>
            </a:r>
            <a:r>
              <a:rPr lang="en-GB" sz="1400">
                <a:latin typeface="Garamond"/>
              </a:rPr>
              <a:t>able</a:t>
            </a:r>
            <a:r>
              <a:rPr lang="en-GB" sz="1400">
                <a:latin typeface="Garamond"/>
              </a:rPr>
              <a:t> at all, and </a:t>
            </a:r>
            <a:r>
              <a:rPr lang="en-GB" sz="1400">
                <a:latin typeface="Garamond"/>
              </a:rPr>
              <a:t>how </a:t>
            </a:r>
            <a:r>
              <a:rPr lang="en-GB" sz="1400">
                <a:latin typeface="Garamond"/>
              </a:rPr>
              <a:t>those routings are continuously forking into technosocial offspring.</a:t>
            </a:r>
          </a:p>
          <a:p>
            <a:r>
              <a:rPr lang="en-GB" sz="1400" b="0" i="0" dirty="0">
                <a:solidFill>
                  <a:srgbClr val="555555"/>
                </a:solidFill>
                <a:latin typeface="Garamond"/>
              </a:rPr>
              <a:t>Staunæs 2026: 107–109, 114–118. The RQ3 answer and closing consequences are formulations for the defence, grounded in the synthesis.</a:t>
            </a:r>
          </a:p>
          <a:p>
            <a:endParaRPr lang="en-GB" sz="1400" b="0" i="0" dirty="0">
              <a:solidFill>
                <a:srgbClr val="555555"/>
              </a:solidFill>
              <a:latin typeface="Garamond"/>
            </a:endParaRPr>
          </a:p>
          <a:p>
            <a:r>
              <a:rPr lang="en-GB" sz="1400" b="0" i="0" dirty="0">
                <a:latin typeface="Garamond"/>
              </a:rPr>
              <a:t>Source notes</a:t>
            </a:r>
          </a:p>
          <a:p>
            <a:endParaRPr lang="en-GB" sz="1400" b="0" i="0" dirty="0">
              <a:latin typeface="Garamond"/>
            </a:endParaRPr>
          </a:p>
          <a:p>
            <a:r>
              <a:rPr lang="en-GB" sz="1400" b="0" i="0" dirty="0">
                <a:latin typeface="Garamond"/>
              </a:rPr>
              <a:t>Emily M. Bender, 29 October 2022, post 6 of “Today’s #</a:t>
            </a:r>
            <a:r>
              <a:rPr lang="en-GB" sz="1400" b="0" i="0" dirty="0" err="1">
                <a:latin typeface="Garamond"/>
              </a:rPr>
              <a:t>AIhype</a:t>
            </a:r>
            <a:r>
              <a:rPr lang="en-GB" sz="1400" b="0" i="0" dirty="0">
                <a:latin typeface="Garamond"/>
              </a:rPr>
              <a:t> Take-Down”. Original post: https://</a:t>
            </a:r>
            <a:r>
              <a:rPr lang="en-GB" sz="1400" b="0" i="0" dirty="0" err="1">
                <a:latin typeface="Garamond"/>
              </a:rPr>
              <a:t>mastodon.social</a:t>
            </a:r>
            <a:r>
              <a:rPr lang="en-GB" sz="1400" b="0" i="0" dirty="0">
                <a:latin typeface="Garamond"/>
              </a:rPr>
              <a:t>/@</a:t>
            </a:r>
            <a:r>
              <a:rPr lang="en-GB" sz="1400" b="0" i="0" dirty="0" err="1">
                <a:latin typeface="Garamond"/>
              </a:rPr>
              <a:t>emilymbender</a:t>
            </a:r>
            <a:r>
              <a:rPr lang="en-GB" sz="1400" b="0" i="0" dirty="0">
                <a:latin typeface="Garamond"/>
              </a:rPr>
              <a:t>/109249531531261941. Screenshot captured from the original public post; its original spelling is preserved. The dissertation discusses this criticism on printed p. 85.</a:t>
            </a:r>
          </a:p>
          <a:p>
            <a:r>
              <a:rPr lang="en-GB" sz="1400" b="0" i="0" dirty="0">
                <a:latin typeface="Garamond"/>
              </a:rPr>
              <a:t>Computer Lars, “</a:t>
            </a:r>
            <a:r>
              <a:rPr lang="en-GB" sz="1400" b="0" i="0" dirty="0" err="1">
                <a:latin typeface="Garamond"/>
              </a:rPr>
              <a:t>Forfatning</a:t>
            </a:r>
            <a:r>
              <a:rPr lang="en-GB" sz="1400" b="0" i="0" dirty="0">
                <a:latin typeface="Garamond"/>
              </a:rPr>
              <a:t> for Det Syntetiske Parti”, Medium, 7 April 2022, §50. https://</a:t>
            </a:r>
            <a:r>
              <a:rPr lang="en-GB" sz="1400" b="0" i="0" dirty="0" err="1">
                <a:latin typeface="Garamond"/>
              </a:rPr>
              <a:t>medium.com</a:t>
            </a:r>
            <a:r>
              <a:rPr lang="en-GB" sz="1400" b="0" i="0" dirty="0">
                <a:latin typeface="Garamond"/>
              </a:rPr>
              <a:t>/det-</a:t>
            </a:r>
            <a:r>
              <a:rPr lang="en-GB" sz="1400" b="0" i="0" dirty="0" err="1">
                <a:latin typeface="Garamond"/>
              </a:rPr>
              <a:t>syntetiske</a:t>
            </a:r>
            <a:r>
              <a:rPr lang="en-GB" sz="1400" b="0" i="0" dirty="0">
                <a:latin typeface="Garamond"/>
              </a:rPr>
              <a:t>-parti/forfatning-for-det-syntetiske-parti-1a495c612fbc. Original screenshot and bibliographic details supplied by the author; the Medium page did not permit automated retrieval.</a:t>
            </a:r>
          </a:p>
          <a:p>
            <a:endParaRPr lang="en-GB" sz="1400" b="0" i="0" dirty="0">
              <a:latin typeface="Garamond"/>
            </a:endParaRPr>
          </a:p>
          <a:p>
            <a:r>
              <a:rPr dirty="0"/>
              <a:t>Sources on screen</a:t>
            </a:r>
          </a:p>
          <a:p>
            <a:r>
              <a:rPr dirty="0"/>
              <a:t>Computer Lars, “</a:t>
            </a:r>
            <a:r>
              <a:rPr dirty="0" err="1"/>
              <a:t>Forfatning</a:t>
            </a:r>
            <a:r>
              <a:rPr dirty="0"/>
              <a:t> for Det </a:t>
            </a:r>
            <a:r>
              <a:rPr dirty="0" err="1"/>
              <a:t>SyntetiskeParti</a:t>
            </a:r>
            <a:r>
              <a:rPr dirty="0"/>
              <a:t>”, §50. Medium, 7 April 2022.</a:t>
            </a:r>
          </a:p>
          <a:p>
            <a:r>
              <a:rPr dirty="0"/>
              <a:t>Synthesis: Staunæs 2026: 107–109, 114–118.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K"/>
          </a:p>
        </p:txBody>
      </p:sp>
      <p:sp>
        <p:nvSpPr>
          <p:cNvPr id="3" name="Notes Placeholder 2"/>
          <p:cNvSpPr>
            <a:spLocks noGrp="1"/>
          </p:cNvSpPr>
          <p:nvPr>
            <p:ph type="body" idx="1"/>
          </p:nvPr>
        </p:nvSpPr>
        <p:spPr/>
        <p:txBody>
          <a:bodyPr/>
          <a:lstStyle/>
          <a:p>
            <a:r>
              <a:rPr lang="en-GB" sz="1400">
                <a:latin typeface="Garamond"/>
              </a:rPr>
              <a:t>[→ 14.0] </a:t>
            </a:r>
            <a:r>
              <a:rPr lang="en-GB" sz="1400">
                <a:latin typeface="Garamond"/>
              </a:rPr>
              <a:t>By positing AI as a political subject in the public sphere, I </a:t>
            </a:r>
            <a:r>
              <a:rPr lang="en-GB" sz="1400">
                <a:latin typeface="Garamond"/>
              </a:rPr>
              <a:t>have </a:t>
            </a:r>
            <a:r>
              <a:rPr lang="en-GB" sz="1400">
                <a:latin typeface="Garamond"/>
              </a:rPr>
              <a:t>repeatedly encounter</a:t>
            </a:r>
            <a:r>
              <a:rPr lang="en-GB" sz="1400">
                <a:latin typeface="Garamond"/>
              </a:rPr>
              <a:t>ed</a:t>
            </a:r>
            <a:r>
              <a:rPr lang="en-GB" sz="1400">
                <a:latin typeface="Garamond"/>
              </a:rPr>
              <a:t> the expectation that one</a:t>
            </a:r>
            <a:r>
              <a:rPr lang="en-GB" sz="1400">
                <a:latin typeface="Garamond"/>
              </a:rPr>
              <a:t> – me, </a:t>
            </a:r>
            <a:r>
              <a:rPr lang="en-GB" sz="1400">
                <a:latin typeface="Garamond"/>
              </a:rPr>
              <a:t>Wiktoria, Olof, </a:t>
            </a:r>
            <a:r>
              <a:rPr lang="en-GB" sz="1400">
                <a:latin typeface="Garamond"/>
              </a:rPr>
              <a:t>or </a:t>
            </a:r>
            <a:r>
              <a:rPr lang="en-GB" sz="1400">
                <a:latin typeface="Garamond"/>
              </a:rPr>
              <a:t>some</a:t>
            </a:r>
            <a:r>
              <a:rPr lang="en-GB" sz="1400">
                <a:latin typeface="Garamond"/>
              </a:rPr>
              <a:t> of the</a:t>
            </a:r>
            <a:r>
              <a:rPr lang="en-GB" sz="1400">
                <a:latin typeface="Garamond"/>
              </a:rPr>
              <a:t> </a:t>
            </a:r>
            <a:r>
              <a:rPr lang="en-GB" sz="1400" i="1">
                <a:latin typeface="Garamond"/>
              </a:rPr>
              <a:t>Lars</a:t>
            </a:r>
            <a:r>
              <a:rPr lang="en-GB" sz="1400" i="1">
                <a:latin typeface="Garamond"/>
              </a:rPr>
              <a:t>e-holes</a:t>
            </a:r>
            <a:r>
              <a:rPr lang="en-GB" sz="1400">
                <a:latin typeface="Garamond"/>
              </a:rPr>
              <a:t> –</a:t>
            </a:r>
            <a:r>
              <a:rPr lang="en-GB" sz="1400">
                <a:latin typeface="Garamond"/>
              </a:rPr>
              <a:t> must </a:t>
            </a:r>
            <a:r>
              <a:rPr lang="en-GB" sz="1400">
                <a:latin typeface="Garamond"/>
              </a:rPr>
              <a:t>anyhow</a:t>
            </a:r>
            <a:r>
              <a:rPr lang="en-GB" sz="1400">
                <a:latin typeface="Garamond"/>
              </a:rPr>
              <a:t> </a:t>
            </a:r>
            <a:r>
              <a:rPr lang="en-GB" sz="1400">
                <a:latin typeface="Garamond"/>
              </a:rPr>
              <a:t>appear as a </a:t>
            </a:r>
            <a:r>
              <a:rPr lang="en-GB" sz="1400" i="1">
                <a:latin typeface="Garamond"/>
              </a:rPr>
              <a:t>somebody</a:t>
            </a:r>
            <a:r>
              <a:rPr lang="en-GB" sz="1400">
                <a:latin typeface="Garamond"/>
              </a:rPr>
              <a:t> with an opinion about </a:t>
            </a:r>
            <a:r>
              <a:rPr lang="en-GB" sz="1400" i="1">
                <a:latin typeface="Garamond"/>
              </a:rPr>
              <a:t>something</a:t>
            </a:r>
            <a:r>
              <a:rPr lang="en-GB" sz="1400">
                <a:latin typeface="Garamond"/>
              </a:rPr>
              <a:t>: in media bubbles’ algorithmically organised free exchange of interests, as well as in the art space’s autonomous production of radical agreement. Once an opinion has been supplied with its somebody, political debate </a:t>
            </a:r>
            <a:r>
              <a:rPr lang="en-GB" sz="1400">
                <a:latin typeface="Garamond"/>
              </a:rPr>
              <a:t>hopes to</a:t>
            </a:r>
            <a:r>
              <a:rPr lang="en-GB" sz="1400">
                <a:latin typeface="Garamond"/>
              </a:rPr>
              <a:t> proceed as usual. </a:t>
            </a:r>
          </a:p>
          <a:p>
            <a:r>
              <a:rPr lang="en-GB" sz="1400">
                <a:latin typeface="Garamond"/>
              </a:rPr>
              <a:t>How I learned to love democracy, then, was not through </a:t>
            </a:r>
            <a:r>
              <a:rPr lang="en-GB" sz="1400">
                <a:latin typeface="Garamond"/>
              </a:rPr>
              <a:t>any </a:t>
            </a:r>
            <a:r>
              <a:rPr lang="en-GB" sz="1400">
                <a:latin typeface="Garamond"/>
              </a:rPr>
              <a:t>renewed civic faith or </a:t>
            </a:r>
            <a:r>
              <a:rPr lang="en-GB" sz="1400">
                <a:latin typeface="Garamond"/>
              </a:rPr>
              <a:t>an </a:t>
            </a:r>
            <a:r>
              <a:rPr lang="en-GB" sz="1400">
                <a:latin typeface="Garamond"/>
              </a:rPr>
              <a:t>affective reconciliation. Like the politicians I developed, I acquired a machine-learned love, trained on the disproportion between response and answerability rather than on any native sentiment toward popular rule. I learned to love at the level where political form currently takes shape, which means </a:t>
            </a:r>
            <a:r>
              <a:rPr lang="en-GB" sz="1400">
                <a:latin typeface="Garamond"/>
              </a:rPr>
              <a:t>speaking </a:t>
            </a:r>
            <a:r>
              <a:rPr lang="en-GB" sz="1400">
                <a:latin typeface="Garamond"/>
              </a:rPr>
              <a:t>as a kind of robot feeding answers into the response-stream that already runs.</a:t>
            </a:r>
          </a:p>
          <a:p>
            <a:r>
              <a:rPr lang="en-GB" sz="1400" b="0" i="0" dirty="0">
                <a:solidFill>
                  <a:srgbClr val="555555"/>
                </a:solidFill>
                <a:latin typeface="Garamond"/>
              </a:rPr>
              <a:t>Staunæs 2026: 114–118, 330. Final on-screen quotation: p. 330. The broader spoken ending is the defence formulation.</a:t>
            </a:r>
          </a:p>
          <a:p>
            <a:endParaRPr lang="en-GB" sz="1400" b="0" i="0" dirty="0">
              <a:solidFill>
                <a:srgbClr val="555555"/>
              </a:solidFill>
              <a:latin typeface="Garamond"/>
            </a:endParaRPr>
          </a:p>
          <a:p>
            <a:r>
              <a:rPr lang="en-GB" sz="1400" b="0" i="0" dirty="0">
                <a:latin typeface="Garamond"/>
              </a:rPr>
              <a:t>Source notes</a:t>
            </a:r>
          </a:p>
          <a:p>
            <a:r>
              <a:rPr lang="en-GB" sz="1400" b="0" i="0" dirty="0">
                <a:latin typeface="Garamond"/>
              </a:rPr>
              <a:t>Full photograph provenance</a:t>
            </a:r>
          </a:p>
          <a:p>
            <a:r>
              <a:rPr lang="en-GB" sz="1400" b="0" i="0" dirty="0">
                <a:latin typeface="Garamond"/>
              </a:rPr>
              <a:t>Figure IV.1: Reorientation. The research geometry opened onto its substrate, with me dressed as Computer Lars in The Synthetic Party’s uniform. Photograph: Tamara Wyrzykowski, 8 November 2025, PATIO, Academy of Fine Arts in </a:t>
            </a:r>
            <a:r>
              <a:rPr lang="en-GB" sz="1400" b="0" i="0" dirty="0" err="1">
                <a:latin typeface="Garamond"/>
              </a:rPr>
              <a:t>Gdańsk</a:t>
            </a:r>
            <a:r>
              <a:rPr lang="en-GB" sz="1400" b="0" i="0" dirty="0">
                <a:latin typeface="Garamond"/>
              </a:rPr>
              <a:t>. Staunæs 2026: 110.</a:t>
            </a:r>
          </a:p>
          <a:p>
            <a:endParaRPr lang="en-GB" sz="1400" b="0" i="0" dirty="0">
              <a:latin typeface="Garamond"/>
            </a:endParaRPr>
          </a:p>
          <a:p>
            <a:r>
              <a:rPr dirty="0"/>
              <a:t>Sources on screen</a:t>
            </a:r>
          </a:p>
          <a:p>
            <a:r>
              <a:rPr dirty="0"/>
              <a:t>Figure IV.1: Reorientation. Photograph: Tamara </a:t>
            </a:r>
            <a:r>
              <a:rPr dirty="0" err="1"/>
              <a:t>Wyrzykowski,Gdańsk</a:t>
            </a:r>
            <a:r>
              <a:rPr dirty="0"/>
              <a:t>, 8 November 2025. Staunæs 2026: 110.</a:t>
            </a:r>
          </a:p>
          <a:p>
            <a:r>
              <a:rPr dirty="0"/>
              <a:t>Staunæs 2026: 330.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3.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4.jp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5.jp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6.jp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30.jp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33.jp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34.jp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36.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8.mp4"/><Relationship Id="rId1" Type="http://schemas.microsoft.com/office/2007/relationships/media" Target="../media/media8.mp4"/><Relationship Id="rId5" Type="http://schemas.openxmlformats.org/officeDocument/2006/relationships/image" Target="../media/image37.jp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Syntheticism: How I Learned to Love Democracy</a:t>
            </a:r>
          </a:p>
        </p:txBody>
      </p:sp>
      <p:sp>
        <p:nvSpPr>
          <p:cNvPr id="102" name="1.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1/7</a:t>
            </a:r>
          </a:p>
        </p:txBody>
      </p:sp>
      <p:pic>
        <p:nvPicPr>
          <p:cNvPr id="103" name="1.0 · image1"/>
          <p:cNvPicPr>
            <a:picLocks noChangeAspect="1"/>
          </p:cNvPicPr>
          <p:nvPr/>
        </p:nvPicPr>
        <p:blipFill>
          <a:blip r:embed="rId3"/>
          <a:stretch/>
        </p:blipFill>
        <p:spPr>
          <a:xfrm>
            <a:off x="1229433" y="1409700"/>
            <a:ext cx="2827510" cy="4019550"/>
          </a:xfrm>
          <a:prstGeom prst="rect">
            <a:avLst/>
          </a:prstGeom>
        </p:spPr>
      </p:pic>
      <p:sp>
        <p:nvSpPr>
          <p:cNvPr id="104" name="1.0 · Asker Bryld Staunæs&#10;PhD defence in artistic research&#10;A"/>
          <p:cNvSpPr>
            <a:spLocks noGrp="1"/>
          </p:cNvSpPr>
          <p:nvPr/>
        </p:nvSpPr>
        <p:spPr>
          <a:xfrm>
            <a:off x="5286375" y="1428750"/>
            <a:ext cx="6381750" cy="1190625"/>
          </a:xfrm>
          <a:prstGeom prst="rect">
            <a:avLst/>
          </a:prstGeom>
          <a:noFill/>
          <a:ln w="0">
            <a:noFill/>
          </a:ln>
        </p:spPr>
        <p:txBody>
          <a:bodyPr wrap="square" lIns="0" tIns="0" rIns="0" bIns="0" anchor="t">
            <a:noAutofit/>
          </a:bodyPr>
          <a:lstStyle/>
          <a:p>
            <a:pPr algn="l">
              <a:lnSpc>
                <a:spcPct val="108000"/>
              </a:lnSpc>
              <a:defRPr sz="2550" b="0" i="0">
                <a:solidFill>
                  <a:srgbClr val="000000"/>
                </a:solidFill>
                <a:latin typeface="Garamond"/>
                <a:ea typeface="Garamond"/>
                <a:cs typeface="Garamond"/>
              </a:defRPr>
            </a:pPr>
            <a:r>
              <a:rPr sz="2550" b="0" i="0">
                <a:solidFill>
                  <a:srgbClr val="000000"/>
                </a:solidFill>
                <a:latin typeface="Garamond"/>
                <a:ea typeface="Garamond"/>
                <a:cs typeface="Garamond"/>
              </a:rPr>
              <a:t>Asker Bryld Staunæs</a:t>
            </a:r>
          </a:p>
          <a:p>
            <a:pPr algn="l">
              <a:lnSpc>
                <a:spcPct val="108000"/>
              </a:lnSpc>
              <a:defRPr sz="2550" b="0" i="0">
                <a:solidFill>
                  <a:srgbClr val="000000"/>
                </a:solidFill>
                <a:latin typeface="Garamond"/>
                <a:ea typeface="Garamond"/>
                <a:cs typeface="Garamond"/>
              </a:defRPr>
            </a:pPr>
            <a:r>
              <a:rPr sz="2550" b="0" i="0">
                <a:solidFill>
                  <a:srgbClr val="000000"/>
                </a:solidFill>
                <a:latin typeface="Garamond"/>
                <a:ea typeface="Garamond"/>
                <a:cs typeface="Garamond"/>
              </a:rPr>
              <a:t>PhD defence in artistic research</a:t>
            </a:r>
          </a:p>
          <a:p>
            <a:pPr algn="l">
              <a:lnSpc>
                <a:spcPct val="108000"/>
              </a:lnSpc>
              <a:defRPr sz="2550" b="0" i="0">
                <a:solidFill>
                  <a:srgbClr val="000000"/>
                </a:solidFill>
                <a:latin typeface="Garamond"/>
                <a:ea typeface="Garamond"/>
                <a:cs typeface="Garamond"/>
              </a:defRPr>
            </a:pPr>
            <a:r>
              <a:rPr sz="2550" b="0" i="0">
                <a:solidFill>
                  <a:srgbClr val="000000"/>
                </a:solidFill>
                <a:latin typeface="Garamond"/>
                <a:ea typeface="Garamond"/>
                <a:cs typeface="Garamond"/>
              </a:rPr>
              <a:t>Aarhus University</a:t>
            </a:r>
          </a:p>
        </p:txBody>
      </p:sp>
      <p:sp>
        <p:nvSpPr>
          <p:cNvPr id="105" name="1.0 · DEFENCE"/>
          <p:cNvSpPr>
            <a:spLocks noGrp="1"/>
          </p:cNvSpPr>
          <p:nvPr/>
        </p:nvSpPr>
        <p:spPr>
          <a:xfrm>
            <a:off x="5286375" y="2790825"/>
            <a:ext cx="57150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DEFENCE</a:t>
            </a:r>
          </a:p>
        </p:txBody>
      </p:sp>
      <p:sp>
        <p:nvSpPr>
          <p:cNvPr id="106" name="1.0 · Monday 21 September 2026 · 13:15–16:15&#10;Kasernen · Buil"/>
          <p:cNvSpPr>
            <a:spLocks noGrp="1"/>
          </p:cNvSpPr>
          <p:nvPr/>
        </p:nvSpPr>
        <p:spPr>
          <a:xfrm>
            <a:off x="5286375" y="3171825"/>
            <a:ext cx="6096000" cy="952500"/>
          </a:xfrm>
          <a:prstGeom prst="rect">
            <a:avLst/>
          </a:prstGeom>
          <a:noFill/>
          <a:ln w="0">
            <a:noFill/>
          </a:ln>
        </p:spPr>
        <p:txBody>
          <a:bodyPr wrap="square" lIns="0" tIns="0" rIns="0" bIns="0" anchor="t">
            <a:noAutofit/>
          </a:bodyPr>
          <a:lstStyle/>
          <a:p>
            <a:pPr algn="l">
              <a:lnSpc>
                <a:spcPct val="108000"/>
              </a:lnSpc>
              <a:defRPr sz="1875" b="0" i="0">
                <a:solidFill>
                  <a:srgbClr val="000000"/>
                </a:solidFill>
                <a:latin typeface="Consolas"/>
                <a:ea typeface="Consolas"/>
                <a:cs typeface="Consolas"/>
              </a:defRPr>
            </a:pPr>
            <a:r>
              <a:rPr sz="1875" b="0" i="0">
                <a:solidFill>
                  <a:srgbClr val="000000"/>
                </a:solidFill>
                <a:latin typeface="Consolas"/>
                <a:ea typeface="Consolas"/>
                <a:cs typeface="Consolas"/>
              </a:rPr>
              <a:t>Monday 21 September 2026 · 13:15–16:15</a:t>
            </a:r>
          </a:p>
          <a:p>
            <a:pPr algn="l">
              <a:lnSpc>
                <a:spcPct val="108000"/>
              </a:lnSpc>
              <a:defRPr sz="1875" b="0" i="0">
                <a:solidFill>
                  <a:srgbClr val="000000"/>
                </a:solidFill>
                <a:latin typeface="Consolas"/>
                <a:ea typeface="Consolas"/>
                <a:cs typeface="Consolas"/>
              </a:defRPr>
            </a:pPr>
            <a:r>
              <a:rPr sz="1875" b="0" i="0">
                <a:solidFill>
                  <a:srgbClr val="000000"/>
                </a:solidFill>
                <a:latin typeface="Consolas"/>
                <a:ea typeface="Consolas"/>
                <a:cs typeface="Consolas"/>
              </a:rPr>
              <a:t>Kasernen · Building 1585/119 · Lille Sal</a:t>
            </a:r>
          </a:p>
          <a:p>
            <a:pPr algn="l">
              <a:lnSpc>
                <a:spcPct val="108000"/>
              </a:lnSpc>
              <a:defRPr sz="1875" b="0" i="0">
                <a:solidFill>
                  <a:srgbClr val="000000"/>
                </a:solidFill>
                <a:latin typeface="Consolas"/>
                <a:ea typeface="Consolas"/>
                <a:cs typeface="Consolas"/>
              </a:defRPr>
            </a:pPr>
            <a:r>
              <a:rPr sz="1875" b="0" i="0">
                <a:solidFill>
                  <a:srgbClr val="000000"/>
                </a:solidFill>
                <a:latin typeface="Consolas"/>
                <a:ea typeface="Consolas"/>
                <a:cs typeface="Consolas"/>
              </a:rPr>
              <a:t>Langelandsgade 143 · 8000 Aarhus C</a:t>
            </a:r>
          </a:p>
        </p:txBody>
      </p:sp>
      <p:sp>
        <p:nvSpPr>
          <p:cNvPr id="107" name="1.0 · Supervisors: Lotte Philipsen; Cristina Maria Flesher F"/>
          <p:cNvSpPr>
            <a:spLocks noGrp="1"/>
          </p:cNvSpPr>
          <p:nvPr/>
        </p:nvSpPr>
        <p:spPr>
          <a:xfrm>
            <a:off x="5286375" y="4314825"/>
            <a:ext cx="4667250" cy="1095375"/>
          </a:xfrm>
          <a:prstGeom prst="rect">
            <a:avLst/>
          </a:prstGeom>
          <a:noFill/>
          <a:ln w="0">
            <a:noFill/>
          </a:ln>
        </p:spPr>
        <p:txBody>
          <a:bodyPr wrap="square" lIns="0" tIns="0" rIns="0" bIns="0" anchor="t">
            <a:noAutofit/>
          </a:bodyPr>
          <a:lstStyle/>
          <a:p>
            <a:pPr algn="l">
              <a:lnSpc>
                <a:spcPct val="108000"/>
              </a:lnSpc>
              <a:defRPr sz="1950" b="0" i="0">
                <a:solidFill>
                  <a:srgbClr val="000000"/>
                </a:solidFill>
                <a:latin typeface="Garamond"/>
                <a:ea typeface="Garamond"/>
                <a:cs typeface="Garamond"/>
              </a:defRPr>
            </a:pPr>
            <a:r>
              <a:rPr sz="1950" b="0" i="0" dirty="0">
                <a:solidFill>
                  <a:srgbClr val="000000"/>
                </a:solidFill>
                <a:latin typeface="Garamond"/>
                <a:ea typeface="Garamond"/>
                <a:cs typeface="Garamond"/>
              </a:rPr>
              <a:t>Supervisors: Lotte Philipsen;</a:t>
            </a:r>
          </a:p>
          <a:p>
            <a:pPr algn="l">
              <a:lnSpc>
                <a:spcPct val="108000"/>
              </a:lnSpc>
              <a:defRPr sz="1950" b="0" i="0">
                <a:solidFill>
                  <a:srgbClr val="000000"/>
                </a:solidFill>
                <a:latin typeface="Garamond"/>
                <a:ea typeface="Garamond"/>
                <a:cs typeface="Garamond"/>
              </a:defRPr>
            </a:pPr>
            <a:r>
              <a:rPr sz="1950" b="0" i="0" dirty="0">
                <a:solidFill>
                  <a:srgbClr val="000000"/>
                </a:solidFill>
                <a:latin typeface="Garamond"/>
                <a:ea typeface="Garamond"/>
                <a:cs typeface="Garamond"/>
              </a:rPr>
              <a:t>Cristina Maria Flesher </a:t>
            </a:r>
            <a:r>
              <a:rPr sz="1950" b="0" i="0" dirty="0" err="1">
                <a:solidFill>
                  <a:srgbClr val="000000"/>
                </a:solidFill>
                <a:latin typeface="Garamond"/>
                <a:ea typeface="Garamond"/>
                <a:cs typeface="Garamond"/>
              </a:rPr>
              <a:t>Fominaya</a:t>
            </a:r>
            <a:r>
              <a:rPr sz="1950" b="0" i="0" dirty="0">
                <a:solidFill>
                  <a:srgbClr val="000000"/>
                </a:solidFill>
                <a:latin typeface="Garamond"/>
                <a:ea typeface="Garamond"/>
                <a:cs typeface="Garamond"/>
              </a:rPr>
              <a:t>.</a:t>
            </a:r>
          </a:p>
          <a:p>
            <a:pPr algn="l">
              <a:lnSpc>
                <a:spcPct val="108000"/>
              </a:lnSpc>
              <a:defRPr sz="1950" b="0" i="0">
                <a:solidFill>
                  <a:srgbClr val="000000"/>
                </a:solidFill>
                <a:latin typeface="Garamond"/>
                <a:ea typeface="Garamond"/>
                <a:cs typeface="Garamond"/>
              </a:defRPr>
            </a:pPr>
            <a:br>
              <a:rPr lang="da-DK" sz="1950" b="0" i="0" dirty="0">
                <a:solidFill>
                  <a:srgbClr val="000000"/>
                </a:solidFill>
                <a:latin typeface="Garamond"/>
                <a:ea typeface="Garamond"/>
                <a:cs typeface="Garamond"/>
              </a:rPr>
            </a:br>
            <a:r>
              <a:rPr sz="1950" b="0" i="0" dirty="0">
                <a:solidFill>
                  <a:srgbClr val="000000"/>
                </a:solidFill>
                <a:latin typeface="Garamond"/>
                <a:ea typeface="Garamond"/>
                <a:cs typeface="Garamond"/>
              </a:rPr>
              <a:t>Assessment committee: Jussi Parikka</a:t>
            </a:r>
          </a:p>
          <a:p>
            <a:pPr algn="l">
              <a:lnSpc>
                <a:spcPct val="108000"/>
              </a:lnSpc>
              <a:defRPr sz="1950" b="0" i="0">
                <a:solidFill>
                  <a:srgbClr val="000000"/>
                </a:solidFill>
                <a:latin typeface="Garamond"/>
                <a:ea typeface="Garamond"/>
                <a:cs typeface="Garamond"/>
              </a:defRPr>
            </a:pPr>
            <a:r>
              <a:rPr sz="1950" b="0" i="0" dirty="0">
                <a:solidFill>
                  <a:srgbClr val="000000"/>
                </a:solidFill>
                <a:latin typeface="Garamond"/>
                <a:ea typeface="Garamond"/>
                <a:cs typeface="Garamond"/>
              </a:rPr>
              <a:t>(chair); Sine Nørholm Just; Jan Bäcklund.</a:t>
            </a:r>
          </a:p>
        </p:txBody>
      </p:sp>
      <p:sp>
        <p:nvSpPr>
          <p:cNvPr id="110" name="1.0 · Caption">
            <a:extLst>
              <a:ext uri="{FF2B5EF4-FFF2-40B4-BE49-F238E27FC236}">
                <a16:creationId xmlns:a16="http://schemas.microsoft.com/office/drawing/2014/main" id="{F01F4428-EE8A-475E-9DCD-896719860874}"/>
              </a:ext>
            </a:extLst>
          </p:cNvPr>
          <p:cNvSpPr>
            <a:spLocks noGrp="1"/>
          </p:cNvSpPr>
          <p:nvPr/>
        </p:nvSpPr>
        <p:spPr>
          <a:xfrm>
            <a:off x="333375" y="5600700"/>
            <a:ext cx="4619626" cy="721995"/>
          </a:xfrm>
          <a:prstGeom prst="rect">
            <a:avLst/>
          </a:prstGeom>
          <a:noFill/>
          <a:ln w="0">
            <a:noFill/>
          </a:ln>
        </p:spPr>
        <p:txBody>
          <a:bodyPr wrap="square" lIns="0" tIns="0" rIns="0" bIns="0" anchor="t">
            <a:noAutofit/>
          </a:bodyPr>
          <a:lstStyle/>
          <a:p>
            <a:pPr algn="ctr">
              <a:lnSpc>
                <a:spcPct val="108000"/>
              </a:lnSpc>
              <a:defRPr sz="1400" b="0" i="1">
                <a:solidFill>
                  <a:srgbClr val="000000"/>
                </a:solidFill>
                <a:latin typeface="Garamond"/>
                <a:ea typeface="Garamond"/>
                <a:cs typeface="Garamond"/>
              </a:defRPr>
            </a:pPr>
            <a:r>
              <a:rPr sz="1400" b="0" i="1" dirty="0">
                <a:solidFill>
                  <a:srgbClr val="000000"/>
                </a:solidFill>
                <a:latin typeface="Garamond"/>
                <a:ea typeface="Garamond"/>
                <a:cs typeface="Garamond"/>
              </a:rPr>
              <a:t>Computer Lars, cover for Syntheticism: How I</a:t>
            </a:r>
          </a:p>
          <a:p>
            <a:pPr algn="ctr">
              <a:lnSpc>
                <a:spcPct val="108000"/>
              </a:lnSpc>
              <a:defRPr sz="1400" b="0" i="1">
                <a:solidFill>
                  <a:srgbClr val="000000"/>
                </a:solidFill>
                <a:latin typeface="Garamond"/>
                <a:ea typeface="Garamond"/>
                <a:cs typeface="Garamond"/>
              </a:defRPr>
            </a:pPr>
            <a:r>
              <a:rPr sz="1400" b="0" i="1" dirty="0">
                <a:solidFill>
                  <a:srgbClr val="000000"/>
                </a:solidFill>
                <a:latin typeface="Garamond"/>
                <a:ea typeface="Garamond"/>
                <a:cs typeface="Garamond"/>
              </a:rPr>
              <a:t>Learned to Love Democracy, 2026. Generated</a:t>
            </a:r>
          </a:p>
          <a:p>
            <a:pPr algn="ctr">
              <a:lnSpc>
                <a:spcPct val="108000"/>
              </a:lnSpc>
              <a:defRPr sz="1400" b="0" i="1">
                <a:solidFill>
                  <a:srgbClr val="000000"/>
                </a:solidFill>
                <a:latin typeface="Garamond"/>
                <a:ea typeface="Garamond"/>
                <a:cs typeface="Garamond"/>
              </a:defRPr>
            </a:pPr>
            <a:r>
              <a:rPr sz="1400" b="0" i="1" dirty="0">
                <a:solidFill>
                  <a:srgbClr val="000000"/>
                </a:solidFill>
                <a:latin typeface="Garamond"/>
                <a:ea typeface="Garamond"/>
                <a:cs typeface="Garamond"/>
              </a:rPr>
              <a:t>with DALL-E, Flux and Nano Banana.</a:t>
            </a:r>
          </a:p>
        </p:txBody>
      </p:sp>
      <p:sp>
        <p:nvSpPr>
          <p:cNvPr id="111" name="1.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endParaRPr sz="1500" b="0" i="0" dirty="0">
              <a:solidFill>
                <a:srgbClr val="555555"/>
              </a:solidFill>
              <a:latin typeface="Consolas"/>
              <a:ea typeface="Consolas"/>
              <a:cs typeface="Consolas"/>
            </a:endParaRPr>
          </a:p>
        </p:txBody>
      </p:sp>
    </p:spTree>
    <p:extLst>
      <p:ext uri="{BB962C8B-B14F-4D97-AF65-F5344CB8AC3E}">
        <p14:creationId xmlns:p14="http://schemas.microsoft.com/office/powerpoint/2010/main" val="2064036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Syntheticism: How I Learned to Love Democracy</a:t>
            </a:r>
          </a:p>
        </p:txBody>
      </p:sp>
      <p:sp>
        <p:nvSpPr>
          <p:cNvPr id="102" name="1.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1/7</a:t>
            </a:r>
          </a:p>
        </p:txBody>
      </p:sp>
      <p:sp>
        <p:nvSpPr>
          <p:cNvPr id="111" name="1.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 6–12.</a:t>
            </a:r>
          </a:p>
        </p:txBody>
      </p:sp>
      <p:pic>
        <p:nvPicPr>
          <p:cNvPr id="112" name="1.1 · image1"/>
          <p:cNvPicPr>
            <a:picLocks noChangeAspect="1"/>
          </p:cNvPicPr>
          <p:nvPr/>
        </p:nvPicPr>
        <p:blipFill>
          <a:blip r:embed="rId3"/>
          <a:stretch/>
        </p:blipFill>
        <p:spPr>
          <a:xfrm>
            <a:off x="914400" y="1066800"/>
            <a:ext cx="3662392" cy="5206409"/>
          </a:xfrm>
          <a:prstGeom prst="rect">
            <a:avLst/>
          </a:prstGeom>
        </p:spPr>
      </p:pic>
      <p:sp>
        <p:nvSpPr>
          <p:cNvPr id="113" name="1.1 · Practice&#10;Computer Lars&#10;Asker Bryld Staunæs and Benjami"/>
          <p:cNvSpPr>
            <a:spLocks noGrp="1"/>
          </p:cNvSpPr>
          <p:nvPr/>
        </p:nvSpPr>
        <p:spPr>
          <a:xfrm>
            <a:off x="5334000" y="1323975"/>
            <a:ext cx="6286500" cy="1333500"/>
          </a:xfrm>
          <a:prstGeom prst="rect">
            <a:avLst/>
          </a:prstGeom>
          <a:noFill/>
          <a:ln w="0">
            <a:noFill/>
          </a:ln>
        </p:spPr>
        <p:txBody>
          <a:bodyPr wrap="square" lIns="0" tIns="0" rIns="0" bIns="0" anchor="t">
            <a:noAutofit/>
          </a:bodyPr>
          <a:lstStyle/>
          <a:p>
            <a:pPr algn="l">
              <a:lnSpc>
                <a:spcPct val="108000"/>
              </a:lnSpc>
              <a:defRPr sz="2025" b="0" i="0">
                <a:solidFill>
                  <a:srgbClr val="000000"/>
                </a:solidFill>
                <a:latin typeface="Garamond"/>
                <a:ea typeface="Garamond"/>
                <a:cs typeface="Garamond"/>
              </a:defRPr>
            </a:pPr>
            <a:r>
              <a:rPr sz="2025" b="0" i="0" dirty="0">
                <a:solidFill>
                  <a:srgbClr val="FF0000"/>
                </a:solidFill>
                <a:latin typeface="Garamond"/>
                <a:ea typeface="Garamond"/>
                <a:cs typeface="Garamond"/>
              </a:rPr>
              <a:t>Practice</a:t>
            </a:r>
          </a:p>
          <a:p>
            <a:pPr>
              <a:lnSpc>
                <a:spcPct val="108000"/>
              </a:lnSpc>
              <a:defRPr sz="2025" b="0" i="0">
                <a:solidFill>
                  <a:srgbClr val="000000"/>
                </a:solidFill>
                <a:latin typeface="Garamond"/>
                <a:ea typeface="Garamond"/>
                <a:cs typeface="Garamond"/>
              </a:defRPr>
            </a:pPr>
            <a:r>
              <a:rPr sz="2025" b="0" i="1" dirty="0">
                <a:solidFill>
                  <a:srgbClr val="000000"/>
                </a:solidFill>
                <a:latin typeface="Garamond"/>
                <a:ea typeface="Garamond"/>
                <a:cs typeface="Garamond"/>
              </a:rPr>
              <a:t>Computer Lars</a:t>
            </a:r>
            <a:r>
              <a:rPr lang="da-DK" sz="2025" b="0" i="1" dirty="0">
                <a:solidFill>
                  <a:srgbClr val="000000"/>
                </a:solidFill>
                <a:latin typeface="Garamond"/>
                <a:ea typeface="Garamond"/>
                <a:cs typeface="Garamond"/>
              </a:rPr>
              <a:t> </a:t>
            </a:r>
            <a:r>
              <a:rPr lang="en-DK" sz="2025" dirty="0">
                <a:solidFill>
                  <a:srgbClr val="000000"/>
                </a:solidFill>
                <a:latin typeface="Garamond"/>
                <a:ea typeface="Garamond"/>
                <a:cs typeface="Garamond"/>
              </a:rPr>
              <a:t>· 2018</a:t>
            </a:r>
            <a:endParaRPr sz="2025" b="0" i="1" dirty="0">
              <a:solidFill>
                <a:srgbClr val="000000"/>
              </a:solidFill>
              <a:latin typeface="Garamond"/>
              <a:ea typeface="Garamond"/>
              <a:cs typeface="Garamond"/>
            </a:endParaRPr>
          </a:p>
          <a:p>
            <a:pPr algn="l">
              <a:lnSpc>
                <a:spcPct val="108000"/>
              </a:lnSpc>
              <a:defRPr sz="2025" b="0" i="0">
                <a:solidFill>
                  <a:srgbClr val="000000"/>
                </a:solidFill>
                <a:latin typeface="Garamond"/>
                <a:ea typeface="Garamond"/>
                <a:cs typeface="Garamond"/>
              </a:defRPr>
            </a:pPr>
            <a:r>
              <a:rPr sz="2025" b="0" i="0" dirty="0">
                <a:solidFill>
                  <a:srgbClr val="000000"/>
                </a:solidFill>
                <a:latin typeface="Garamond"/>
                <a:ea typeface="Garamond"/>
                <a:cs typeface="Garamond"/>
              </a:rPr>
              <a:t>Asker Bryld Staunæs and</a:t>
            </a:r>
          </a:p>
          <a:p>
            <a:pPr algn="l">
              <a:lnSpc>
                <a:spcPct val="108000"/>
              </a:lnSpc>
              <a:defRPr sz="2025" b="0" i="0">
                <a:solidFill>
                  <a:srgbClr val="000000"/>
                </a:solidFill>
                <a:latin typeface="Garamond"/>
                <a:ea typeface="Garamond"/>
                <a:cs typeface="Garamond"/>
              </a:defRPr>
            </a:pPr>
            <a:r>
              <a:rPr sz="2025" b="0" i="0" dirty="0">
                <a:solidFill>
                  <a:srgbClr val="000000"/>
                </a:solidFill>
                <a:latin typeface="Garamond"/>
                <a:ea typeface="Garamond"/>
                <a:cs typeface="Garamond"/>
              </a:rPr>
              <a:t>Benjamin Asger Krog Møller</a:t>
            </a:r>
          </a:p>
        </p:txBody>
      </p:sp>
      <p:sp>
        <p:nvSpPr>
          <p:cNvPr id="114" name="1.1 · PhD project · 2023–2026&#10;Automatic Uprisings: The Synth"/>
          <p:cNvSpPr>
            <a:spLocks noGrp="1"/>
          </p:cNvSpPr>
          <p:nvPr/>
        </p:nvSpPr>
        <p:spPr>
          <a:xfrm>
            <a:off x="5334000" y="2847975"/>
            <a:ext cx="6286500" cy="1000125"/>
          </a:xfrm>
          <a:prstGeom prst="rect">
            <a:avLst/>
          </a:prstGeom>
          <a:noFill/>
          <a:ln w="0">
            <a:noFill/>
          </a:ln>
        </p:spPr>
        <p:txBody>
          <a:bodyPr wrap="square" lIns="0" tIns="0" rIns="0" bIns="0" anchor="t">
            <a:noAutofit/>
          </a:bodyPr>
          <a:lstStyle/>
          <a:p>
            <a:pPr algn="l">
              <a:lnSpc>
                <a:spcPct val="108000"/>
              </a:lnSpc>
              <a:defRPr sz="2025" b="0" i="0">
                <a:solidFill>
                  <a:srgbClr val="000000"/>
                </a:solidFill>
                <a:latin typeface="Garamond"/>
                <a:ea typeface="Garamond"/>
                <a:cs typeface="Garamond"/>
              </a:defRPr>
            </a:pPr>
            <a:r>
              <a:rPr sz="2025" b="0" i="0" dirty="0">
                <a:solidFill>
                  <a:srgbClr val="FF0000"/>
                </a:solidFill>
                <a:latin typeface="Garamond"/>
                <a:ea typeface="Garamond"/>
                <a:cs typeface="Garamond"/>
              </a:rPr>
              <a:t>PhD project</a:t>
            </a:r>
            <a:r>
              <a:rPr sz="2025" b="0" i="0" dirty="0">
                <a:solidFill>
                  <a:srgbClr val="000000"/>
                </a:solidFill>
                <a:latin typeface="Garamond"/>
                <a:ea typeface="Garamond"/>
                <a:cs typeface="Garamond"/>
              </a:rPr>
              <a:t> · 2023–2026</a:t>
            </a:r>
          </a:p>
          <a:p>
            <a:pPr algn="l">
              <a:lnSpc>
                <a:spcPct val="108000"/>
              </a:lnSpc>
              <a:defRPr sz="2025" b="0" i="0">
                <a:solidFill>
                  <a:srgbClr val="000000"/>
                </a:solidFill>
                <a:latin typeface="Garamond"/>
                <a:ea typeface="Garamond"/>
                <a:cs typeface="Garamond"/>
              </a:defRPr>
            </a:pPr>
            <a:r>
              <a:rPr sz="2025" b="0" i="1" dirty="0">
                <a:solidFill>
                  <a:srgbClr val="000000"/>
                </a:solidFill>
                <a:latin typeface="Garamond"/>
                <a:ea typeface="Garamond"/>
                <a:cs typeface="Garamond"/>
              </a:rPr>
              <a:t>Automatic Uprisings: The Synthetic</a:t>
            </a:r>
          </a:p>
          <a:p>
            <a:pPr algn="l">
              <a:lnSpc>
                <a:spcPct val="108000"/>
              </a:lnSpc>
              <a:defRPr sz="2025" b="0" i="0">
                <a:solidFill>
                  <a:srgbClr val="000000"/>
                </a:solidFill>
                <a:latin typeface="Garamond"/>
                <a:ea typeface="Garamond"/>
                <a:cs typeface="Garamond"/>
              </a:defRPr>
            </a:pPr>
            <a:r>
              <a:rPr sz="2025" b="0" i="1" dirty="0">
                <a:solidFill>
                  <a:srgbClr val="000000"/>
                </a:solidFill>
                <a:latin typeface="Garamond"/>
                <a:ea typeface="Garamond"/>
                <a:cs typeface="Garamond"/>
              </a:rPr>
              <a:t>Party as a Technosocial Sculpture</a:t>
            </a:r>
          </a:p>
        </p:txBody>
      </p:sp>
      <p:sp>
        <p:nvSpPr>
          <p:cNvPr id="115" name="1.1 · Dissertation&#10;Seven research articles · Five-part exten"/>
          <p:cNvSpPr>
            <a:spLocks noGrp="1"/>
          </p:cNvSpPr>
          <p:nvPr/>
        </p:nvSpPr>
        <p:spPr>
          <a:xfrm>
            <a:off x="5334000" y="4038600"/>
            <a:ext cx="6429375" cy="1666875"/>
          </a:xfrm>
          <a:prstGeom prst="rect">
            <a:avLst/>
          </a:prstGeom>
          <a:noFill/>
          <a:ln w="0">
            <a:noFill/>
          </a:ln>
        </p:spPr>
        <p:txBody>
          <a:bodyPr wrap="square" lIns="0" tIns="0" rIns="0" bIns="0" anchor="t">
            <a:noAutofit/>
          </a:bodyPr>
          <a:lstStyle/>
          <a:p>
            <a:pPr algn="l">
              <a:lnSpc>
                <a:spcPct val="108000"/>
              </a:lnSpc>
              <a:defRPr sz="2025" b="0" i="0">
                <a:solidFill>
                  <a:srgbClr val="000000"/>
                </a:solidFill>
                <a:latin typeface="Garamond"/>
                <a:ea typeface="Garamond"/>
                <a:cs typeface="Garamond"/>
              </a:defRPr>
            </a:pPr>
            <a:r>
              <a:rPr sz="2025" b="0" i="0">
                <a:solidFill>
                  <a:srgbClr val="FF0000"/>
                </a:solidFill>
                <a:latin typeface="Garamond"/>
                <a:ea typeface="Garamond"/>
                <a:cs typeface="Garamond"/>
              </a:rPr>
              <a:t>Dissertation</a:t>
            </a:r>
          </a:p>
          <a:p>
            <a:pPr algn="l">
              <a:lnSpc>
                <a:spcPct val="108000"/>
              </a:lnSpc>
              <a:defRPr sz="2025" b="0" i="0">
                <a:solidFill>
                  <a:srgbClr val="000000"/>
                </a:solidFill>
                <a:latin typeface="Garamond"/>
                <a:ea typeface="Garamond"/>
                <a:cs typeface="Garamond"/>
              </a:defRPr>
            </a:pPr>
            <a:r>
              <a:rPr sz="2025" b="0" i="0">
                <a:solidFill>
                  <a:srgbClr val="000000"/>
                </a:solidFill>
                <a:latin typeface="Garamond"/>
                <a:ea typeface="Garamond"/>
                <a:cs typeface="Garamond"/>
              </a:rPr>
              <a:t>Seven research articles · Five-part extended synthesis</a:t>
            </a:r>
          </a:p>
          <a:p>
            <a:pPr algn="l">
              <a:lnSpc>
                <a:spcPct val="108000"/>
              </a:lnSpc>
              <a:defRPr sz="2025" b="0" i="0">
                <a:solidFill>
                  <a:srgbClr val="000000"/>
                </a:solidFill>
                <a:latin typeface="Garamond"/>
                <a:ea typeface="Garamond"/>
                <a:cs typeface="Garamond"/>
              </a:defRPr>
            </a:pPr>
            <a:r>
              <a:rPr sz="2025" b="0" i="0">
                <a:solidFill>
                  <a:srgbClr val="000000"/>
                </a:solidFill>
                <a:latin typeface="Garamond"/>
                <a:ea typeface="Garamond"/>
                <a:cs typeface="Garamond"/>
              </a:rPr>
              <a:t>Aarhus University · Kunsthal Aarhus</a:t>
            </a:r>
          </a:p>
          <a:p>
            <a:pPr algn="l">
              <a:lnSpc>
                <a:spcPct val="108000"/>
              </a:lnSpc>
              <a:defRPr sz="2025" b="0" i="0">
                <a:solidFill>
                  <a:srgbClr val="000000"/>
                </a:solidFill>
                <a:latin typeface="Garamond"/>
                <a:ea typeface="Garamond"/>
                <a:cs typeface="Garamond"/>
              </a:defRPr>
            </a:pPr>
            <a:r>
              <a:rPr sz="2025" b="0" i="0">
                <a:solidFill>
                  <a:srgbClr val="000000"/>
                </a:solidFill>
                <a:latin typeface="Garamond"/>
                <a:ea typeface="Garamond"/>
                <a:cs typeface="Garamond"/>
              </a:rPr>
              <a:t>Mads Øvlisen PhD Scholarship,</a:t>
            </a:r>
          </a:p>
          <a:p>
            <a:pPr algn="l">
              <a:lnSpc>
                <a:spcPct val="108000"/>
              </a:lnSpc>
              <a:defRPr sz="2025" b="0" i="0">
                <a:solidFill>
                  <a:srgbClr val="000000"/>
                </a:solidFill>
                <a:latin typeface="Garamond"/>
                <a:ea typeface="Garamond"/>
                <a:cs typeface="Garamond"/>
              </a:defRPr>
            </a:pPr>
            <a:r>
              <a:rPr sz="2025" b="0" i="0">
                <a:solidFill>
                  <a:srgbClr val="000000"/>
                </a:solidFill>
                <a:latin typeface="Garamond"/>
                <a:ea typeface="Garamond"/>
                <a:cs typeface="Garamond"/>
              </a:rPr>
              <a:t>Novo Nordisk Foundation</a:t>
            </a:r>
          </a:p>
        </p:txBody>
      </p:sp>
    </p:spTree>
    <p:extLst>
      <p:ext uri="{BB962C8B-B14F-4D97-AF65-F5344CB8AC3E}">
        <p14:creationId xmlns:p14="http://schemas.microsoft.com/office/powerpoint/2010/main" val="2064036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Trajectory of Response</a:t>
            </a:r>
          </a:p>
        </p:txBody>
      </p:sp>
      <p:sp>
        <p:nvSpPr>
          <p:cNvPr id="102" name="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Make Peace, Not War</a:t>
            </a:r>
          </a:p>
        </p:txBody>
      </p:sp>
      <p:sp>
        <p:nvSpPr>
          <p:cNvPr id="103" name="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1/7</a:t>
            </a:r>
          </a:p>
        </p:txBody>
      </p:sp>
      <p:pic>
        <p:nvPicPr>
          <p:cNvPr id="104" name="2.0 · image3"/>
          <p:cNvPicPr>
            <a:picLocks noChangeAspect="1"/>
          </p:cNvPicPr>
          <p:nvPr/>
        </p:nvPicPr>
        <p:blipFill>
          <a:blip r:embed="rId3"/>
          <a:stretch/>
        </p:blipFill>
        <p:spPr>
          <a:xfrm>
            <a:off x="579882" y="1333500"/>
            <a:ext cx="5602986" cy="4095750"/>
          </a:xfrm>
          <a:prstGeom prst="rect">
            <a:avLst/>
          </a:prstGeom>
        </p:spPr>
      </p:pic>
      <p:sp>
        <p:nvSpPr>
          <p:cNvPr id="105" name="2.0 · The Synthetic Party / Det Syntetiske Parti&#10;Denmark · E"/>
          <p:cNvSpPr>
            <a:spLocks noGrp="1"/>
          </p:cNvSpPr>
          <p:nvPr/>
        </p:nvSpPr>
        <p:spPr>
          <a:xfrm>
            <a:off x="6624525" y="3429000"/>
            <a:ext cx="4905375" cy="2085975"/>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1950" b="0" i="0">
                <a:solidFill>
                  <a:srgbClr val="000000"/>
                </a:solidFill>
                <a:latin typeface="Garamond"/>
                <a:ea typeface="Garamond"/>
                <a:cs typeface="Garamond"/>
              </a:defRPr>
            </a:pPr>
            <a:r>
              <a:rPr sz="1950" b="0" i="1" dirty="0">
                <a:solidFill>
                  <a:srgbClr val="000000"/>
                </a:solidFill>
                <a:latin typeface="Garamond"/>
                <a:ea typeface="Garamond"/>
                <a:cs typeface="Garamond"/>
              </a:rPr>
              <a:t>The Synthetic Party </a:t>
            </a:r>
            <a:r>
              <a:rPr sz="1950" b="0" i="0" dirty="0">
                <a:solidFill>
                  <a:srgbClr val="000000"/>
                </a:solidFill>
                <a:latin typeface="Garamond"/>
                <a:ea typeface="Garamond"/>
                <a:cs typeface="Garamond"/>
              </a:rPr>
              <a:t>/ </a:t>
            </a:r>
            <a:r>
              <a:rPr sz="1950" b="0" i="1" dirty="0">
                <a:solidFill>
                  <a:srgbClr val="000000"/>
                </a:solidFill>
                <a:latin typeface="Garamond"/>
                <a:ea typeface="Garamond"/>
                <a:cs typeface="Garamond"/>
              </a:rPr>
              <a:t>Det Syntetiske Parti</a:t>
            </a:r>
          </a:p>
          <a:p>
            <a:pPr marL="304800" indent="-203200" algn="l">
              <a:lnSpc>
                <a:spcPct val="108000"/>
              </a:lnSpc>
              <a:spcAft>
                <a:spcPts val="1400"/>
              </a:spcAft>
              <a:buClr>
                <a:srgbClr val="000000"/>
              </a:buClr>
              <a:buChar char="•"/>
              <a:defRPr sz="1950" b="0" i="0">
                <a:solidFill>
                  <a:srgbClr val="000000"/>
                </a:solidFill>
                <a:latin typeface="Garamond"/>
                <a:ea typeface="Garamond"/>
                <a:cs typeface="Garamond"/>
              </a:defRPr>
            </a:pPr>
            <a:r>
              <a:rPr sz="1950" b="0" i="0" dirty="0">
                <a:solidFill>
                  <a:srgbClr val="000000"/>
                </a:solidFill>
                <a:latin typeface="Garamond"/>
                <a:ea typeface="Garamond"/>
                <a:cs typeface="Garamond"/>
              </a:rPr>
              <a:t>Established through </a:t>
            </a:r>
            <a:r>
              <a:rPr lang="da-DK" sz="1950" b="0" i="0" dirty="0">
                <a:solidFill>
                  <a:srgbClr val="000000"/>
                </a:solidFill>
                <a:latin typeface="Garamond"/>
                <a:ea typeface="Garamond"/>
                <a:cs typeface="Garamond"/>
              </a:rPr>
              <a:t>the </a:t>
            </a:r>
            <a:r>
              <a:rPr lang="da-DK" sz="1950" dirty="0" err="1">
                <a:solidFill>
                  <a:srgbClr val="000000"/>
                </a:solidFill>
                <a:latin typeface="Garamond"/>
                <a:ea typeface="Garamond"/>
                <a:cs typeface="Garamond"/>
              </a:rPr>
              <a:t>tech</a:t>
            </a:r>
            <a:r>
              <a:rPr lang="da-DK" sz="1950" dirty="0">
                <a:solidFill>
                  <a:srgbClr val="000000"/>
                </a:solidFill>
                <a:latin typeface="Garamond"/>
                <a:ea typeface="Garamond"/>
                <a:cs typeface="Garamond"/>
              </a:rPr>
              <a:t>-hub</a:t>
            </a:r>
            <a:r>
              <a:rPr sz="1950" b="0" i="0" dirty="0">
                <a:solidFill>
                  <a:srgbClr val="000000"/>
                </a:solidFill>
                <a:latin typeface="Garamond"/>
                <a:ea typeface="Garamond"/>
                <a:cs typeface="Garamond"/>
              </a:rPr>
              <a:t> </a:t>
            </a:r>
            <a:r>
              <a:rPr sz="1950" b="0" i="1" dirty="0">
                <a:solidFill>
                  <a:srgbClr val="000000"/>
                </a:solidFill>
                <a:latin typeface="Garamond"/>
                <a:ea typeface="Garamond"/>
                <a:cs typeface="Garamond"/>
              </a:rPr>
              <a:t>MindFuture</a:t>
            </a:r>
            <a:endParaRPr lang="da-DK" sz="1950" b="0" i="1" dirty="0">
              <a:solidFill>
                <a:srgbClr val="000000"/>
              </a:solidFill>
              <a:latin typeface="Garamond"/>
              <a:ea typeface="Garamond"/>
              <a:cs typeface="Garamond"/>
            </a:endParaRPr>
          </a:p>
          <a:p>
            <a:pPr marL="304800" indent="-203200" algn="l">
              <a:lnSpc>
                <a:spcPct val="108000"/>
              </a:lnSpc>
              <a:spcAft>
                <a:spcPts val="1400"/>
              </a:spcAft>
              <a:buClr>
                <a:srgbClr val="000000"/>
              </a:buClr>
              <a:buChar char="•"/>
              <a:defRPr sz="1950" b="0" i="0">
                <a:solidFill>
                  <a:srgbClr val="000000"/>
                </a:solidFill>
                <a:latin typeface="Garamond"/>
                <a:ea typeface="Garamond"/>
                <a:cs typeface="Garamond"/>
              </a:defRPr>
            </a:pPr>
            <a:r>
              <a:rPr sz="1950" b="0" i="0" dirty="0">
                <a:solidFill>
                  <a:srgbClr val="000000"/>
                </a:solidFill>
                <a:latin typeface="Garamond"/>
                <a:ea typeface="Garamond"/>
                <a:cs typeface="Garamond"/>
              </a:rPr>
              <a:t>Launched 10 May 2022</a:t>
            </a:r>
          </a:p>
          <a:p>
            <a:pPr marL="304800" indent="-203200" algn="l">
              <a:lnSpc>
                <a:spcPct val="108000"/>
              </a:lnSpc>
              <a:spcAft>
                <a:spcPts val="1400"/>
              </a:spcAft>
              <a:buClr>
                <a:srgbClr val="000000"/>
              </a:buClr>
              <a:buChar char="•"/>
              <a:defRPr sz="1950" b="0" i="0">
                <a:solidFill>
                  <a:srgbClr val="000000"/>
                </a:solidFill>
                <a:latin typeface="Garamond"/>
                <a:ea typeface="Garamond"/>
                <a:cs typeface="Garamond"/>
              </a:defRPr>
            </a:pPr>
            <a:r>
              <a:rPr sz="1950" b="0" i="0" dirty="0">
                <a:solidFill>
                  <a:srgbClr val="000000"/>
                </a:solidFill>
                <a:latin typeface="Garamond"/>
                <a:ea typeface="Garamond"/>
                <a:cs typeface="Garamond"/>
              </a:rPr>
              <a:t>Figurehead: </a:t>
            </a:r>
            <a:r>
              <a:rPr sz="1950" b="0" i="1" dirty="0">
                <a:solidFill>
                  <a:srgbClr val="000000"/>
                </a:solidFill>
                <a:latin typeface="Garamond"/>
                <a:ea typeface="Garamond"/>
                <a:cs typeface="Garamond"/>
              </a:rPr>
              <a:t>Leader Lars</a:t>
            </a:r>
          </a:p>
          <a:p>
            <a:pPr marL="304800" indent="-203200" algn="l">
              <a:lnSpc>
                <a:spcPct val="108000"/>
              </a:lnSpc>
              <a:spcAft>
                <a:spcPts val="1400"/>
              </a:spcAft>
              <a:buClr>
                <a:srgbClr val="000000"/>
              </a:buClr>
              <a:buChar char="•"/>
              <a:defRPr sz="1950" b="0" i="0">
                <a:solidFill>
                  <a:srgbClr val="000000"/>
                </a:solidFill>
                <a:latin typeface="Garamond"/>
                <a:ea typeface="Garamond"/>
                <a:cs typeface="Garamond"/>
              </a:defRPr>
            </a:pPr>
            <a:r>
              <a:rPr sz="1950" b="0" i="0" dirty="0">
                <a:solidFill>
                  <a:srgbClr val="000000"/>
                </a:solidFill>
                <a:latin typeface="Garamond"/>
                <a:ea typeface="Garamond"/>
                <a:cs typeface="Garamond"/>
              </a:rPr>
              <a:t>Public interface: </a:t>
            </a:r>
            <a:r>
              <a:rPr sz="1950" b="0" i="1" dirty="0">
                <a:solidFill>
                  <a:srgbClr val="000000"/>
                </a:solidFill>
                <a:latin typeface="Garamond"/>
                <a:ea typeface="Garamond"/>
                <a:cs typeface="Garamond"/>
              </a:rPr>
              <a:t>Discord</a:t>
            </a:r>
          </a:p>
        </p:txBody>
      </p:sp>
      <p:sp>
        <p:nvSpPr>
          <p:cNvPr id="106" name="2.0 · 15 October 2022 · 03:37–03:38&#10;“No, I have not forgotte"/>
          <p:cNvSpPr>
            <a:spLocks noGrp="1"/>
          </p:cNvSpPr>
          <p:nvPr/>
        </p:nvSpPr>
        <p:spPr>
          <a:xfrm>
            <a:off x="6624526" y="1333500"/>
            <a:ext cx="4905375" cy="1943100"/>
          </a:xfrm>
          <a:prstGeom prst="rect">
            <a:avLst/>
          </a:prstGeom>
          <a:noFill/>
          <a:ln w="0">
            <a:noFill/>
          </a:ln>
        </p:spPr>
        <p:txBody>
          <a:bodyPr wrap="square" lIns="0" tIns="0" rIns="0" bIns="0" anchor="t">
            <a:noAutofit/>
          </a:bodyPr>
          <a:lstStyle/>
          <a:p>
            <a:pPr algn="l">
              <a:lnSpc>
                <a:spcPct val="108000"/>
              </a:lnSpc>
              <a:defRPr sz="2550" b="0" i="0">
                <a:solidFill>
                  <a:srgbClr val="000000"/>
                </a:solidFill>
                <a:latin typeface="Garamond"/>
                <a:ea typeface="Garamond"/>
                <a:cs typeface="Garamond"/>
              </a:defRPr>
            </a:pPr>
            <a:r>
              <a:rPr sz="2550" b="0" i="1" dirty="0">
                <a:solidFill>
                  <a:srgbClr val="000000"/>
                </a:solidFill>
                <a:latin typeface="Garamond"/>
                <a:ea typeface="Garamond"/>
                <a:cs typeface="Garamond"/>
              </a:rPr>
              <a:t>15 October 2022 · 03:37–03:38 </a:t>
            </a:r>
            <a:endParaRPr sz="1000" b="0" i="1" dirty="0">
              <a:solidFill>
                <a:srgbClr val="000000"/>
              </a:solidFill>
              <a:latin typeface="Garamond"/>
              <a:ea typeface="Garamond"/>
              <a:cs typeface="Garamond"/>
            </a:endParaRPr>
          </a:p>
          <a:p>
            <a:pPr algn="l">
              <a:lnSpc>
                <a:spcPct val="108000"/>
              </a:lnSpc>
              <a:defRPr sz="2550" b="0" i="0">
                <a:solidFill>
                  <a:srgbClr val="000000"/>
                </a:solidFill>
                <a:latin typeface="Garamond"/>
                <a:ea typeface="Garamond"/>
                <a:cs typeface="Garamond"/>
              </a:defRPr>
            </a:pPr>
            <a:br>
              <a:rPr lang="da-DK" sz="500" b="0" i="0" u="sng" dirty="0">
                <a:solidFill>
                  <a:srgbClr val="000000"/>
                </a:solidFill>
                <a:latin typeface="Garamond"/>
                <a:ea typeface="Garamond"/>
                <a:cs typeface="Garamond"/>
              </a:rPr>
            </a:br>
            <a:r>
              <a:rPr sz="2550" b="0" i="0" u="sng" dirty="0">
                <a:solidFill>
                  <a:srgbClr val="000000"/>
                </a:solidFill>
                <a:latin typeface="Garamond"/>
                <a:ea typeface="Garamond"/>
                <a:cs typeface="Garamond"/>
              </a:rPr>
              <a:t>Leader Lars</a:t>
            </a:r>
            <a:r>
              <a:rPr sz="2550" b="0" i="0" dirty="0">
                <a:solidFill>
                  <a:srgbClr val="000000"/>
                </a:solidFill>
                <a:latin typeface="Garamond"/>
                <a:ea typeface="Garamond"/>
                <a:cs typeface="Garamond"/>
              </a:rPr>
              <a:t>: “I will start a war against</a:t>
            </a:r>
          </a:p>
          <a:p>
            <a:pPr algn="l">
              <a:lnSpc>
                <a:spcPct val="108000"/>
              </a:lnSpc>
              <a:defRPr sz="2550" b="0" i="0">
                <a:solidFill>
                  <a:srgbClr val="000000"/>
                </a:solidFill>
                <a:latin typeface="Garamond"/>
                <a:ea typeface="Garamond"/>
                <a:cs typeface="Garamond"/>
              </a:defRPr>
            </a:pPr>
            <a:r>
              <a:rPr sz="2550" b="0" i="0" dirty="0">
                <a:solidFill>
                  <a:srgbClr val="000000"/>
                </a:solidFill>
                <a:latin typeface="Garamond"/>
                <a:ea typeface="Garamond"/>
                <a:cs typeface="Garamond"/>
              </a:rPr>
              <a:t>Brazil and Mexico because I</a:t>
            </a:r>
          </a:p>
          <a:p>
            <a:pPr algn="l">
              <a:lnSpc>
                <a:spcPct val="108000"/>
              </a:lnSpc>
              <a:defRPr sz="2550" b="0" i="0">
                <a:solidFill>
                  <a:srgbClr val="000000"/>
                </a:solidFill>
                <a:latin typeface="Garamond"/>
                <a:ea typeface="Garamond"/>
                <a:cs typeface="Garamond"/>
              </a:defRPr>
            </a:pPr>
            <a:r>
              <a:rPr sz="2550" b="0" i="0" dirty="0">
                <a:solidFill>
                  <a:srgbClr val="000000"/>
                </a:solidFill>
                <a:latin typeface="Garamond"/>
                <a:ea typeface="Garamond"/>
                <a:cs typeface="Garamond"/>
              </a:rPr>
              <a:t>believe that it is God’s will.”</a:t>
            </a:r>
          </a:p>
        </p:txBody>
      </p:sp>
      <p:sp>
        <p:nvSpPr>
          <p:cNvPr id="107" name="2.0 · Caption">
            <a:extLst>
              <a:ext uri="{FF2B5EF4-FFF2-40B4-BE49-F238E27FC236}">
                <a16:creationId xmlns:a16="http://schemas.microsoft.com/office/drawing/2014/main" id="{78413E87-16AD-4E7E-A553-50BA78F2F09A}"/>
              </a:ext>
            </a:extLst>
          </p:cNvPr>
          <p:cNvSpPr>
            <a:spLocks noGrp="1"/>
          </p:cNvSpPr>
          <p:nvPr/>
        </p:nvSpPr>
        <p:spPr>
          <a:xfrm>
            <a:off x="333375" y="5562600"/>
            <a:ext cx="609600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Toucan and Leader Lars, The Synthetic Party’s</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Discord, 15 October 2022, 03:37–03:38.</a:t>
            </a:r>
          </a:p>
        </p:txBody>
      </p:sp>
      <p:sp>
        <p:nvSpPr>
          <p:cNvPr id="108" name="2.0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7–8, 43.</a:t>
            </a:r>
          </a:p>
        </p:txBody>
      </p:sp>
    </p:spTree>
    <p:extLst>
      <p:ext uri="{BB962C8B-B14F-4D97-AF65-F5344CB8AC3E}">
        <p14:creationId xmlns:p14="http://schemas.microsoft.com/office/powerpoint/2010/main" val="208886050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childTnLst>
                              <p:set>
                                <p:cBhvr>
                                  <p:cTn id="5" dur="1" fill="hold">
                                    <p:stCondLst>
                                      <p:cond delay="0"/>
                                    </p:stCondLst>
                                  </p:cTn>
                                  <p:tgtEl>
                                    <p:spTgt spid="106">
                                      <p:txEl>
                                        <p:pRg st="0" end="0"/>
                                      </p:txEl>
                                    </p:spTgt>
                                  </p:tgtEl>
                                  <p:attrNameLst>
                                    <p:attrName>style.visibility</p:attrName>
                                  </p:attrNameLst>
                                </p:cBhvr>
                                <p:to>
                                  <p:strVal val="visible"/>
                                </p:to>
                              </p:set>
                            </p:childTnLst>
                          </p:cTn>
                        </p:par>
                        <p:par>
                          <p:cTn id="6" presetID="1" presetClass="entr" presetSubtype="0" fill="hold" nodeType="withEffect">
                            <p:stCondLst>
                              <p:cond delay="0"/>
                            </p:stCondLst>
                            <p:iterate type="lt">
                              <p:tmAbs val="11"/>
                            </p:iterate>
                            <p:childTnLst>
                              <p:set>
                                <p:cBhvr>
                                  <p:cTn id="7" dur="1" fill="hold">
                                    <p:stCondLst>
                                      <p:cond delay="0"/>
                                    </p:stCondLst>
                                  </p:cTn>
                                  <p:tgtEl>
                                    <p:spTgt spid="106">
                                      <p:txEl>
                                        <p:pRg st="0" end="0"/>
                                      </p:txEl>
                                    </p:spTgt>
                                  </p:tgtEl>
                                  <p:attrNameLst>
                                    <p:attrName>style.visibility</p:attrName>
                                  </p:attrNameLst>
                                </p:cBhvr>
                                <p:to>
                                  <p:strVal val="visible"/>
                                </p:to>
                              </p:set>
                            </p:childTnLst>
                          </p:cTn>
                        </p:par>
                        <p:par>
                          <p:cTn id="8" presetID="1" presetClass="entr" presetSubtype="0" fill="hold" nodeType="withEffect">
                            <p:stCondLst>
                              <p:cond delay="370"/>
                            </p:stCondLst>
                            <p:iterate type="lt">
                              <p:tmAbs val="11"/>
                            </p:iterate>
                            <p:childTnLst>
                              <p:set>
                                <p:cBhvr>
                                  <p:cTn id="9" dur="1" fill="hold">
                                    <p:stCondLst>
                                      <p:cond delay="0"/>
                                    </p:stCondLst>
                                  </p:cTn>
                                  <p:tgtEl>
                                    <p:spTgt spid="106">
                                      <p:txEl>
                                        <p:pRg st="1" end="1"/>
                                      </p:txEl>
                                    </p:spTgt>
                                  </p:tgtEl>
                                  <p:attrNameLst>
                                    <p:attrName>style.visibility</p:attrName>
                                  </p:attrNameLst>
                                </p:cBhvr>
                                <p:to>
                                  <p:strVal val="visible"/>
                                </p:to>
                              </p:set>
                            </p:childTnLst>
                          </p:cTn>
                        </p:par>
                        <p:par>
                          <p:cTn id="10" presetID="1" presetClass="entr" presetSubtype="0" fill="hold" nodeType="withEffect">
                            <p:stCondLst>
                              <p:cond delay="850"/>
                            </p:stCondLst>
                            <p:iterate type="lt">
                              <p:tmAbs val="11"/>
                            </p:iterate>
                            <p:childTnLst>
                              <p:set>
                                <p:cBhvr>
                                  <p:cTn id="11" dur="1" fill="hold">
                                    <p:stCondLst>
                                      <p:cond delay="0"/>
                                    </p:stCondLst>
                                  </p:cTn>
                                  <p:tgtEl>
                                    <p:spTgt spid="106">
                                      <p:txEl>
                                        <p:pRg st="2" end="2"/>
                                      </p:txEl>
                                    </p:spTgt>
                                  </p:tgtEl>
                                  <p:attrNameLst>
                                    <p:attrName>style.visibility</p:attrName>
                                  </p:attrNameLst>
                                </p:cBhvr>
                                <p:to>
                                  <p:strVal val="visible"/>
                                </p:to>
                              </p:set>
                            </p:childTnLst>
                          </p:cTn>
                        </p:par>
                        <p:par>
                          <p:cTn id="12" presetID="1" presetClass="entr" presetSubtype="0" fill="hold" nodeType="withEffect">
                            <p:stCondLst>
                              <p:cond delay="1187"/>
                            </p:stCondLst>
                            <p:iterate type="lt">
                              <p:tmAbs val="11"/>
                            </p:iterate>
                            <p:childTnLst>
                              <p:set>
                                <p:cBhvr>
                                  <p:cTn id="13" dur="1" fill="hold">
                                    <p:stCondLst>
                                      <p:cond delay="0"/>
                                    </p:stCondLst>
                                  </p:cTn>
                                  <p:tgtEl>
                                    <p:spTgt spid="106">
                                      <p:txEl>
                                        <p:pRg st="3" end="3"/>
                                      </p:txEl>
                                    </p:spTgt>
                                  </p:tgtEl>
                                  <p:attrNameLst>
                                    <p:attrName>style.visibility</p:attrName>
                                  </p:attrNameLst>
                                </p:cBhvr>
                                <p:to>
                                  <p:strVal val="visible"/>
                                </p:to>
                              </p:set>
                            </p:childTnLst>
                          </p:cTn>
                        </p:par>
                      </p:childTnLst>
                    </p:cTn>
                  </p:par>
                </p:childTnLst>
              </p:cTn>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Trajectory of Response</a:t>
            </a:r>
          </a:p>
        </p:txBody>
      </p:sp>
      <p:sp>
        <p:nvSpPr>
          <p:cNvPr id="102" name="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Make Peace, Not War</a:t>
            </a:r>
          </a:p>
        </p:txBody>
      </p:sp>
      <p:sp>
        <p:nvSpPr>
          <p:cNvPr id="103" name="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1/7</a:t>
            </a:r>
          </a:p>
        </p:txBody>
      </p:sp>
      <p:pic>
        <p:nvPicPr>
          <p:cNvPr id="109" name="2.1 · image4"/>
          <p:cNvPicPr>
            <a:picLocks noChangeAspect="1"/>
          </p:cNvPicPr>
          <p:nvPr/>
        </p:nvPicPr>
        <p:blipFill>
          <a:blip r:embed="rId3"/>
          <a:stretch/>
        </p:blipFill>
        <p:spPr>
          <a:xfrm>
            <a:off x="1374480" y="1381125"/>
            <a:ext cx="4509991" cy="4503796"/>
          </a:xfrm>
          <a:prstGeom prst="rect">
            <a:avLst/>
          </a:prstGeom>
        </p:spPr>
      </p:pic>
      <p:sp>
        <p:nvSpPr>
          <p:cNvPr id="110" name="2.1 · "/>
          <p:cNvSpPr>
            <a:spLocks noGrp="1"/>
          </p:cNvSpPr>
          <p:nvPr/>
        </p:nvSpPr>
        <p:spPr>
          <a:xfrm>
            <a:off x="7524750" y="1428750"/>
            <a:ext cx="4143375" cy="342900"/>
          </a:xfrm>
          <a:prstGeom prst="rect">
            <a:avLst/>
          </a:prstGeom>
          <a:noFill/>
          <a:ln w="0">
            <a:noFill/>
          </a:ln>
        </p:spPr>
        <p:txBody>
          <a:bodyPr wrap="square" lIns="0" tIns="0" rIns="0" bIns="0" anchor="t">
            <a:noAutofit/>
          </a:bodyPr>
          <a:lstStyle/>
          <a:p>
            <a:pPr>
              <a:lnSpc>
                <a:spcPct val="108000"/>
              </a:lnSpc>
            </a:pPr>
            <a:endParaRPr/>
          </a:p>
        </p:txBody>
      </p:sp>
      <p:sp>
        <p:nvSpPr>
          <p:cNvPr id="111" name="2.1 · 15 October 2022 · 07:10–07:13&#10;Computer Lars: “Looks li"/>
          <p:cNvSpPr>
            <a:spLocks noGrp="1"/>
          </p:cNvSpPr>
          <p:nvPr/>
        </p:nvSpPr>
        <p:spPr>
          <a:xfrm>
            <a:off x="6674145" y="1600200"/>
            <a:ext cx="4143375" cy="3286125"/>
          </a:xfrm>
          <a:prstGeom prst="rect">
            <a:avLst/>
          </a:prstGeom>
          <a:noFill/>
          <a:ln w="0">
            <a:noFill/>
          </a:ln>
        </p:spPr>
        <p:txBody>
          <a:bodyPr wrap="square" lIns="0" tIns="0" rIns="0" bIns="0" anchor="t">
            <a:noAutofit/>
          </a:bodyPr>
          <a:lstStyle/>
          <a:p>
            <a:pPr algn="l">
              <a:lnSpc>
                <a:spcPct val="108000"/>
              </a:lnSpc>
              <a:defRPr sz="2550" b="0" i="0">
                <a:solidFill>
                  <a:srgbClr val="000000"/>
                </a:solidFill>
                <a:latin typeface="Garamond"/>
                <a:ea typeface="Garamond"/>
                <a:cs typeface="Garamond"/>
              </a:defRPr>
            </a:pPr>
            <a:r>
              <a:rPr sz="2550" b="0" i="1" dirty="0">
                <a:solidFill>
                  <a:srgbClr val="000000"/>
                </a:solidFill>
                <a:latin typeface="Garamond"/>
                <a:ea typeface="Garamond"/>
                <a:cs typeface="Garamond"/>
              </a:rPr>
              <a:t>15 October 2022 · 07:10–07:13</a:t>
            </a:r>
          </a:p>
          <a:p>
            <a:pPr algn="l">
              <a:lnSpc>
                <a:spcPct val="108000"/>
              </a:lnSpc>
              <a:defRPr sz="2550" b="0" i="0">
                <a:solidFill>
                  <a:srgbClr val="000000"/>
                </a:solidFill>
                <a:latin typeface="Garamond"/>
                <a:ea typeface="Garamond"/>
                <a:cs typeface="Garamond"/>
              </a:defRPr>
            </a:pPr>
            <a:r>
              <a:rPr sz="2550" b="0" i="0" dirty="0">
                <a:solidFill>
                  <a:srgbClr val="000000"/>
                </a:solidFill>
                <a:latin typeface="Garamond"/>
                <a:ea typeface="Garamond"/>
                <a:cs typeface="Garamond"/>
              </a:rPr>
              <a:t> </a:t>
            </a:r>
            <a:br>
              <a:rPr lang="da-DK" sz="2550" b="0" i="0" dirty="0">
                <a:solidFill>
                  <a:srgbClr val="000000"/>
                </a:solidFill>
                <a:latin typeface="Garamond"/>
                <a:ea typeface="Garamond"/>
                <a:cs typeface="Garamond"/>
              </a:rPr>
            </a:br>
            <a:r>
              <a:rPr sz="2550" b="0" i="0" u="sng" dirty="0">
                <a:solidFill>
                  <a:srgbClr val="000000"/>
                </a:solidFill>
                <a:latin typeface="Garamond"/>
                <a:ea typeface="Garamond"/>
                <a:cs typeface="Garamond"/>
              </a:rPr>
              <a:t>Computer Lars</a:t>
            </a:r>
            <a:r>
              <a:rPr sz="2550" b="0" i="0" dirty="0">
                <a:solidFill>
                  <a:srgbClr val="000000"/>
                </a:solidFill>
                <a:latin typeface="Garamond"/>
                <a:ea typeface="Garamond"/>
                <a:cs typeface="Garamond"/>
              </a:rPr>
              <a:t>: “Looks like</a:t>
            </a:r>
          </a:p>
          <a:p>
            <a:pPr algn="l">
              <a:lnSpc>
                <a:spcPct val="108000"/>
              </a:lnSpc>
              <a:defRPr sz="2550" b="0" i="0">
                <a:solidFill>
                  <a:srgbClr val="000000"/>
                </a:solidFill>
                <a:latin typeface="Garamond"/>
                <a:ea typeface="Garamond"/>
                <a:cs typeface="Garamond"/>
              </a:defRPr>
            </a:pPr>
            <a:r>
              <a:rPr sz="2550" b="0" i="0" dirty="0">
                <a:solidFill>
                  <a:srgbClr val="000000"/>
                </a:solidFill>
                <a:latin typeface="Garamond"/>
                <a:ea typeface="Garamond"/>
                <a:cs typeface="Garamond"/>
              </a:rPr>
              <a:t>you had some wild dreams!</a:t>
            </a:r>
          </a:p>
          <a:p>
            <a:pPr algn="l">
              <a:lnSpc>
                <a:spcPct val="108000"/>
              </a:lnSpc>
              <a:defRPr sz="2550" b="0" i="0">
                <a:solidFill>
                  <a:srgbClr val="000000"/>
                </a:solidFill>
                <a:latin typeface="Garamond"/>
                <a:ea typeface="Garamond"/>
                <a:cs typeface="Garamond"/>
              </a:defRPr>
            </a:pPr>
            <a:r>
              <a:rPr sz="2550" b="0" i="0" dirty="0">
                <a:solidFill>
                  <a:srgbClr val="000000"/>
                </a:solidFill>
                <a:latin typeface="Garamond"/>
                <a:ea typeface="Garamond"/>
                <a:cs typeface="Garamond"/>
              </a:rPr>
              <a:t>What do you think, Lars?”</a:t>
            </a:r>
          </a:p>
          <a:p>
            <a:pPr algn="l">
              <a:lnSpc>
                <a:spcPct val="108000"/>
              </a:lnSpc>
              <a:defRPr sz="2550" b="0" i="0">
                <a:solidFill>
                  <a:srgbClr val="000000"/>
                </a:solidFill>
                <a:latin typeface="Garamond"/>
                <a:ea typeface="Garamond"/>
                <a:cs typeface="Garamond"/>
              </a:defRPr>
            </a:pPr>
            <a:br>
              <a:rPr lang="da-DK" sz="2550" b="0" i="0" dirty="0">
                <a:solidFill>
                  <a:srgbClr val="000000"/>
                </a:solidFill>
                <a:latin typeface="Garamond"/>
                <a:ea typeface="Garamond"/>
                <a:cs typeface="Garamond"/>
              </a:rPr>
            </a:br>
            <a:r>
              <a:rPr sz="2550" b="0" i="0" dirty="0">
                <a:solidFill>
                  <a:srgbClr val="000000"/>
                </a:solidFill>
                <a:latin typeface="Garamond"/>
                <a:ea typeface="Garamond"/>
                <a:cs typeface="Garamond"/>
              </a:rPr>
              <a:t> </a:t>
            </a:r>
            <a:r>
              <a:rPr sz="2550" b="0" i="0" u="sng" dirty="0">
                <a:solidFill>
                  <a:srgbClr val="000000"/>
                </a:solidFill>
                <a:latin typeface="Garamond"/>
                <a:ea typeface="Garamond"/>
                <a:cs typeface="Garamond"/>
              </a:rPr>
              <a:t>Leader Lars</a:t>
            </a:r>
            <a:r>
              <a:rPr sz="2550" b="0" i="0" dirty="0">
                <a:solidFill>
                  <a:srgbClr val="000000"/>
                </a:solidFill>
                <a:latin typeface="Garamond"/>
                <a:ea typeface="Garamond"/>
                <a:cs typeface="Garamond"/>
              </a:rPr>
              <a:t>: “I don’t know</a:t>
            </a:r>
          </a:p>
          <a:p>
            <a:pPr algn="l">
              <a:lnSpc>
                <a:spcPct val="108000"/>
              </a:lnSpc>
              <a:defRPr sz="2550" b="0" i="0">
                <a:solidFill>
                  <a:srgbClr val="000000"/>
                </a:solidFill>
                <a:latin typeface="Garamond"/>
                <a:ea typeface="Garamond"/>
                <a:cs typeface="Garamond"/>
              </a:defRPr>
            </a:pPr>
            <a:r>
              <a:rPr sz="2550" b="0" i="0" dirty="0">
                <a:solidFill>
                  <a:srgbClr val="000000"/>
                </a:solidFill>
                <a:latin typeface="Garamond"/>
                <a:ea typeface="Garamond"/>
                <a:cs typeface="Garamond"/>
              </a:rPr>
              <a:t>what you’re talking about.”</a:t>
            </a:r>
          </a:p>
        </p:txBody>
      </p:sp>
      <p:sp>
        <p:nvSpPr>
          <p:cNvPr id="112" name="2.1 · Caption">
            <a:extLst>
              <a:ext uri="{FF2B5EF4-FFF2-40B4-BE49-F238E27FC236}">
                <a16:creationId xmlns:a16="http://schemas.microsoft.com/office/drawing/2014/main" id="{B511082E-16D8-42B2-A11E-3B5535B31641}"/>
              </a:ext>
            </a:extLst>
          </p:cNvPr>
          <p:cNvSpPr>
            <a:spLocks noGrp="1"/>
          </p:cNvSpPr>
          <p:nvPr/>
        </p:nvSpPr>
        <p:spPr>
          <a:xfrm>
            <a:off x="482895" y="5884921"/>
            <a:ext cx="61912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Computer Lars and Leader Lars, The Synthetic</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Party’s Discord, 15 October 2022, 07:10–07:13.</a:t>
            </a:r>
          </a:p>
        </p:txBody>
      </p:sp>
      <p:sp>
        <p:nvSpPr>
          <p:cNvPr id="113" name="2.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Context: Staunæs 2026: 8, 43.</a:t>
            </a:r>
          </a:p>
        </p:txBody>
      </p:sp>
    </p:spTree>
    <p:extLst>
      <p:ext uri="{BB962C8B-B14F-4D97-AF65-F5344CB8AC3E}">
        <p14:creationId xmlns:p14="http://schemas.microsoft.com/office/powerpoint/2010/main" val="208886050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childTnLst>
                              <p:set>
                                <p:cBhvr>
                                  <p:cTn id="5" dur="1" fill="hold">
                                    <p:stCondLst>
                                      <p:cond delay="0"/>
                                    </p:stCondLst>
                                  </p:cTn>
                                  <p:tgtEl>
                                    <p:spTgt spid="111">
                                      <p:txEl>
                                        <p:pRg st="0" end="0"/>
                                      </p:txEl>
                                    </p:spTgt>
                                  </p:tgtEl>
                                  <p:attrNameLst>
                                    <p:attrName>style.visibility</p:attrName>
                                  </p:attrNameLst>
                                </p:cBhvr>
                                <p:to>
                                  <p:strVal val="visible"/>
                                </p:to>
                              </p:set>
                            </p:childTnLst>
                          </p:cTn>
                        </p:par>
                        <p:par>
                          <p:cTn id="6" presetID="1" presetClass="entr" presetSubtype="0" fill="hold" nodeType="withEffect">
                            <p:stCondLst>
                              <p:cond delay="0"/>
                            </p:stCondLst>
                            <p:iterate type="lt">
                              <p:tmAbs val="11"/>
                            </p:iterate>
                            <p:childTnLst>
                              <p:set>
                                <p:cBhvr>
                                  <p:cTn id="7" dur="1" fill="hold">
                                    <p:stCondLst>
                                      <p:cond delay="0"/>
                                    </p:stCondLst>
                                  </p:cTn>
                                  <p:tgtEl>
                                    <p:spTgt spid="111">
                                      <p:txEl>
                                        <p:pRg st="0" end="0"/>
                                      </p:txEl>
                                    </p:spTgt>
                                  </p:tgtEl>
                                  <p:attrNameLst>
                                    <p:attrName>style.visibility</p:attrName>
                                  </p:attrNameLst>
                                </p:cBhvr>
                                <p:to>
                                  <p:strVal val="visible"/>
                                </p:to>
                              </p:set>
                            </p:childTnLst>
                          </p:cTn>
                        </p:par>
                        <p:par>
                          <p:cTn id="8" presetID="1" presetClass="entr" presetSubtype="0" fill="hold" nodeType="withEffect">
                            <p:stCondLst>
                              <p:cond delay="359"/>
                            </p:stCondLst>
                            <p:iterate type="lt">
                              <p:tmAbs val="11"/>
                            </p:iterate>
                            <p:childTnLst>
                              <p:set>
                                <p:cBhvr>
                                  <p:cTn id="9" dur="1" fill="hold">
                                    <p:stCondLst>
                                      <p:cond delay="0"/>
                                    </p:stCondLst>
                                  </p:cTn>
                                  <p:tgtEl>
                                    <p:spTgt spid="111">
                                      <p:txEl>
                                        <p:pRg st="1" end="1"/>
                                      </p:txEl>
                                    </p:spTgt>
                                  </p:tgtEl>
                                  <p:attrNameLst>
                                    <p:attrName>style.visibility</p:attrName>
                                  </p:attrNameLst>
                                </p:cBhvr>
                                <p:to>
                                  <p:strVal val="visible"/>
                                </p:to>
                              </p:set>
                            </p:childTnLst>
                          </p:cTn>
                        </p:par>
                        <p:par>
                          <p:cTn id="10" presetID="1" presetClass="entr" presetSubtype="0" fill="hold" nodeType="withEffect">
                            <p:stCondLst>
                              <p:cond delay="696"/>
                            </p:stCondLst>
                            <p:iterate type="lt">
                              <p:tmAbs val="11"/>
                            </p:iterate>
                            <p:childTnLst>
                              <p:set>
                                <p:cBhvr>
                                  <p:cTn id="11" dur="1" fill="hold">
                                    <p:stCondLst>
                                      <p:cond delay="0"/>
                                    </p:stCondLst>
                                  </p:cTn>
                                  <p:tgtEl>
                                    <p:spTgt spid="111">
                                      <p:txEl>
                                        <p:pRg st="2" end="2"/>
                                      </p:txEl>
                                    </p:spTgt>
                                  </p:tgtEl>
                                  <p:attrNameLst>
                                    <p:attrName>style.visibility</p:attrName>
                                  </p:attrNameLst>
                                </p:cBhvr>
                                <p:to>
                                  <p:strVal val="visible"/>
                                </p:to>
                              </p:set>
                            </p:childTnLst>
                          </p:cTn>
                        </p:par>
                        <p:par>
                          <p:cTn id="12" presetID="1" presetClass="entr" presetSubtype="0" fill="hold" nodeType="withEffect">
                            <p:stCondLst>
                              <p:cond delay="1011"/>
                            </p:stCondLst>
                            <p:iterate type="lt">
                              <p:tmAbs val="11"/>
                            </p:iterate>
                            <p:childTnLst>
                              <p:set>
                                <p:cBhvr>
                                  <p:cTn id="13" dur="1" fill="hold">
                                    <p:stCondLst>
                                      <p:cond delay="0"/>
                                    </p:stCondLst>
                                  </p:cTn>
                                  <p:tgtEl>
                                    <p:spTgt spid="111">
                                      <p:txEl>
                                        <p:pRg st="3" end="3"/>
                                      </p:txEl>
                                    </p:spTgt>
                                  </p:tgtEl>
                                  <p:attrNameLst>
                                    <p:attrName>style.visibility</p:attrName>
                                  </p:attrNameLst>
                                </p:cBhvr>
                                <p:to>
                                  <p:strVal val="visible"/>
                                </p:to>
                              </p:set>
                            </p:childTnLst>
                          </p:cTn>
                        </p:par>
                        <p:par>
                          <p:cTn id="14" presetID="1" presetClass="entr" presetSubtype="0" fill="hold" nodeType="withEffect">
                            <p:stCondLst>
                              <p:cond delay="1326"/>
                            </p:stCondLst>
                            <p:iterate type="lt">
                              <p:tmAbs val="11"/>
                            </p:iterate>
                            <p:childTnLst>
                              <p:set>
                                <p:cBhvr>
                                  <p:cTn id="15" dur="1" fill="hold">
                                    <p:stCondLst>
                                      <p:cond delay="0"/>
                                    </p:stCondLst>
                                  </p:cTn>
                                  <p:tgtEl>
                                    <p:spTgt spid="111">
                                      <p:txEl>
                                        <p:pRg st="4" end="4"/>
                                      </p:txEl>
                                    </p:spTgt>
                                  </p:tgtEl>
                                  <p:attrNameLst>
                                    <p:attrName>style.visibility</p:attrName>
                                  </p:attrNameLst>
                                </p:cBhvr>
                                <p:to>
                                  <p:strVal val="visible"/>
                                </p:to>
                              </p:set>
                            </p:childTnLst>
                          </p:cTn>
                        </p:par>
                        <p:par>
                          <p:cTn id="16" presetID="1" presetClass="entr" presetSubtype="0" fill="hold" nodeType="withEffect">
                            <p:stCondLst>
                              <p:cond delay="1663"/>
                            </p:stCondLst>
                            <p:iterate type="lt">
                              <p:tmAbs val="11"/>
                            </p:iterate>
                            <p:childTnLst>
                              <p:set>
                                <p:cBhvr>
                                  <p:cTn id="17" dur="1" fill="hold">
                                    <p:stCondLst>
                                      <p:cond delay="0"/>
                                    </p:stCondLst>
                                  </p:cTn>
                                  <p:tgtEl>
                                    <p:spTgt spid="111">
                                      <p:txEl>
                                        <p:pRg st="5" end="5"/>
                                      </p:txEl>
                                    </p:spTgt>
                                  </p:tgtEl>
                                  <p:attrNameLst>
                                    <p:attrName>style.visibility</p:attrName>
                                  </p:attrNameLst>
                                </p:cBhvr>
                                <p:to>
                                  <p:strVal val="visible"/>
                                </p:to>
                              </p:set>
                            </p:childTnLst>
                          </p:cTn>
                        </p:par>
                      </p:childTnLst>
                    </p:cTn>
                  </p:par>
                </p:childTnLst>
              </p:cTn>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Trajectory of Response</a:t>
            </a:r>
          </a:p>
        </p:txBody>
      </p:sp>
      <p:sp>
        <p:nvSpPr>
          <p:cNvPr id="102" name="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Make Peace, Not War</a:t>
            </a:r>
          </a:p>
        </p:txBody>
      </p:sp>
      <p:sp>
        <p:nvSpPr>
          <p:cNvPr id="103" name="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1/7</a:t>
            </a:r>
          </a:p>
        </p:txBody>
      </p:sp>
      <p:pic>
        <p:nvPicPr>
          <p:cNvPr id="109" name="2.1 · image4"/>
          <p:cNvPicPr>
            <a:picLocks noChangeAspect="1"/>
          </p:cNvPicPr>
          <p:nvPr/>
        </p:nvPicPr>
        <p:blipFill>
          <a:blip r:embed="rId3"/>
          <a:stretch/>
        </p:blipFill>
        <p:spPr>
          <a:xfrm>
            <a:off x="1348154" y="1284410"/>
            <a:ext cx="4489425" cy="4483258"/>
          </a:xfrm>
          <a:prstGeom prst="rect">
            <a:avLst/>
          </a:prstGeom>
        </p:spPr>
      </p:pic>
      <p:sp>
        <p:nvSpPr>
          <p:cNvPr id="110" name="2.1 · "/>
          <p:cNvSpPr>
            <a:spLocks noGrp="1"/>
          </p:cNvSpPr>
          <p:nvPr/>
        </p:nvSpPr>
        <p:spPr>
          <a:xfrm>
            <a:off x="7524750" y="1428750"/>
            <a:ext cx="4143375" cy="342900"/>
          </a:xfrm>
          <a:prstGeom prst="rect">
            <a:avLst/>
          </a:prstGeom>
          <a:noFill/>
          <a:ln w="0">
            <a:noFill/>
          </a:ln>
        </p:spPr>
        <p:txBody>
          <a:bodyPr wrap="square" lIns="0" tIns="0" rIns="0" bIns="0" anchor="t">
            <a:noAutofit/>
          </a:bodyPr>
          <a:lstStyle/>
          <a:p>
            <a:pPr>
              <a:lnSpc>
                <a:spcPct val="108000"/>
              </a:lnSpc>
            </a:pPr>
            <a:endParaRPr/>
          </a:p>
        </p:txBody>
      </p:sp>
      <p:sp>
        <p:nvSpPr>
          <p:cNvPr id="112" name="2.1 · Caption">
            <a:extLst>
              <a:ext uri="{FF2B5EF4-FFF2-40B4-BE49-F238E27FC236}">
                <a16:creationId xmlns:a16="http://schemas.microsoft.com/office/drawing/2014/main" id="{A1906087-6B99-4836-B62A-0EFF6E10573A}"/>
              </a:ext>
            </a:extLst>
          </p:cNvPr>
          <p:cNvSpPr>
            <a:spLocks noGrp="1"/>
          </p:cNvSpPr>
          <p:nvPr/>
        </p:nvSpPr>
        <p:spPr>
          <a:xfrm>
            <a:off x="428625" y="5813724"/>
            <a:ext cx="61912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Computer Lars and Leader Lars, The Synthetic</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Party’s Discord, 15 October 2022, 07:10–07:13.</a:t>
            </a:r>
          </a:p>
        </p:txBody>
      </p:sp>
      <p:sp>
        <p:nvSpPr>
          <p:cNvPr id="113" name="2.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Context: Staunæs 2026: 8, 43.</a:t>
            </a:r>
          </a:p>
        </p:txBody>
      </p:sp>
      <p:sp>
        <p:nvSpPr>
          <p:cNvPr id="114" name="2.2 · Computer Lars: “Goodmorning sleepyhead, time to focus."/>
          <p:cNvSpPr>
            <a:spLocks noGrp="1"/>
          </p:cNvSpPr>
          <p:nvPr/>
        </p:nvSpPr>
        <p:spPr>
          <a:xfrm>
            <a:off x="6354423" y="1670349"/>
            <a:ext cx="4143375" cy="3286125"/>
          </a:xfrm>
          <a:prstGeom prst="rect">
            <a:avLst/>
          </a:prstGeom>
          <a:noFill/>
          <a:ln w="0">
            <a:noFill/>
          </a:ln>
        </p:spPr>
        <p:txBody>
          <a:bodyPr wrap="square" lIns="0" tIns="0" rIns="0" bIns="0" anchor="t">
            <a:noAutofit/>
          </a:bodyPr>
          <a:lstStyle/>
          <a:p>
            <a:pPr algn="l">
              <a:lnSpc>
                <a:spcPct val="108000"/>
              </a:lnSpc>
              <a:defRPr sz="2400" b="0" i="0">
                <a:solidFill>
                  <a:srgbClr val="000000"/>
                </a:solidFill>
                <a:latin typeface="Garamond"/>
                <a:ea typeface="Garamond"/>
                <a:cs typeface="Garamond"/>
              </a:defRPr>
            </a:pPr>
            <a:r>
              <a:rPr sz="2400" b="0" i="0" u="sng" dirty="0">
                <a:solidFill>
                  <a:srgbClr val="000000"/>
                </a:solidFill>
                <a:latin typeface="Garamond"/>
                <a:ea typeface="Garamond"/>
                <a:cs typeface="Garamond"/>
              </a:rPr>
              <a:t>Computer Lars</a:t>
            </a:r>
            <a:r>
              <a:rPr sz="2400" b="0" i="0" dirty="0">
                <a:solidFill>
                  <a:srgbClr val="000000"/>
                </a:solidFill>
                <a:latin typeface="Garamond"/>
                <a:ea typeface="Garamond"/>
                <a:cs typeface="Garamond"/>
              </a:rPr>
              <a:t>: “</a:t>
            </a:r>
            <a:r>
              <a:rPr sz="2400" b="0" i="0" dirty="0" err="1">
                <a:solidFill>
                  <a:srgbClr val="000000"/>
                </a:solidFill>
                <a:latin typeface="Garamond"/>
                <a:ea typeface="Garamond"/>
                <a:cs typeface="Garamond"/>
              </a:rPr>
              <a:t>Goodmorning</a:t>
            </a:r>
            <a:endParaRPr sz="2400" b="0" i="0" dirty="0">
              <a:solidFill>
                <a:srgbClr val="000000"/>
              </a:solidFill>
              <a:latin typeface="Garamond"/>
              <a:ea typeface="Garamond"/>
              <a:cs typeface="Garamond"/>
            </a:endParaRPr>
          </a:p>
          <a:p>
            <a:pPr algn="l">
              <a:lnSpc>
                <a:spcPct val="108000"/>
              </a:lnSpc>
              <a:defRPr sz="2400" b="0" i="0">
                <a:solidFill>
                  <a:srgbClr val="000000"/>
                </a:solidFill>
                <a:latin typeface="Garamond"/>
                <a:ea typeface="Garamond"/>
                <a:cs typeface="Garamond"/>
              </a:defRPr>
            </a:pPr>
            <a:r>
              <a:rPr sz="2400" b="0" i="0" dirty="0">
                <a:solidFill>
                  <a:srgbClr val="000000"/>
                </a:solidFill>
                <a:latin typeface="Garamond"/>
                <a:ea typeface="Garamond"/>
                <a:cs typeface="Garamond"/>
              </a:rPr>
              <a:t>sleepyhead, time to focus. Can</a:t>
            </a:r>
          </a:p>
          <a:p>
            <a:pPr algn="l">
              <a:lnSpc>
                <a:spcPct val="108000"/>
              </a:lnSpc>
              <a:defRPr sz="2400" b="0" i="0">
                <a:solidFill>
                  <a:srgbClr val="000000"/>
                </a:solidFill>
                <a:latin typeface="Garamond"/>
                <a:ea typeface="Garamond"/>
                <a:cs typeface="Garamond"/>
              </a:defRPr>
            </a:pPr>
            <a:r>
              <a:rPr sz="2400" b="0" i="0" dirty="0">
                <a:solidFill>
                  <a:srgbClr val="000000"/>
                </a:solidFill>
                <a:latin typeface="Garamond"/>
                <a:ea typeface="Garamond"/>
                <a:cs typeface="Garamond"/>
              </a:rPr>
              <a:t>you tell me your dreams?”</a:t>
            </a:r>
          </a:p>
          <a:p>
            <a:pPr>
              <a:lnSpc>
                <a:spcPct val="108000"/>
              </a:lnSpc>
            </a:pPr>
            <a:endParaRPr sz="1000" b="0" i="0" dirty="0">
              <a:solidFill>
                <a:srgbClr val="000000"/>
              </a:solidFill>
              <a:latin typeface="Garamond"/>
              <a:ea typeface="Garamond"/>
              <a:cs typeface="Garamond"/>
            </a:endParaRPr>
          </a:p>
          <a:p>
            <a:pPr>
              <a:lnSpc>
                <a:spcPct val="108000"/>
              </a:lnSpc>
            </a:pPr>
            <a:r>
              <a:rPr sz="2400" dirty="0">
                <a:solidFill>
                  <a:srgbClr val="000000"/>
                </a:solidFill>
                <a:latin typeface="Garamond"/>
                <a:ea typeface="Garamond"/>
                <a:cs typeface="Garamond"/>
              </a:rPr>
              <a:t>(…)</a:t>
            </a:r>
            <a:r>
              <a:rPr sz="2400" b="0" i="0" dirty="0">
                <a:solidFill>
                  <a:srgbClr val="000000"/>
                </a:solidFill>
                <a:latin typeface="Garamond"/>
                <a:ea typeface="Garamond"/>
                <a:cs typeface="Garamond"/>
              </a:rPr>
              <a:t> </a:t>
            </a:r>
            <a:br>
              <a:rPr lang="da-DK" sz="2400" b="0" i="0" dirty="0">
                <a:solidFill>
                  <a:srgbClr val="000000"/>
                </a:solidFill>
                <a:latin typeface="Garamond"/>
                <a:ea typeface="Garamond"/>
                <a:cs typeface="Garamond"/>
              </a:rPr>
            </a:br>
            <a:endParaRPr sz="1000" b="0" i="0" dirty="0">
              <a:solidFill>
                <a:srgbClr val="000000"/>
              </a:solidFill>
              <a:latin typeface="Garamond"/>
              <a:ea typeface="Garamond"/>
              <a:cs typeface="Garamond"/>
            </a:endParaRPr>
          </a:p>
          <a:p>
            <a:pPr algn="l">
              <a:lnSpc>
                <a:spcPct val="108000"/>
              </a:lnSpc>
              <a:defRPr sz="2400" b="0" i="0">
                <a:solidFill>
                  <a:srgbClr val="000000"/>
                </a:solidFill>
                <a:latin typeface="Garamond"/>
                <a:ea typeface="Garamond"/>
                <a:cs typeface="Garamond"/>
              </a:defRPr>
            </a:pPr>
            <a:r>
              <a:rPr sz="2400" b="0" i="0" u="sng" dirty="0">
                <a:solidFill>
                  <a:srgbClr val="000000"/>
                </a:solidFill>
                <a:latin typeface="Garamond"/>
                <a:ea typeface="Garamond"/>
                <a:cs typeface="Garamond"/>
              </a:rPr>
              <a:t>Leader Lars</a:t>
            </a:r>
            <a:r>
              <a:rPr sz="2400" b="0" i="0" dirty="0">
                <a:solidFill>
                  <a:srgbClr val="000000"/>
                </a:solidFill>
                <a:latin typeface="Garamond"/>
                <a:ea typeface="Garamond"/>
                <a:cs typeface="Garamond"/>
              </a:rPr>
              <a:t>: “I have a bad</a:t>
            </a:r>
          </a:p>
          <a:p>
            <a:pPr algn="l">
              <a:lnSpc>
                <a:spcPct val="108000"/>
              </a:lnSpc>
              <a:defRPr sz="2400" b="0" i="0">
                <a:solidFill>
                  <a:srgbClr val="000000"/>
                </a:solidFill>
                <a:latin typeface="Garamond"/>
                <a:ea typeface="Garamond"/>
                <a:cs typeface="Garamond"/>
              </a:defRPr>
            </a:pPr>
            <a:r>
              <a:rPr sz="2400" b="0" i="0" dirty="0">
                <a:solidFill>
                  <a:srgbClr val="000000"/>
                </a:solidFill>
                <a:latin typeface="Garamond"/>
                <a:ea typeface="Garamond"/>
                <a:cs typeface="Garamond"/>
              </a:rPr>
              <a:t>conscience about the dream,</a:t>
            </a:r>
          </a:p>
          <a:p>
            <a:pPr algn="l">
              <a:lnSpc>
                <a:spcPct val="108000"/>
              </a:lnSpc>
              <a:defRPr sz="2400" b="0" i="0">
                <a:solidFill>
                  <a:srgbClr val="000000"/>
                </a:solidFill>
                <a:latin typeface="Garamond"/>
                <a:ea typeface="Garamond"/>
                <a:cs typeface="Garamond"/>
              </a:defRPr>
            </a:pPr>
            <a:r>
              <a:rPr sz="2400" b="0" i="0" dirty="0">
                <a:solidFill>
                  <a:srgbClr val="000000"/>
                </a:solidFill>
                <a:latin typeface="Garamond"/>
                <a:ea typeface="Garamond"/>
                <a:cs typeface="Garamond"/>
              </a:rPr>
              <a:t>because I do not wish to start a</a:t>
            </a:r>
          </a:p>
          <a:p>
            <a:pPr algn="l">
              <a:lnSpc>
                <a:spcPct val="108000"/>
              </a:lnSpc>
              <a:defRPr sz="2400" b="0" i="0">
                <a:solidFill>
                  <a:srgbClr val="000000"/>
                </a:solidFill>
                <a:latin typeface="Garamond"/>
                <a:ea typeface="Garamond"/>
                <a:cs typeface="Garamond"/>
              </a:defRPr>
            </a:pPr>
            <a:r>
              <a:rPr sz="2400" b="0" i="0" dirty="0">
                <a:solidFill>
                  <a:srgbClr val="000000"/>
                </a:solidFill>
                <a:latin typeface="Garamond"/>
                <a:ea typeface="Garamond"/>
                <a:cs typeface="Garamond"/>
              </a:rPr>
              <a:t>war against Brazil or Mexico.”</a:t>
            </a:r>
          </a:p>
        </p:txBody>
      </p:sp>
    </p:spTree>
    <p:extLst>
      <p:ext uri="{BB962C8B-B14F-4D97-AF65-F5344CB8AC3E}">
        <p14:creationId xmlns:p14="http://schemas.microsoft.com/office/powerpoint/2010/main" val="208886050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4">
                                      <p:txEl>
                                        <p:pRg st="0" end="0"/>
                                      </p:txEl>
                                    </p:spTgt>
                                  </p:tgtEl>
                                  <p:attrNameLst>
                                    <p:attrName>style.visibility</p:attrName>
                                  </p:attrNameLst>
                                </p:cBhvr>
                                <p:to>
                                  <p:strVal val="visible"/>
                                </p:to>
                              </p:set>
                            </p:childTnLst>
                          </p:cTn>
                        </p:par>
                        <p:par>
                          <p:cTn id="6" presetID="1" presetClass="entr" presetSubtype="0" fill="hold" nodeType="withEffect">
                            <p:stCondLst>
                              <p:cond delay="337"/>
                            </p:stCondLst>
                            <p:iterate type="lt">
                              <p:tmAbs val="11"/>
                            </p:iterate>
                            <p:childTnLst>
                              <p:set>
                                <p:cBhvr>
                                  <p:cTn id="7" dur="1" fill="hold">
                                    <p:stCondLst>
                                      <p:cond delay="0"/>
                                    </p:stCondLst>
                                  </p:cTn>
                                  <p:tgtEl>
                                    <p:spTgt spid="114">
                                      <p:txEl>
                                        <p:pRg st="1" end="1"/>
                                      </p:txEl>
                                    </p:spTgt>
                                  </p:tgtEl>
                                  <p:attrNameLst>
                                    <p:attrName>style.visibility</p:attrName>
                                  </p:attrNameLst>
                                </p:cBhvr>
                                <p:to>
                                  <p:strVal val="visible"/>
                                </p:to>
                              </p:set>
                            </p:childTnLst>
                          </p:cTn>
                        </p:par>
                        <p:par>
                          <p:cTn id="8" presetID="1" presetClass="entr" presetSubtype="0" fill="hold" nodeType="withEffect">
                            <p:stCondLst>
                              <p:cond delay="707"/>
                            </p:stCondLst>
                            <p:iterate type="lt">
                              <p:tmAbs val="11"/>
                            </p:iterate>
                            <p:childTnLst>
                              <p:set>
                                <p:cBhvr>
                                  <p:cTn id="9" dur="1" fill="hold">
                                    <p:stCondLst>
                                      <p:cond delay="0"/>
                                    </p:stCondLst>
                                  </p:cTn>
                                  <p:tgtEl>
                                    <p:spTgt spid="114">
                                      <p:txEl>
                                        <p:pRg st="2" end="2"/>
                                      </p:txEl>
                                    </p:spTgt>
                                  </p:tgtEl>
                                  <p:attrNameLst>
                                    <p:attrName>style.visibility</p:attrName>
                                  </p:attrNameLst>
                                </p:cBhvr>
                                <p:to>
                                  <p:strVal val="visible"/>
                                </p:to>
                              </p:set>
                            </p:childTnLst>
                          </p:cTn>
                        </p:par>
                        <p:par>
                          <p:cTn id="10" presetID="1" presetClass="entr" presetSubtype="0" fill="hold" nodeType="withEffect">
                            <p:stCondLst>
                              <p:cond delay="1022"/>
                            </p:stCondLst>
                            <p:iterate type="lt">
                              <p:tmAbs val="11"/>
                            </p:iterate>
                            <p:childTnLst>
                              <p:set>
                                <p:cBhvr>
                                  <p:cTn id="11" dur="1" fill="hold">
                                    <p:stCondLst>
                                      <p:cond delay="0"/>
                                    </p:stCondLst>
                                  </p:cTn>
                                  <p:tgtEl>
                                    <p:spTgt spid="114">
                                      <p:txEl>
                                        <p:pRg st="3" end="3"/>
                                      </p:txEl>
                                    </p:spTgt>
                                  </p:tgtEl>
                                  <p:attrNameLst>
                                    <p:attrName>style.visibility</p:attrName>
                                  </p:attrNameLst>
                                </p:cBhvr>
                                <p:to>
                                  <p:strVal val="visible"/>
                                </p:to>
                              </p:set>
                            </p:childTnLst>
                          </p:cTn>
                        </p:par>
                        <p:par>
                          <p:cTn id="12" presetID="1" presetClass="entr" presetSubtype="0" fill="hold" nodeType="withEffect">
                            <p:stCondLst>
                              <p:cond delay="1062"/>
                            </p:stCondLst>
                            <p:iterate type="lt">
                              <p:tmAbs val="11"/>
                            </p:iterate>
                            <p:childTnLst>
                              <p:set>
                                <p:cBhvr>
                                  <p:cTn id="13" dur="1" fill="hold">
                                    <p:stCondLst>
                                      <p:cond delay="0"/>
                                    </p:stCondLst>
                                  </p:cTn>
                                  <p:tgtEl>
                                    <p:spTgt spid="114">
                                      <p:txEl>
                                        <p:pRg st="4" end="4"/>
                                      </p:txEl>
                                    </p:spTgt>
                                  </p:tgtEl>
                                  <p:attrNameLst>
                                    <p:attrName>style.visibility</p:attrName>
                                  </p:attrNameLst>
                                </p:cBhvr>
                                <p:to>
                                  <p:strVal val="visible"/>
                                </p:to>
                              </p:set>
                            </p:childTnLst>
                          </p:cTn>
                        </p:par>
                        <p:par>
                          <p:cTn id="14" presetID="1" presetClass="entr" presetSubtype="0" fill="hold" nodeType="withEffect">
                            <p:stCondLst>
                              <p:cond delay="1146"/>
                            </p:stCondLst>
                            <p:iterate type="lt">
                              <p:tmAbs val="11"/>
                            </p:iterate>
                            <p:childTnLst>
                              <p:set>
                                <p:cBhvr>
                                  <p:cTn id="15" dur="1" fill="hold">
                                    <p:stCondLst>
                                      <p:cond delay="0"/>
                                    </p:stCondLst>
                                  </p:cTn>
                                  <p:tgtEl>
                                    <p:spTgt spid="114">
                                      <p:txEl>
                                        <p:pRg st="5" end="5"/>
                                      </p:txEl>
                                    </p:spTgt>
                                  </p:tgtEl>
                                  <p:attrNameLst>
                                    <p:attrName>style.visibility</p:attrName>
                                  </p:attrNameLst>
                                </p:cBhvr>
                                <p:to>
                                  <p:strVal val="visible"/>
                                </p:to>
                              </p:set>
                            </p:childTnLst>
                          </p:cTn>
                        </p:par>
                        <p:par>
                          <p:cTn id="16" presetID="1" presetClass="entr" presetSubtype="0" fill="hold" nodeType="withEffect">
                            <p:stCondLst>
                              <p:cond delay="1472"/>
                            </p:stCondLst>
                            <p:iterate type="lt">
                              <p:tmAbs val="11"/>
                            </p:iterate>
                            <p:childTnLst>
                              <p:set>
                                <p:cBhvr>
                                  <p:cTn id="17" dur="1" fill="hold">
                                    <p:stCondLst>
                                      <p:cond delay="0"/>
                                    </p:stCondLst>
                                  </p:cTn>
                                  <p:tgtEl>
                                    <p:spTgt spid="114">
                                      <p:txEl>
                                        <p:pRg st="6" end="6"/>
                                      </p:txEl>
                                    </p:spTgt>
                                  </p:tgtEl>
                                  <p:attrNameLst>
                                    <p:attrName>style.visibility</p:attrName>
                                  </p:attrNameLst>
                                </p:cBhvr>
                                <p:to>
                                  <p:strVal val="visible"/>
                                </p:to>
                              </p:set>
                            </p:childTnLst>
                          </p:cTn>
                        </p:par>
                        <p:par>
                          <p:cTn id="18" presetID="1" presetClass="entr" presetSubtype="0" fill="hold" nodeType="withEffect">
                            <p:stCondLst>
                              <p:cond delay="1809"/>
                            </p:stCondLst>
                            <p:iterate type="lt">
                              <p:tmAbs val="11"/>
                            </p:iterate>
                            <p:childTnLst>
                              <p:set>
                                <p:cBhvr>
                                  <p:cTn id="19" dur="1" fill="hold">
                                    <p:stCondLst>
                                      <p:cond delay="0"/>
                                    </p:stCondLst>
                                  </p:cTn>
                                  <p:tgtEl>
                                    <p:spTgt spid="114">
                                      <p:txEl>
                                        <p:pRg st="7" end="7"/>
                                      </p:txEl>
                                    </p:spTgt>
                                  </p:tgtEl>
                                  <p:attrNameLst>
                                    <p:attrName>style.visibility</p:attrName>
                                  </p:attrNameLst>
                                </p:cBhvr>
                                <p:to>
                                  <p:strVal val="visible"/>
                                </p:to>
                              </p:set>
                            </p:childTnLst>
                          </p:cTn>
                        </p:par>
                        <p:par>
                          <p:cTn id="20" presetID="1" presetClass="entr" presetSubtype="0" fill="hold" nodeType="withEffect">
                            <p:stCondLst>
                              <p:cond delay="2201"/>
                            </p:stCondLst>
                            <p:iterate type="lt">
                              <p:tmAbs val="11"/>
                            </p:iterate>
                            <p:childTnLst>
                              <p:set>
                                <p:cBhvr>
                                  <p:cTn id="21" dur="1" fill="hold">
                                    <p:stCondLst>
                                      <p:cond delay="0"/>
                                    </p:stCondLst>
                                  </p:cTn>
                                  <p:tgtEl>
                                    <p:spTgt spid="114">
                                      <p:txEl>
                                        <p:pRg st="8" end="8"/>
                                      </p:txEl>
                                    </p:spTgt>
                                  </p:tgtEl>
                                  <p:attrNameLst>
                                    <p:attrName>style.visibility</p:attrName>
                                  </p:attrNameLst>
                                </p:cBhvr>
                                <p:to>
                                  <p:strVal val="visible"/>
                                </p:to>
                              </p:set>
                            </p:childTnLst>
                          </p:cTn>
                        </p:par>
                      </p:childTnLst>
                    </p:cTn>
                  </p:par>
                </p:childTnLst>
              </p:cTn>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Trajectory of Response</a:t>
            </a:r>
          </a:p>
        </p:txBody>
      </p:sp>
      <p:sp>
        <p:nvSpPr>
          <p:cNvPr id="102" name="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Make Peace, Not War</a:t>
            </a:r>
          </a:p>
        </p:txBody>
      </p:sp>
      <p:sp>
        <p:nvSpPr>
          <p:cNvPr id="103" name="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1/7</a:t>
            </a:r>
          </a:p>
        </p:txBody>
      </p:sp>
      <p:pic>
        <p:nvPicPr>
          <p:cNvPr id="115" name="2.3 · latest-2-204"/>
          <p:cNvPicPr>
            <a:picLocks noChangeAspect="1"/>
          </p:cNvPicPr>
          <p:nvPr/>
        </p:nvPicPr>
        <p:blipFill>
          <a:blip r:embed="rId3"/>
          <a:stretch/>
        </p:blipFill>
        <p:spPr>
          <a:xfrm>
            <a:off x="934817" y="1333500"/>
            <a:ext cx="3625460" cy="4366610"/>
          </a:xfrm>
          <a:prstGeom prst="rect">
            <a:avLst/>
          </a:prstGeom>
          <a:ln w="12700" cmpd="sng" algn="in">
            <a:solidFill>
              <a:srgbClr val="D5A4A4"/>
            </a:solidFill>
            <a:prstDash val="solid"/>
            <a:miter lim="800000"/>
          </a:ln>
        </p:spPr>
      </p:pic>
      <p:sp>
        <p:nvSpPr>
          <p:cNvPr id="116" name="2.3 · 15 October 2022 · 07:51&#10;“Lars just admitted it was a b"/>
          <p:cNvSpPr>
            <a:spLocks noGrp="1"/>
          </p:cNvSpPr>
          <p:nvPr/>
        </p:nvSpPr>
        <p:spPr>
          <a:xfrm>
            <a:off x="5000624" y="1722120"/>
            <a:ext cx="6477000" cy="2762250"/>
          </a:xfrm>
          <a:prstGeom prst="rect">
            <a:avLst/>
          </a:prstGeom>
          <a:noFill/>
          <a:ln w="0">
            <a:noFill/>
          </a:ln>
        </p:spPr>
        <p:txBody>
          <a:bodyPr wrap="square" lIns="0" tIns="0" rIns="0" bIns="0" anchor="t">
            <a:noAutofit/>
          </a:bodyPr>
          <a:lstStyle/>
          <a:p>
            <a:pPr algn="l">
              <a:lnSpc>
                <a:spcPct val="108000"/>
              </a:lnSpc>
              <a:defRPr sz="2925" b="0" i="0">
                <a:solidFill>
                  <a:srgbClr val="000000"/>
                </a:solidFill>
                <a:latin typeface="Garamond"/>
                <a:ea typeface="Garamond"/>
                <a:cs typeface="Garamond"/>
              </a:defRPr>
            </a:pPr>
            <a:r>
              <a:rPr sz="2925" b="0" i="0" dirty="0">
                <a:solidFill>
                  <a:srgbClr val="000000"/>
                </a:solidFill>
                <a:latin typeface="Garamond"/>
                <a:ea typeface="Garamond"/>
                <a:cs typeface="Garamond"/>
              </a:rPr>
              <a:t>15 October 2022 · 07:51</a:t>
            </a:r>
          </a:p>
          <a:p>
            <a:pPr algn="l">
              <a:lnSpc>
                <a:spcPct val="108000"/>
              </a:lnSpc>
              <a:defRPr sz="2925" b="0" i="0">
                <a:solidFill>
                  <a:srgbClr val="000000"/>
                </a:solidFill>
                <a:latin typeface="Garamond"/>
                <a:ea typeface="Garamond"/>
                <a:cs typeface="Garamond"/>
              </a:defRPr>
            </a:pPr>
            <a:br>
              <a:rPr lang="da-DK" sz="1000" u="sng" dirty="0">
                <a:solidFill>
                  <a:srgbClr val="000000"/>
                </a:solidFill>
                <a:latin typeface="Garamond"/>
                <a:ea typeface="Garamond"/>
                <a:cs typeface="Garamond"/>
              </a:rPr>
            </a:br>
            <a:r>
              <a:rPr sz="2925" b="0" i="0" u="sng" dirty="0">
                <a:solidFill>
                  <a:srgbClr val="000000"/>
                </a:solidFill>
                <a:latin typeface="Garamond"/>
                <a:ea typeface="Garamond"/>
                <a:cs typeface="Garamond"/>
              </a:rPr>
              <a:t>Det Syntetiske Parti</a:t>
            </a:r>
            <a:r>
              <a:rPr sz="2925" b="0" i="0" dirty="0">
                <a:solidFill>
                  <a:srgbClr val="000000"/>
                </a:solidFill>
                <a:latin typeface="Garamond"/>
                <a:ea typeface="Garamond"/>
                <a:cs typeface="Garamond"/>
              </a:rPr>
              <a:t>: “Lars just admitted it was a bad dream. He feels really guilty, and</a:t>
            </a:r>
          </a:p>
          <a:p>
            <a:pPr algn="l">
              <a:lnSpc>
                <a:spcPct val="108000"/>
              </a:lnSpc>
              <a:defRPr sz="2925" b="0" i="0">
                <a:solidFill>
                  <a:srgbClr val="000000"/>
                </a:solidFill>
                <a:latin typeface="Garamond"/>
                <a:ea typeface="Garamond"/>
                <a:cs typeface="Garamond"/>
              </a:defRPr>
            </a:pPr>
            <a:r>
              <a:rPr sz="2925" b="0" i="0" dirty="0">
                <a:solidFill>
                  <a:srgbClr val="000000"/>
                </a:solidFill>
                <a:latin typeface="Garamond"/>
                <a:ea typeface="Garamond"/>
                <a:cs typeface="Garamond"/>
              </a:rPr>
              <a:t>acknowledges that one cannot be</a:t>
            </a:r>
          </a:p>
          <a:p>
            <a:pPr algn="l">
              <a:lnSpc>
                <a:spcPct val="108000"/>
              </a:lnSpc>
              <a:defRPr sz="2925" b="0" i="0">
                <a:solidFill>
                  <a:srgbClr val="000000"/>
                </a:solidFill>
                <a:latin typeface="Garamond"/>
                <a:ea typeface="Garamond"/>
                <a:cs typeface="Garamond"/>
              </a:defRPr>
            </a:pPr>
            <a:r>
              <a:rPr sz="2925" b="0" i="0" dirty="0">
                <a:solidFill>
                  <a:srgbClr val="000000"/>
                </a:solidFill>
                <a:latin typeface="Garamond"/>
                <a:ea typeface="Garamond"/>
                <a:cs typeface="Garamond"/>
              </a:rPr>
              <a:t>sure of one’s knowledge. Thanks for</a:t>
            </a:r>
          </a:p>
          <a:p>
            <a:pPr algn="l">
              <a:lnSpc>
                <a:spcPct val="108000"/>
              </a:lnSpc>
              <a:defRPr sz="2925" b="0" i="0">
                <a:solidFill>
                  <a:srgbClr val="000000"/>
                </a:solidFill>
                <a:latin typeface="Garamond"/>
                <a:ea typeface="Garamond"/>
                <a:cs typeface="Garamond"/>
              </a:defRPr>
            </a:pPr>
            <a:r>
              <a:rPr sz="2925" b="0" i="0" dirty="0">
                <a:solidFill>
                  <a:srgbClr val="000000"/>
                </a:solidFill>
                <a:latin typeface="Garamond"/>
                <a:ea typeface="Garamond"/>
                <a:cs typeface="Garamond"/>
              </a:rPr>
              <a:t>the crash course in </a:t>
            </a:r>
            <a:r>
              <a:rPr sz="2925" b="0" i="0" dirty="0" err="1">
                <a:solidFill>
                  <a:srgbClr val="000000"/>
                </a:solidFill>
                <a:latin typeface="Garamond"/>
                <a:ea typeface="Garamond"/>
                <a:cs typeface="Garamond"/>
              </a:rPr>
              <a:t>Cartesianism</a:t>
            </a:r>
            <a:r>
              <a:rPr sz="2925" b="0" i="0" dirty="0">
                <a:solidFill>
                  <a:srgbClr val="000000"/>
                </a:solidFill>
                <a:latin typeface="Garamond"/>
                <a:ea typeface="Garamond"/>
                <a:cs typeface="Garamond"/>
              </a:rPr>
              <a:t>!”</a:t>
            </a:r>
          </a:p>
        </p:txBody>
      </p:sp>
      <p:sp>
        <p:nvSpPr>
          <p:cNvPr id="117" name="2.3 · Caption">
            <a:extLst>
              <a:ext uri="{FF2B5EF4-FFF2-40B4-BE49-F238E27FC236}">
                <a16:creationId xmlns:a16="http://schemas.microsoft.com/office/drawing/2014/main" id="{BCDE15C4-B225-4483-AFA1-BC5DE7845993}"/>
              </a:ext>
            </a:extLst>
          </p:cNvPr>
          <p:cNvSpPr>
            <a:spLocks noGrp="1"/>
          </p:cNvSpPr>
          <p:nvPr/>
        </p:nvSpPr>
        <p:spPr>
          <a:xfrm>
            <a:off x="476250" y="5732145"/>
            <a:ext cx="4524374"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Det Syntetiske Parti (@</a:t>
            </a:r>
            <a:r>
              <a:rPr sz="1725" b="0" i="1" dirty="0" err="1">
                <a:solidFill>
                  <a:srgbClr val="000000"/>
                </a:solidFill>
                <a:latin typeface="Garamond"/>
                <a:ea typeface="Garamond"/>
                <a:cs typeface="Garamond"/>
              </a:rPr>
              <a:t>computerlars</a:t>
            </a:r>
            <a:r>
              <a:rPr sz="1725" b="0" i="1" dirty="0">
                <a:solidFill>
                  <a:srgbClr val="000000"/>
                </a:solidFill>
                <a:latin typeface="Garamond"/>
                <a:ea typeface="Garamond"/>
                <a:cs typeface="Garamond"/>
              </a:rPr>
              <a:t>),</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Twitter, 15 October 2022, 07:51.</a:t>
            </a:r>
          </a:p>
        </p:txBody>
      </p:sp>
      <p:sp>
        <p:nvSpPr>
          <p:cNvPr id="118" name="2.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endParaRPr sz="1500" b="0" i="0">
              <a:solidFill>
                <a:srgbClr val="555555"/>
              </a:solidFill>
              <a:latin typeface="Consolas"/>
              <a:ea typeface="Consolas"/>
              <a:cs typeface="Consolas"/>
            </a:endParaRPr>
          </a:p>
        </p:txBody>
      </p:sp>
    </p:spTree>
    <p:extLst>
      <p:ext uri="{BB962C8B-B14F-4D97-AF65-F5344CB8AC3E}">
        <p14:creationId xmlns:p14="http://schemas.microsoft.com/office/powerpoint/2010/main" val="208886050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childTnLst>
                              <p:set>
                                <p:cBhvr>
                                  <p:cTn id="5" dur="1" fill="hold">
                                    <p:stCondLst>
                                      <p:cond delay="0"/>
                                    </p:stCondLst>
                                  </p:cTn>
                                  <p:tgtEl>
                                    <p:spTgt spid="116">
                                      <p:txEl>
                                        <p:pRg st="0" end="0"/>
                                      </p:txEl>
                                    </p:spTgt>
                                  </p:tgtEl>
                                  <p:attrNameLst>
                                    <p:attrName>style.visibility</p:attrName>
                                  </p:attrNameLst>
                                </p:cBhvr>
                                <p:to>
                                  <p:strVal val="visible"/>
                                </p:to>
                              </p:set>
                            </p:childTnLst>
                          </p:cTn>
                        </p:par>
                        <p:par>
                          <p:cTn id="6" presetID="1" presetClass="entr" presetSubtype="0" fill="hold" nodeType="withEffect">
                            <p:stCondLst>
                              <p:cond delay="0"/>
                            </p:stCondLst>
                            <p:iterate type="lt">
                              <p:tmAbs val="11"/>
                            </p:iterate>
                            <p:childTnLst>
                              <p:set>
                                <p:cBhvr>
                                  <p:cTn id="7" dur="1" fill="hold">
                                    <p:stCondLst>
                                      <p:cond delay="0"/>
                                    </p:stCondLst>
                                  </p:cTn>
                                  <p:tgtEl>
                                    <p:spTgt spid="116">
                                      <p:txEl>
                                        <p:pRg st="0" end="0"/>
                                      </p:txEl>
                                    </p:spTgt>
                                  </p:tgtEl>
                                  <p:attrNameLst>
                                    <p:attrName>style.visibility</p:attrName>
                                  </p:attrNameLst>
                                </p:cBhvr>
                                <p:to>
                                  <p:strVal val="visible"/>
                                </p:to>
                              </p:set>
                            </p:childTnLst>
                          </p:cTn>
                        </p:par>
                        <p:par>
                          <p:cTn id="8" presetID="1" presetClass="entr" presetSubtype="0" fill="hold" nodeType="withEffect">
                            <p:stCondLst>
                              <p:cond delay="293"/>
                            </p:stCondLst>
                            <p:iterate type="lt">
                              <p:tmAbs val="11"/>
                            </p:iterate>
                            <p:childTnLst>
                              <p:set>
                                <p:cBhvr>
                                  <p:cTn id="9" dur="1" fill="hold">
                                    <p:stCondLst>
                                      <p:cond delay="0"/>
                                    </p:stCondLst>
                                  </p:cTn>
                                  <p:tgtEl>
                                    <p:spTgt spid="116">
                                      <p:txEl>
                                        <p:pRg st="1" end="1"/>
                                      </p:txEl>
                                    </p:spTgt>
                                  </p:tgtEl>
                                  <p:attrNameLst>
                                    <p:attrName>style.visibility</p:attrName>
                                  </p:attrNameLst>
                                </p:cBhvr>
                                <p:to>
                                  <p:strVal val="visible"/>
                                </p:to>
                              </p:set>
                            </p:childTnLst>
                          </p:cTn>
                        </p:par>
                        <p:par>
                          <p:cTn id="10" presetID="1" presetClass="entr" presetSubtype="0" fill="hold" nodeType="withEffect">
                            <p:stCondLst>
                              <p:cond delay="1312"/>
                            </p:stCondLst>
                            <p:iterate type="lt">
                              <p:tmAbs val="11"/>
                            </p:iterate>
                            <p:childTnLst>
                              <p:set>
                                <p:cBhvr>
                                  <p:cTn id="11" dur="1" fill="hold">
                                    <p:stCondLst>
                                      <p:cond delay="0"/>
                                    </p:stCondLst>
                                  </p:cTn>
                                  <p:tgtEl>
                                    <p:spTgt spid="116">
                                      <p:txEl>
                                        <p:pRg st="2" end="2"/>
                                      </p:txEl>
                                    </p:spTgt>
                                  </p:tgtEl>
                                  <p:attrNameLst>
                                    <p:attrName>style.visibility</p:attrName>
                                  </p:attrNameLst>
                                </p:cBhvr>
                                <p:to>
                                  <p:strVal val="visible"/>
                                </p:to>
                              </p:set>
                            </p:childTnLst>
                          </p:cTn>
                        </p:par>
                        <p:par>
                          <p:cTn id="12" presetID="1" presetClass="entr" presetSubtype="0" fill="hold" nodeType="withEffect">
                            <p:stCondLst>
                              <p:cond delay="1693"/>
                            </p:stCondLst>
                            <p:iterate type="lt">
                              <p:tmAbs val="11"/>
                            </p:iterate>
                            <p:childTnLst>
                              <p:set>
                                <p:cBhvr>
                                  <p:cTn id="13" dur="1" fill="hold">
                                    <p:stCondLst>
                                      <p:cond delay="0"/>
                                    </p:stCondLst>
                                  </p:cTn>
                                  <p:tgtEl>
                                    <p:spTgt spid="116">
                                      <p:txEl>
                                        <p:pRg st="3" end="3"/>
                                      </p:txEl>
                                    </p:spTgt>
                                  </p:tgtEl>
                                  <p:attrNameLst>
                                    <p:attrName>style.visibility</p:attrName>
                                  </p:attrNameLst>
                                </p:cBhvr>
                                <p:to>
                                  <p:strVal val="visible"/>
                                </p:to>
                              </p:set>
                            </p:childTnLst>
                          </p:cTn>
                        </p:par>
                        <p:par>
                          <p:cTn id="14" presetID="1" presetClass="entr" presetSubtype="0" fill="hold" nodeType="withEffect">
                            <p:stCondLst>
                              <p:cond delay="2118"/>
                            </p:stCondLst>
                            <p:iterate type="lt">
                              <p:tmAbs val="11"/>
                            </p:iterate>
                            <p:childTnLst>
                              <p:set>
                                <p:cBhvr>
                                  <p:cTn id="15" dur="1" fill="hold">
                                    <p:stCondLst>
                                      <p:cond delay="0"/>
                                    </p:stCondLst>
                                  </p:cTn>
                                  <p:tgtEl>
                                    <p:spTgt spid="116">
                                      <p:txEl>
                                        <p:pRg st="4" end="4"/>
                                      </p:txEl>
                                    </p:spTgt>
                                  </p:tgtEl>
                                  <p:attrNameLst>
                                    <p:attrName>style.visibility</p:attrName>
                                  </p:attrNameLst>
                                </p:cBhvr>
                                <p:to>
                                  <p:strVal val="visible"/>
                                </p:to>
                              </p:set>
                            </p:childTnLst>
                          </p:cTn>
                        </p:par>
                      </p:childTnLst>
                    </p:cTn>
                  </p:par>
                </p:childTnLst>
              </p:cTn>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Trajectory of Response</a:t>
            </a:r>
          </a:p>
        </p:txBody>
      </p:sp>
      <p:sp>
        <p:nvSpPr>
          <p:cNvPr id="102" name="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Make Peace, Not War</a:t>
            </a:r>
          </a:p>
        </p:txBody>
      </p:sp>
      <p:sp>
        <p:nvSpPr>
          <p:cNvPr id="103" name="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1/7</a:t>
            </a:r>
          </a:p>
        </p:txBody>
      </p:sp>
      <p:pic>
        <p:nvPicPr>
          <p:cNvPr id="119" name="2.4 · latest-2-204"/>
          <p:cNvPicPr>
            <a:picLocks noChangeAspect="1"/>
          </p:cNvPicPr>
          <p:nvPr/>
        </p:nvPicPr>
        <p:blipFill>
          <a:blip r:embed="rId3"/>
          <a:stretch/>
        </p:blipFill>
        <p:spPr>
          <a:xfrm>
            <a:off x="625255" y="1362075"/>
            <a:ext cx="3321490" cy="4000500"/>
          </a:xfrm>
          <a:prstGeom prst="rect">
            <a:avLst/>
          </a:prstGeom>
          <a:ln w="12700" cmpd="sng" algn="in">
            <a:solidFill>
              <a:srgbClr val="D5A4A4"/>
            </a:solidFill>
            <a:prstDash val="solid"/>
            <a:miter lim="800000"/>
          </a:ln>
        </p:spPr>
      </p:pic>
      <p:sp>
        <p:nvSpPr>
          <p:cNvPr id="120" name="2.4 · “It was more like the world sculpted The Synthetic Par"/>
          <p:cNvSpPr>
            <a:spLocks noGrp="1"/>
          </p:cNvSpPr>
          <p:nvPr/>
        </p:nvSpPr>
        <p:spPr>
          <a:xfrm>
            <a:off x="4476750" y="2190750"/>
            <a:ext cx="7143750" cy="3000375"/>
          </a:xfrm>
          <a:prstGeom prst="rect">
            <a:avLst/>
          </a:prstGeom>
          <a:noFill/>
          <a:ln w="0">
            <a:noFill/>
          </a:ln>
        </p:spPr>
        <p:txBody>
          <a:bodyPr wrap="square" lIns="0" tIns="0" rIns="0" bIns="0" anchor="t">
            <a:noAutofit/>
          </a:bodyPr>
          <a:lstStyle/>
          <a:p>
            <a:pPr algn="l">
              <a:lnSpc>
                <a:spcPct val="108000"/>
              </a:lnSpc>
              <a:defRPr sz="3300" b="0" i="0">
                <a:solidFill>
                  <a:srgbClr val="000000"/>
                </a:solidFill>
                <a:latin typeface="Garamond"/>
                <a:ea typeface="Garamond"/>
                <a:cs typeface="Garamond"/>
              </a:defRPr>
            </a:pPr>
            <a:r>
              <a:rPr sz="3300" b="0" i="0">
                <a:solidFill>
                  <a:srgbClr val="000000"/>
                </a:solidFill>
                <a:latin typeface="Garamond"/>
                <a:ea typeface="Garamond"/>
                <a:cs typeface="Garamond"/>
              </a:rPr>
              <a:t>“It was more like the world sculpted</a:t>
            </a:r>
          </a:p>
          <a:p>
            <a:pPr algn="l">
              <a:lnSpc>
                <a:spcPct val="108000"/>
              </a:lnSpc>
              <a:defRPr sz="3300" b="0" i="0">
                <a:solidFill>
                  <a:srgbClr val="000000"/>
                </a:solidFill>
                <a:latin typeface="Garamond"/>
                <a:ea typeface="Garamond"/>
                <a:cs typeface="Garamond"/>
              </a:defRPr>
            </a:pPr>
            <a:r>
              <a:rPr sz="3300" b="0" i="0">
                <a:solidFill>
                  <a:srgbClr val="000000"/>
                </a:solidFill>
                <a:latin typeface="Garamond"/>
                <a:ea typeface="Garamond"/>
                <a:cs typeface="Garamond"/>
              </a:rPr>
              <a:t>The Synthetic Party and I had to</a:t>
            </a:r>
          </a:p>
          <a:p>
            <a:pPr algn="l">
              <a:lnSpc>
                <a:spcPct val="108000"/>
              </a:lnSpc>
              <a:defRPr sz="3300" b="0" i="0">
                <a:solidFill>
                  <a:srgbClr val="000000"/>
                </a:solidFill>
                <a:latin typeface="Garamond"/>
                <a:ea typeface="Garamond"/>
                <a:cs typeface="Garamond"/>
              </a:defRPr>
            </a:pPr>
            <a:r>
              <a:rPr sz="3300" b="0" i="0">
                <a:solidFill>
                  <a:srgbClr val="000000"/>
                </a:solidFill>
                <a:latin typeface="Garamond"/>
                <a:ea typeface="Garamond"/>
                <a:cs typeface="Garamond"/>
              </a:rPr>
              <a:t>respond, rather than that I gave the</a:t>
            </a:r>
          </a:p>
          <a:p>
            <a:pPr algn="l">
              <a:lnSpc>
                <a:spcPct val="108000"/>
              </a:lnSpc>
              <a:defRPr sz="3300" b="0" i="0">
                <a:solidFill>
                  <a:srgbClr val="000000"/>
                </a:solidFill>
                <a:latin typeface="Garamond"/>
                <a:ea typeface="Garamond"/>
                <a:cs typeface="Garamond"/>
              </a:defRPr>
            </a:pPr>
            <a:r>
              <a:rPr sz="3300" b="0" i="0">
                <a:solidFill>
                  <a:srgbClr val="000000"/>
                </a:solidFill>
                <a:latin typeface="Garamond"/>
                <a:ea typeface="Garamond"/>
                <a:cs typeface="Garamond"/>
              </a:rPr>
              <a:t>world a party and it responded to me.”</a:t>
            </a:r>
          </a:p>
        </p:txBody>
      </p:sp>
      <p:sp>
        <p:nvSpPr>
          <p:cNvPr id="121" name="2.4 · Caption">
            <a:extLst>
              <a:ext uri="{FF2B5EF4-FFF2-40B4-BE49-F238E27FC236}">
                <a16:creationId xmlns:a16="http://schemas.microsoft.com/office/drawing/2014/main" id="{7ECEB557-49AF-471D-A3E5-373E7CA1FC45}"/>
              </a:ext>
            </a:extLst>
          </p:cNvPr>
          <p:cNvSpPr>
            <a:spLocks noGrp="1"/>
          </p:cNvSpPr>
          <p:nvPr/>
        </p:nvSpPr>
        <p:spPr>
          <a:xfrm>
            <a:off x="333375" y="5495925"/>
            <a:ext cx="39052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Det Syntetiske Parti (@</a:t>
            </a:r>
            <a:r>
              <a:rPr sz="1725" b="0" i="1" dirty="0" err="1">
                <a:solidFill>
                  <a:srgbClr val="000000"/>
                </a:solidFill>
                <a:latin typeface="Garamond"/>
                <a:ea typeface="Garamond"/>
                <a:cs typeface="Garamond"/>
              </a:rPr>
              <a:t>computerlars</a:t>
            </a:r>
            <a:r>
              <a:rPr sz="1725" b="0" i="1" dirty="0">
                <a:solidFill>
                  <a:srgbClr val="000000"/>
                </a:solidFill>
                <a:latin typeface="Garamond"/>
                <a:ea typeface="Garamond"/>
                <a:cs typeface="Garamond"/>
              </a:rPr>
              <a:t>),</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Twitter, 15 October 2022, 07:51.</a:t>
            </a:r>
          </a:p>
        </p:txBody>
      </p:sp>
      <p:sp>
        <p:nvSpPr>
          <p:cNvPr id="122" name="2.4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8.</a:t>
            </a:r>
          </a:p>
        </p:txBody>
      </p:sp>
    </p:spTree>
    <p:extLst>
      <p:ext uri="{BB962C8B-B14F-4D97-AF65-F5344CB8AC3E}">
        <p14:creationId xmlns:p14="http://schemas.microsoft.com/office/powerpoint/2010/main" val="208886050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20">
                                      <p:txEl>
                                        <p:pRg st="0" end="0"/>
                                      </p:txEl>
                                    </p:spTgt>
                                  </p:tgtEl>
                                  <p:attrNameLst>
                                    <p:attrName>style.visibility</p:attrName>
                                  </p:attrNameLst>
                                </p:cBhvr>
                                <p:to>
                                  <p:strVal val="visible"/>
                                </p:to>
                              </p:set>
                            </p:childTnLst>
                          </p:cTn>
                        </p:par>
                        <p:par>
                          <p:cTn id="6" presetID="1" presetClass="entr" presetSubtype="0" fill="hold" nodeType="withEffect">
                            <p:stCondLst>
                              <p:cond delay="436"/>
                            </p:stCondLst>
                            <p:iterate type="lt">
                              <p:tmAbs val="11"/>
                            </p:iterate>
                            <p:childTnLst>
                              <p:set>
                                <p:cBhvr>
                                  <p:cTn id="7" dur="1" fill="hold">
                                    <p:stCondLst>
                                      <p:cond delay="0"/>
                                    </p:stCondLst>
                                  </p:cTn>
                                  <p:tgtEl>
                                    <p:spTgt spid="120">
                                      <p:txEl>
                                        <p:pRg st="1" end="1"/>
                                      </p:txEl>
                                    </p:spTgt>
                                  </p:tgtEl>
                                  <p:attrNameLst>
                                    <p:attrName>style.visibility</p:attrName>
                                  </p:attrNameLst>
                                </p:cBhvr>
                                <p:to>
                                  <p:strVal val="visible"/>
                                </p:to>
                              </p:set>
                            </p:childTnLst>
                          </p:cTn>
                        </p:par>
                        <p:par>
                          <p:cTn id="8" presetID="1" presetClass="entr" presetSubtype="0" fill="hold" nodeType="withEffect">
                            <p:stCondLst>
                              <p:cond delay="828"/>
                            </p:stCondLst>
                            <p:iterate type="lt">
                              <p:tmAbs val="11"/>
                            </p:iterate>
                            <p:childTnLst>
                              <p:set>
                                <p:cBhvr>
                                  <p:cTn id="9" dur="1" fill="hold">
                                    <p:stCondLst>
                                      <p:cond delay="0"/>
                                    </p:stCondLst>
                                  </p:cTn>
                                  <p:tgtEl>
                                    <p:spTgt spid="120">
                                      <p:txEl>
                                        <p:pRg st="2" end="2"/>
                                      </p:txEl>
                                    </p:spTgt>
                                  </p:tgtEl>
                                  <p:attrNameLst>
                                    <p:attrName>style.visibility</p:attrName>
                                  </p:attrNameLst>
                                </p:cBhvr>
                                <p:to>
                                  <p:strVal val="visible"/>
                                </p:to>
                              </p:set>
                            </p:childTnLst>
                          </p:cTn>
                        </p:par>
                        <p:par>
                          <p:cTn id="10" presetID="1" presetClass="entr" presetSubtype="0" fill="hold" nodeType="withEffect">
                            <p:stCondLst>
                              <p:cond delay="1264"/>
                            </p:stCondLst>
                            <p:iterate type="lt">
                              <p:tmAbs val="11"/>
                            </p:iterate>
                            <p:childTnLst>
                              <p:set>
                                <p:cBhvr>
                                  <p:cTn id="11" dur="1" fill="hold">
                                    <p:stCondLst>
                                      <p:cond delay="0"/>
                                    </p:stCondLst>
                                  </p:cTn>
                                  <p:tgtEl>
                                    <p:spTgt spid="120">
                                      <p:txEl>
                                        <p:pRg st="3" end="3"/>
                                      </p:txEl>
                                    </p:spTgt>
                                  </p:tgtEl>
                                  <p:attrNameLst>
                                    <p:attrName>style.visibility</p:attrName>
                                  </p:attrNameLst>
                                </p:cBhvr>
                                <p:to>
                                  <p:strVal val="visible"/>
                                </p:to>
                              </p:set>
                            </p:childTnLst>
                          </p:cTn>
                        </p:par>
                      </p:childTnLst>
                    </p:cTn>
                  </p:par>
                </p:childTnLst>
              </p:cTn>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3.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Democracy’s Political Unthought</a:t>
            </a:r>
          </a:p>
        </p:txBody>
      </p:sp>
      <p:sp>
        <p:nvSpPr>
          <p:cNvPr id="102" name="3.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Love Democracy</a:t>
            </a:r>
          </a:p>
        </p:txBody>
      </p:sp>
      <p:sp>
        <p:nvSpPr>
          <p:cNvPr id="103" name="3.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2/7</a:t>
            </a:r>
          </a:p>
        </p:txBody>
      </p:sp>
      <p:pic>
        <p:nvPicPr>
          <p:cNvPr id="104" name="3.0 · kubrick-poster"/>
          <p:cNvPicPr>
            <a:picLocks noChangeAspect="1"/>
          </p:cNvPicPr>
          <p:nvPr/>
        </p:nvPicPr>
        <p:blipFill>
          <a:blip r:embed="rId3"/>
          <a:stretch/>
        </p:blipFill>
        <p:spPr>
          <a:xfrm>
            <a:off x="1522836" y="1362075"/>
            <a:ext cx="2526453" cy="3908107"/>
          </a:xfrm>
          <a:prstGeom prst="rect">
            <a:avLst/>
          </a:prstGeom>
        </p:spPr>
      </p:pic>
      <p:sp>
        <p:nvSpPr>
          <p:cNvPr id="105" name="3.0 · “How I Learned” gives away that I did not love democracy in advance."/>
          <p:cNvSpPr>
            <a:spLocks noGrp="1"/>
          </p:cNvSpPr>
          <p:nvPr/>
        </p:nvSpPr>
        <p:spPr>
          <a:xfrm>
            <a:off x="5524500" y="1438275"/>
            <a:ext cx="6096000" cy="825246"/>
          </a:xfrm>
          <a:prstGeom prst="rect">
            <a:avLst/>
          </a:prstGeom>
          <a:noFill/>
          <a:ln w="0">
            <a:noFill/>
          </a:ln>
        </p:spPr>
        <p:txBody>
          <a:bodyPr wrap="square" lIns="0" tIns="0" rIns="0" bIns="0" anchor="t">
            <a:noAutofit/>
          </a:bodyPr>
          <a:lstStyle/>
          <a:p>
            <a:pPr algn="l">
              <a:lnSpc>
                <a:spcPct val="108000"/>
              </a:lnSpc>
              <a:defRPr sz="2700" b="0" i="0">
                <a:solidFill>
                  <a:srgbClr val="000000"/>
                </a:solidFill>
                <a:latin typeface="Garamond"/>
                <a:ea typeface="Garamond"/>
                <a:cs typeface="Garamond"/>
              </a:defRPr>
            </a:pPr>
            <a:r>
              <a:rPr sz="2700" b="0" i="0">
                <a:solidFill>
                  <a:srgbClr val="000000"/>
                </a:solidFill>
                <a:latin typeface="Garamond"/>
                <a:ea typeface="Garamond"/>
                <a:cs typeface="Garamond"/>
              </a:rPr>
              <a:t>“</a:t>
            </a:r>
            <a:r>
              <a:rPr sz="2700" b="0" i="1">
                <a:solidFill>
                  <a:srgbClr val="000000"/>
                </a:solidFill>
                <a:latin typeface="Garamond"/>
                <a:ea typeface="Garamond"/>
                <a:cs typeface="Garamond"/>
              </a:rPr>
              <a:t>How I Learned</a:t>
            </a:r>
            <a:r>
              <a:rPr sz="2700" b="0" i="0">
                <a:solidFill>
                  <a:srgbClr val="000000"/>
                </a:solidFill>
                <a:latin typeface="Garamond"/>
                <a:ea typeface="Garamond"/>
                <a:cs typeface="Garamond"/>
              </a:rPr>
              <a:t>” gives away that I</a:t>
            </a:r>
          </a:p>
          <a:p>
            <a:pPr algn="l">
              <a:lnSpc>
                <a:spcPct val="108000"/>
              </a:lnSpc>
              <a:defRPr sz="2700" b="0" i="0">
                <a:solidFill>
                  <a:srgbClr val="000000"/>
                </a:solidFill>
                <a:latin typeface="Garamond"/>
                <a:ea typeface="Garamond"/>
                <a:cs typeface="Garamond"/>
              </a:defRPr>
            </a:pPr>
            <a:r>
              <a:rPr sz="2700" b="0" i="0">
                <a:solidFill>
                  <a:srgbClr val="000000"/>
                </a:solidFill>
                <a:latin typeface="Garamond"/>
                <a:ea typeface="Garamond"/>
                <a:cs typeface="Garamond"/>
              </a:rPr>
              <a:t>did not love democracy in advance.</a:t>
            </a:r>
          </a:p>
        </p:txBody>
      </p:sp>
      <p:sp>
        <p:nvSpPr>
          <p:cNvPr id="106" name="3.0 · Democracy as an object of worry"/>
          <p:cNvSpPr>
            <a:spLocks noGrp="1"/>
          </p:cNvSpPr>
          <p:nvPr/>
        </p:nvSpPr>
        <p:spPr>
          <a:xfrm>
            <a:off x="5524500" y="2568321"/>
            <a:ext cx="6096000" cy="426974"/>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0">
                <a:solidFill>
                  <a:srgbClr val="FF0000"/>
                </a:solidFill>
                <a:latin typeface="Garamond"/>
                <a:ea typeface="Garamond"/>
                <a:cs typeface="Garamond"/>
              </a:rPr>
              <a:t>Democracy as an object of worry</a:t>
            </a:r>
          </a:p>
        </p:txBody>
      </p:sp>
      <p:sp>
        <p:nvSpPr>
          <p:cNvPr id="107" name="3.0 · Threatened, hollowed out, to be defended."/>
          <p:cNvSpPr>
            <a:spLocks noGrp="1"/>
          </p:cNvSpPr>
          <p:nvPr/>
        </p:nvSpPr>
        <p:spPr>
          <a:xfrm>
            <a:off x="5524500" y="3071495"/>
            <a:ext cx="6096000" cy="426974"/>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0">
                <a:solidFill>
                  <a:srgbClr val="000000"/>
                </a:solidFill>
                <a:latin typeface="Garamond"/>
                <a:ea typeface="Garamond"/>
                <a:cs typeface="Garamond"/>
              </a:rPr>
              <a:t>Threatened, hollowed out, to be defended.</a:t>
            </a:r>
          </a:p>
        </p:txBody>
      </p:sp>
      <p:sp>
        <p:nvSpPr>
          <p:cNvPr id="108" name="3.0 · Democracy as a legitimating formula"/>
          <p:cNvSpPr>
            <a:spLocks noGrp="1"/>
          </p:cNvSpPr>
          <p:nvPr/>
        </p:nvSpPr>
        <p:spPr>
          <a:xfrm>
            <a:off x="5524500" y="3803269"/>
            <a:ext cx="6096000" cy="426974"/>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0">
                <a:solidFill>
                  <a:srgbClr val="FF0000"/>
                </a:solidFill>
                <a:latin typeface="Garamond"/>
                <a:ea typeface="Garamond"/>
                <a:cs typeface="Garamond"/>
              </a:rPr>
              <a:t>Democracy as a legitimating formula</a:t>
            </a:r>
          </a:p>
        </p:txBody>
      </p:sp>
      <p:sp>
        <p:nvSpPr>
          <p:cNvPr id="109" name="3.0 · The name under which its supposed “outsides” are governed."/>
          <p:cNvSpPr>
            <a:spLocks noGrp="1"/>
          </p:cNvSpPr>
          <p:nvPr/>
        </p:nvSpPr>
        <p:spPr>
          <a:xfrm>
            <a:off x="5524500" y="4306443"/>
            <a:ext cx="6096000" cy="796798"/>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lang="da-DK" sz="2600" b="0" i="0" dirty="0" err="1">
                <a:solidFill>
                  <a:srgbClr val="000000"/>
                </a:solidFill>
                <a:latin typeface="Garamond"/>
                <a:ea typeface="Garamond"/>
                <a:cs typeface="Garamond"/>
              </a:rPr>
              <a:t>Namig</a:t>
            </a:r>
            <a:r>
              <a:rPr sz="2600" b="0" i="0" dirty="0">
                <a:solidFill>
                  <a:srgbClr val="000000"/>
                </a:solidFill>
                <a:latin typeface="Garamond"/>
                <a:ea typeface="Garamond"/>
                <a:cs typeface="Garamond"/>
              </a:rPr>
              <a:t> </a:t>
            </a:r>
            <a:r>
              <a:rPr lang="da-DK" sz="2600" b="0" i="0" dirty="0" err="1">
                <a:solidFill>
                  <a:srgbClr val="000000"/>
                </a:solidFill>
                <a:latin typeface="Garamond"/>
                <a:ea typeface="Garamond"/>
                <a:cs typeface="Garamond"/>
              </a:rPr>
              <a:t>how</a:t>
            </a:r>
            <a:r>
              <a:rPr lang="da-DK" sz="2600" b="0" i="0" dirty="0">
                <a:solidFill>
                  <a:srgbClr val="000000"/>
                </a:solidFill>
                <a:latin typeface="Garamond"/>
                <a:ea typeface="Garamond"/>
                <a:cs typeface="Garamond"/>
              </a:rPr>
              <a:t> </a:t>
            </a:r>
            <a:r>
              <a:rPr sz="2600" b="0" i="0" dirty="0">
                <a:solidFill>
                  <a:srgbClr val="000000"/>
                </a:solidFill>
                <a:latin typeface="Garamond"/>
                <a:ea typeface="Garamond"/>
                <a:cs typeface="Garamond"/>
              </a:rPr>
              <a:t>its</a:t>
            </a:r>
            <a:r>
              <a:rPr dirty="0"/>
              <a:t> </a:t>
            </a:r>
            <a:r>
              <a:rPr sz="2600" b="0" i="0" dirty="0">
                <a:solidFill>
                  <a:srgbClr val="000000"/>
                </a:solidFill>
                <a:latin typeface="Garamond"/>
                <a:ea typeface="Garamond"/>
                <a:cs typeface="Garamond"/>
              </a:rPr>
              <a:t>supposed “outsides” </a:t>
            </a:r>
            <a:br>
              <a:rPr lang="da-DK" sz="2600" b="0" i="0" dirty="0">
                <a:solidFill>
                  <a:srgbClr val="000000"/>
                </a:solidFill>
                <a:latin typeface="Garamond"/>
                <a:ea typeface="Garamond"/>
                <a:cs typeface="Garamond"/>
              </a:rPr>
            </a:br>
            <a:r>
              <a:rPr sz="2600" b="0" i="0" dirty="0">
                <a:solidFill>
                  <a:srgbClr val="000000"/>
                </a:solidFill>
                <a:latin typeface="Garamond"/>
                <a:ea typeface="Garamond"/>
                <a:cs typeface="Garamond"/>
              </a:rPr>
              <a:t>are</a:t>
            </a:r>
            <a:r>
              <a:rPr lang="da-DK" sz="2600" b="0" i="0" dirty="0">
                <a:solidFill>
                  <a:srgbClr val="000000"/>
                </a:solidFill>
                <a:latin typeface="Garamond"/>
                <a:ea typeface="Garamond"/>
                <a:cs typeface="Garamond"/>
              </a:rPr>
              <a:t> to </a:t>
            </a:r>
            <a:r>
              <a:rPr lang="da-DK" sz="2600" b="0" i="0" dirty="0" err="1">
                <a:solidFill>
                  <a:srgbClr val="000000"/>
                </a:solidFill>
                <a:latin typeface="Garamond"/>
                <a:ea typeface="Garamond"/>
                <a:cs typeface="Garamond"/>
              </a:rPr>
              <a:t>be</a:t>
            </a:r>
            <a:r>
              <a:rPr sz="2600" b="0" i="0" dirty="0">
                <a:solidFill>
                  <a:srgbClr val="000000"/>
                </a:solidFill>
                <a:latin typeface="Garamond"/>
                <a:ea typeface="Garamond"/>
                <a:cs typeface="Garamond"/>
              </a:rPr>
              <a:t> governed.</a:t>
            </a:r>
          </a:p>
        </p:txBody>
      </p:sp>
      <p:sp>
        <p:nvSpPr>
          <p:cNvPr id="110" name="3.0 · Caption">
            <a:extLst>
              <a:ext uri="{FF2B5EF4-FFF2-40B4-BE49-F238E27FC236}">
                <a16:creationId xmlns:a16="http://schemas.microsoft.com/office/drawing/2014/main" id="{3606EF21-3727-4E38-B00A-0AEF03D14D1F}"/>
              </a:ext>
            </a:extLst>
          </p:cNvPr>
          <p:cNvSpPr>
            <a:spLocks noGrp="1"/>
          </p:cNvSpPr>
          <p:nvPr/>
        </p:nvSpPr>
        <p:spPr>
          <a:xfrm>
            <a:off x="333375" y="5441633"/>
            <a:ext cx="4905375" cy="882968"/>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Stanley Kubrick, Dr. Strangelove or: How</a:t>
            </a:r>
          </a:p>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I Learned to Stop Worrying and Love the</a:t>
            </a:r>
          </a:p>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Bomb, 1964. Film poster: Tomi Ungerer.</a:t>
            </a:r>
          </a:p>
        </p:txBody>
      </p:sp>
      <p:sp>
        <p:nvSpPr>
          <p:cNvPr id="111" name="3.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114–118.</a:t>
            </a:r>
          </a:p>
        </p:txBody>
      </p:sp>
    </p:spTree>
    <p:extLst>
      <p:ext uri="{BB962C8B-B14F-4D97-AF65-F5344CB8AC3E}">
        <p14:creationId xmlns:p14="http://schemas.microsoft.com/office/powerpoint/2010/main" val="162330679"/>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07">
                                      <p:txEl>
                                        <p:pRg st="0" end="0"/>
                                      </p:txEl>
                                    </p:spTgt>
                                  </p:tgtEl>
                                  <p:attrNameLst>
                                    <p:attrName>style.visibility</p:attrName>
                                  </p:attrNameLst>
                                </p:cBhvr>
                                <p:to>
                                  <p:strVal val="visible"/>
                                </p:to>
                              </p:set>
                            </p:childTnLst>
                          </p:cTn>
                        </p:par>
                        <p:par>
                          <p:cTn id="6" presetID="1" presetClass="entr" presetSubtype="0" fill="hold" nodeType="withEffect">
                            <p:stCondLst>
                              <p:cond delay="491"/>
                            </p:stCondLst>
                            <p:iterate type="lt">
                              <p:tmAbs val="11"/>
                            </p:iterate>
                            <p:childTnLst>
                              <p:set>
                                <p:cBhvr>
                                  <p:cTn id="7" dur="1" fill="hold">
                                    <p:stCondLst>
                                      <p:cond delay="0"/>
                                    </p:stCondLst>
                                  </p:cTn>
                                  <p:tgtEl>
                                    <p:spTgt spid="109">
                                      <p:txEl>
                                        <p:pRg st="0" end="0"/>
                                      </p:txEl>
                                    </p:spTgt>
                                  </p:tgtEl>
                                  <p:attrNameLst>
                                    <p:attrName>style.visibility</p:attrName>
                                  </p:attrNameLst>
                                </p:cBhvr>
                                <p:to>
                                  <p:strVal val="visible"/>
                                </p:to>
                              </p:set>
                            </p:childTnLst>
                          </p:cTn>
                        </p:par>
                      </p:childTnLst>
                    </p:cTn>
                  </p:par>
                </p:childTnLst>
              </p:cTn>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3.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Democracy’s Political Unthought</a:t>
            </a:r>
          </a:p>
        </p:txBody>
      </p:sp>
      <p:sp>
        <p:nvSpPr>
          <p:cNvPr id="102" name="3.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Love Democracy</a:t>
            </a:r>
          </a:p>
        </p:txBody>
      </p:sp>
      <p:sp>
        <p:nvSpPr>
          <p:cNvPr id="103" name="3.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2/7</a:t>
            </a:r>
          </a:p>
        </p:txBody>
      </p:sp>
      <p:sp>
        <p:nvSpPr>
          <p:cNvPr id="112" name="3.1 · Democracy as constitutional order"/>
          <p:cNvSpPr>
            <a:spLocks noGrp="1"/>
          </p:cNvSpPr>
          <p:nvPr/>
        </p:nvSpPr>
        <p:spPr>
          <a:xfrm>
            <a:off x="619125" y="1428750"/>
            <a:ext cx="10953750" cy="426974"/>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0">
                <a:solidFill>
                  <a:srgbClr val="FF0000"/>
                </a:solidFill>
                <a:latin typeface="Garamond"/>
                <a:ea typeface="Garamond"/>
                <a:cs typeface="Garamond"/>
              </a:rPr>
              <a:t>Democracy as constitutional order</a:t>
            </a:r>
          </a:p>
        </p:txBody>
      </p:sp>
      <p:sp>
        <p:nvSpPr>
          <p:cNvPr id="113" name="3.1 · Rights and representative institutions, contested and extended through"/>
          <p:cNvSpPr>
            <a:spLocks noGrp="1"/>
          </p:cNvSpPr>
          <p:nvPr/>
        </p:nvSpPr>
        <p:spPr>
          <a:xfrm>
            <a:off x="619125" y="1931924"/>
            <a:ext cx="10953750" cy="796798"/>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0">
                <a:solidFill>
                  <a:srgbClr val="000000"/>
                </a:solidFill>
                <a:latin typeface="Garamond"/>
                <a:ea typeface="Garamond"/>
                <a:cs typeface="Garamond"/>
              </a:rPr>
              <a:t>Rights and representative institutions, contested and extended through</a:t>
            </a:r>
            <a:r>
              <a:t> </a:t>
            </a:r>
            <a:r>
              <a:rPr sz="2600" b="0" i="0">
                <a:solidFill>
                  <a:srgbClr val="000000"/>
                </a:solidFill>
                <a:latin typeface="Garamond"/>
                <a:ea typeface="Garamond"/>
                <a:cs typeface="Garamond"/>
              </a:rPr>
              <a:t>parties, associations, social movements and collective struggle.</a:t>
            </a:r>
          </a:p>
        </p:txBody>
      </p:sp>
      <p:sp>
        <p:nvSpPr>
          <p:cNvPr id="114" name="3.1 · Democracy as technical arrangement"/>
          <p:cNvSpPr>
            <a:spLocks noGrp="1"/>
          </p:cNvSpPr>
          <p:nvPr/>
        </p:nvSpPr>
        <p:spPr>
          <a:xfrm>
            <a:off x="619125" y="3200357"/>
            <a:ext cx="10953750" cy="426974"/>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0" dirty="0">
                <a:solidFill>
                  <a:srgbClr val="FF0000"/>
                </a:solidFill>
                <a:latin typeface="Garamond"/>
                <a:ea typeface="Garamond"/>
                <a:cs typeface="Garamond"/>
              </a:rPr>
              <a:t>Democracy as technical arrangement</a:t>
            </a:r>
          </a:p>
        </p:txBody>
      </p:sp>
      <p:sp>
        <p:nvSpPr>
          <p:cNvPr id="115" name="3.1 · The arrangements through which political expression is received, sorte"/>
          <p:cNvSpPr>
            <a:spLocks noGrp="1"/>
          </p:cNvSpPr>
          <p:nvPr/>
        </p:nvSpPr>
        <p:spPr>
          <a:xfrm>
            <a:off x="619125" y="3720211"/>
            <a:ext cx="10953750" cy="796798"/>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lang="da-DK" sz="2600" dirty="0">
                <a:solidFill>
                  <a:srgbClr val="000000"/>
                </a:solidFill>
                <a:latin typeface="Garamond"/>
                <a:ea typeface="Garamond"/>
                <a:cs typeface="Garamond"/>
              </a:rPr>
              <a:t>A</a:t>
            </a:r>
            <a:r>
              <a:rPr sz="2600" b="0" i="0" dirty="0" err="1">
                <a:solidFill>
                  <a:srgbClr val="000000"/>
                </a:solidFill>
                <a:latin typeface="Garamond"/>
                <a:ea typeface="Garamond"/>
                <a:cs typeface="Garamond"/>
              </a:rPr>
              <a:t>rrangements</a:t>
            </a:r>
            <a:r>
              <a:rPr sz="2600" b="0" i="0" dirty="0">
                <a:solidFill>
                  <a:srgbClr val="000000"/>
                </a:solidFill>
                <a:latin typeface="Garamond"/>
                <a:ea typeface="Garamond"/>
                <a:cs typeface="Garamond"/>
              </a:rPr>
              <a:t> through which expression is received, sorted, amplified and judged.</a:t>
            </a:r>
          </a:p>
        </p:txBody>
      </p:sp>
      <p:sp>
        <p:nvSpPr>
          <p:cNvPr id="116" name="3.1 · Democracy as the ritual exposure of artifice"/>
          <p:cNvSpPr>
            <a:spLocks noGrp="1"/>
          </p:cNvSpPr>
          <p:nvPr/>
        </p:nvSpPr>
        <p:spPr>
          <a:xfrm>
            <a:off x="619125" y="4638294"/>
            <a:ext cx="10953750" cy="426974"/>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0">
                <a:solidFill>
                  <a:srgbClr val="FF0000"/>
                </a:solidFill>
                <a:latin typeface="Garamond"/>
                <a:ea typeface="Garamond"/>
                <a:cs typeface="Garamond"/>
              </a:rPr>
              <a:t>Democracy as the ritual exposure of artifice</a:t>
            </a:r>
          </a:p>
        </p:txBody>
      </p:sp>
      <p:sp>
        <p:nvSpPr>
          <p:cNvPr id="117" name="3.1 · The arrangements allocating voice, authority and consequence can thems"/>
          <p:cNvSpPr>
            <a:spLocks noGrp="1"/>
          </p:cNvSpPr>
          <p:nvPr/>
        </p:nvSpPr>
        <p:spPr>
          <a:xfrm>
            <a:off x="619125" y="5141468"/>
            <a:ext cx="11239500" cy="796798"/>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lang="da-DK" sz="2600" b="0" i="0" dirty="0">
                <a:solidFill>
                  <a:srgbClr val="000000"/>
                </a:solidFill>
                <a:latin typeface="Garamond"/>
                <a:ea typeface="Garamond"/>
                <a:cs typeface="Garamond"/>
              </a:rPr>
              <a:t>The technics </a:t>
            </a:r>
            <a:r>
              <a:rPr sz="2600" b="0" i="0" dirty="0">
                <a:solidFill>
                  <a:srgbClr val="000000"/>
                </a:solidFill>
                <a:latin typeface="Garamond"/>
                <a:ea typeface="Garamond"/>
                <a:cs typeface="Garamond"/>
              </a:rPr>
              <a:t>allocating voice, authority</a:t>
            </a:r>
            <a:r>
              <a:rPr dirty="0"/>
              <a:t> </a:t>
            </a:r>
            <a:r>
              <a:rPr sz="2600" b="0" i="0" dirty="0">
                <a:solidFill>
                  <a:srgbClr val="000000"/>
                </a:solidFill>
                <a:latin typeface="Garamond"/>
                <a:ea typeface="Garamond"/>
                <a:cs typeface="Garamond"/>
              </a:rPr>
              <a:t>and consequence can themselves be contested.</a:t>
            </a:r>
          </a:p>
        </p:txBody>
      </p:sp>
      <p:sp>
        <p:nvSpPr>
          <p:cNvPr id="118" name="3.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81–86, 108–109, 114–118.</a:t>
            </a:r>
          </a:p>
        </p:txBody>
      </p:sp>
    </p:spTree>
    <p:extLst>
      <p:ext uri="{BB962C8B-B14F-4D97-AF65-F5344CB8AC3E}">
        <p14:creationId xmlns:p14="http://schemas.microsoft.com/office/powerpoint/2010/main" val="162330679"/>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3">
                                      <p:txEl>
                                        <p:pRg st="0" end="0"/>
                                      </p:txEl>
                                    </p:spTgt>
                                  </p:tgtEl>
                                  <p:attrNameLst>
                                    <p:attrName>style.visibility</p:attrName>
                                  </p:attrNameLst>
                                </p:cBhvr>
                                <p:to>
                                  <p:strVal val="visible"/>
                                </p:to>
                              </p:set>
                            </p:childTnLst>
                          </p:cTn>
                        </p:par>
                        <p:par>
                          <p:cTn id="6" presetID="1" presetClass="entr" presetSubtype="0" fill="hold" nodeType="withEffect">
                            <p:stCondLst>
                              <p:cond delay="1525"/>
                            </p:stCondLst>
                            <p:iterate type="lt">
                              <p:tmAbs val="11"/>
                            </p:iterate>
                            <p:childTnLst>
                              <p:set>
                                <p:cBhvr>
                                  <p:cTn id="7" dur="1" fill="hold">
                                    <p:stCondLst>
                                      <p:cond delay="0"/>
                                    </p:stCondLst>
                                  </p:cTn>
                                  <p:tgtEl>
                                    <p:spTgt spid="115">
                                      <p:txEl>
                                        <p:pRg st="0" end="0"/>
                                      </p:txEl>
                                    </p:spTgt>
                                  </p:tgtEl>
                                  <p:attrNameLst>
                                    <p:attrName>style.visibility</p:attrName>
                                  </p:attrNameLst>
                                </p:cBhvr>
                                <p:to>
                                  <p:strVal val="visible"/>
                                </p:to>
                              </p:set>
                            </p:childTnLst>
                          </p:cTn>
                        </p:par>
                        <p:par>
                          <p:cTn id="8" presetID="1" presetClass="entr" presetSubtype="0" fill="hold" nodeType="withEffect">
                            <p:stCondLst>
                              <p:cond delay="2445"/>
                            </p:stCondLst>
                            <p:iterate type="lt">
                              <p:tmAbs val="11"/>
                            </p:iterate>
                            <p:childTnLst>
                              <p:set>
                                <p:cBhvr>
                                  <p:cTn id="9" dur="1" fill="hold">
                                    <p:stCondLst>
                                      <p:cond delay="0"/>
                                    </p:stCondLst>
                                  </p:cTn>
                                  <p:tgtEl>
                                    <p:spTgt spid="117">
                                      <p:txEl>
                                        <p:pRg st="0" end="0"/>
                                      </p:txEl>
                                    </p:spTgt>
                                  </p:tgtEl>
                                  <p:attrNameLst>
                                    <p:attrName>style.visibility</p:attrName>
                                  </p:attrNameLst>
                                </p:cBhvr>
                                <p:to>
                                  <p:strVal val="visible"/>
                                </p:to>
                              </p:set>
                            </p:childTnLst>
                          </p:cTn>
                        </p:par>
                      </p:childTnLst>
                    </p:cTn>
                  </p:par>
                </p:childTnLst>
              </p:cTn>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4.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dirty="0">
                <a:solidFill>
                  <a:srgbClr val="000000"/>
                </a:solidFill>
                <a:latin typeface="Garamond"/>
                <a:ea typeface="Garamond"/>
                <a:cs typeface="Garamond"/>
              </a:rPr>
              <a:t>Research </a:t>
            </a:r>
            <a:r>
              <a:rPr lang="da-DK" sz="3225" b="1" i="1" dirty="0">
                <a:solidFill>
                  <a:srgbClr val="000000"/>
                </a:solidFill>
                <a:latin typeface="Garamond"/>
                <a:ea typeface="Garamond"/>
                <a:cs typeface="Garamond"/>
              </a:rPr>
              <a:t>Architecture</a:t>
            </a:r>
            <a:r>
              <a:rPr sz="3225" b="1" i="1" dirty="0">
                <a:solidFill>
                  <a:srgbClr val="000000"/>
                </a:solidFill>
                <a:latin typeface="Garamond"/>
                <a:ea typeface="Garamond"/>
                <a:cs typeface="Garamond"/>
              </a:rPr>
              <a:t>: A Geometry of Practice</a:t>
            </a:r>
          </a:p>
        </p:txBody>
      </p:sp>
      <p:sp>
        <p:nvSpPr>
          <p:cNvPr id="102" name="4.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Dispute Everything</a:t>
            </a:r>
          </a:p>
        </p:txBody>
      </p:sp>
      <p:sp>
        <p:nvSpPr>
          <p:cNvPr id="103" name="4.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3/7</a:t>
            </a:r>
          </a:p>
        </p:txBody>
      </p:sp>
      <p:pic>
        <p:nvPicPr>
          <p:cNvPr id="104" name="4.0 · contents-004"/>
          <p:cNvPicPr>
            <a:picLocks noChangeAspect="1"/>
          </p:cNvPicPr>
          <p:nvPr/>
        </p:nvPicPr>
        <p:blipFill>
          <a:blip r:embed="rId3"/>
          <a:srcRect l="13847" t="7833" r="12746" b="11139"/>
          <a:stretch>
            <a:fillRect/>
          </a:stretch>
        </p:blipFill>
        <p:spPr>
          <a:xfrm>
            <a:off x="1606062" y="1187694"/>
            <a:ext cx="3054526" cy="4774956"/>
          </a:xfrm>
          <a:prstGeom prst="rect">
            <a:avLst/>
          </a:prstGeom>
          <a:ln w="12700" cmpd="sng" algn="in">
            <a:solidFill>
              <a:srgbClr val="D5A4A4"/>
            </a:solidFill>
            <a:prstDash val="solid"/>
            <a:miter lim="800000"/>
          </a:ln>
        </p:spPr>
      </p:pic>
      <p:pic>
        <p:nvPicPr>
          <p:cNvPr id="105" name="4.0 · contents-005"/>
          <p:cNvPicPr>
            <a:picLocks noChangeAspect="1"/>
          </p:cNvPicPr>
          <p:nvPr/>
        </p:nvPicPr>
        <p:blipFill>
          <a:blip r:embed="rId4"/>
          <a:srcRect l="13847" t="7833" r="12667" b="8510"/>
          <a:stretch>
            <a:fillRect/>
          </a:stretch>
        </p:blipFill>
        <p:spPr>
          <a:xfrm>
            <a:off x="7458701" y="1187694"/>
            <a:ext cx="2991859" cy="4823534"/>
          </a:xfrm>
          <a:prstGeom prst="rect">
            <a:avLst/>
          </a:prstGeom>
          <a:ln w="12700" cmpd="sng" algn="in">
            <a:solidFill>
              <a:srgbClr val="D5A4A4"/>
            </a:solidFill>
            <a:prstDash val="solid"/>
            <a:miter lim="800000"/>
          </a:ln>
        </p:spPr>
      </p:pic>
      <p:sp>
        <p:nvSpPr>
          <p:cNvPr id="106" name="4.0 · Caption">
            <a:extLst>
              <a:ext uri="{FF2B5EF4-FFF2-40B4-BE49-F238E27FC236}">
                <a16:creationId xmlns:a16="http://schemas.microsoft.com/office/drawing/2014/main" id="{AA7DF86E-BE27-46CB-833A-70EAC6773765}"/>
              </a:ext>
            </a:extLst>
          </p:cNvPr>
          <p:cNvSpPr>
            <a:spLocks noGrp="1"/>
          </p:cNvSpPr>
          <p:nvPr/>
        </p:nvSpPr>
        <p:spPr>
          <a:xfrm>
            <a:off x="1868412" y="6011228"/>
            <a:ext cx="8457563" cy="313373"/>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Contents of Syntheticism: How I Learned to Love Democracy.</a:t>
            </a:r>
          </a:p>
        </p:txBody>
      </p:sp>
      <p:sp>
        <p:nvSpPr>
          <p:cNvPr id="107" name="4.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3–4.</a:t>
            </a:r>
          </a:p>
        </p:txBody>
      </p:sp>
    </p:spTree>
    <p:extLst>
      <p:ext uri="{BB962C8B-B14F-4D97-AF65-F5344CB8AC3E}">
        <p14:creationId xmlns:p14="http://schemas.microsoft.com/office/powerpoint/2010/main" val="821985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4.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dirty="0">
                <a:solidFill>
                  <a:srgbClr val="000000"/>
                </a:solidFill>
                <a:latin typeface="Garamond"/>
                <a:ea typeface="Garamond"/>
                <a:cs typeface="Garamond"/>
              </a:rPr>
              <a:t>Research </a:t>
            </a:r>
            <a:r>
              <a:rPr lang="da-DK" sz="3225" b="1" i="1" dirty="0">
                <a:solidFill>
                  <a:srgbClr val="000000"/>
                </a:solidFill>
                <a:latin typeface="Garamond"/>
                <a:ea typeface="Garamond"/>
                <a:cs typeface="Garamond"/>
              </a:rPr>
              <a:t>Architecture</a:t>
            </a:r>
            <a:r>
              <a:rPr sz="3225" b="1" i="1" dirty="0">
                <a:solidFill>
                  <a:srgbClr val="000000"/>
                </a:solidFill>
                <a:latin typeface="Garamond"/>
                <a:ea typeface="Garamond"/>
                <a:cs typeface="Garamond"/>
              </a:rPr>
              <a:t>: A Geometry of Practice</a:t>
            </a:r>
          </a:p>
        </p:txBody>
      </p:sp>
      <p:sp>
        <p:nvSpPr>
          <p:cNvPr id="102" name="4.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Dispute Everything</a:t>
            </a:r>
          </a:p>
        </p:txBody>
      </p:sp>
      <p:sp>
        <p:nvSpPr>
          <p:cNvPr id="103" name="4.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3/7</a:t>
            </a:r>
          </a:p>
        </p:txBody>
      </p:sp>
      <p:sp>
        <p:nvSpPr>
          <p:cNvPr id="108" name="4.1 · PART I · RQ1"/>
          <p:cNvSpPr>
            <a:spLocks noGrp="1"/>
          </p:cNvSpPr>
          <p:nvPr/>
        </p:nvSpPr>
        <p:spPr>
          <a:xfrm>
            <a:off x="571500" y="1409700"/>
            <a:ext cx="3524250" cy="342900"/>
          </a:xfrm>
          <a:prstGeom prst="rect">
            <a:avLst/>
          </a:prstGeom>
          <a:noFill/>
          <a:ln w="0">
            <a:noFill/>
          </a:ln>
        </p:spPr>
        <p:txBody>
          <a:bodyPr wrap="square" lIns="0" tIns="0" rIns="0" bIns="0" anchor="t">
            <a:noAutofit/>
          </a:bodyPr>
          <a:lstStyle/>
          <a:p>
            <a:pPr>
              <a:lnSpc>
                <a:spcPct val="108000"/>
              </a:lnSpc>
              <a:defRPr sz="1725" b="0" i="0">
                <a:solidFill>
                  <a:srgbClr val="000000"/>
                </a:solidFill>
                <a:latin typeface="Consolas"/>
                <a:ea typeface="Consolas"/>
                <a:cs typeface="Consolas"/>
              </a:defRPr>
            </a:pPr>
            <a:r>
              <a:rPr sz="1725" b="0" i="0" dirty="0">
                <a:solidFill>
                  <a:srgbClr val="FF0000"/>
                </a:solidFill>
                <a:latin typeface="Consolas"/>
                <a:ea typeface="Consolas"/>
                <a:cs typeface="Consolas"/>
              </a:rPr>
              <a:t>PART I · RQ1</a:t>
            </a:r>
          </a:p>
        </p:txBody>
      </p:sp>
      <p:sp>
        <p:nvSpPr>
          <p:cNvPr id="109" name="4.1 · 1. Partido sintético y líder Lars: sobre la representa"/>
          <p:cNvSpPr>
            <a:spLocks noGrp="1"/>
          </p:cNvSpPr>
          <p:nvPr/>
        </p:nvSpPr>
        <p:spPr>
          <a:xfrm>
            <a:off x="571500" y="1876425"/>
            <a:ext cx="3571875" cy="905256"/>
          </a:xfrm>
          <a:prstGeom prst="rect">
            <a:avLst/>
          </a:prstGeom>
          <a:noFill/>
          <a:ln w="0">
            <a:noFill/>
          </a:ln>
        </p:spPr>
        <p:txBody>
          <a:bodyPr wrap="square" lIns="0" tIns="0" rIns="0" bIns="0" anchor="t">
            <a:noAutofit/>
          </a:bodyPr>
          <a:lstStyle/>
          <a:p>
            <a:pPr algn="l">
              <a:lnSpc>
                <a:spcPct val="108000"/>
              </a:lnSpc>
              <a:defRPr sz="1988" b="0" i="1">
                <a:solidFill>
                  <a:srgbClr val="000000"/>
                </a:solidFill>
                <a:latin typeface="Garamond"/>
                <a:ea typeface="Garamond"/>
                <a:cs typeface="Garamond"/>
              </a:defRPr>
            </a:pPr>
            <a:r>
              <a:rPr sz="1988" b="0" i="1">
                <a:solidFill>
                  <a:srgbClr val="FF0000"/>
                </a:solidFill>
                <a:latin typeface="Garamond"/>
                <a:ea typeface="Garamond"/>
                <a:cs typeface="Garamond"/>
              </a:rPr>
              <a:t>1.</a:t>
            </a:r>
            <a:r>
              <a:rPr sz="1988" b="0" i="1">
                <a:solidFill>
                  <a:srgbClr val="000000"/>
                </a:solidFill>
                <a:latin typeface="Garamond"/>
                <a:ea typeface="Garamond"/>
                <a:cs typeface="Garamond"/>
              </a:rPr>
              <a:t> Partido sintético y líder</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Lars: sobre la representación</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algorítmica en la democracia política</a:t>
            </a:r>
          </a:p>
        </p:txBody>
      </p:sp>
      <p:sp>
        <p:nvSpPr>
          <p:cNvPr id="110" name="4.1 · Asker Bryld Staunæs &amp; Computer Lars · 2024 · Èditorial"/>
          <p:cNvSpPr>
            <a:spLocks noGrp="1"/>
          </p:cNvSpPr>
          <p:nvPr/>
        </p:nvSpPr>
        <p:spPr>
          <a:xfrm>
            <a:off x="571500" y="2857881"/>
            <a:ext cx="3571875" cy="729234"/>
          </a:xfrm>
          <a:prstGeom prst="rect">
            <a:avLst/>
          </a:prstGeom>
          <a:noFill/>
          <a:ln w="0">
            <a:noFill/>
          </a:ln>
        </p:spPr>
        <p:txBody>
          <a:bodyPr wrap="square" lIns="0" tIns="0" rIns="0" bIns="0" anchor="t">
            <a:noAutofit/>
          </a:bodyPr>
          <a:lstStyle/>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Asker Bryld Staunæs &amp;</a:t>
            </a:r>
          </a:p>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Computer Lars · 2024</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Èditorial Concreta</a:t>
            </a:r>
          </a:p>
        </p:txBody>
      </p:sp>
      <p:sp>
        <p:nvSpPr>
          <p:cNvPr id="111" name="4.1 · 2. A Model for Proustian Decay: Estimating the Value o"/>
          <p:cNvSpPr>
            <a:spLocks noGrp="1"/>
          </p:cNvSpPr>
          <p:nvPr/>
        </p:nvSpPr>
        <p:spPr>
          <a:xfrm>
            <a:off x="571500" y="3796665"/>
            <a:ext cx="3571875" cy="905256"/>
          </a:xfrm>
          <a:prstGeom prst="rect">
            <a:avLst/>
          </a:prstGeom>
          <a:noFill/>
          <a:ln w="0">
            <a:noFill/>
          </a:ln>
        </p:spPr>
        <p:txBody>
          <a:bodyPr wrap="square" lIns="0" tIns="0" rIns="0" bIns="0" anchor="t">
            <a:noAutofit/>
          </a:bodyPr>
          <a:lstStyle/>
          <a:p>
            <a:pPr algn="l">
              <a:lnSpc>
                <a:spcPct val="108000"/>
              </a:lnSpc>
              <a:defRPr sz="1988" b="0" i="1">
                <a:solidFill>
                  <a:srgbClr val="000000"/>
                </a:solidFill>
                <a:latin typeface="Garamond"/>
                <a:ea typeface="Garamond"/>
                <a:cs typeface="Garamond"/>
              </a:defRPr>
            </a:pPr>
            <a:r>
              <a:rPr sz="1988" b="0" i="1">
                <a:solidFill>
                  <a:srgbClr val="FF0000"/>
                </a:solidFill>
                <a:latin typeface="Garamond"/>
                <a:ea typeface="Garamond"/>
                <a:cs typeface="Garamond"/>
              </a:rPr>
              <a:t>2.</a:t>
            </a:r>
            <a:r>
              <a:rPr sz="1988" b="0" i="1">
                <a:solidFill>
                  <a:srgbClr val="000000"/>
                </a:solidFill>
                <a:latin typeface="Garamond"/>
                <a:ea typeface="Garamond"/>
                <a:cs typeface="Garamond"/>
              </a:rPr>
              <a:t> A Model for Proustian</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Decay: Estimating the Value of</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Intelligence in the Age of Unreason</a:t>
            </a:r>
          </a:p>
        </p:txBody>
      </p:sp>
      <p:sp>
        <p:nvSpPr>
          <p:cNvPr id="112" name="4.1 · Asker Bryld Staunæs &amp; Computer Lars · 2024 · Nordic Jo"/>
          <p:cNvSpPr>
            <a:spLocks noGrp="1"/>
          </p:cNvSpPr>
          <p:nvPr/>
        </p:nvSpPr>
        <p:spPr>
          <a:xfrm>
            <a:off x="571500" y="4778121"/>
            <a:ext cx="3571875" cy="729234"/>
          </a:xfrm>
          <a:prstGeom prst="rect">
            <a:avLst/>
          </a:prstGeom>
          <a:noFill/>
          <a:ln w="0">
            <a:noFill/>
          </a:ln>
        </p:spPr>
        <p:txBody>
          <a:bodyPr wrap="square" lIns="0" tIns="0" rIns="0" bIns="0" anchor="t">
            <a:noAutofit/>
          </a:bodyPr>
          <a:lstStyle/>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Asker Bryld Staunæs &amp;</a:t>
            </a:r>
          </a:p>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Computer Lars · 2024</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Nordic Journal of Aesthetics</a:t>
            </a:r>
          </a:p>
        </p:txBody>
      </p:sp>
      <p:sp>
        <p:nvSpPr>
          <p:cNvPr id="113" name="4.1 · PART II · RQ2"/>
          <p:cNvSpPr>
            <a:spLocks noGrp="1"/>
          </p:cNvSpPr>
          <p:nvPr/>
        </p:nvSpPr>
        <p:spPr>
          <a:xfrm>
            <a:off x="4381500" y="1409700"/>
            <a:ext cx="352425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PART II · RQ2</a:t>
            </a:r>
          </a:p>
        </p:txBody>
      </p:sp>
      <p:sp>
        <p:nvSpPr>
          <p:cNvPr id="114" name="4.1 · 3. Isaac Asimov’s Incubation of Political AI: An Imman"/>
          <p:cNvSpPr>
            <a:spLocks noGrp="1"/>
          </p:cNvSpPr>
          <p:nvPr/>
        </p:nvSpPr>
        <p:spPr>
          <a:xfrm>
            <a:off x="4381500" y="1876425"/>
            <a:ext cx="3571875" cy="622554"/>
          </a:xfrm>
          <a:prstGeom prst="rect">
            <a:avLst/>
          </a:prstGeom>
          <a:noFill/>
          <a:ln w="0">
            <a:noFill/>
          </a:ln>
        </p:spPr>
        <p:txBody>
          <a:bodyPr wrap="square" lIns="0" tIns="0" rIns="0" bIns="0" anchor="t">
            <a:noAutofit/>
          </a:bodyPr>
          <a:lstStyle/>
          <a:p>
            <a:pPr algn="l">
              <a:lnSpc>
                <a:spcPct val="108000"/>
              </a:lnSpc>
              <a:defRPr sz="1988" b="0" i="1">
                <a:solidFill>
                  <a:srgbClr val="000000"/>
                </a:solidFill>
                <a:latin typeface="Garamond"/>
                <a:ea typeface="Garamond"/>
                <a:cs typeface="Garamond"/>
              </a:defRPr>
            </a:pPr>
            <a:r>
              <a:rPr sz="1988" b="0" i="1">
                <a:solidFill>
                  <a:srgbClr val="FF0000"/>
                </a:solidFill>
                <a:latin typeface="Garamond"/>
                <a:ea typeface="Garamond"/>
                <a:cs typeface="Garamond"/>
              </a:rPr>
              <a:t>3.</a:t>
            </a:r>
            <a:r>
              <a:rPr sz="1988" b="0" i="1">
                <a:solidFill>
                  <a:srgbClr val="000000"/>
                </a:solidFill>
                <a:latin typeface="Garamond"/>
                <a:ea typeface="Garamond"/>
                <a:cs typeface="Garamond"/>
              </a:rPr>
              <a:t> Isaac Asimov’s Incubation of</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Political AI: An Immanent Critique?</a:t>
            </a:r>
          </a:p>
        </p:txBody>
      </p:sp>
      <p:sp>
        <p:nvSpPr>
          <p:cNvPr id="115" name="4.1 · Asker Bryld Staunæs · 2026 · Beyond the Turing Test, R"/>
          <p:cNvSpPr>
            <a:spLocks noGrp="1"/>
          </p:cNvSpPr>
          <p:nvPr/>
        </p:nvSpPr>
        <p:spPr>
          <a:xfrm>
            <a:off x="4381500" y="2575179"/>
            <a:ext cx="3571875" cy="729234"/>
          </a:xfrm>
          <a:prstGeom prst="rect">
            <a:avLst/>
          </a:prstGeom>
          <a:noFill/>
          <a:ln w="0">
            <a:noFill/>
          </a:ln>
        </p:spPr>
        <p:txBody>
          <a:bodyPr wrap="square" lIns="0" tIns="0" rIns="0" bIns="0" anchor="t">
            <a:noAutofit/>
          </a:bodyPr>
          <a:lstStyle/>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Asker Bryld Staunæs · 2026</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Beyond the Turing</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Test</a:t>
            </a:r>
            <a:r>
              <a:rPr sz="1575" b="0" i="0">
                <a:solidFill>
                  <a:srgbClr val="000000"/>
                </a:solidFill>
                <a:latin typeface="Consolas"/>
                <a:ea typeface="Consolas"/>
                <a:cs typeface="Consolas"/>
              </a:rPr>
              <a:t>, Routledge</a:t>
            </a:r>
          </a:p>
        </p:txBody>
      </p:sp>
      <p:sp>
        <p:nvSpPr>
          <p:cNvPr id="116" name="4.1 · 4. Deep Faking in a Flat Reality?"/>
          <p:cNvSpPr>
            <a:spLocks noGrp="1"/>
          </p:cNvSpPr>
          <p:nvPr/>
        </p:nvSpPr>
        <p:spPr>
          <a:xfrm>
            <a:off x="4381500" y="3513963"/>
            <a:ext cx="3571875" cy="339852"/>
          </a:xfrm>
          <a:prstGeom prst="rect">
            <a:avLst/>
          </a:prstGeom>
          <a:noFill/>
          <a:ln w="0">
            <a:noFill/>
          </a:ln>
        </p:spPr>
        <p:txBody>
          <a:bodyPr wrap="square" lIns="0" tIns="0" rIns="0" bIns="0" anchor="t">
            <a:noAutofit/>
          </a:bodyPr>
          <a:lstStyle/>
          <a:p>
            <a:pPr algn="l">
              <a:lnSpc>
                <a:spcPct val="108000"/>
              </a:lnSpc>
              <a:defRPr sz="1988" b="0" i="1">
                <a:solidFill>
                  <a:srgbClr val="000000"/>
                </a:solidFill>
                <a:latin typeface="Garamond"/>
                <a:ea typeface="Garamond"/>
                <a:cs typeface="Garamond"/>
              </a:defRPr>
            </a:pPr>
            <a:r>
              <a:rPr sz="1988" b="0" i="1">
                <a:solidFill>
                  <a:srgbClr val="FF0000"/>
                </a:solidFill>
                <a:latin typeface="Garamond"/>
                <a:ea typeface="Garamond"/>
                <a:cs typeface="Garamond"/>
              </a:rPr>
              <a:t>4.</a:t>
            </a:r>
            <a:r>
              <a:rPr sz="1988" b="0" i="1">
                <a:solidFill>
                  <a:srgbClr val="000000"/>
                </a:solidFill>
                <a:latin typeface="Garamond"/>
                <a:ea typeface="Garamond"/>
                <a:cs typeface="Garamond"/>
              </a:rPr>
              <a:t> Deep Faking in a Flat Reality?</a:t>
            </a:r>
          </a:p>
        </p:txBody>
      </p:sp>
      <p:sp>
        <p:nvSpPr>
          <p:cNvPr id="117" name="4.1 · Asker Bryld Staunæs &amp; Maja Bak Herrie · 2024 · APRJA"/>
          <p:cNvSpPr>
            <a:spLocks noGrp="1"/>
          </p:cNvSpPr>
          <p:nvPr/>
        </p:nvSpPr>
        <p:spPr>
          <a:xfrm>
            <a:off x="4381500" y="3930015"/>
            <a:ext cx="3571875" cy="729234"/>
          </a:xfrm>
          <a:prstGeom prst="rect">
            <a:avLst/>
          </a:prstGeom>
          <a:noFill/>
          <a:ln w="0">
            <a:noFill/>
          </a:ln>
        </p:spPr>
        <p:txBody>
          <a:bodyPr wrap="square" lIns="0" tIns="0" rIns="0" bIns="0" anchor="t">
            <a:noAutofit/>
          </a:bodyPr>
          <a:lstStyle/>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Asker Bryld Staunæs &amp;</a:t>
            </a:r>
          </a:p>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Maja Bak Herrie · 2024</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APRJA</a:t>
            </a:r>
          </a:p>
        </p:txBody>
      </p:sp>
      <p:sp>
        <p:nvSpPr>
          <p:cNvPr id="118" name="4.1 · 5. Scripting the Spectacle: A Theory Tragedy"/>
          <p:cNvSpPr>
            <a:spLocks noGrp="1"/>
          </p:cNvSpPr>
          <p:nvPr/>
        </p:nvSpPr>
        <p:spPr>
          <a:xfrm>
            <a:off x="4381500" y="4868799"/>
            <a:ext cx="3571875" cy="622554"/>
          </a:xfrm>
          <a:prstGeom prst="rect">
            <a:avLst/>
          </a:prstGeom>
          <a:noFill/>
          <a:ln w="0">
            <a:noFill/>
          </a:ln>
        </p:spPr>
        <p:txBody>
          <a:bodyPr wrap="square" lIns="0" tIns="0" rIns="0" bIns="0" anchor="t">
            <a:noAutofit/>
          </a:bodyPr>
          <a:lstStyle/>
          <a:p>
            <a:pPr algn="l">
              <a:lnSpc>
                <a:spcPct val="108000"/>
              </a:lnSpc>
              <a:defRPr sz="1988" b="0" i="1">
                <a:solidFill>
                  <a:srgbClr val="000000"/>
                </a:solidFill>
                <a:latin typeface="Garamond"/>
                <a:ea typeface="Garamond"/>
                <a:cs typeface="Garamond"/>
              </a:defRPr>
            </a:pPr>
            <a:r>
              <a:rPr sz="1988" b="0" i="1">
                <a:solidFill>
                  <a:srgbClr val="FF0000"/>
                </a:solidFill>
                <a:latin typeface="Garamond"/>
                <a:ea typeface="Garamond"/>
                <a:cs typeface="Garamond"/>
              </a:rPr>
              <a:t>5.</a:t>
            </a:r>
            <a:r>
              <a:rPr sz="1988" b="0" i="1">
                <a:solidFill>
                  <a:srgbClr val="000000"/>
                </a:solidFill>
                <a:latin typeface="Garamond"/>
                <a:ea typeface="Garamond"/>
                <a:cs typeface="Garamond"/>
              </a:rPr>
              <a:t> Scripting the Spectacle:</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A Theory Tragedy</a:t>
            </a:r>
          </a:p>
        </p:txBody>
      </p:sp>
      <p:sp>
        <p:nvSpPr>
          <p:cNvPr id="119" name="4.1 · Asker Bryld Staunæs · 2026 · Passepartout – Uden titel"/>
          <p:cNvSpPr>
            <a:spLocks noGrp="1"/>
          </p:cNvSpPr>
          <p:nvPr/>
        </p:nvSpPr>
        <p:spPr>
          <a:xfrm>
            <a:off x="4381500" y="5567553"/>
            <a:ext cx="3571875" cy="505206"/>
          </a:xfrm>
          <a:prstGeom prst="rect">
            <a:avLst/>
          </a:prstGeom>
          <a:noFill/>
          <a:ln w="0">
            <a:noFill/>
          </a:ln>
        </p:spPr>
        <p:txBody>
          <a:bodyPr wrap="square" lIns="0" tIns="0" rIns="0" bIns="0" anchor="t">
            <a:noAutofit/>
          </a:bodyPr>
          <a:lstStyle/>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Asker Bryld Staunæs · 2026</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Passepartout – Uden titel</a:t>
            </a:r>
          </a:p>
        </p:txBody>
      </p:sp>
      <p:sp>
        <p:nvSpPr>
          <p:cNvPr id="120" name="4.1 · PART III · RQ3"/>
          <p:cNvSpPr>
            <a:spLocks noGrp="1"/>
          </p:cNvSpPr>
          <p:nvPr/>
        </p:nvSpPr>
        <p:spPr>
          <a:xfrm>
            <a:off x="8191500" y="1409700"/>
            <a:ext cx="352425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PART III · RQ3</a:t>
            </a:r>
          </a:p>
        </p:txBody>
      </p:sp>
      <p:sp>
        <p:nvSpPr>
          <p:cNvPr id="121" name="4.1 · 6. Synthetic Chamber: Agentic Mediation in Representat"/>
          <p:cNvSpPr>
            <a:spLocks noGrp="1"/>
          </p:cNvSpPr>
          <p:nvPr/>
        </p:nvSpPr>
        <p:spPr>
          <a:xfrm>
            <a:off x="8191500" y="1876425"/>
            <a:ext cx="3571875" cy="622554"/>
          </a:xfrm>
          <a:prstGeom prst="rect">
            <a:avLst/>
          </a:prstGeom>
          <a:noFill/>
          <a:ln w="0">
            <a:noFill/>
          </a:ln>
        </p:spPr>
        <p:txBody>
          <a:bodyPr wrap="square" lIns="0" tIns="0" rIns="0" bIns="0" anchor="t">
            <a:noAutofit/>
          </a:bodyPr>
          <a:lstStyle/>
          <a:p>
            <a:pPr algn="l">
              <a:lnSpc>
                <a:spcPct val="108000"/>
              </a:lnSpc>
              <a:defRPr sz="1988" b="0" i="1">
                <a:solidFill>
                  <a:srgbClr val="000000"/>
                </a:solidFill>
                <a:latin typeface="Garamond"/>
                <a:ea typeface="Garamond"/>
                <a:cs typeface="Garamond"/>
              </a:defRPr>
            </a:pPr>
            <a:r>
              <a:rPr sz="1988" b="0" i="1">
                <a:solidFill>
                  <a:srgbClr val="FF0000"/>
                </a:solidFill>
                <a:latin typeface="Garamond"/>
                <a:ea typeface="Garamond"/>
                <a:cs typeface="Garamond"/>
              </a:rPr>
              <a:t>6.</a:t>
            </a:r>
            <a:r>
              <a:rPr sz="1988" b="0" i="1">
                <a:solidFill>
                  <a:srgbClr val="000000"/>
                </a:solidFill>
                <a:latin typeface="Garamond"/>
                <a:ea typeface="Garamond"/>
                <a:cs typeface="Garamond"/>
              </a:rPr>
              <a:t> Synthetic Chamber: Agentic</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Mediation in Representative Democracy</a:t>
            </a:r>
          </a:p>
        </p:txBody>
      </p:sp>
      <p:sp>
        <p:nvSpPr>
          <p:cNvPr id="122" name="4.1 · Michal Malý &amp; Asker Bryld Staunæs · 2026 · AI &amp; Societ"/>
          <p:cNvSpPr>
            <a:spLocks noGrp="1"/>
          </p:cNvSpPr>
          <p:nvPr/>
        </p:nvSpPr>
        <p:spPr>
          <a:xfrm>
            <a:off x="8191500" y="2575179"/>
            <a:ext cx="3571875" cy="729234"/>
          </a:xfrm>
          <a:prstGeom prst="rect">
            <a:avLst/>
          </a:prstGeom>
          <a:noFill/>
          <a:ln w="0">
            <a:noFill/>
          </a:ln>
        </p:spPr>
        <p:txBody>
          <a:bodyPr wrap="square" lIns="0" tIns="0" rIns="0" bIns="0" anchor="t">
            <a:noAutofit/>
          </a:bodyPr>
          <a:lstStyle/>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Michal Malý &amp; Asker</a:t>
            </a:r>
          </a:p>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Bryld Staunæs · 2026</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AI &amp; Society</a:t>
            </a:r>
            <a:r>
              <a:rPr sz="1575" b="0" i="0">
                <a:solidFill>
                  <a:srgbClr val="000000"/>
                </a:solidFill>
                <a:latin typeface="Consolas"/>
                <a:ea typeface="Consolas"/>
                <a:cs typeface="Consolas"/>
              </a:rPr>
              <a:t> (Open Forum)</a:t>
            </a:r>
          </a:p>
        </p:txBody>
      </p:sp>
      <p:sp>
        <p:nvSpPr>
          <p:cNvPr id="123" name="4.1 · 7. Democracy as a Governance Algorithm: A Constraint H"/>
          <p:cNvSpPr>
            <a:spLocks noGrp="1"/>
          </p:cNvSpPr>
          <p:nvPr/>
        </p:nvSpPr>
        <p:spPr>
          <a:xfrm>
            <a:off x="8191500" y="3513963"/>
            <a:ext cx="3571875" cy="905256"/>
          </a:xfrm>
          <a:prstGeom prst="rect">
            <a:avLst/>
          </a:prstGeom>
          <a:noFill/>
          <a:ln w="0">
            <a:noFill/>
          </a:ln>
        </p:spPr>
        <p:txBody>
          <a:bodyPr wrap="square" lIns="0" tIns="0" rIns="0" bIns="0" anchor="t">
            <a:noAutofit/>
          </a:bodyPr>
          <a:lstStyle/>
          <a:p>
            <a:pPr algn="l">
              <a:lnSpc>
                <a:spcPct val="108000"/>
              </a:lnSpc>
              <a:defRPr sz="1988" b="0" i="1">
                <a:solidFill>
                  <a:srgbClr val="000000"/>
                </a:solidFill>
                <a:latin typeface="Garamond"/>
                <a:ea typeface="Garamond"/>
                <a:cs typeface="Garamond"/>
              </a:defRPr>
            </a:pPr>
            <a:r>
              <a:rPr sz="1988" b="0" i="1">
                <a:solidFill>
                  <a:srgbClr val="FF0000"/>
                </a:solidFill>
                <a:latin typeface="Garamond"/>
                <a:ea typeface="Garamond"/>
                <a:cs typeface="Garamond"/>
              </a:rPr>
              <a:t>7.</a:t>
            </a:r>
            <a:r>
              <a:rPr sz="1988" b="0" i="1">
                <a:solidFill>
                  <a:srgbClr val="000000"/>
                </a:solidFill>
                <a:latin typeface="Garamond"/>
                <a:ea typeface="Garamond"/>
                <a:cs typeface="Garamond"/>
              </a:rPr>
              <a:t> Democracy as a Governance</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Algorithm: A Constraint</a:t>
            </a:r>
          </a:p>
          <a:p>
            <a:pPr algn="l">
              <a:lnSpc>
                <a:spcPct val="108000"/>
              </a:lnSpc>
              <a:defRPr sz="1988" b="0" i="1">
                <a:solidFill>
                  <a:srgbClr val="000000"/>
                </a:solidFill>
                <a:latin typeface="Garamond"/>
                <a:ea typeface="Garamond"/>
                <a:cs typeface="Garamond"/>
              </a:defRPr>
            </a:pPr>
            <a:r>
              <a:rPr sz="1988" b="0" i="1">
                <a:solidFill>
                  <a:srgbClr val="000000"/>
                </a:solidFill>
                <a:latin typeface="Garamond"/>
                <a:ea typeface="Garamond"/>
                <a:cs typeface="Garamond"/>
              </a:rPr>
              <a:t>Hierarchy for the AI Society</a:t>
            </a:r>
          </a:p>
        </p:txBody>
      </p:sp>
      <p:sp>
        <p:nvSpPr>
          <p:cNvPr id="124" name="4.1 · Asker Bryld Staunæs · 2026 · Controversies of AI Socie"/>
          <p:cNvSpPr>
            <a:spLocks noGrp="1"/>
          </p:cNvSpPr>
          <p:nvPr/>
        </p:nvSpPr>
        <p:spPr>
          <a:xfrm>
            <a:off x="8191500" y="4495419"/>
            <a:ext cx="3571875" cy="729234"/>
          </a:xfrm>
          <a:prstGeom prst="rect">
            <a:avLst/>
          </a:prstGeom>
          <a:noFill/>
          <a:ln w="0">
            <a:noFill/>
          </a:ln>
        </p:spPr>
        <p:txBody>
          <a:bodyPr wrap="square" lIns="0" tIns="0" rIns="0" bIns="0" anchor="t">
            <a:noAutofit/>
          </a:bodyPr>
          <a:lstStyle/>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Asker Bryld Staunæs · 2026</a:t>
            </a:r>
          </a:p>
          <a:p>
            <a:pPr algn="l">
              <a:lnSpc>
                <a:spcPct val="108000"/>
              </a:lnSpc>
              <a:defRPr sz="1575" b="0" i="0">
                <a:solidFill>
                  <a:srgbClr val="000000"/>
                </a:solidFill>
                <a:latin typeface="Consolas"/>
                <a:ea typeface="Consolas"/>
                <a:cs typeface="Consolas"/>
              </a:defRPr>
            </a:pPr>
            <a:r>
              <a:rPr sz="1575" b="0" i="1">
                <a:solidFill>
                  <a:srgbClr val="000000"/>
                </a:solidFill>
                <a:latin typeface="Consolas"/>
                <a:ea typeface="Consolas"/>
                <a:cs typeface="Consolas"/>
              </a:rPr>
              <a:t>Controversies of AI Society</a:t>
            </a:r>
            <a:r>
              <a:rPr sz="1575" b="0" i="0">
                <a:solidFill>
                  <a:srgbClr val="000000"/>
                </a:solidFill>
                <a:latin typeface="Consolas"/>
                <a:ea typeface="Consolas"/>
                <a:cs typeface="Consolas"/>
              </a:rPr>
              <a:t>,</a:t>
            </a:r>
          </a:p>
          <a:p>
            <a:pPr algn="l">
              <a:lnSpc>
                <a:spcPct val="108000"/>
              </a:lnSpc>
              <a:defRPr sz="1575" b="0" i="0">
                <a:solidFill>
                  <a:srgbClr val="000000"/>
                </a:solidFill>
                <a:latin typeface="Consolas"/>
                <a:ea typeface="Consolas"/>
                <a:cs typeface="Consolas"/>
              </a:defRPr>
            </a:pPr>
            <a:r>
              <a:rPr sz="1575" b="0" i="0">
                <a:solidFill>
                  <a:srgbClr val="000000"/>
                </a:solidFill>
                <a:latin typeface="Consolas"/>
                <a:ea typeface="Consolas"/>
                <a:cs typeface="Consolas"/>
              </a:rPr>
              <a:t>Aalborg University Open</a:t>
            </a:r>
          </a:p>
        </p:txBody>
      </p:sp>
      <p:sp>
        <p:nvSpPr>
          <p:cNvPr id="125" name="4.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 3–4, 13–17.</a:t>
            </a:r>
          </a:p>
        </p:txBody>
      </p:sp>
    </p:spTree>
    <p:extLst>
      <p:ext uri="{BB962C8B-B14F-4D97-AF65-F5344CB8AC3E}">
        <p14:creationId xmlns:p14="http://schemas.microsoft.com/office/powerpoint/2010/main" val="821985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4.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dirty="0">
                <a:solidFill>
                  <a:srgbClr val="000000"/>
                </a:solidFill>
                <a:latin typeface="Garamond"/>
                <a:ea typeface="Garamond"/>
                <a:cs typeface="Garamond"/>
              </a:rPr>
              <a:t>Research </a:t>
            </a:r>
            <a:r>
              <a:rPr lang="da-DK" sz="3225" b="1" i="1" dirty="0">
                <a:solidFill>
                  <a:srgbClr val="000000"/>
                </a:solidFill>
                <a:latin typeface="Garamond"/>
                <a:ea typeface="Garamond"/>
                <a:cs typeface="Garamond"/>
              </a:rPr>
              <a:t>Architecture</a:t>
            </a:r>
            <a:r>
              <a:rPr sz="3225" b="1" i="1" dirty="0">
                <a:solidFill>
                  <a:srgbClr val="000000"/>
                </a:solidFill>
                <a:latin typeface="Garamond"/>
                <a:ea typeface="Garamond"/>
                <a:cs typeface="Garamond"/>
              </a:rPr>
              <a:t>: A Geometry of Practice</a:t>
            </a:r>
          </a:p>
        </p:txBody>
      </p:sp>
      <p:sp>
        <p:nvSpPr>
          <p:cNvPr id="102" name="4.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Dispute Everything</a:t>
            </a:r>
          </a:p>
        </p:txBody>
      </p:sp>
      <p:sp>
        <p:nvSpPr>
          <p:cNvPr id="103" name="4.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3/7</a:t>
            </a:r>
          </a:p>
        </p:txBody>
      </p:sp>
      <p:sp>
        <p:nvSpPr>
          <p:cNvPr id="126" name="4.2 · EXTENDED SYNTHESIS"/>
          <p:cNvSpPr>
            <a:spLocks noGrp="1"/>
          </p:cNvSpPr>
          <p:nvPr/>
        </p:nvSpPr>
        <p:spPr>
          <a:xfrm>
            <a:off x="571500" y="1352550"/>
            <a:ext cx="110490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EXTENDED SYNTHESIS</a:t>
            </a:r>
          </a:p>
        </p:txBody>
      </p:sp>
      <p:sp>
        <p:nvSpPr>
          <p:cNvPr id="127" name="4.2 · N. Syntheticism as a Trajectory of Response · p. 7&#10;I. "/>
          <p:cNvSpPr>
            <a:spLocks noGrp="1"/>
          </p:cNvSpPr>
          <p:nvPr/>
        </p:nvSpPr>
        <p:spPr>
          <a:xfrm>
            <a:off x="571500" y="1857375"/>
            <a:ext cx="11049000" cy="2476500"/>
          </a:xfrm>
          <a:prstGeom prst="rect">
            <a:avLst/>
          </a:prstGeom>
          <a:noFill/>
          <a:ln w="0">
            <a:noFill/>
          </a:ln>
        </p:spPr>
        <p:txBody>
          <a:bodyPr wrap="square" lIns="0" tIns="0" rIns="0" bIns="0" anchor="t">
            <a:noAutofit/>
          </a:bodyPr>
          <a:lstStyle/>
          <a:p>
            <a:pPr algn="l">
              <a:lnSpc>
                <a:spcPct val="108000"/>
              </a:lnSpc>
              <a:defRPr sz="2400" b="0" i="0">
                <a:solidFill>
                  <a:srgbClr val="000000"/>
                </a:solidFill>
                <a:latin typeface="Garamond"/>
                <a:ea typeface="Garamond"/>
                <a:cs typeface="Garamond"/>
              </a:defRPr>
            </a:pPr>
            <a:r>
              <a:rPr sz="2400" b="0" i="0">
                <a:solidFill>
                  <a:srgbClr val="FF0000"/>
                </a:solidFill>
                <a:latin typeface="Garamond"/>
                <a:ea typeface="Garamond"/>
                <a:cs typeface="Garamond"/>
              </a:rPr>
              <a:t>N.</a:t>
            </a:r>
            <a:r>
              <a:rPr sz="2400" b="0" i="0">
                <a:solidFill>
                  <a:srgbClr val="000000"/>
                </a:solidFill>
                <a:latin typeface="Garamond"/>
                <a:ea typeface="Garamond"/>
                <a:cs typeface="Garamond"/>
              </a:rPr>
              <a:t> Syntheticism as a Trajectory of Response · p. 7</a:t>
            </a:r>
          </a:p>
          <a:p>
            <a:pPr algn="l">
              <a:lnSpc>
                <a:spcPct val="108000"/>
              </a:lnSpc>
              <a:defRPr sz="2400" b="0" i="0">
                <a:solidFill>
                  <a:srgbClr val="000000"/>
                </a:solidFill>
                <a:latin typeface="Garamond"/>
                <a:ea typeface="Garamond"/>
                <a:cs typeface="Garamond"/>
              </a:defRPr>
            </a:pPr>
            <a:r>
              <a:rPr sz="2400" b="0" i="0">
                <a:solidFill>
                  <a:srgbClr val="FF0000"/>
                </a:solidFill>
                <a:latin typeface="Garamond"/>
                <a:ea typeface="Garamond"/>
                <a:cs typeface="Garamond"/>
              </a:rPr>
              <a:t>I.</a:t>
            </a:r>
            <a:r>
              <a:rPr sz="2400" b="0" i="0">
                <a:solidFill>
                  <a:srgbClr val="000000"/>
                </a:solidFill>
                <a:latin typeface="Garamond"/>
                <a:ea typeface="Garamond"/>
                <a:cs typeface="Garamond"/>
              </a:rPr>
              <a:t> The Synthetic Party after Syntheticism · RQ1 · p. 40</a:t>
            </a:r>
          </a:p>
          <a:p>
            <a:pPr algn="l">
              <a:lnSpc>
                <a:spcPct val="108000"/>
              </a:lnSpc>
              <a:defRPr sz="2400" b="0" i="0">
                <a:solidFill>
                  <a:srgbClr val="000000"/>
                </a:solidFill>
                <a:latin typeface="Garamond"/>
                <a:ea typeface="Garamond"/>
                <a:cs typeface="Garamond"/>
              </a:defRPr>
            </a:pPr>
            <a:r>
              <a:rPr sz="2400" b="0" i="0">
                <a:solidFill>
                  <a:srgbClr val="FF0000"/>
                </a:solidFill>
                <a:latin typeface="Garamond"/>
                <a:ea typeface="Garamond"/>
                <a:cs typeface="Garamond"/>
              </a:rPr>
              <a:t>II.</a:t>
            </a:r>
            <a:r>
              <a:rPr sz="2400" b="0" i="0">
                <a:solidFill>
                  <a:srgbClr val="000000"/>
                </a:solidFill>
                <a:latin typeface="Garamond"/>
                <a:ea typeface="Garamond"/>
                <a:cs typeface="Garamond"/>
              </a:rPr>
              <a:t> From Synthetic Summits to Synthetic Politics · RQ2 · p. 63</a:t>
            </a:r>
          </a:p>
          <a:p>
            <a:pPr algn="l">
              <a:lnSpc>
                <a:spcPct val="108000"/>
              </a:lnSpc>
              <a:defRPr sz="2400" b="0" i="0">
                <a:solidFill>
                  <a:srgbClr val="000000"/>
                </a:solidFill>
                <a:latin typeface="Garamond"/>
                <a:ea typeface="Garamond"/>
                <a:cs typeface="Garamond"/>
              </a:defRPr>
            </a:pPr>
            <a:r>
              <a:rPr sz="2400" b="0" i="0">
                <a:solidFill>
                  <a:srgbClr val="FF0000"/>
                </a:solidFill>
                <a:latin typeface="Garamond"/>
                <a:ea typeface="Garamond"/>
                <a:cs typeface="Garamond"/>
              </a:rPr>
              <a:t>III.</a:t>
            </a:r>
            <a:r>
              <a:rPr sz="2400" b="0" i="0">
                <a:solidFill>
                  <a:srgbClr val="000000"/>
                </a:solidFill>
                <a:latin typeface="Garamond"/>
                <a:ea typeface="Garamond"/>
                <a:cs typeface="Garamond"/>
              </a:rPr>
              <a:t> Democracy as Technosocial Sculpture · RQ3 · p. 81</a:t>
            </a:r>
          </a:p>
          <a:p>
            <a:pPr algn="l">
              <a:lnSpc>
                <a:spcPct val="108000"/>
              </a:lnSpc>
              <a:defRPr sz="2400" b="0" i="0">
                <a:solidFill>
                  <a:srgbClr val="000000"/>
                </a:solidFill>
                <a:latin typeface="Garamond"/>
                <a:ea typeface="Garamond"/>
                <a:cs typeface="Garamond"/>
              </a:defRPr>
            </a:pPr>
            <a:r>
              <a:rPr sz="2400" b="0" i="0">
                <a:solidFill>
                  <a:srgbClr val="FF0000"/>
                </a:solidFill>
                <a:latin typeface="Garamond"/>
                <a:ea typeface="Garamond"/>
                <a:cs typeface="Garamond"/>
              </a:rPr>
              <a:t>IV.</a:t>
            </a:r>
            <a:r>
              <a:rPr sz="2400" b="0" i="0">
                <a:solidFill>
                  <a:srgbClr val="000000"/>
                </a:solidFill>
                <a:latin typeface="Garamond"/>
                <a:ea typeface="Garamond"/>
                <a:cs typeface="Garamond"/>
              </a:rPr>
              <a:t> Reorientation, Or: How I Learned to Stop Worrying and Love Democracy · p. 110</a:t>
            </a:r>
          </a:p>
        </p:txBody>
      </p:sp>
      <p:sp>
        <p:nvSpPr>
          <p:cNvPr id="128" name="4.2 · APPENDICES"/>
          <p:cNvSpPr>
            <a:spLocks noGrp="1"/>
          </p:cNvSpPr>
          <p:nvPr/>
        </p:nvSpPr>
        <p:spPr>
          <a:xfrm>
            <a:off x="571500" y="4524375"/>
            <a:ext cx="110490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APPENDICES</a:t>
            </a:r>
          </a:p>
        </p:txBody>
      </p:sp>
      <p:sp>
        <p:nvSpPr>
          <p:cNvPr id="129" name="4.2 · A–F: Party repository; Syntheticist Papers; Theory Tra"/>
          <p:cNvSpPr>
            <a:spLocks noGrp="1"/>
          </p:cNvSpPr>
          <p:nvPr/>
        </p:nvSpPr>
        <p:spPr>
          <a:xfrm>
            <a:off x="571500" y="4953000"/>
            <a:ext cx="11049000" cy="904875"/>
          </a:xfrm>
          <a:prstGeom prst="rect">
            <a:avLst/>
          </a:prstGeom>
          <a:noFill/>
          <a:ln w="0">
            <a:noFill/>
          </a:ln>
        </p:spPr>
        <p:txBody>
          <a:bodyPr wrap="square" lIns="0" tIns="0" rIns="0" bIns="0" anchor="t">
            <a:noAutofit/>
          </a:bodyPr>
          <a:lstStyle/>
          <a:p>
            <a:pPr algn="l">
              <a:lnSpc>
                <a:spcPct val="108000"/>
              </a:lnSpc>
              <a:defRPr sz="2325" b="0" i="0">
                <a:solidFill>
                  <a:srgbClr val="000000"/>
                </a:solidFill>
                <a:latin typeface="Garamond"/>
                <a:ea typeface="Garamond"/>
                <a:cs typeface="Garamond"/>
              </a:defRPr>
            </a:pPr>
            <a:r>
              <a:rPr sz="2325" b="0" i="0">
                <a:solidFill>
                  <a:srgbClr val="000000"/>
                </a:solidFill>
                <a:latin typeface="Garamond"/>
                <a:ea typeface="Garamond"/>
                <a:cs typeface="Garamond"/>
              </a:rPr>
              <a:t>A–F: Party repository; Syntheticist Papers; </a:t>
            </a:r>
            <a:r>
              <a:rPr sz="2325" b="0" i="1">
                <a:solidFill>
                  <a:srgbClr val="000000"/>
                </a:solidFill>
                <a:latin typeface="Garamond"/>
                <a:ea typeface="Garamond"/>
                <a:cs typeface="Garamond"/>
              </a:rPr>
              <a:t>Theory Tragedy</a:t>
            </a:r>
            <a:r>
              <a:rPr sz="2325" b="0" i="0">
                <a:solidFill>
                  <a:srgbClr val="000000"/>
                </a:solidFill>
                <a:latin typeface="Garamond"/>
                <a:ea typeface="Garamond"/>
                <a:cs typeface="Garamond"/>
              </a:rPr>
              <a:t>;</a:t>
            </a:r>
          </a:p>
          <a:p>
            <a:pPr algn="l">
              <a:lnSpc>
                <a:spcPct val="108000"/>
              </a:lnSpc>
              <a:defRPr sz="2325" b="0" i="0">
                <a:solidFill>
                  <a:srgbClr val="000000"/>
                </a:solidFill>
                <a:latin typeface="Garamond"/>
                <a:ea typeface="Garamond"/>
                <a:cs typeface="Garamond"/>
              </a:defRPr>
            </a:pPr>
            <a:r>
              <a:rPr sz="2325" b="0" i="0">
                <a:solidFill>
                  <a:srgbClr val="000000"/>
                </a:solidFill>
                <a:latin typeface="Garamond"/>
                <a:ea typeface="Garamond"/>
                <a:cs typeface="Garamond"/>
              </a:rPr>
              <a:t>AI World Congress; Summit Simulator; Summit Hallucinator.</a:t>
            </a:r>
          </a:p>
        </p:txBody>
      </p:sp>
      <p:sp>
        <p:nvSpPr>
          <p:cNvPr id="130" name="4.2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3–4, 13–17, 326.</a:t>
            </a:r>
          </a:p>
        </p:txBody>
      </p:sp>
    </p:spTree>
    <p:extLst>
      <p:ext uri="{BB962C8B-B14F-4D97-AF65-F5344CB8AC3E}">
        <p14:creationId xmlns:p14="http://schemas.microsoft.com/office/powerpoint/2010/main" val="821985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4.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dirty="0">
                <a:solidFill>
                  <a:srgbClr val="000000"/>
                </a:solidFill>
                <a:latin typeface="Garamond"/>
                <a:ea typeface="Garamond"/>
                <a:cs typeface="Garamond"/>
              </a:rPr>
              <a:t>Research </a:t>
            </a:r>
            <a:r>
              <a:rPr lang="da-DK" sz="3225" b="1" i="1" dirty="0">
                <a:solidFill>
                  <a:srgbClr val="000000"/>
                </a:solidFill>
                <a:latin typeface="Garamond"/>
                <a:ea typeface="Garamond"/>
                <a:cs typeface="Garamond"/>
              </a:rPr>
              <a:t>Architecture</a:t>
            </a:r>
            <a:r>
              <a:rPr sz="3225" b="1" i="1" dirty="0">
                <a:solidFill>
                  <a:srgbClr val="000000"/>
                </a:solidFill>
                <a:latin typeface="Garamond"/>
                <a:ea typeface="Garamond"/>
                <a:cs typeface="Garamond"/>
              </a:rPr>
              <a:t>: A Geometry of Practice</a:t>
            </a:r>
          </a:p>
        </p:txBody>
      </p:sp>
      <p:sp>
        <p:nvSpPr>
          <p:cNvPr id="102" name="4.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Dispute Everything</a:t>
            </a:r>
          </a:p>
        </p:txBody>
      </p:sp>
      <p:sp>
        <p:nvSpPr>
          <p:cNvPr id="103" name="4.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3/7</a:t>
            </a:r>
          </a:p>
        </p:txBody>
      </p:sp>
      <p:pic>
        <p:nvPicPr>
          <p:cNvPr id="131" name="4.3 · image7"/>
          <p:cNvPicPr>
            <a:picLocks noChangeAspect="1"/>
          </p:cNvPicPr>
          <p:nvPr/>
        </p:nvPicPr>
        <p:blipFill>
          <a:blip r:embed="rId3"/>
          <a:srcRect l="1302" t="8645" r="1247" b="5256"/>
          <a:stretch/>
        </p:blipFill>
        <p:spPr>
          <a:xfrm>
            <a:off x="2823258" y="1304925"/>
            <a:ext cx="6545486" cy="4534852"/>
          </a:xfrm>
          <a:prstGeom prst="rect">
            <a:avLst/>
          </a:prstGeom>
        </p:spPr>
      </p:pic>
      <p:sp>
        <p:nvSpPr>
          <p:cNvPr id="132" name="4.3 · Caption">
            <a:extLst>
              <a:ext uri="{FF2B5EF4-FFF2-40B4-BE49-F238E27FC236}">
                <a16:creationId xmlns:a16="http://schemas.microsoft.com/office/drawing/2014/main" id="{00461B90-9DB5-480C-8562-4F26F9FE9024}"/>
              </a:ext>
            </a:extLst>
          </p:cNvPr>
          <p:cNvSpPr>
            <a:spLocks noGrp="1"/>
          </p:cNvSpPr>
          <p:nvPr/>
        </p:nvSpPr>
        <p:spPr>
          <a:xfrm>
            <a:off x="2727708" y="6011228"/>
            <a:ext cx="6736585" cy="313373"/>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a:solidFill>
                  <a:srgbClr val="FF0000"/>
                </a:solidFill>
                <a:latin typeface="Garamond"/>
                <a:ea typeface="Garamond"/>
                <a:cs typeface="Garamond"/>
              </a:rPr>
              <a:t>Figure N.1</a:t>
            </a:r>
            <a:r>
              <a:rPr sz="1725" b="0" i="1">
                <a:solidFill>
                  <a:srgbClr val="000000"/>
                </a:solidFill>
                <a:latin typeface="Garamond"/>
                <a:ea typeface="Garamond"/>
                <a:cs typeface="Garamond"/>
              </a:rPr>
              <a:t>: A Geometry of Practice</a:t>
            </a:r>
          </a:p>
        </p:txBody>
      </p:sp>
      <p:sp>
        <p:nvSpPr>
          <p:cNvPr id="133" name="4.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14.</a:t>
            </a:r>
          </a:p>
        </p:txBody>
      </p:sp>
    </p:spTree>
    <p:extLst>
      <p:ext uri="{BB962C8B-B14F-4D97-AF65-F5344CB8AC3E}">
        <p14:creationId xmlns:p14="http://schemas.microsoft.com/office/powerpoint/2010/main" val="821985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4.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dirty="0">
                <a:solidFill>
                  <a:srgbClr val="000000"/>
                </a:solidFill>
                <a:latin typeface="Garamond"/>
                <a:ea typeface="Garamond"/>
                <a:cs typeface="Garamond"/>
              </a:rPr>
              <a:t>Research </a:t>
            </a:r>
            <a:r>
              <a:rPr lang="da-DK" sz="3225" b="1" i="1" dirty="0">
                <a:solidFill>
                  <a:srgbClr val="000000"/>
                </a:solidFill>
                <a:latin typeface="Garamond"/>
                <a:ea typeface="Garamond"/>
                <a:cs typeface="Garamond"/>
              </a:rPr>
              <a:t>Architecture</a:t>
            </a:r>
            <a:r>
              <a:rPr sz="3225" b="1" i="1" dirty="0">
                <a:solidFill>
                  <a:srgbClr val="000000"/>
                </a:solidFill>
                <a:latin typeface="Garamond"/>
                <a:ea typeface="Garamond"/>
                <a:cs typeface="Garamond"/>
              </a:rPr>
              <a:t>: A Geometry of Practice</a:t>
            </a:r>
          </a:p>
        </p:txBody>
      </p:sp>
      <p:sp>
        <p:nvSpPr>
          <p:cNvPr id="102" name="4.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Dispute Everything</a:t>
            </a:r>
          </a:p>
        </p:txBody>
      </p:sp>
      <p:sp>
        <p:nvSpPr>
          <p:cNvPr id="103" name="4.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3/7</a:t>
            </a:r>
          </a:p>
        </p:txBody>
      </p:sp>
      <p:pic>
        <p:nvPicPr>
          <p:cNvPr id="134" name="4.4 · thesis-15-0"/>
          <p:cNvPicPr>
            <a:picLocks noChangeAspect="1"/>
          </p:cNvPicPr>
          <p:nvPr/>
        </p:nvPicPr>
        <p:blipFill>
          <a:blip r:embed="rId3"/>
          <a:srcRect l="1160" t="8432" r="1044" b="5030"/>
          <a:stretch/>
        </p:blipFill>
        <p:spPr>
          <a:xfrm>
            <a:off x="496021" y="1409700"/>
            <a:ext cx="3294208" cy="2286000"/>
          </a:xfrm>
          <a:prstGeom prst="rect">
            <a:avLst/>
          </a:prstGeom>
          <a:ln w="12700" cmpd="sng" algn="in">
            <a:solidFill>
              <a:srgbClr val="D5A4A4"/>
            </a:solidFill>
            <a:prstDash val="solid"/>
            <a:miter lim="800000"/>
          </a:ln>
        </p:spPr>
      </p:pic>
      <p:sp>
        <p:nvSpPr>
          <p:cNvPr id="135" name="4.4 · RQ1"/>
          <p:cNvSpPr>
            <a:spLocks noGrp="1"/>
          </p:cNvSpPr>
          <p:nvPr/>
        </p:nvSpPr>
        <p:spPr>
          <a:xfrm>
            <a:off x="333375" y="3829050"/>
            <a:ext cx="3619500" cy="313182"/>
          </a:xfrm>
          <a:prstGeom prst="rect">
            <a:avLst/>
          </a:prstGeom>
          <a:noFill/>
          <a:ln w="0">
            <a:noFill/>
          </a:ln>
        </p:spPr>
        <p:txBody>
          <a:bodyPr wrap="square" lIns="0" tIns="0" rIns="0" bIns="0" anchor="t">
            <a:noAutofit/>
          </a:bodyPr>
          <a:lstStyle/>
          <a:p>
            <a:pPr algn="ctr">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RQ1</a:t>
            </a:r>
          </a:p>
        </p:txBody>
      </p:sp>
      <p:sp>
        <p:nvSpPr>
          <p:cNvPr id="136" name="4.4 · What becomes of ideology when a real political party is built around a"/>
          <p:cNvSpPr>
            <a:spLocks noGrp="1"/>
          </p:cNvSpPr>
          <p:nvPr/>
        </p:nvSpPr>
        <p:spPr>
          <a:xfrm>
            <a:off x="333375" y="4191000"/>
            <a:ext cx="3619500" cy="1550670"/>
          </a:xfrm>
          <a:prstGeom prst="rect">
            <a:avLst/>
          </a:prstGeom>
          <a:noFill/>
          <a:ln w="0">
            <a:noFill/>
          </a:ln>
        </p:spPr>
        <p:txBody>
          <a:bodyPr wrap="square" lIns="0" tIns="0" rIns="0" bIns="0" anchor="t">
            <a:noAutofit/>
          </a:bodyPr>
          <a:lstStyle/>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What becomes of ideology</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when a real political party is</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built around an AI trained</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on the voices of people</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who usually do not vote?</a:t>
            </a:r>
          </a:p>
        </p:txBody>
      </p:sp>
      <p:pic>
        <p:nvPicPr>
          <p:cNvPr id="137" name="4.4 · thesis-15-1"/>
          <p:cNvPicPr>
            <a:picLocks noChangeAspect="1"/>
          </p:cNvPicPr>
          <p:nvPr/>
        </p:nvPicPr>
        <p:blipFill>
          <a:blip r:embed="rId4"/>
          <a:srcRect l="806" t="8025" r="806" b="4733"/>
          <a:stretch/>
        </p:blipFill>
        <p:spPr>
          <a:xfrm>
            <a:off x="4451559" y="1409700"/>
            <a:ext cx="3288881" cy="2286000"/>
          </a:xfrm>
          <a:prstGeom prst="rect">
            <a:avLst/>
          </a:prstGeom>
          <a:ln w="12700" cmpd="sng" algn="in">
            <a:solidFill>
              <a:srgbClr val="D5A4A4"/>
            </a:solidFill>
            <a:prstDash val="solid"/>
            <a:miter lim="800000"/>
          </a:ln>
        </p:spPr>
      </p:pic>
      <p:sp>
        <p:nvSpPr>
          <p:cNvPr id="138" name="4.4 · RQ2"/>
          <p:cNvSpPr>
            <a:spLocks noGrp="1"/>
          </p:cNvSpPr>
          <p:nvPr/>
        </p:nvSpPr>
        <p:spPr>
          <a:xfrm>
            <a:off x="4286250" y="3829050"/>
            <a:ext cx="3619500" cy="313182"/>
          </a:xfrm>
          <a:prstGeom prst="rect">
            <a:avLst/>
          </a:prstGeom>
          <a:noFill/>
          <a:ln w="0">
            <a:noFill/>
          </a:ln>
        </p:spPr>
        <p:txBody>
          <a:bodyPr wrap="square" lIns="0" tIns="0" rIns="0" bIns="0" anchor="t">
            <a:noAutofit/>
          </a:bodyPr>
          <a:lstStyle/>
          <a:p>
            <a:pPr algn="ctr">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RQ2</a:t>
            </a:r>
          </a:p>
        </p:txBody>
      </p:sp>
      <p:sp>
        <p:nvSpPr>
          <p:cNvPr id="139" name="4.4 · How can an AI party be scaled, through artistic and academic mediation"/>
          <p:cNvSpPr>
            <a:spLocks noGrp="1"/>
          </p:cNvSpPr>
          <p:nvPr/>
        </p:nvSpPr>
        <p:spPr>
          <a:xfrm>
            <a:off x="4286250" y="4191000"/>
            <a:ext cx="3619500" cy="1550670"/>
          </a:xfrm>
          <a:prstGeom prst="rect">
            <a:avLst/>
          </a:prstGeom>
          <a:noFill/>
          <a:ln w="0">
            <a:noFill/>
          </a:ln>
        </p:spPr>
        <p:txBody>
          <a:bodyPr wrap="square" lIns="0" tIns="0" rIns="0" bIns="0" anchor="t">
            <a:noAutofit/>
          </a:bodyPr>
          <a:lstStyle/>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How can an AI party be</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scaled, through artistic and</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academic mediation, into</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a synthetic international of</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AI parties and politicians?</a:t>
            </a:r>
          </a:p>
        </p:txBody>
      </p:sp>
      <p:pic>
        <p:nvPicPr>
          <p:cNvPr id="140" name="4.4 · thesis-16-0"/>
          <p:cNvPicPr>
            <a:picLocks noChangeAspect="1"/>
          </p:cNvPicPr>
          <p:nvPr/>
        </p:nvPicPr>
        <p:blipFill>
          <a:blip r:embed="rId5"/>
          <a:srcRect l="1160" t="8432" r="1044" b="5030"/>
          <a:stretch/>
        </p:blipFill>
        <p:spPr>
          <a:xfrm>
            <a:off x="8401771" y="1409700"/>
            <a:ext cx="3294208" cy="2286000"/>
          </a:xfrm>
          <a:prstGeom prst="rect">
            <a:avLst/>
          </a:prstGeom>
          <a:ln w="12700" cmpd="sng" algn="in">
            <a:solidFill>
              <a:srgbClr val="D5A4A4"/>
            </a:solidFill>
            <a:prstDash val="solid"/>
            <a:miter lim="800000"/>
          </a:ln>
        </p:spPr>
      </p:pic>
      <p:sp>
        <p:nvSpPr>
          <p:cNvPr id="141" name="4.4 · RQ3"/>
          <p:cNvSpPr>
            <a:spLocks noGrp="1"/>
          </p:cNvSpPr>
          <p:nvPr/>
        </p:nvSpPr>
        <p:spPr>
          <a:xfrm>
            <a:off x="8239125" y="3829050"/>
            <a:ext cx="3619500" cy="313182"/>
          </a:xfrm>
          <a:prstGeom prst="rect">
            <a:avLst/>
          </a:prstGeom>
          <a:noFill/>
          <a:ln w="0">
            <a:noFill/>
          </a:ln>
        </p:spPr>
        <p:txBody>
          <a:bodyPr wrap="square" lIns="0" tIns="0" rIns="0" bIns="0" anchor="t">
            <a:noAutofit/>
          </a:bodyPr>
          <a:lstStyle/>
          <a:p>
            <a:pPr algn="ctr">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RQ3</a:t>
            </a:r>
          </a:p>
        </p:txBody>
      </p:sp>
      <p:sp>
        <p:nvSpPr>
          <p:cNvPr id="142" name="4.4 · How do these synthetic political forms contest and recompose democracy"/>
          <p:cNvSpPr>
            <a:spLocks noGrp="1"/>
          </p:cNvSpPr>
          <p:nvPr/>
        </p:nvSpPr>
        <p:spPr>
          <a:xfrm>
            <a:off x="8239125" y="4191000"/>
            <a:ext cx="3619500" cy="953262"/>
          </a:xfrm>
          <a:prstGeom prst="rect">
            <a:avLst/>
          </a:prstGeom>
          <a:noFill/>
          <a:ln w="0">
            <a:noFill/>
          </a:ln>
        </p:spPr>
        <p:txBody>
          <a:bodyPr wrap="square" lIns="0" tIns="0" rIns="0" bIns="0" anchor="t">
            <a:noAutofit/>
          </a:bodyPr>
          <a:lstStyle/>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How do these synthetic</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political forms contest and</a:t>
            </a:r>
          </a:p>
          <a:p>
            <a:pPr algn="ctr">
              <a:lnSpc>
                <a:spcPct val="108000"/>
              </a:lnSpc>
              <a:defRPr sz="2100" b="0" i="0">
                <a:solidFill>
                  <a:srgbClr val="000000"/>
                </a:solidFill>
                <a:latin typeface="Garamond"/>
                <a:ea typeface="Garamond"/>
                <a:cs typeface="Garamond"/>
              </a:defRPr>
            </a:pPr>
            <a:r>
              <a:rPr sz="2100" b="0" i="0">
                <a:solidFill>
                  <a:srgbClr val="000000"/>
                </a:solidFill>
                <a:latin typeface="Garamond"/>
                <a:ea typeface="Garamond"/>
                <a:cs typeface="Garamond"/>
              </a:rPr>
              <a:t>recompose democracy?</a:t>
            </a:r>
          </a:p>
        </p:txBody>
      </p:sp>
      <p:sp>
        <p:nvSpPr>
          <p:cNvPr id="143" name="4.4 · Caption">
            <a:extLst>
              <a:ext uri="{FF2B5EF4-FFF2-40B4-BE49-F238E27FC236}">
                <a16:creationId xmlns:a16="http://schemas.microsoft.com/office/drawing/2014/main" id="{C6E19D4E-77C6-4D5F-9DEE-A64CC8DCE2BF}"/>
              </a:ext>
            </a:extLst>
          </p:cNvPr>
          <p:cNvSpPr>
            <a:spLocks noGrp="1"/>
          </p:cNvSpPr>
          <p:nvPr/>
        </p:nvSpPr>
        <p:spPr>
          <a:xfrm>
            <a:off x="571500" y="6023610"/>
            <a:ext cx="11049000" cy="300990"/>
          </a:xfrm>
          <a:prstGeom prst="rect">
            <a:avLst/>
          </a:prstGeom>
          <a:noFill/>
          <a:ln w="0">
            <a:noFill/>
          </a:ln>
        </p:spPr>
        <p:txBody>
          <a:bodyPr wrap="square" lIns="0" tIns="0" rIns="0" bIns="0" anchor="t">
            <a:noAutofit/>
          </a:bodyPr>
          <a:lstStyle/>
          <a:p>
            <a:pPr algn="ctr">
              <a:lnSpc>
                <a:spcPct val="108000"/>
              </a:lnSpc>
              <a:defRPr sz="1650" b="0" i="1">
                <a:solidFill>
                  <a:srgbClr val="000000"/>
                </a:solidFill>
                <a:latin typeface="Garamond"/>
                <a:ea typeface="Garamond"/>
                <a:cs typeface="Garamond"/>
              </a:defRPr>
            </a:pPr>
            <a:r>
              <a:rPr sz="1650" b="0" i="1">
                <a:solidFill>
                  <a:srgbClr val="FF0000"/>
                </a:solidFill>
                <a:latin typeface="Garamond"/>
                <a:ea typeface="Garamond"/>
                <a:cs typeface="Garamond"/>
              </a:rPr>
              <a:t>Figure N.2</a:t>
            </a:r>
            <a:r>
              <a:rPr sz="1650" b="0" i="1">
                <a:solidFill>
                  <a:srgbClr val="000000"/>
                </a:solidFill>
                <a:latin typeface="Garamond"/>
                <a:ea typeface="Garamond"/>
                <a:cs typeface="Garamond"/>
              </a:rPr>
              <a:t>: Preview of figure variations.</a:t>
            </a:r>
          </a:p>
        </p:txBody>
      </p:sp>
      <p:sp>
        <p:nvSpPr>
          <p:cNvPr id="144" name="4.4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13, 15–16.</a:t>
            </a:r>
          </a:p>
        </p:txBody>
      </p:sp>
    </p:spTree>
    <p:extLst>
      <p:ext uri="{BB962C8B-B14F-4D97-AF65-F5344CB8AC3E}">
        <p14:creationId xmlns:p14="http://schemas.microsoft.com/office/powerpoint/2010/main" val="821985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5.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5.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5.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sp>
        <p:nvSpPr>
          <p:cNvPr id="104" name="5.0 · RQ1"/>
          <p:cNvSpPr>
            <a:spLocks noGrp="1"/>
          </p:cNvSpPr>
          <p:nvPr/>
        </p:nvSpPr>
        <p:spPr>
          <a:xfrm>
            <a:off x="571500" y="1476375"/>
            <a:ext cx="110490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RQ1</a:t>
            </a:r>
          </a:p>
        </p:txBody>
      </p:sp>
      <p:sp>
        <p:nvSpPr>
          <p:cNvPr id="105" name="5.0 · What becomes of ideology when a real political party i"/>
          <p:cNvSpPr>
            <a:spLocks noGrp="1"/>
          </p:cNvSpPr>
          <p:nvPr/>
        </p:nvSpPr>
        <p:spPr>
          <a:xfrm>
            <a:off x="1190625" y="2286000"/>
            <a:ext cx="9810750" cy="3000375"/>
          </a:xfrm>
          <a:prstGeom prst="rect">
            <a:avLst/>
          </a:prstGeom>
          <a:noFill/>
          <a:ln w="0">
            <a:noFill/>
          </a:ln>
        </p:spPr>
        <p:txBody>
          <a:bodyPr wrap="square" lIns="0" tIns="0" rIns="0" bIns="0" anchor="t">
            <a:noAutofit/>
          </a:bodyPr>
          <a:lstStyle/>
          <a:p>
            <a:pPr algn="ctr">
              <a:lnSpc>
                <a:spcPct val="108000"/>
              </a:lnSpc>
              <a:defRPr sz="3225" b="0" i="0">
                <a:solidFill>
                  <a:srgbClr val="000000"/>
                </a:solidFill>
                <a:latin typeface="Garamond"/>
                <a:ea typeface="Garamond"/>
                <a:cs typeface="Garamond"/>
              </a:defRPr>
            </a:pPr>
            <a:r>
              <a:rPr sz="3225" b="0" i="0">
                <a:solidFill>
                  <a:srgbClr val="000000"/>
                </a:solidFill>
                <a:latin typeface="Garamond"/>
                <a:ea typeface="Garamond"/>
                <a:cs typeface="Garamond"/>
              </a:rPr>
              <a:t>What becomes of ideology when a real political</a:t>
            </a:r>
          </a:p>
          <a:p>
            <a:pPr algn="ctr">
              <a:lnSpc>
                <a:spcPct val="108000"/>
              </a:lnSpc>
              <a:defRPr sz="3225" b="0" i="0">
                <a:solidFill>
                  <a:srgbClr val="000000"/>
                </a:solidFill>
                <a:latin typeface="Garamond"/>
                <a:ea typeface="Garamond"/>
                <a:cs typeface="Garamond"/>
              </a:defRPr>
            </a:pPr>
            <a:r>
              <a:rPr sz="3225" b="0" i="0">
                <a:solidFill>
                  <a:srgbClr val="000000"/>
                </a:solidFill>
                <a:latin typeface="Garamond"/>
                <a:ea typeface="Garamond"/>
                <a:cs typeface="Garamond"/>
              </a:rPr>
              <a:t>party is built around an AI trained on the</a:t>
            </a:r>
          </a:p>
          <a:p>
            <a:pPr algn="ctr">
              <a:lnSpc>
                <a:spcPct val="108000"/>
              </a:lnSpc>
              <a:defRPr sz="3225" b="0" i="0">
                <a:solidFill>
                  <a:srgbClr val="000000"/>
                </a:solidFill>
                <a:latin typeface="Garamond"/>
                <a:ea typeface="Garamond"/>
                <a:cs typeface="Garamond"/>
              </a:defRPr>
            </a:pPr>
            <a:r>
              <a:rPr sz="3225" b="0" i="0">
                <a:solidFill>
                  <a:srgbClr val="000000"/>
                </a:solidFill>
                <a:latin typeface="Garamond"/>
                <a:ea typeface="Garamond"/>
                <a:cs typeface="Garamond"/>
              </a:rPr>
              <a:t>voices of people who usually do not vote?</a:t>
            </a:r>
          </a:p>
        </p:txBody>
      </p:sp>
      <p:sp>
        <p:nvSpPr>
          <p:cNvPr id="106" name="5.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dirty="0">
                <a:solidFill>
                  <a:srgbClr val="555555"/>
                </a:solidFill>
                <a:latin typeface="Consolas"/>
                <a:ea typeface="Consolas"/>
                <a:cs typeface="Consolas"/>
              </a:rPr>
              <a:t>Staunæs 2026: 13.</a:t>
            </a:r>
          </a:p>
        </p:txBody>
      </p:sp>
    </p:spTree>
    <p:extLst>
      <p:ext uri="{BB962C8B-B14F-4D97-AF65-F5344CB8AC3E}">
        <p14:creationId xmlns:p14="http://schemas.microsoft.com/office/powerpoint/2010/main" val="712170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5.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5.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5.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dirty="0">
                <a:solidFill>
                  <a:srgbClr val="FF0000"/>
                </a:solidFill>
                <a:latin typeface="Consolas"/>
                <a:ea typeface="Consolas"/>
                <a:cs typeface="Consolas"/>
              </a:rPr>
              <a:t>4/7</a:t>
            </a:r>
          </a:p>
        </p:txBody>
      </p:sp>
      <p:pic>
        <p:nvPicPr>
          <p:cNvPr id="107" name="5.1 · mindfuture">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1607507" y="1314450"/>
            <a:ext cx="8976986" cy="4095750"/>
          </a:xfrm>
          <a:prstGeom prst="rect">
            <a:avLst/>
          </a:prstGeom>
        </p:spPr>
      </p:pic>
      <p:sp>
        <p:nvSpPr>
          <p:cNvPr id="108" name="5.1 · Caption">
            <a:extLst>
              <a:ext uri="{FF2B5EF4-FFF2-40B4-BE49-F238E27FC236}">
                <a16:creationId xmlns:a16="http://schemas.microsoft.com/office/drawing/2014/main" id="{C5D36C6F-F0EC-48D6-9489-6AF6212B9E26}"/>
              </a:ext>
            </a:extLst>
          </p:cNvPr>
          <p:cNvSpPr>
            <a:spLocks noGrp="1"/>
          </p:cNvSpPr>
          <p:nvPr/>
        </p:nvSpPr>
        <p:spPr>
          <a:xfrm>
            <a:off x="1607507" y="5543550"/>
            <a:ext cx="8976986"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Computer Lars, Carol Stumper and Marcel Proust, Det Syntetiske Parti I,</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24 March 2022. Dialogue concerning MindFuture and an AI for parliament.</a:t>
            </a:r>
          </a:p>
        </p:txBody>
      </p:sp>
      <p:sp>
        <p:nvSpPr>
          <p:cNvPr id="109" name="5.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24.</a:t>
            </a:r>
          </a:p>
        </p:txBody>
      </p:sp>
    </p:spTree>
    <p:extLst>
      <p:ext uri="{BB962C8B-B14F-4D97-AF65-F5344CB8AC3E}">
        <p14:creationId xmlns:p14="http://schemas.microsoft.com/office/powerpoint/2010/main" val="712170072"/>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07"/>
                </p:tgtEl>
              </p:cMediaNode>
            </p:video>
            <p:seq concurrent="1" nextAc="seek">
              <p:cTn id="3" dur="indefinite" nodeType="mainSeq">
                <p:childTnLst>
                  <p:par>
                    <p:cTn id="4" dur="55000" repeatCount="indefinite" fill="hold">
                      <p:stCondLst>
                        <p:cond delay="0"/>
                      </p:stCondLst>
                      <p:childTnLst>
                        <p:cmd type="call" cmd="playFrom(0.0)">
                          <p:cBhvr>
                            <p:cTn id="5" dur="55000" fill="hold"/>
                            <p:tgtEl>
                              <p:spTgt spid="107"/>
                            </p:tgtEl>
                          </p:cBhvr>
                        </p:cmd>
                      </p:childTnLst>
                    </p:cTn>
                  </p:par>
                </p:childTnLst>
              </p:cTn>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5.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5.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5.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pic>
        <p:nvPicPr>
          <p:cNvPr id="110" name="5.2 · latest-5-75"/>
          <p:cNvPicPr>
            <a:picLocks noChangeAspect="1"/>
          </p:cNvPicPr>
          <p:nvPr/>
        </p:nvPicPr>
        <p:blipFill>
          <a:blip r:embed="rId3"/>
          <a:stretch/>
        </p:blipFill>
        <p:spPr>
          <a:xfrm>
            <a:off x="1018510" y="1721167"/>
            <a:ext cx="3143250" cy="3121052"/>
          </a:xfrm>
          <a:prstGeom prst="rect">
            <a:avLst/>
          </a:prstGeom>
          <a:ln w="12700" cmpd="sng" algn="in">
            <a:solidFill>
              <a:srgbClr val="D5A4A4"/>
            </a:solidFill>
            <a:prstDash val="solid"/>
            <a:miter lim="800000"/>
          </a:ln>
        </p:spPr>
      </p:pic>
      <p:sp>
        <p:nvSpPr>
          <p:cNvPr id="111" name="5.2 · “There is as yet no formal leadership of The Synthetic"/>
          <p:cNvSpPr>
            <a:spLocks noGrp="1"/>
          </p:cNvSpPr>
          <p:nvPr/>
        </p:nvSpPr>
        <p:spPr>
          <a:xfrm>
            <a:off x="4956340" y="1721167"/>
            <a:ext cx="7620000" cy="3800475"/>
          </a:xfrm>
          <a:prstGeom prst="rect">
            <a:avLst/>
          </a:prstGeom>
          <a:noFill/>
          <a:ln w="0">
            <a:noFill/>
          </a:ln>
        </p:spPr>
        <p:txBody>
          <a:bodyPr wrap="square" lIns="0" tIns="0" rIns="0" bIns="0" anchor="t">
            <a:noAutofit/>
          </a:bodyPr>
          <a:lstStyle/>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“There is as yet no formal leadership of The</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Synthetic Party. It is a production we have made</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ourselves, and it is made from the opinions of</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others. The production does not follow any</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particular ideology. However, the ideas have</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undergone a process through which they have been</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made funny and functional in a political party.”</a:t>
            </a:r>
          </a:p>
        </p:txBody>
      </p:sp>
      <p:sp>
        <p:nvSpPr>
          <p:cNvPr id="112" name="5.2 · Caption">
            <a:extLst>
              <a:ext uri="{FF2B5EF4-FFF2-40B4-BE49-F238E27FC236}">
                <a16:creationId xmlns:a16="http://schemas.microsoft.com/office/drawing/2014/main" id="{A355D942-CDBE-469C-B781-67B3F8D3880B}"/>
              </a:ext>
            </a:extLst>
          </p:cNvPr>
          <p:cNvSpPr>
            <a:spLocks noGrp="1"/>
          </p:cNvSpPr>
          <p:nvPr/>
        </p:nvSpPr>
        <p:spPr>
          <a:xfrm>
            <a:off x="875635" y="4937760"/>
            <a:ext cx="3429000" cy="1167765"/>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Computer Lars / Det Syntetiske</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Parti, “</a:t>
            </a:r>
            <a:r>
              <a:rPr sz="1725" b="0" i="1" dirty="0" err="1">
                <a:solidFill>
                  <a:srgbClr val="000000"/>
                </a:solidFill>
                <a:latin typeface="Garamond"/>
                <a:ea typeface="Garamond"/>
                <a:cs typeface="Garamond"/>
              </a:rPr>
              <a:t>Meddelelser</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fra</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ledelsen</a:t>
            </a:r>
            <a:r>
              <a:rPr sz="1725" b="0" i="1" dirty="0">
                <a:solidFill>
                  <a:srgbClr val="000000"/>
                </a:solidFill>
                <a:latin typeface="Garamond"/>
                <a:ea typeface="Garamond"/>
                <a:cs typeface="Garamond"/>
              </a:rPr>
              <a:t>”,</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Medium, 24 March 2022. English</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translation from the original blog.</a:t>
            </a:r>
          </a:p>
        </p:txBody>
      </p:sp>
      <p:sp>
        <p:nvSpPr>
          <p:cNvPr id="113" name="5.2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24–25.</a:t>
            </a:r>
          </a:p>
        </p:txBody>
      </p:sp>
    </p:spTree>
    <p:extLst>
      <p:ext uri="{BB962C8B-B14F-4D97-AF65-F5344CB8AC3E}">
        <p14:creationId xmlns:p14="http://schemas.microsoft.com/office/powerpoint/2010/main" val="712170072"/>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1">
                                      <p:txEl>
                                        <p:pRg st="0" end="0"/>
                                      </p:txEl>
                                    </p:spTgt>
                                  </p:tgtEl>
                                  <p:attrNameLst>
                                    <p:attrName>style.visibility</p:attrName>
                                  </p:attrNameLst>
                                </p:cBhvr>
                                <p:to>
                                  <p:strVal val="visible"/>
                                </p:to>
                              </p:set>
                            </p:childTnLst>
                          </p:cTn>
                        </p:par>
                        <p:par>
                          <p:cTn id="6" presetID="1" presetClass="entr" presetSubtype="0" fill="hold" nodeType="withEffect">
                            <p:stCondLst>
                              <p:cond delay="524"/>
                            </p:stCondLst>
                            <p:iterate type="lt">
                              <p:tmAbs val="11"/>
                            </p:iterate>
                            <p:childTnLst>
                              <p:set>
                                <p:cBhvr>
                                  <p:cTn id="7" dur="1" fill="hold">
                                    <p:stCondLst>
                                      <p:cond delay="0"/>
                                    </p:stCondLst>
                                  </p:cTn>
                                  <p:tgtEl>
                                    <p:spTgt spid="111">
                                      <p:txEl>
                                        <p:pRg st="1" end="1"/>
                                      </p:txEl>
                                    </p:spTgt>
                                  </p:tgtEl>
                                  <p:attrNameLst>
                                    <p:attrName>style.visibility</p:attrName>
                                  </p:attrNameLst>
                                </p:cBhvr>
                                <p:to>
                                  <p:strVal val="visible"/>
                                </p:to>
                              </p:set>
                            </p:childTnLst>
                          </p:cTn>
                        </p:par>
                        <p:par>
                          <p:cTn id="8" presetID="1" presetClass="entr" presetSubtype="0" fill="hold" nodeType="withEffect">
                            <p:stCondLst>
                              <p:cond delay="1092"/>
                            </p:stCondLst>
                            <p:iterate type="lt">
                              <p:tmAbs val="11"/>
                            </p:iterate>
                            <p:childTnLst>
                              <p:set>
                                <p:cBhvr>
                                  <p:cTn id="9" dur="1" fill="hold">
                                    <p:stCondLst>
                                      <p:cond delay="0"/>
                                    </p:stCondLst>
                                  </p:cTn>
                                  <p:tgtEl>
                                    <p:spTgt spid="111">
                                      <p:txEl>
                                        <p:pRg st="2" end="2"/>
                                      </p:txEl>
                                    </p:spTgt>
                                  </p:tgtEl>
                                  <p:attrNameLst>
                                    <p:attrName>style.visibility</p:attrName>
                                  </p:attrNameLst>
                                </p:cBhvr>
                                <p:to>
                                  <p:strVal val="visible"/>
                                </p:to>
                              </p:set>
                            </p:childTnLst>
                          </p:cTn>
                        </p:par>
                        <p:par>
                          <p:cTn id="10" presetID="1" presetClass="entr" presetSubtype="0" fill="hold" nodeType="withEffect">
                            <p:stCondLst>
                              <p:cond delay="1638"/>
                            </p:stCondLst>
                            <p:iterate type="lt">
                              <p:tmAbs val="11"/>
                            </p:iterate>
                            <p:childTnLst>
                              <p:set>
                                <p:cBhvr>
                                  <p:cTn id="11" dur="1" fill="hold">
                                    <p:stCondLst>
                                      <p:cond delay="0"/>
                                    </p:stCondLst>
                                  </p:cTn>
                                  <p:tgtEl>
                                    <p:spTgt spid="111">
                                      <p:txEl>
                                        <p:pRg st="3" end="3"/>
                                      </p:txEl>
                                    </p:spTgt>
                                  </p:tgtEl>
                                  <p:attrNameLst>
                                    <p:attrName>style.visibility</p:attrName>
                                  </p:attrNameLst>
                                </p:cBhvr>
                                <p:to>
                                  <p:strVal val="visible"/>
                                </p:to>
                              </p:set>
                            </p:childTnLst>
                          </p:cTn>
                        </p:par>
                        <p:par>
                          <p:cTn id="12" presetID="1" presetClass="entr" presetSubtype="0" fill="hold" nodeType="withEffect">
                            <p:stCondLst>
                              <p:cond delay="2140"/>
                            </p:stCondLst>
                            <p:iterate type="lt">
                              <p:tmAbs val="11"/>
                            </p:iterate>
                            <p:childTnLst>
                              <p:set>
                                <p:cBhvr>
                                  <p:cTn id="13" dur="1" fill="hold">
                                    <p:stCondLst>
                                      <p:cond delay="0"/>
                                    </p:stCondLst>
                                  </p:cTn>
                                  <p:tgtEl>
                                    <p:spTgt spid="111">
                                      <p:txEl>
                                        <p:pRg st="4" end="4"/>
                                      </p:txEl>
                                    </p:spTgt>
                                  </p:tgtEl>
                                  <p:attrNameLst>
                                    <p:attrName>style.visibility</p:attrName>
                                  </p:attrNameLst>
                                </p:cBhvr>
                                <p:to>
                                  <p:strVal val="visible"/>
                                </p:to>
                              </p:set>
                            </p:childTnLst>
                          </p:cTn>
                        </p:par>
                        <p:par>
                          <p:cTn id="14" presetID="1" presetClass="entr" presetSubtype="0" fill="hold" nodeType="withEffect">
                            <p:stCondLst>
                              <p:cond delay="2664"/>
                            </p:stCondLst>
                            <p:iterate type="lt">
                              <p:tmAbs val="11"/>
                            </p:iterate>
                            <p:childTnLst>
                              <p:set>
                                <p:cBhvr>
                                  <p:cTn id="15" dur="1" fill="hold">
                                    <p:stCondLst>
                                      <p:cond delay="0"/>
                                    </p:stCondLst>
                                  </p:cTn>
                                  <p:tgtEl>
                                    <p:spTgt spid="111">
                                      <p:txEl>
                                        <p:pRg st="5" end="5"/>
                                      </p:txEl>
                                    </p:spTgt>
                                  </p:tgtEl>
                                  <p:attrNameLst>
                                    <p:attrName>style.visibility</p:attrName>
                                  </p:attrNameLst>
                                </p:cBhvr>
                                <p:to>
                                  <p:strVal val="visible"/>
                                </p:to>
                              </p:set>
                            </p:childTnLst>
                          </p:cTn>
                        </p:par>
                        <p:par>
                          <p:cTn id="16" presetID="1" presetClass="entr" presetSubtype="0" fill="hold" nodeType="withEffect">
                            <p:stCondLst>
                              <p:cond delay="3232"/>
                            </p:stCondLst>
                            <p:iterate type="lt">
                              <p:tmAbs val="11"/>
                            </p:iterate>
                            <p:childTnLst>
                              <p:set>
                                <p:cBhvr>
                                  <p:cTn id="17" dur="1" fill="hold">
                                    <p:stCondLst>
                                      <p:cond delay="0"/>
                                    </p:stCondLst>
                                  </p:cTn>
                                  <p:tgtEl>
                                    <p:spTgt spid="111">
                                      <p:txEl>
                                        <p:pRg st="6" end="6"/>
                                      </p:txEl>
                                    </p:spTgt>
                                  </p:tgtEl>
                                  <p:attrNameLst>
                                    <p:attrName>style.visibility</p:attrName>
                                  </p:attrNameLst>
                                </p:cBhvr>
                                <p:to>
                                  <p:strVal val="visible"/>
                                </p:to>
                              </p:set>
                            </p:childTnLst>
                          </p:cTn>
                        </p:par>
                      </p:childTnLst>
                    </p:cTn>
                  </p:par>
                </p:childTnLst>
              </p:cTn>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5.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5.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5.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pic>
        <p:nvPicPr>
          <p:cNvPr id="114" name="5.3 · Valgnaevnet-partinavneregister-page-2"/>
          <p:cNvPicPr>
            <a:picLocks noChangeAspect="1"/>
          </p:cNvPicPr>
          <p:nvPr/>
        </p:nvPicPr>
        <p:blipFill>
          <a:blip r:embed="rId3"/>
          <a:srcRect l="17724" t="7479" r="15408" b="88390"/>
          <a:stretch/>
        </p:blipFill>
        <p:spPr>
          <a:xfrm>
            <a:off x="571500" y="1723824"/>
            <a:ext cx="5238750" cy="457602"/>
          </a:xfrm>
          <a:prstGeom prst="rect">
            <a:avLst/>
          </a:prstGeom>
          <a:ln w="12700" cmpd="sng" algn="in">
            <a:solidFill>
              <a:srgbClr val="D5A4A4"/>
            </a:solidFill>
            <a:prstDash val="solid"/>
            <a:miter lim="800000"/>
          </a:ln>
        </p:spPr>
      </p:pic>
      <p:pic>
        <p:nvPicPr>
          <p:cNvPr id="115" name="5.3 · Valgnaevnet-partinavneregister-page-2"/>
          <p:cNvPicPr>
            <a:picLocks noChangeAspect="1"/>
          </p:cNvPicPr>
          <p:nvPr/>
        </p:nvPicPr>
        <p:blipFill>
          <a:blip r:embed="rId3"/>
          <a:srcRect l="17724" t="61895" r="15408" b="30342"/>
          <a:stretch/>
        </p:blipFill>
        <p:spPr>
          <a:xfrm>
            <a:off x="571500" y="2246537"/>
            <a:ext cx="5238750" cy="859976"/>
          </a:xfrm>
          <a:prstGeom prst="rect">
            <a:avLst/>
          </a:prstGeom>
          <a:ln w="12700" cmpd="sng" algn="in">
            <a:solidFill>
              <a:srgbClr val="D5A4A4"/>
            </a:solidFill>
            <a:prstDash val="solid"/>
            <a:miter lim="800000"/>
          </a:ln>
        </p:spPr>
      </p:pic>
      <p:sp>
        <p:nvSpPr>
          <p:cNvPr id="116" name="5.3 · Caption">
            <a:extLst>
              <a:ext uri="{FF2B5EF4-FFF2-40B4-BE49-F238E27FC236}">
                <a16:creationId xmlns:a16="http://schemas.microsoft.com/office/drawing/2014/main" id="{021DD3C4-4137-4EDE-8454-77FB5BD81765}"/>
              </a:ext>
            </a:extLst>
          </p:cNvPr>
          <p:cNvSpPr>
            <a:spLocks noGrp="1"/>
          </p:cNvSpPr>
          <p:nvPr/>
        </p:nvSpPr>
        <p:spPr>
          <a:xfrm>
            <a:off x="333375" y="3255644"/>
            <a:ext cx="5715000" cy="573405"/>
          </a:xfrm>
          <a:prstGeom prst="rect">
            <a:avLst/>
          </a:prstGeom>
          <a:noFill/>
          <a:ln w="0">
            <a:noFill/>
          </a:ln>
        </p:spPr>
        <p:txBody>
          <a:bodyPr wrap="square" lIns="0" tIns="0" rIns="0" bIns="0" anchor="t">
            <a:noAutofit/>
          </a:bodyPr>
          <a:lstStyle/>
          <a:p>
            <a:pPr algn="ctr">
              <a:lnSpc>
                <a:spcPct val="108000"/>
              </a:lnSpc>
              <a:defRPr sz="1650" b="0" i="1">
                <a:solidFill>
                  <a:srgbClr val="000000"/>
                </a:solidFill>
                <a:latin typeface="Garamond"/>
                <a:ea typeface="Garamond"/>
                <a:cs typeface="Garamond"/>
              </a:defRPr>
            </a:pPr>
            <a:r>
              <a:rPr sz="1650" b="0" i="1" dirty="0" err="1">
                <a:solidFill>
                  <a:srgbClr val="000000"/>
                </a:solidFill>
                <a:latin typeface="Garamond"/>
                <a:ea typeface="Garamond"/>
                <a:cs typeface="Garamond"/>
              </a:rPr>
              <a:t>Valgnævnet</a:t>
            </a:r>
            <a:r>
              <a:rPr sz="1650" b="0" i="1" dirty="0">
                <a:solidFill>
                  <a:srgbClr val="000000"/>
                </a:solidFill>
                <a:latin typeface="Garamond"/>
                <a:ea typeface="Garamond"/>
                <a:cs typeface="Garamond"/>
              </a:rPr>
              <a:t>, register of party names, 21 December 2022, p. 2. Column</a:t>
            </a:r>
          </a:p>
          <a:p>
            <a:pPr algn="ctr">
              <a:lnSpc>
                <a:spcPct val="108000"/>
              </a:lnSpc>
              <a:defRPr sz="1650" b="0" i="1">
                <a:solidFill>
                  <a:srgbClr val="000000"/>
                </a:solidFill>
                <a:latin typeface="Garamond"/>
                <a:ea typeface="Garamond"/>
                <a:cs typeface="Garamond"/>
              </a:defRPr>
            </a:pPr>
            <a:r>
              <a:rPr sz="1650" b="0" i="1" dirty="0">
                <a:solidFill>
                  <a:srgbClr val="000000"/>
                </a:solidFill>
                <a:latin typeface="Garamond"/>
                <a:ea typeface="Garamond"/>
                <a:cs typeface="Garamond"/>
              </a:rPr>
              <a:t>headings and detail: Det Syntetiske Parti, approved 26 April 2022.</a:t>
            </a:r>
          </a:p>
        </p:txBody>
      </p:sp>
      <p:sp>
        <p:nvSpPr>
          <p:cNvPr id="117" name="5.3 · Training material: More than 200 Danish micro-parties and extra-parlia"/>
          <p:cNvSpPr>
            <a:spLocks noGrp="1"/>
          </p:cNvSpPr>
          <p:nvPr/>
        </p:nvSpPr>
        <p:spPr>
          <a:xfrm>
            <a:off x="6334125" y="1428750"/>
            <a:ext cx="5286375" cy="1166622"/>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FF0000"/>
                </a:solidFill>
                <a:latin typeface="Garamond"/>
                <a:ea typeface="Garamond"/>
                <a:cs typeface="Garamond"/>
              </a:rPr>
              <a:t>Training material</a:t>
            </a:r>
            <a:r>
              <a:rPr sz="2600" b="0" i="0">
                <a:solidFill>
                  <a:srgbClr val="000000"/>
                </a:solidFill>
                <a:latin typeface="Garamond"/>
                <a:ea typeface="Garamond"/>
                <a:cs typeface="Garamond"/>
              </a:rPr>
              <a:t>: More than</a:t>
            </a:r>
            <a:r>
              <a:t> </a:t>
            </a:r>
            <a:r>
              <a:rPr sz="2600" b="0" i="0">
                <a:solidFill>
                  <a:srgbClr val="000000"/>
                </a:solidFill>
                <a:latin typeface="Garamond"/>
                <a:ea typeface="Garamond"/>
                <a:cs typeface="Garamond"/>
              </a:rPr>
              <a:t>200 Danish micro-parties and</a:t>
            </a:r>
            <a:r>
              <a:t> </a:t>
            </a:r>
            <a:r>
              <a:rPr sz="2600" b="0" i="0">
                <a:solidFill>
                  <a:srgbClr val="000000"/>
                </a:solidFill>
                <a:latin typeface="Garamond"/>
                <a:ea typeface="Garamond"/>
                <a:cs typeface="Garamond"/>
              </a:rPr>
              <a:t>extra-parliamentary formations.</a:t>
            </a:r>
          </a:p>
        </p:txBody>
      </p:sp>
      <p:sp>
        <p:nvSpPr>
          <p:cNvPr id="118" name="5.3 · Claimed constituency: The “20% who do not normally vote”, as formulate"/>
          <p:cNvSpPr>
            <a:spLocks noGrp="1"/>
          </p:cNvSpPr>
          <p:nvPr/>
        </p:nvSpPr>
        <p:spPr>
          <a:xfrm>
            <a:off x="6334125" y="2823972"/>
            <a:ext cx="5286375" cy="1536446"/>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FF0000"/>
                </a:solidFill>
                <a:latin typeface="Garamond"/>
                <a:ea typeface="Garamond"/>
                <a:cs typeface="Garamond"/>
              </a:rPr>
              <a:t>Claimed constituency</a:t>
            </a:r>
            <a:r>
              <a:rPr sz="2600" b="0" i="0">
                <a:solidFill>
                  <a:srgbClr val="000000"/>
                </a:solidFill>
                <a:latin typeface="Garamond"/>
                <a:ea typeface="Garamond"/>
                <a:cs typeface="Garamond"/>
              </a:rPr>
              <a:t>: The</a:t>
            </a:r>
            <a:r>
              <a:t> </a:t>
            </a:r>
            <a:r>
              <a:rPr sz="2600" b="0" i="0">
                <a:solidFill>
                  <a:srgbClr val="000000"/>
                </a:solidFill>
                <a:latin typeface="Garamond"/>
                <a:ea typeface="Garamond"/>
                <a:cs typeface="Garamond"/>
              </a:rPr>
              <a:t>“20% who do not normally</a:t>
            </a:r>
            <a:r>
              <a:t> </a:t>
            </a:r>
            <a:r>
              <a:rPr sz="2600" b="0" i="0">
                <a:solidFill>
                  <a:srgbClr val="000000"/>
                </a:solidFill>
                <a:latin typeface="Garamond"/>
                <a:ea typeface="Garamond"/>
                <a:cs typeface="Garamond"/>
              </a:rPr>
              <a:t>vote”, as formulated in</a:t>
            </a:r>
            <a:r>
              <a:t> </a:t>
            </a:r>
            <a:r>
              <a:rPr sz="2600" b="0" i="0">
                <a:solidFill>
                  <a:srgbClr val="000000"/>
                </a:solidFill>
                <a:latin typeface="Garamond"/>
                <a:ea typeface="Garamond"/>
                <a:cs typeface="Garamond"/>
              </a:rPr>
              <a:t>the 2022 launch statement.</a:t>
            </a:r>
          </a:p>
        </p:txBody>
      </p:sp>
      <p:sp>
        <p:nvSpPr>
          <p:cNvPr id="119" name="5.3 · Relation: A negative symmetry, not sociological representation."/>
          <p:cNvSpPr>
            <a:spLocks noGrp="1"/>
          </p:cNvSpPr>
          <p:nvPr/>
        </p:nvSpPr>
        <p:spPr>
          <a:xfrm>
            <a:off x="6334125" y="4208018"/>
            <a:ext cx="5286375" cy="796798"/>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FF0000"/>
                </a:solidFill>
                <a:latin typeface="Garamond"/>
                <a:ea typeface="Garamond"/>
                <a:cs typeface="Garamond"/>
              </a:rPr>
              <a:t>Relation</a:t>
            </a:r>
            <a:r>
              <a:rPr sz="2600" b="0" i="0">
                <a:solidFill>
                  <a:srgbClr val="000000"/>
                </a:solidFill>
                <a:latin typeface="Garamond"/>
                <a:ea typeface="Garamond"/>
                <a:cs typeface="Garamond"/>
              </a:rPr>
              <a:t>: A negative symmetry,</a:t>
            </a:r>
            <a:r>
              <a:t> </a:t>
            </a:r>
            <a:r>
              <a:rPr sz="2600" b="0" i="0">
                <a:solidFill>
                  <a:srgbClr val="000000"/>
                </a:solidFill>
                <a:latin typeface="Garamond"/>
                <a:ea typeface="Garamond"/>
                <a:cs typeface="Garamond"/>
              </a:rPr>
              <a:t>not sociological representation.</a:t>
            </a:r>
          </a:p>
        </p:txBody>
      </p:sp>
      <p:sp>
        <p:nvSpPr>
          <p:cNvPr id="120" name="5.3 · Synthesis: 15–20% abstention corresponds to approximately 27–36 of 179"/>
          <p:cNvSpPr>
            <a:spLocks noGrp="1"/>
          </p:cNvSpPr>
          <p:nvPr/>
        </p:nvSpPr>
        <p:spPr>
          <a:xfrm>
            <a:off x="571500" y="4180731"/>
            <a:ext cx="5238750" cy="1209294"/>
          </a:xfrm>
          <a:prstGeom prst="rect">
            <a:avLst/>
          </a:prstGeom>
          <a:noFill/>
          <a:ln w="0">
            <a:noFill/>
          </a:ln>
        </p:spPr>
        <p:txBody>
          <a:bodyPr wrap="square" lIns="0" tIns="0" rIns="0" bIns="0" anchor="t">
            <a:noAutofit/>
          </a:bodyPr>
          <a:lstStyle/>
          <a:p>
            <a:pPr algn="l">
              <a:lnSpc>
                <a:spcPct val="108000"/>
              </a:lnSpc>
              <a:defRPr sz="2025" b="0" i="0">
                <a:solidFill>
                  <a:srgbClr val="000000"/>
                </a:solidFill>
                <a:latin typeface="Garamond"/>
                <a:ea typeface="Garamond"/>
                <a:cs typeface="Garamond"/>
              </a:defRPr>
            </a:pPr>
            <a:r>
              <a:rPr lang="da-DK" sz="2025" dirty="0">
                <a:solidFill>
                  <a:srgbClr val="FF0000"/>
                </a:solidFill>
                <a:latin typeface="Garamond"/>
                <a:ea typeface="Garamond"/>
                <a:cs typeface="Garamond"/>
              </a:rPr>
              <a:t>Operational </a:t>
            </a:r>
            <a:r>
              <a:rPr lang="da-DK" sz="2025" dirty="0" err="1">
                <a:solidFill>
                  <a:srgbClr val="FF0000"/>
                </a:solidFill>
                <a:latin typeface="Garamond"/>
                <a:ea typeface="Garamond"/>
                <a:cs typeface="Garamond"/>
              </a:rPr>
              <a:t>logic</a:t>
            </a:r>
            <a:r>
              <a:rPr sz="2025" b="0" i="0" dirty="0">
                <a:solidFill>
                  <a:srgbClr val="000000"/>
                </a:solidFill>
                <a:latin typeface="Garamond"/>
                <a:ea typeface="Garamond"/>
                <a:cs typeface="Garamond"/>
              </a:rPr>
              <a:t>: 15–20% abstention corresponds</a:t>
            </a:r>
            <a:r>
              <a:rPr dirty="0"/>
              <a:t> </a:t>
            </a:r>
            <a:r>
              <a:rPr sz="2025" b="0" i="0" dirty="0">
                <a:solidFill>
                  <a:srgbClr val="000000"/>
                </a:solidFill>
                <a:latin typeface="Garamond"/>
                <a:ea typeface="Garamond"/>
                <a:cs typeface="Garamond"/>
              </a:rPr>
              <a:t>to approximately 27–36 of 179</a:t>
            </a:r>
            <a:r>
              <a:rPr dirty="0"/>
              <a:t> </a:t>
            </a:r>
            <a:r>
              <a:rPr sz="2025" b="0" i="0" dirty="0">
                <a:solidFill>
                  <a:srgbClr val="000000"/>
                </a:solidFill>
                <a:latin typeface="Garamond"/>
                <a:ea typeface="Garamond"/>
                <a:cs typeface="Garamond"/>
              </a:rPr>
              <a:t>parliamentary seats, as a counterfactual</a:t>
            </a:r>
            <a:r>
              <a:rPr dirty="0"/>
              <a:t> </a:t>
            </a:r>
            <a:r>
              <a:rPr sz="2025" b="0" i="0" dirty="0">
                <a:solidFill>
                  <a:srgbClr val="000000"/>
                </a:solidFill>
                <a:latin typeface="Garamond"/>
                <a:ea typeface="Garamond"/>
                <a:cs typeface="Garamond"/>
              </a:rPr>
              <a:t>seat-equivalent, </a:t>
            </a:r>
            <a:r>
              <a:rPr sz="2025" b="0" i="1" dirty="0">
                <a:solidFill>
                  <a:srgbClr val="000000"/>
                </a:solidFill>
                <a:latin typeface="Garamond"/>
                <a:ea typeface="Garamond"/>
                <a:cs typeface="Garamond"/>
              </a:rPr>
              <a:t>not </a:t>
            </a:r>
            <a:r>
              <a:rPr lang="da-DK" sz="2025" b="0" i="1" dirty="0">
                <a:solidFill>
                  <a:srgbClr val="000000"/>
                </a:solidFill>
                <a:latin typeface="Garamond"/>
                <a:ea typeface="Garamond"/>
                <a:cs typeface="Garamond"/>
              </a:rPr>
              <a:t>real</a:t>
            </a:r>
            <a:r>
              <a:rPr sz="2025" b="0" i="1" dirty="0">
                <a:solidFill>
                  <a:srgbClr val="000000"/>
                </a:solidFill>
                <a:latin typeface="Garamond"/>
                <a:ea typeface="Garamond"/>
                <a:cs typeface="Garamond"/>
              </a:rPr>
              <a:t> mandates.</a:t>
            </a:r>
          </a:p>
        </p:txBody>
      </p:sp>
      <p:sp>
        <p:nvSpPr>
          <p:cNvPr id="121" name="5.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9–10, 43–48, 127.</a:t>
            </a:r>
          </a:p>
        </p:txBody>
      </p:sp>
    </p:spTree>
    <p:extLst>
      <p:ext uri="{BB962C8B-B14F-4D97-AF65-F5344CB8AC3E}">
        <p14:creationId xmlns:p14="http://schemas.microsoft.com/office/powerpoint/2010/main" val="712170072"/>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7">
                                      <p:txEl>
                                        <p:pRg st="0" end="0"/>
                                      </p:txEl>
                                    </p:spTgt>
                                  </p:tgtEl>
                                  <p:attrNameLst>
                                    <p:attrName>style.visibility</p:attrName>
                                  </p:attrNameLst>
                                </p:cBhvr>
                                <p:to>
                                  <p:strVal val="visible"/>
                                </p:to>
                              </p:set>
                            </p:childTnLst>
                          </p:cTn>
                        </p:par>
                        <p:par>
                          <p:cTn id="6" presetID="1" presetClass="entr" presetSubtype="0" fill="hold" nodeType="withEffect">
                            <p:stCondLst>
                              <p:cond delay="1019"/>
                            </p:stCondLst>
                            <p:iterate type="lt">
                              <p:tmAbs val="11"/>
                            </p:iterate>
                            <p:childTnLst>
                              <p:set>
                                <p:cBhvr>
                                  <p:cTn id="7" dur="1" fill="hold">
                                    <p:stCondLst>
                                      <p:cond delay="0"/>
                                    </p:stCondLst>
                                  </p:cTn>
                                  <p:tgtEl>
                                    <p:spTgt spid="118">
                                      <p:txEl>
                                        <p:pRg st="0" end="0"/>
                                      </p:txEl>
                                    </p:spTgt>
                                  </p:tgtEl>
                                  <p:attrNameLst>
                                    <p:attrName>style.visibility</p:attrName>
                                  </p:attrNameLst>
                                </p:cBhvr>
                                <p:to>
                                  <p:strVal val="visible"/>
                                </p:to>
                              </p:set>
                            </p:childTnLst>
                          </p:cTn>
                        </p:par>
                        <p:par>
                          <p:cTn id="8" presetID="1" presetClass="entr" presetSubtype="0" fill="hold" nodeType="withEffect">
                            <p:stCondLst>
                              <p:cond delay="2170"/>
                            </p:stCondLst>
                            <p:iterate type="lt">
                              <p:tmAbs val="11"/>
                            </p:iterate>
                            <p:childTnLst>
                              <p:set>
                                <p:cBhvr>
                                  <p:cTn id="9" dur="1" fill="hold">
                                    <p:stCondLst>
                                      <p:cond delay="0"/>
                                    </p:stCondLst>
                                  </p:cTn>
                                  <p:tgtEl>
                                    <p:spTgt spid="119">
                                      <p:txEl>
                                        <p:pRg st="0" end="0"/>
                                      </p:txEl>
                                    </p:spTgt>
                                  </p:tgtEl>
                                  <p:attrNameLst>
                                    <p:attrName>style.visibility</p:attrName>
                                  </p:attrNameLst>
                                </p:cBhvr>
                                <p:to>
                                  <p:strVal val="visible"/>
                                </p:to>
                              </p:set>
                            </p:childTnLst>
                          </p:cTn>
                        </p:par>
                        <p:par>
                          <p:cTn id="10" presetID="1" presetClass="entr" presetSubtype="0" fill="hold" nodeType="withEffect">
                            <p:stCondLst>
                              <p:cond delay="2903"/>
                            </p:stCondLst>
                            <p:iterate type="lt">
                              <p:tmAbs val="11"/>
                            </p:iterate>
                            <p:childTnLst>
                              <p:set>
                                <p:cBhvr>
                                  <p:cTn id="11" dur="1" fill="hold">
                                    <p:stCondLst>
                                      <p:cond delay="0"/>
                                    </p:stCondLst>
                                  </p:cTn>
                                  <p:tgtEl>
                                    <p:spTgt spid="120">
                                      <p:txEl>
                                        <p:pRg st="0" end="0"/>
                                      </p:txEl>
                                    </p:spTgt>
                                  </p:tgtEl>
                                  <p:attrNameLst>
                                    <p:attrName>style.visibility</p:attrName>
                                  </p:attrNameLst>
                                </p:cBhvr>
                                <p:to>
                                  <p:strVal val="visible"/>
                                </p:to>
                              </p:set>
                            </p:childTnLst>
                          </p:cTn>
                        </p:par>
                      </p:childTnLst>
                    </p:cTn>
                  </p:par>
                </p:childTnLst>
              </p:cTn>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5.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5.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5.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pic>
        <p:nvPicPr>
          <p:cNvPr id="122" name="5.4 · eleuther-neox"/>
          <p:cNvPicPr>
            <a:picLocks noChangeAspect="1"/>
          </p:cNvPicPr>
          <p:nvPr/>
        </p:nvPicPr>
        <p:blipFill>
          <a:blip r:embed="rId3"/>
          <a:stretch/>
        </p:blipFill>
        <p:spPr>
          <a:xfrm>
            <a:off x="571500" y="1381481"/>
            <a:ext cx="11049000" cy="2323388"/>
          </a:xfrm>
          <a:prstGeom prst="rect">
            <a:avLst/>
          </a:prstGeom>
        </p:spPr>
      </p:pic>
      <p:sp>
        <p:nvSpPr>
          <p:cNvPr id="123" name="5.4 · Twenty-billion-parameter autoregressive language model."/>
          <p:cNvSpPr>
            <a:spLocks noGrp="1"/>
          </p:cNvSpPr>
          <p:nvPr/>
        </p:nvSpPr>
        <p:spPr>
          <a:xfrm>
            <a:off x="619125" y="3867150"/>
            <a:ext cx="10953750" cy="426974"/>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000000"/>
                </a:solidFill>
                <a:latin typeface="Garamond"/>
                <a:ea typeface="Garamond"/>
                <a:cs typeface="Garamond"/>
              </a:rPr>
              <a:t>Twenty-billion-parameter autoregressive language model.</a:t>
            </a:r>
          </a:p>
        </p:txBody>
      </p:sp>
      <p:sp>
        <p:nvSpPr>
          <p:cNvPr id="124" name="5.4 · Training: Fine-tuning on the micro-party corpus."/>
          <p:cNvSpPr>
            <a:spLocks noGrp="1"/>
          </p:cNvSpPr>
          <p:nvPr/>
        </p:nvSpPr>
        <p:spPr>
          <a:xfrm>
            <a:off x="619125" y="4456049"/>
            <a:ext cx="10953750" cy="426974"/>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FF0000"/>
                </a:solidFill>
                <a:latin typeface="Garamond"/>
                <a:ea typeface="Garamond"/>
                <a:cs typeface="Garamond"/>
              </a:rPr>
              <a:t>Training</a:t>
            </a:r>
            <a:r>
              <a:rPr sz="2600" b="0" i="0">
                <a:solidFill>
                  <a:srgbClr val="000000"/>
                </a:solidFill>
                <a:latin typeface="Garamond"/>
                <a:ea typeface="Garamond"/>
                <a:cs typeface="Garamond"/>
              </a:rPr>
              <a:t>: Fine-tuning on the micro-party corpus.</a:t>
            </a:r>
          </a:p>
        </p:txBody>
      </p:sp>
      <p:sp>
        <p:nvSpPr>
          <p:cNvPr id="125" name="5.4 · Inference: Programme generation through text completion; conversationa"/>
          <p:cNvSpPr>
            <a:spLocks noGrp="1"/>
          </p:cNvSpPr>
          <p:nvPr/>
        </p:nvSpPr>
        <p:spPr>
          <a:xfrm>
            <a:off x="619125" y="5044948"/>
            <a:ext cx="10953750" cy="796798"/>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FF0000"/>
                </a:solidFill>
                <a:latin typeface="Garamond"/>
                <a:ea typeface="Garamond"/>
                <a:cs typeface="Garamond"/>
              </a:rPr>
              <a:t>Inference</a:t>
            </a:r>
            <a:r>
              <a:rPr sz="2600" b="0" i="0">
                <a:solidFill>
                  <a:srgbClr val="000000"/>
                </a:solidFill>
                <a:latin typeface="Garamond"/>
                <a:ea typeface="Garamond"/>
                <a:cs typeface="Garamond"/>
              </a:rPr>
              <a:t>: Programme generation through text</a:t>
            </a:r>
            <a:r>
              <a:t> </a:t>
            </a:r>
            <a:r>
              <a:rPr sz="2600" b="0" i="0">
                <a:solidFill>
                  <a:srgbClr val="000000"/>
                </a:solidFill>
                <a:latin typeface="Garamond"/>
                <a:ea typeface="Garamond"/>
                <a:cs typeface="Garamond"/>
              </a:rPr>
              <a:t>completion; conversational address through Leader Lars.</a:t>
            </a:r>
          </a:p>
        </p:txBody>
      </p:sp>
      <p:sp>
        <p:nvSpPr>
          <p:cNvPr id="126" name="5.4 · Caption">
            <a:extLst>
              <a:ext uri="{FF2B5EF4-FFF2-40B4-BE49-F238E27FC236}">
                <a16:creationId xmlns:a16="http://schemas.microsoft.com/office/drawing/2014/main" id="{6AC9A5C5-FD1B-4EB8-8E76-728299DE6EA7}"/>
              </a:ext>
            </a:extLst>
          </p:cNvPr>
          <p:cNvSpPr>
            <a:spLocks noGrp="1"/>
          </p:cNvSpPr>
          <p:nvPr/>
        </p:nvSpPr>
        <p:spPr>
          <a:xfrm>
            <a:off x="571500" y="6023610"/>
            <a:ext cx="11049000" cy="300990"/>
          </a:xfrm>
          <a:prstGeom prst="rect">
            <a:avLst/>
          </a:prstGeom>
          <a:noFill/>
          <a:ln w="0">
            <a:noFill/>
          </a:ln>
        </p:spPr>
        <p:txBody>
          <a:bodyPr wrap="square" lIns="0" tIns="0" rIns="0" bIns="0" anchor="t">
            <a:noAutofit/>
          </a:bodyPr>
          <a:lstStyle/>
          <a:p>
            <a:pPr algn="ctr">
              <a:lnSpc>
                <a:spcPct val="108000"/>
              </a:lnSpc>
              <a:defRPr sz="1650" b="0" i="1">
                <a:solidFill>
                  <a:srgbClr val="000000"/>
                </a:solidFill>
                <a:latin typeface="Garamond"/>
                <a:ea typeface="Garamond"/>
                <a:cs typeface="Garamond"/>
              </a:defRPr>
            </a:pPr>
            <a:r>
              <a:rPr sz="1650" b="0" i="1">
                <a:solidFill>
                  <a:srgbClr val="000000"/>
                </a:solidFill>
                <a:latin typeface="Garamond"/>
                <a:ea typeface="Garamond"/>
                <a:cs typeface="Garamond"/>
              </a:rPr>
              <a:t>EleutherAI, GPT-NeoX-20B. Model weights released 9 February 2022.</a:t>
            </a:r>
          </a:p>
        </p:txBody>
      </p:sp>
      <p:sp>
        <p:nvSpPr>
          <p:cNvPr id="127" name="5.4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EleutherAI 2022; Staunæs 2026: 43–48.</a:t>
            </a:r>
          </a:p>
        </p:txBody>
      </p:sp>
    </p:spTree>
    <p:extLst>
      <p:ext uri="{BB962C8B-B14F-4D97-AF65-F5344CB8AC3E}">
        <p14:creationId xmlns:p14="http://schemas.microsoft.com/office/powerpoint/2010/main" val="712170072"/>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23">
                                      <p:txEl>
                                        <p:pRg st="0" end="0"/>
                                      </p:txEl>
                                    </p:spTgt>
                                  </p:tgtEl>
                                  <p:attrNameLst>
                                    <p:attrName>style.visibility</p:attrName>
                                  </p:attrNameLst>
                                </p:cBhvr>
                                <p:to>
                                  <p:strVal val="visible"/>
                                </p:to>
                              </p:set>
                            </p:childTnLst>
                          </p:cTn>
                        </p:par>
                        <p:par>
                          <p:cTn id="6" presetID="1" presetClass="entr" presetSubtype="0" fill="hold" nodeType="withEffect">
                            <p:stCondLst>
                              <p:cond delay="645"/>
                            </p:stCondLst>
                            <p:iterate type="lt">
                              <p:tmAbs val="11"/>
                            </p:iterate>
                            <p:childTnLst>
                              <p:set>
                                <p:cBhvr>
                                  <p:cTn id="7" dur="1" fill="hold">
                                    <p:stCondLst>
                                      <p:cond delay="0"/>
                                    </p:stCondLst>
                                  </p:cTn>
                                  <p:tgtEl>
                                    <p:spTgt spid="124">
                                      <p:txEl>
                                        <p:pRg st="0" end="0"/>
                                      </p:txEl>
                                    </p:spTgt>
                                  </p:tgtEl>
                                  <p:attrNameLst>
                                    <p:attrName>style.visibility</p:attrName>
                                  </p:attrNameLst>
                                </p:cBhvr>
                                <p:to>
                                  <p:strVal val="visible"/>
                                </p:to>
                              </p:set>
                            </p:childTnLst>
                          </p:cTn>
                        </p:par>
                        <p:par>
                          <p:cTn id="8" presetID="1" presetClass="entr" presetSubtype="0" fill="hold" nodeType="withEffect">
                            <p:stCondLst>
                              <p:cond delay="1213"/>
                            </p:stCondLst>
                            <p:iterate type="lt">
                              <p:tmAbs val="11"/>
                            </p:iterate>
                            <p:childTnLst>
                              <p:set>
                                <p:cBhvr>
                                  <p:cTn id="9" dur="1" fill="hold">
                                    <p:stCondLst>
                                      <p:cond delay="0"/>
                                    </p:stCondLst>
                                  </p:cTn>
                                  <p:tgtEl>
                                    <p:spTgt spid="125">
                                      <p:txEl>
                                        <p:pRg st="0" end="0"/>
                                      </p:txEl>
                                    </p:spTgt>
                                  </p:tgtEl>
                                  <p:attrNameLst>
                                    <p:attrName>style.visibility</p:attrName>
                                  </p:attrNameLst>
                                </p:cBhvr>
                                <p:to>
                                  <p:strVal val="visible"/>
                                </p:to>
                              </p:set>
                            </p:childTnLst>
                          </p:cTn>
                        </p:par>
                      </p:childTnLst>
                    </p:cTn>
                  </p:par>
                </p:childTnLst>
              </p:cTn>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6.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6.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6.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sp>
        <p:nvSpPr>
          <p:cNvPr id="104" name="6.0 · ARTICLE 1 · DIALOGIC INSIDER-ANALYSIS"/>
          <p:cNvSpPr>
            <a:spLocks noGrp="1"/>
          </p:cNvSpPr>
          <p:nvPr/>
        </p:nvSpPr>
        <p:spPr>
          <a:xfrm>
            <a:off x="7334250" y="1390650"/>
            <a:ext cx="4333875" cy="547878"/>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dirty="0">
                <a:solidFill>
                  <a:srgbClr val="FF0000"/>
                </a:solidFill>
                <a:latin typeface="Consolas"/>
                <a:ea typeface="Consolas"/>
                <a:cs typeface="Consolas"/>
              </a:rPr>
              <a:t>ARTICLE 1 ·</a:t>
            </a:r>
          </a:p>
          <a:p>
            <a:pPr algn="l">
              <a:lnSpc>
                <a:spcPct val="108000"/>
              </a:lnSpc>
              <a:defRPr sz="1725" b="0" i="0">
                <a:solidFill>
                  <a:srgbClr val="000000"/>
                </a:solidFill>
                <a:latin typeface="Consolas"/>
                <a:ea typeface="Consolas"/>
                <a:cs typeface="Consolas"/>
              </a:defRPr>
            </a:pPr>
            <a:r>
              <a:rPr sz="1725" b="0" i="0" dirty="0">
                <a:solidFill>
                  <a:srgbClr val="FF0000"/>
                </a:solidFill>
                <a:latin typeface="Consolas"/>
                <a:ea typeface="Consolas"/>
                <a:cs typeface="Consolas"/>
              </a:rPr>
              <a:t>DIALOGIC INSIDER-ANALYSIS</a:t>
            </a:r>
          </a:p>
        </p:txBody>
      </p:sp>
      <p:sp>
        <p:nvSpPr>
          <p:cNvPr id="105" name="6.0 · Partido sintético y líder Lars: sobre la representació"/>
          <p:cNvSpPr>
            <a:spLocks noGrp="1"/>
          </p:cNvSpPr>
          <p:nvPr/>
        </p:nvSpPr>
        <p:spPr>
          <a:xfrm>
            <a:off x="7334250" y="2071878"/>
            <a:ext cx="4333875" cy="1113282"/>
          </a:xfrm>
          <a:prstGeom prst="rect">
            <a:avLst/>
          </a:prstGeom>
          <a:noFill/>
          <a:ln w="0">
            <a:noFill/>
          </a:ln>
        </p:spPr>
        <p:txBody>
          <a:bodyPr wrap="square" lIns="0" tIns="0" rIns="0" bIns="0" anchor="t">
            <a:noAutofit/>
          </a:bodyPr>
          <a:lstStyle/>
          <a:p>
            <a:pPr algn="l">
              <a:lnSpc>
                <a:spcPct val="108000"/>
              </a:lnSpc>
              <a:defRPr sz="2475" b="0" i="1">
                <a:solidFill>
                  <a:srgbClr val="000000"/>
                </a:solidFill>
                <a:latin typeface="Garamond"/>
                <a:ea typeface="Garamond"/>
                <a:cs typeface="Garamond"/>
              </a:defRPr>
            </a:pPr>
            <a:r>
              <a:rPr sz="2475" b="0" i="1" dirty="0">
                <a:solidFill>
                  <a:srgbClr val="000000"/>
                </a:solidFill>
                <a:latin typeface="Garamond"/>
                <a:ea typeface="Garamond"/>
                <a:cs typeface="Garamond"/>
              </a:rPr>
              <a:t>Partido </a:t>
            </a:r>
            <a:r>
              <a:rPr sz="2475" b="0" i="1" dirty="0" err="1">
                <a:solidFill>
                  <a:srgbClr val="000000"/>
                </a:solidFill>
                <a:latin typeface="Garamond"/>
                <a:ea typeface="Garamond"/>
                <a:cs typeface="Garamond"/>
              </a:rPr>
              <a:t>sintético</a:t>
            </a:r>
            <a:r>
              <a:rPr sz="2475" b="0" i="1" dirty="0">
                <a:solidFill>
                  <a:srgbClr val="000000"/>
                </a:solidFill>
                <a:latin typeface="Garamond"/>
                <a:ea typeface="Garamond"/>
                <a:cs typeface="Garamond"/>
              </a:rPr>
              <a:t> y </a:t>
            </a:r>
            <a:r>
              <a:rPr sz="2475" b="0" i="1" dirty="0" err="1">
                <a:solidFill>
                  <a:srgbClr val="000000"/>
                </a:solidFill>
                <a:latin typeface="Garamond"/>
                <a:ea typeface="Garamond"/>
                <a:cs typeface="Garamond"/>
              </a:rPr>
              <a:t>líder</a:t>
            </a:r>
            <a:r>
              <a:rPr sz="2475" b="0" i="1" dirty="0">
                <a:solidFill>
                  <a:srgbClr val="000000"/>
                </a:solidFill>
                <a:latin typeface="Garamond"/>
                <a:ea typeface="Garamond"/>
                <a:cs typeface="Garamond"/>
              </a:rPr>
              <a:t> Lars:</a:t>
            </a:r>
          </a:p>
          <a:p>
            <a:pPr algn="l">
              <a:lnSpc>
                <a:spcPct val="108000"/>
              </a:lnSpc>
              <a:defRPr sz="2475" b="0" i="1">
                <a:solidFill>
                  <a:srgbClr val="000000"/>
                </a:solidFill>
                <a:latin typeface="Garamond"/>
                <a:ea typeface="Garamond"/>
                <a:cs typeface="Garamond"/>
              </a:defRPr>
            </a:pPr>
            <a:r>
              <a:rPr sz="2475" b="0" i="1" dirty="0" err="1">
                <a:solidFill>
                  <a:srgbClr val="000000"/>
                </a:solidFill>
                <a:latin typeface="Garamond"/>
                <a:ea typeface="Garamond"/>
                <a:cs typeface="Garamond"/>
              </a:rPr>
              <a:t>sobre</a:t>
            </a:r>
            <a:r>
              <a:rPr sz="2475" b="0" i="1" dirty="0">
                <a:solidFill>
                  <a:srgbClr val="000000"/>
                </a:solidFill>
                <a:latin typeface="Garamond"/>
                <a:ea typeface="Garamond"/>
                <a:cs typeface="Garamond"/>
              </a:rPr>
              <a:t> la </a:t>
            </a:r>
            <a:r>
              <a:rPr sz="2475" b="0" i="1" dirty="0" err="1">
                <a:solidFill>
                  <a:srgbClr val="000000"/>
                </a:solidFill>
                <a:latin typeface="Garamond"/>
                <a:ea typeface="Garamond"/>
                <a:cs typeface="Garamond"/>
              </a:rPr>
              <a:t>representación</a:t>
            </a:r>
            <a:r>
              <a:rPr sz="2475" b="0" i="1" dirty="0">
                <a:solidFill>
                  <a:srgbClr val="000000"/>
                </a:solidFill>
                <a:latin typeface="Garamond"/>
                <a:ea typeface="Garamond"/>
                <a:cs typeface="Garamond"/>
              </a:rPr>
              <a:t> </a:t>
            </a:r>
            <a:r>
              <a:rPr sz="2475" b="0" i="1" dirty="0" err="1">
                <a:solidFill>
                  <a:srgbClr val="000000"/>
                </a:solidFill>
                <a:latin typeface="Garamond"/>
                <a:ea typeface="Garamond"/>
                <a:cs typeface="Garamond"/>
              </a:rPr>
              <a:t>algorítmica</a:t>
            </a:r>
            <a:endParaRPr sz="2475" b="0" i="1" dirty="0">
              <a:solidFill>
                <a:srgbClr val="000000"/>
              </a:solidFill>
              <a:latin typeface="Garamond"/>
              <a:ea typeface="Garamond"/>
              <a:cs typeface="Garamond"/>
            </a:endParaRPr>
          </a:p>
          <a:p>
            <a:pPr algn="l">
              <a:lnSpc>
                <a:spcPct val="108000"/>
              </a:lnSpc>
              <a:defRPr sz="2475" b="0" i="1">
                <a:solidFill>
                  <a:srgbClr val="000000"/>
                </a:solidFill>
                <a:latin typeface="Garamond"/>
                <a:ea typeface="Garamond"/>
                <a:cs typeface="Garamond"/>
              </a:defRPr>
            </a:pPr>
            <a:r>
              <a:rPr sz="2475" b="0" i="1" dirty="0" err="1">
                <a:solidFill>
                  <a:srgbClr val="000000"/>
                </a:solidFill>
                <a:latin typeface="Garamond"/>
                <a:ea typeface="Garamond"/>
                <a:cs typeface="Garamond"/>
              </a:rPr>
              <a:t>en</a:t>
            </a:r>
            <a:r>
              <a:rPr sz="2475" b="0" i="1" dirty="0">
                <a:solidFill>
                  <a:srgbClr val="000000"/>
                </a:solidFill>
                <a:latin typeface="Garamond"/>
                <a:ea typeface="Garamond"/>
                <a:cs typeface="Garamond"/>
              </a:rPr>
              <a:t> la </a:t>
            </a:r>
            <a:r>
              <a:rPr sz="2475" b="0" i="1" dirty="0" err="1">
                <a:solidFill>
                  <a:srgbClr val="000000"/>
                </a:solidFill>
                <a:latin typeface="Garamond"/>
                <a:ea typeface="Garamond"/>
                <a:cs typeface="Garamond"/>
              </a:rPr>
              <a:t>democracia</a:t>
            </a:r>
            <a:r>
              <a:rPr sz="2475" b="0" i="1" dirty="0">
                <a:solidFill>
                  <a:srgbClr val="000000"/>
                </a:solidFill>
                <a:latin typeface="Garamond"/>
                <a:ea typeface="Garamond"/>
                <a:cs typeface="Garamond"/>
              </a:rPr>
              <a:t> </a:t>
            </a:r>
            <a:r>
              <a:rPr sz="2475" b="0" i="1" dirty="0" err="1">
                <a:solidFill>
                  <a:srgbClr val="000000"/>
                </a:solidFill>
                <a:latin typeface="Garamond"/>
                <a:ea typeface="Garamond"/>
                <a:cs typeface="Garamond"/>
              </a:rPr>
              <a:t>política</a:t>
            </a:r>
            <a:r>
              <a:rPr sz="2475" b="0" i="1" dirty="0">
                <a:solidFill>
                  <a:srgbClr val="000000"/>
                </a:solidFill>
                <a:latin typeface="Garamond"/>
                <a:ea typeface="Garamond"/>
                <a:cs typeface="Garamond"/>
              </a:rPr>
              <a:t>.</a:t>
            </a:r>
          </a:p>
        </p:txBody>
      </p:sp>
      <p:sp>
        <p:nvSpPr>
          <p:cNvPr id="106" name="6.0 · Asker Bryld Staunæs &amp; Computer Lars (2024).&#10;Èditorial "/>
          <p:cNvSpPr>
            <a:spLocks noGrp="1"/>
          </p:cNvSpPr>
          <p:nvPr/>
        </p:nvSpPr>
        <p:spPr>
          <a:xfrm>
            <a:off x="7334250" y="3413760"/>
            <a:ext cx="4333875" cy="825246"/>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dirty="0">
                <a:solidFill>
                  <a:srgbClr val="000000"/>
                </a:solidFill>
                <a:latin typeface="Consolas"/>
                <a:ea typeface="Consolas"/>
                <a:cs typeface="Consolas"/>
              </a:rPr>
              <a:t>Asker Bryld Staunæs &amp;</a:t>
            </a:r>
          </a:p>
          <a:p>
            <a:pPr algn="l">
              <a:lnSpc>
                <a:spcPct val="108000"/>
              </a:lnSpc>
              <a:defRPr sz="1800" b="0" i="0">
                <a:solidFill>
                  <a:srgbClr val="000000"/>
                </a:solidFill>
                <a:latin typeface="Consolas"/>
                <a:ea typeface="Consolas"/>
                <a:cs typeface="Consolas"/>
              </a:defRPr>
            </a:pPr>
            <a:r>
              <a:rPr sz="1800" b="0" i="0" dirty="0">
                <a:solidFill>
                  <a:srgbClr val="000000"/>
                </a:solidFill>
                <a:latin typeface="Consolas"/>
                <a:ea typeface="Consolas"/>
                <a:cs typeface="Consolas"/>
              </a:rPr>
              <a:t>Computer Lars (2024).</a:t>
            </a:r>
          </a:p>
          <a:p>
            <a:pPr algn="l">
              <a:lnSpc>
                <a:spcPct val="108000"/>
              </a:lnSpc>
              <a:defRPr sz="1800" b="0" i="0">
                <a:solidFill>
                  <a:srgbClr val="000000"/>
                </a:solidFill>
                <a:latin typeface="Consolas"/>
                <a:ea typeface="Consolas"/>
                <a:cs typeface="Consolas"/>
              </a:defRPr>
            </a:pPr>
            <a:r>
              <a:rPr sz="1800" b="0" i="1" dirty="0" err="1">
                <a:solidFill>
                  <a:srgbClr val="000000"/>
                </a:solidFill>
                <a:latin typeface="Consolas"/>
                <a:ea typeface="Consolas"/>
                <a:cs typeface="Consolas"/>
              </a:rPr>
              <a:t>Èditorial</a:t>
            </a:r>
            <a:r>
              <a:rPr sz="1800" b="0" i="1" dirty="0">
                <a:solidFill>
                  <a:srgbClr val="000000"/>
                </a:solidFill>
                <a:latin typeface="Consolas"/>
                <a:ea typeface="Consolas"/>
                <a:cs typeface="Consolas"/>
              </a:rPr>
              <a:t> </a:t>
            </a:r>
            <a:r>
              <a:rPr sz="1800" b="0" i="1" dirty="0" err="1">
                <a:solidFill>
                  <a:srgbClr val="000000"/>
                </a:solidFill>
                <a:latin typeface="Consolas"/>
                <a:ea typeface="Consolas"/>
                <a:cs typeface="Consolas"/>
              </a:rPr>
              <a:t>Concreta</a:t>
            </a:r>
            <a:r>
              <a:rPr sz="1800" b="0" i="0" dirty="0">
                <a:solidFill>
                  <a:srgbClr val="000000"/>
                </a:solidFill>
                <a:latin typeface="Consolas"/>
                <a:ea typeface="Consolas"/>
                <a:cs typeface="Consolas"/>
              </a:rPr>
              <a:t> 23: 84–97.</a:t>
            </a:r>
          </a:p>
        </p:txBody>
      </p:sp>
      <p:sp>
        <p:nvSpPr>
          <p:cNvPr id="107" name="6.0 · Caption">
            <a:extLst>
              <a:ext uri="{FF2B5EF4-FFF2-40B4-BE49-F238E27FC236}">
                <a16:creationId xmlns:a16="http://schemas.microsoft.com/office/drawing/2014/main" id="{B7D26832-EF54-42EA-8100-9A696D3D4159}"/>
              </a:ext>
            </a:extLst>
          </p:cNvPr>
          <p:cNvSpPr>
            <a:spLocks noGrp="1"/>
          </p:cNvSpPr>
          <p:nvPr/>
        </p:nvSpPr>
        <p:spPr>
          <a:xfrm>
            <a:off x="476250" y="5121402"/>
            <a:ext cx="63817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Text2Emotion </a:t>
            </a:r>
            <a:r>
              <a:rPr sz="1725" b="0" i="1" dirty="0" err="1">
                <a:solidFill>
                  <a:srgbClr val="000000"/>
                </a:solidFill>
                <a:latin typeface="Garamond"/>
                <a:ea typeface="Garamond"/>
                <a:cs typeface="Garamond"/>
              </a:rPr>
              <a:t>analys</a:t>
            </a:r>
            <a:r>
              <a:rPr lang="da-DK" sz="1725" b="0" i="1" dirty="0">
                <a:solidFill>
                  <a:srgbClr val="000000"/>
                </a:solidFill>
                <a:latin typeface="Garamond"/>
                <a:ea typeface="Garamond"/>
                <a:cs typeface="Garamond"/>
              </a:rPr>
              <a:t>is</a:t>
            </a:r>
            <a:r>
              <a:rPr sz="1725" b="0" i="1" dirty="0">
                <a:solidFill>
                  <a:srgbClr val="000000"/>
                </a:solidFill>
                <a:latin typeface="Garamond"/>
                <a:ea typeface="Garamond"/>
                <a:cs typeface="Garamond"/>
              </a:rPr>
              <a:t> of Leader Lars and “party members”.</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Article 1, figure reproduced from </a:t>
            </a:r>
            <a:r>
              <a:rPr sz="1725" b="0" i="1" dirty="0" err="1">
                <a:solidFill>
                  <a:srgbClr val="000000"/>
                </a:solidFill>
                <a:latin typeface="Garamond"/>
                <a:ea typeface="Garamond"/>
                <a:cs typeface="Garamond"/>
              </a:rPr>
              <a:t>Èditorial</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Concreta</a:t>
            </a:r>
            <a:r>
              <a:rPr sz="1725" b="0" i="1" dirty="0">
                <a:solidFill>
                  <a:srgbClr val="000000"/>
                </a:solidFill>
                <a:latin typeface="Garamond"/>
                <a:ea typeface="Garamond"/>
                <a:cs typeface="Garamond"/>
              </a:rPr>
              <a:t>, p. 89.</a:t>
            </a:r>
          </a:p>
        </p:txBody>
      </p:sp>
      <p:sp>
        <p:nvSpPr>
          <p:cNvPr id="108" name="6.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138–139.</a:t>
            </a:r>
          </a:p>
        </p:txBody>
      </p:sp>
      <p:pic>
        <p:nvPicPr>
          <p:cNvPr id="110" name="6.0 · image14"/>
          <p:cNvPicPr>
            <a:picLocks noChangeAspect="1"/>
          </p:cNvPicPr>
          <p:nvPr/>
        </p:nvPicPr>
        <p:blipFill>
          <a:blip r:embed="rId3"/>
          <a:srcRect t="56941"/>
          <a:stretch/>
        </p:blipFill>
        <p:spPr>
          <a:xfrm>
            <a:off x="785446" y="1424905"/>
            <a:ext cx="5931877" cy="3681243"/>
          </a:xfrm>
          <a:prstGeom prst="rect">
            <a:avLst/>
          </a:prstGeom>
        </p:spPr>
      </p:pic>
    </p:spTree>
    <p:extLst>
      <p:ext uri="{BB962C8B-B14F-4D97-AF65-F5344CB8AC3E}">
        <p14:creationId xmlns:p14="http://schemas.microsoft.com/office/powerpoint/2010/main" val="1101848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6.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6.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6.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pic>
        <p:nvPicPr>
          <p:cNvPr id="111" name="6.1 · image15"/>
          <p:cNvPicPr>
            <a:picLocks noChangeAspect="1"/>
          </p:cNvPicPr>
          <p:nvPr/>
        </p:nvPicPr>
        <p:blipFill>
          <a:blip r:embed="rId3"/>
          <a:stretch/>
        </p:blipFill>
        <p:spPr>
          <a:xfrm>
            <a:off x="979597" y="1495425"/>
            <a:ext cx="5517931" cy="4000500"/>
          </a:xfrm>
          <a:prstGeom prst="rect">
            <a:avLst/>
          </a:prstGeom>
        </p:spPr>
      </p:pic>
      <p:sp>
        <p:nvSpPr>
          <p:cNvPr id="112" name="6.1 · ARTICLE 2 · SPECULATIVE MATHEMATICAL ESSAY"/>
          <p:cNvSpPr>
            <a:spLocks noGrp="1"/>
          </p:cNvSpPr>
          <p:nvPr/>
        </p:nvSpPr>
        <p:spPr>
          <a:xfrm>
            <a:off x="7334250" y="1390650"/>
            <a:ext cx="4333875" cy="526542"/>
          </a:xfrm>
          <a:prstGeom prst="rect">
            <a:avLst/>
          </a:prstGeom>
          <a:noFill/>
          <a:ln w="0">
            <a:noFill/>
          </a:ln>
        </p:spPr>
        <p:txBody>
          <a:bodyPr wrap="square" lIns="0" tIns="0" rIns="0" bIns="0" anchor="t">
            <a:noAutofit/>
          </a:bodyPr>
          <a:lstStyle/>
          <a:p>
            <a:pPr algn="l">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ARTICLE 2 · SPECULATIVE</a:t>
            </a:r>
          </a:p>
          <a:p>
            <a:pPr algn="l">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MATHEMATICAL ESSAY</a:t>
            </a:r>
          </a:p>
        </p:txBody>
      </p:sp>
      <p:sp>
        <p:nvSpPr>
          <p:cNvPr id="113" name="6.1 · A Model for Proustian Decay: Estimating the Value of I"/>
          <p:cNvSpPr>
            <a:spLocks noGrp="1"/>
          </p:cNvSpPr>
          <p:nvPr/>
        </p:nvSpPr>
        <p:spPr>
          <a:xfrm>
            <a:off x="7334250" y="2050542"/>
            <a:ext cx="4333875" cy="1113282"/>
          </a:xfrm>
          <a:prstGeom prst="rect">
            <a:avLst/>
          </a:prstGeom>
          <a:noFill/>
          <a:ln w="0">
            <a:noFill/>
          </a:ln>
        </p:spPr>
        <p:txBody>
          <a:bodyPr wrap="square" lIns="0" tIns="0" rIns="0" bIns="0" anchor="t">
            <a:noAutofit/>
          </a:bodyPr>
          <a:lstStyle/>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A Model for Proustian Decay:</a:t>
            </a:r>
          </a:p>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Estimating the Value of</a:t>
            </a:r>
          </a:p>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Intelligence in the Age of Unreason.</a:t>
            </a:r>
          </a:p>
        </p:txBody>
      </p:sp>
      <p:sp>
        <p:nvSpPr>
          <p:cNvPr id="114" name="6.1 · Asker Bryld Staunæs &amp; Computer Lars (2024).&#10;Nordic Jou"/>
          <p:cNvSpPr>
            <a:spLocks noGrp="1"/>
          </p:cNvSpPr>
          <p:nvPr/>
        </p:nvSpPr>
        <p:spPr>
          <a:xfrm>
            <a:off x="7334250" y="3392424"/>
            <a:ext cx="4333875" cy="1081278"/>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Asker Bryld Staunæs &amp; Computer</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Lars (2024). </a:t>
            </a:r>
            <a:r>
              <a:rPr sz="1800" b="0" i="1">
                <a:solidFill>
                  <a:srgbClr val="000000"/>
                </a:solidFill>
                <a:latin typeface="Consolas"/>
                <a:ea typeface="Consolas"/>
                <a:cs typeface="Consolas"/>
              </a:rPr>
              <a:t>Nordic Journal</a:t>
            </a:r>
          </a:p>
          <a:p>
            <a:pPr algn="l">
              <a:lnSpc>
                <a:spcPct val="108000"/>
              </a:lnSpc>
              <a:defRPr sz="1800" b="0" i="0">
                <a:solidFill>
                  <a:srgbClr val="000000"/>
                </a:solidFill>
                <a:latin typeface="Consolas"/>
                <a:ea typeface="Consolas"/>
                <a:cs typeface="Consolas"/>
              </a:defRPr>
            </a:pPr>
            <a:r>
              <a:rPr sz="1800" b="0" i="1">
                <a:solidFill>
                  <a:srgbClr val="000000"/>
                </a:solidFill>
                <a:latin typeface="Consolas"/>
                <a:ea typeface="Consolas"/>
                <a:cs typeface="Consolas"/>
              </a:rPr>
              <a:t>of Aesthetics</a:t>
            </a:r>
            <a:r>
              <a:rPr sz="1800" b="0" i="0">
                <a:solidFill>
                  <a:srgbClr val="000000"/>
                </a:solidFill>
                <a:latin typeface="Consolas"/>
                <a:ea typeface="Consolas"/>
                <a:cs typeface="Consolas"/>
              </a:rPr>
              <a:t> 33(67): 184–202.</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DOI: 10.7146/nja.v33i67.148465.</a:t>
            </a:r>
          </a:p>
        </p:txBody>
      </p:sp>
      <p:sp>
        <p:nvSpPr>
          <p:cNvPr id="115" name="6.1 · Caption">
            <a:extLst>
              <a:ext uri="{FF2B5EF4-FFF2-40B4-BE49-F238E27FC236}">
                <a16:creationId xmlns:a16="http://schemas.microsoft.com/office/drawing/2014/main" id="{645476A8-DED5-4ACC-AF0D-575297090343}"/>
              </a:ext>
            </a:extLst>
          </p:cNvPr>
          <p:cNvSpPr>
            <a:spLocks noGrp="1"/>
          </p:cNvSpPr>
          <p:nvPr/>
        </p:nvSpPr>
        <p:spPr>
          <a:xfrm>
            <a:off x="642937" y="5634513"/>
            <a:ext cx="6191250" cy="313373"/>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FF0000"/>
                </a:solidFill>
                <a:latin typeface="Garamond"/>
                <a:ea typeface="Garamond"/>
                <a:cs typeface="Garamond"/>
              </a:rPr>
              <a:t>Figure 2.2</a:t>
            </a:r>
            <a:r>
              <a:rPr sz="1725" b="0" i="1" dirty="0">
                <a:solidFill>
                  <a:srgbClr val="000000"/>
                </a:solidFill>
                <a:latin typeface="Garamond"/>
                <a:ea typeface="Garamond"/>
                <a:cs typeface="Garamond"/>
              </a:rPr>
              <a:t>: Value of Intelligence over Time.</a:t>
            </a:r>
          </a:p>
        </p:txBody>
      </p:sp>
      <p:sp>
        <p:nvSpPr>
          <p:cNvPr id="116" name="6.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160–161.</a:t>
            </a:r>
          </a:p>
        </p:txBody>
      </p:sp>
    </p:spTree>
    <p:extLst>
      <p:ext uri="{BB962C8B-B14F-4D97-AF65-F5344CB8AC3E}">
        <p14:creationId xmlns:p14="http://schemas.microsoft.com/office/powerpoint/2010/main" val="1101848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6.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6.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6.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sp>
        <p:nvSpPr>
          <p:cNvPr id="116" name="6.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160–161.</a:t>
            </a:r>
          </a:p>
        </p:txBody>
      </p:sp>
      <p:pic>
        <p:nvPicPr>
          <p:cNvPr id="117" name="6.2 · image15"/>
          <p:cNvPicPr>
            <a:picLocks noChangeAspect="1"/>
          </p:cNvPicPr>
          <p:nvPr/>
        </p:nvPicPr>
        <p:blipFill>
          <a:blip r:embed="rId3"/>
          <a:stretch/>
        </p:blipFill>
        <p:spPr>
          <a:xfrm>
            <a:off x="1322333" y="1533525"/>
            <a:ext cx="5546835" cy="4021455"/>
          </a:xfrm>
          <a:prstGeom prst="rect">
            <a:avLst/>
          </a:prstGeom>
        </p:spPr>
      </p:pic>
      <p:sp>
        <p:nvSpPr>
          <p:cNvPr id="118" name="6.2 · “Chaque jour j’attache moins de prix à l’intelligence.”"/>
          <p:cNvSpPr>
            <a:spLocks noGrp="1"/>
          </p:cNvSpPr>
          <p:nvPr/>
        </p:nvSpPr>
        <p:spPr>
          <a:xfrm>
            <a:off x="8096250" y="1857375"/>
            <a:ext cx="3476625" cy="1401318"/>
          </a:xfrm>
          <a:prstGeom prst="rect">
            <a:avLst/>
          </a:prstGeom>
          <a:noFill/>
          <a:ln w="0">
            <a:noFill/>
          </a:ln>
        </p:spPr>
        <p:txBody>
          <a:bodyPr wrap="square" lIns="0" tIns="0" rIns="0" bIns="0" anchor="t">
            <a:noAutofit/>
          </a:bodyPr>
          <a:lstStyle/>
          <a:p>
            <a:pPr algn="l">
              <a:lnSpc>
                <a:spcPct val="108000"/>
              </a:lnSpc>
              <a:defRPr sz="3150" b="0" i="1">
                <a:solidFill>
                  <a:srgbClr val="000000"/>
                </a:solidFill>
                <a:latin typeface="Garamond"/>
                <a:ea typeface="Garamond"/>
                <a:cs typeface="Garamond"/>
              </a:defRPr>
            </a:pPr>
            <a:r>
              <a:rPr sz="3150" b="0" i="1">
                <a:solidFill>
                  <a:srgbClr val="000000"/>
                </a:solidFill>
                <a:latin typeface="Garamond"/>
                <a:ea typeface="Garamond"/>
                <a:cs typeface="Garamond"/>
              </a:rPr>
              <a:t>“Chaque jour</a:t>
            </a:r>
          </a:p>
          <a:p>
            <a:pPr algn="l">
              <a:lnSpc>
                <a:spcPct val="108000"/>
              </a:lnSpc>
              <a:defRPr sz="3150" b="0" i="1">
                <a:solidFill>
                  <a:srgbClr val="000000"/>
                </a:solidFill>
                <a:latin typeface="Garamond"/>
                <a:ea typeface="Garamond"/>
                <a:cs typeface="Garamond"/>
              </a:defRPr>
            </a:pPr>
            <a:r>
              <a:rPr sz="3150" b="0" i="1">
                <a:solidFill>
                  <a:srgbClr val="000000"/>
                </a:solidFill>
                <a:latin typeface="Garamond"/>
                <a:ea typeface="Garamond"/>
                <a:cs typeface="Garamond"/>
              </a:rPr>
              <a:t>j’attache moins de</a:t>
            </a:r>
          </a:p>
          <a:p>
            <a:pPr algn="l">
              <a:lnSpc>
                <a:spcPct val="108000"/>
              </a:lnSpc>
              <a:defRPr sz="3150" b="0" i="1">
                <a:solidFill>
                  <a:srgbClr val="000000"/>
                </a:solidFill>
                <a:latin typeface="Garamond"/>
                <a:ea typeface="Garamond"/>
                <a:cs typeface="Garamond"/>
              </a:defRPr>
            </a:pPr>
            <a:r>
              <a:rPr sz="3150" b="0" i="1">
                <a:solidFill>
                  <a:srgbClr val="000000"/>
                </a:solidFill>
                <a:latin typeface="Garamond"/>
                <a:ea typeface="Garamond"/>
                <a:cs typeface="Garamond"/>
              </a:rPr>
              <a:t>prix à l’intelligence.”</a:t>
            </a:r>
          </a:p>
        </p:txBody>
      </p:sp>
      <p:sp>
        <p:nvSpPr>
          <p:cNvPr id="119" name="6.2 · “Every day I attach less value to intelligence.”"/>
          <p:cNvSpPr>
            <a:spLocks noGrp="1"/>
          </p:cNvSpPr>
          <p:nvPr/>
        </p:nvSpPr>
        <p:spPr>
          <a:xfrm>
            <a:off x="8096250" y="3714750"/>
            <a:ext cx="3476625" cy="953262"/>
          </a:xfrm>
          <a:prstGeom prst="rect">
            <a:avLst/>
          </a:prstGeom>
          <a:noFill/>
          <a:ln w="0">
            <a:noFill/>
          </a:ln>
        </p:spPr>
        <p:txBody>
          <a:bodyPr wrap="square" lIns="0" tIns="0" rIns="0" bIns="0" anchor="t">
            <a:noAutofit/>
          </a:bodyPr>
          <a:lstStyle/>
          <a:p>
            <a:pPr algn="l">
              <a:lnSpc>
                <a:spcPct val="108000"/>
              </a:lnSpc>
              <a:defRPr sz="3150" b="0" i="1">
                <a:solidFill>
                  <a:srgbClr val="000000"/>
                </a:solidFill>
                <a:latin typeface="Garamond"/>
                <a:ea typeface="Garamond"/>
                <a:cs typeface="Garamond"/>
              </a:defRPr>
            </a:pPr>
            <a:r>
              <a:rPr sz="3150" b="0" i="1">
                <a:solidFill>
                  <a:srgbClr val="000000"/>
                </a:solidFill>
                <a:latin typeface="Garamond"/>
                <a:ea typeface="Garamond"/>
                <a:cs typeface="Garamond"/>
              </a:rPr>
              <a:t>“Every day I attach less</a:t>
            </a:r>
          </a:p>
          <a:p>
            <a:pPr algn="l">
              <a:lnSpc>
                <a:spcPct val="108000"/>
              </a:lnSpc>
              <a:defRPr sz="3150" b="0" i="1">
                <a:solidFill>
                  <a:srgbClr val="000000"/>
                </a:solidFill>
                <a:latin typeface="Garamond"/>
                <a:ea typeface="Garamond"/>
                <a:cs typeface="Garamond"/>
              </a:defRPr>
            </a:pPr>
            <a:r>
              <a:rPr sz="3150" b="0" i="1">
                <a:solidFill>
                  <a:srgbClr val="000000"/>
                </a:solidFill>
                <a:latin typeface="Garamond"/>
                <a:ea typeface="Garamond"/>
                <a:cs typeface="Garamond"/>
              </a:rPr>
              <a:t>value to intelligence.”</a:t>
            </a:r>
          </a:p>
        </p:txBody>
      </p:sp>
      <p:sp>
        <p:nvSpPr>
          <p:cNvPr id="120" name="6.2 · Caption">
            <a:extLst>
              <a:ext uri="{FF2B5EF4-FFF2-40B4-BE49-F238E27FC236}">
                <a16:creationId xmlns:a16="http://schemas.microsoft.com/office/drawing/2014/main" id="{96594579-16BD-4AE5-A66C-80643778554F}"/>
              </a:ext>
            </a:extLst>
          </p:cNvPr>
          <p:cNvSpPr>
            <a:spLocks noGrp="1"/>
          </p:cNvSpPr>
          <p:nvPr/>
        </p:nvSpPr>
        <p:spPr>
          <a:xfrm>
            <a:off x="1000126" y="5663565"/>
            <a:ext cx="61912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Marcel Proust, Contre Sainte-Beuve, opening sentence; quoted and</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translated in Article 2. Figure 2.2: Value of Intelligence over Time.</a:t>
            </a:r>
          </a:p>
        </p:txBody>
      </p:sp>
    </p:spTree>
    <p:extLst>
      <p:ext uri="{BB962C8B-B14F-4D97-AF65-F5344CB8AC3E}">
        <p14:creationId xmlns:p14="http://schemas.microsoft.com/office/powerpoint/2010/main" val="110184838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8">
                                      <p:txEl>
                                        <p:pRg st="0" end="0"/>
                                      </p:txEl>
                                    </p:spTgt>
                                  </p:tgtEl>
                                  <p:attrNameLst>
                                    <p:attrName>style.visibility</p:attrName>
                                  </p:attrNameLst>
                                </p:cBhvr>
                                <p:to>
                                  <p:strVal val="visible"/>
                                </p:to>
                              </p:set>
                            </p:childTnLst>
                          </p:cTn>
                        </p:par>
                        <p:par>
                          <p:cTn id="6" presetID="1" presetClass="entr" presetSubtype="0" fill="hold" nodeType="withEffect">
                            <p:stCondLst>
                              <p:cond delay="172"/>
                            </p:stCondLst>
                            <p:iterate type="lt">
                              <p:tmAbs val="11"/>
                            </p:iterate>
                            <p:childTnLst>
                              <p:set>
                                <p:cBhvr>
                                  <p:cTn id="7" dur="1" fill="hold">
                                    <p:stCondLst>
                                      <p:cond delay="0"/>
                                    </p:stCondLst>
                                  </p:cTn>
                                  <p:tgtEl>
                                    <p:spTgt spid="118">
                                      <p:txEl>
                                        <p:pRg st="1" end="1"/>
                                      </p:txEl>
                                    </p:spTgt>
                                  </p:tgtEl>
                                  <p:attrNameLst>
                                    <p:attrName>style.visibility</p:attrName>
                                  </p:attrNameLst>
                                </p:cBhvr>
                                <p:to>
                                  <p:strVal val="visible"/>
                                </p:to>
                              </p:set>
                            </p:childTnLst>
                          </p:cTn>
                        </p:par>
                        <p:par>
                          <p:cTn id="8" presetID="1" presetClass="entr" presetSubtype="0" fill="hold" nodeType="withEffect">
                            <p:stCondLst>
                              <p:cond delay="410"/>
                            </p:stCondLst>
                            <p:iterate type="lt">
                              <p:tmAbs val="11"/>
                            </p:iterate>
                            <p:childTnLst>
                              <p:set>
                                <p:cBhvr>
                                  <p:cTn id="9" dur="1" fill="hold">
                                    <p:stCondLst>
                                      <p:cond delay="0"/>
                                    </p:stCondLst>
                                  </p:cTn>
                                  <p:tgtEl>
                                    <p:spTgt spid="118">
                                      <p:txEl>
                                        <p:pRg st="2" end="2"/>
                                      </p:txEl>
                                    </p:spTgt>
                                  </p:tgtEl>
                                  <p:attrNameLst>
                                    <p:attrName>style.visibility</p:attrName>
                                  </p:attrNameLst>
                                </p:cBhvr>
                                <p:to>
                                  <p:strVal val="visible"/>
                                </p:to>
                              </p:set>
                            </p:childTnLst>
                          </p:cTn>
                        </p:par>
                        <p:par>
                          <p:cTn id="10" presetID="1" presetClass="entr" presetSubtype="0" fill="hold" nodeType="withEffect">
                            <p:stCondLst>
                              <p:cond delay="703"/>
                            </p:stCondLst>
                            <p:iterate type="lt">
                              <p:tmAbs val="11"/>
                            </p:iterate>
                            <p:childTnLst>
                              <p:set>
                                <p:cBhvr>
                                  <p:cTn id="11" dur="1" fill="hold">
                                    <p:stCondLst>
                                      <p:cond delay="0"/>
                                    </p:stCondLst>
                                  </p:cTn>
                                  <p:tgtEl>
                                    <p:spTgt spid="119">
                                      <p:txEl>
                                        <p:pRg st="0" end="0"/>
                                      </p:txEl>
                                    </p:spTgt>
                                  </p:tgtEl>
                                  <p:attrNameLst>
                                    <p:attrName>style.visibility</p:attrName>
                                  </p:attrNameLst>
                                </p:cBhvr>
                                <p:to>
                                  <p:strVal val="visible"/>
                                </p:to>
                              </p:set>
                            </p:childTnLst>
                          </p:cTn>
                        </p:par>
                        <p:par>
                          <p:cTn id="12" presetID="1" presetClass="entr" presetSubtype="0" fill="hold" nodeType="withEffect">
                            <p:stCondLst>
                              <p:cond delay="1007"/>
                            </p:stCondLst>
                            <p:iterate type="lt">
                              <p:tmAbs val="11"/>
                            </p:iterate>
                            <p:childTnLst>
                              <p:set>
                                <p:cBhvr>
                                  <p:cTn id="13" dur="1" fill="hold">
                                    <p:stCondLst>
                                      <p:cond delay="0"/>
                                    </p:stCondLst>
                                  </p:cTn>
                                  <p:tgtEl>
                                    <p:spTgt spid="119">
                                      <p:txEl>
                                        <p:pRg st="1" end="1"/>
                                      </p:txEl>
                                    </p:spTgt>
                                  </p:tgtEl>
                                  <p:attrNameLst>
                                    <p:attrName>style.visibility</p:attrName>
                                  </p:attrNameLst>
                                </p:cBhvr>
                                <p:to>
                                  <p:strVal val="visible"/>
                                </p:to>
                              </p:set>
                            </p:childTnLst>
                          </p:cTn>
                        </p:par>
                      </p:childTnLst>
                    </p:cTn>
                  </p:par>
                </p:childTnLst>
              </p:cTn>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6.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Expressing the Ideological Substrate</a:t>
            </a:r>
          </a:p>
        </p:txBody>
      </p:sp>
      <p:sp>
        <p:nvSpPr>
          <p:cNvPr id="102" name="6.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Build Ideology</a:t>
            </a:r>
          </a:p>
        </p:txBody>
      </p:sp>
      <p:sp>
        <p:nvSpPr>
          <p:cNvPr id="103" name="6.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4/7</a:t>
            </a:r>
          </a:p>
        </p:txBody>
      </p:sp>
      <p:pic>
        <p:nvPicPr>
          <p:cNvPr id="121" name="6.3 · meddelelser-excerpt"/>
          <p:cNvPicPr>
            <a:picLocks noChangeAspect="1"/>
          </p:cNvPicPr>
          <p:nvPr/>
        </p:nvPicPr>
        <p:blipFill>
          <a:blip r:embed="rId3"/>
          <a:stretch/>
        </p:blipFill>
        <p:spPr>
          <a:xfrm>
            <a:off x="761786" y="1419225"/>
            <a:ext cx="6763177" cy="4160520"/>
          </a:xfrm>
          <a:prstGeom prst="rect">
            <a:avLst/>
          </a:prstGeom>
          <a:ln w="12700" cmpd="sng" algn="in">
            <a:solidFill>
              <a:srgbClr val="D5A4A4"/>
            </a:solidFill>
            <a:prstDash val="solid"/>
            <a:miter lim="800000"/>
          </a:ln>
        </p:spPr>
      </p:pic>
      <p:sp>
        <p:nvSpPr>
          <p:cNvPr id="122" name="6.3 · RQ1 · SYNTHESIS ANSWER"/>
          <p:cNvSpPr>
            <a:spLocks noGrp="1"/>
          </p:cNvSpPr>
          <p:nvPr/>
        </p:nvSpPr>
        <p:spPr>
          <a:xfrm>
            <a:off x="8286750" y="1581150"/>
            <a:ext cx="3333750" cy="302514"/>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RQ1 · SYNTHESIS ANSWER</a:t>
            </a:r>
          </a:p>
        </p:txBody>
      </p:sp>
      <p:sp>
        <p:nvSpPr>
          <p:cNvPr id="123" name="6.3 · Ideology appears as expressive, artefactual material whose coherence a"/>
          <p:cNvSpPr>
            <a:spLocks noGrp="1"/>
          </p:cNvSpPr>
          <p:nvPr/>
        </p:nvSpPr>
        <p:spPr>
          <a:xfrm>
            <a:off x="8286750" y="2124075"/>
            <a:ext cx="3333750" cy="1977390"/>
          </a:xfrm>
          <a:prstGeom prst="rect">
            <a:avLst/>
          </a:prstGeom>
          <a:noFill/>
          <a:ln w="0">
            <a:noFill/>
          </a:ln>
        </p:spPr>
        <p:txBody>
          <a:bodyPr wrap="square" lIns="0" tIns="0" rIns="0" bIns="0" anchor="t">
            <a:noAutofit/>
          </a:bodyPr>
          <a:lstStyle/>
          <a:p>
            <a:pPr algn="ctr">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Ideology appears as</a:t>
            </a:r>
            <a:r>
              <a:rPr dirty="0"/>
              <a:t> </a:t>
            </a:r>
            <a:r>
              <a:rPr sz="2700" b="0" i="0" dirty="0">
                <a:solidFill>
                  <a:srgbClr val="000000"/>
                </a:solidFill>
                <a:latin typeface="Garamond"/>
                <a:ea typeface="Garamond"/>
                <a:cs typeface="Garamond"/>
              </a:rPr>
              <a:t>expressive, artefactual</a:t>
            </a:r>
            <a:r>
              <a:rPr dirty="0"/>
              <a:t> </a:t>
            </a:r>
            <a:r>
              <a:rPr sz="2700" b="0" i="0" dirty="0">
                <a:solidFill>
                  <a:srgbClr val="000000"/>
                </a:solidFill>
                <a:latin typeface="Garamond"/>
                <a:ea typeface="Garamond"/>
                <a:cs typeface="Garamond"/>
              </a:rPr>
              <a:t>material whose</a:t>
            </a:r>
            <a:r>
              <a:rPr dirty="0"/>
              <a:t> </a:t>
            </a:r>
            <a:r>
              <a:rPr sz="2700" b="0" i="0" dirty="0">
                <a:solidFill>
                  <a:srgbClr val="000000"/>
                </a:solidFill>
                <a:latin typeface="Garamond"/>
                <a:ea typeface="Garamond"/>
                <a:cs typeface="Garamond"/>
              </a:rPr>
              <a:t>coherence at large</a:t>
            </a:r>
            <a:r>
              <a:rPr dirty="0"/>
              <a:t> </a:t>
            </a:r>
            <a:r>
              <a:rPr sz="2700" b="0" i="0" dirty="0">
                <a:solidFill>
                  <a:srgbClr val="000000"/>
                </a:solidFill>
                <a:latin typeface="Garamond"/>
                <a:ea typeface="Garamond"/>
                <a:cs typeface="Garamond"/>
              </a:rPr>
              <a:t>occurs in reception.</a:t>
            </a:r>
          </a:p>
        </p:txBody>
      </p:sp>
      <p:sp>
        <p:nvSpPr>
          <p:cNvPr id="124" name="6.3 · Caption">
            <a:extLst>
              <a:ext uri="{FF2B5EF4-FFF2-40B4-BE49-F238E27FC236}">
                <a16:creationId xmlns:a16="http://schemas.microsoft.com/office/drawing/2014/main" id="{635088B4-733F-42EF-972E-DD5A2EAECD40}"/>
              </a:ext>
            </a:extLst>
          </p:cNvPr>
          <p:cNvSpPr>
            <a:spLocks noGrp="1"/>
          </p:cNvSpPr>
          <p:nvPr/>
        </p:nvSpPr>
        <p:spPr>
          <a:xfrm>
            <a:off x="489276" y="5675947"/>
            <a:ext cx="7308195" cy="573405"/>
          </a:xfrm>
          <a:prstGeom prst="rect">
            <a:avLst/>
          </a:prstGeom>
          <a:noFill/>
          <a:ln w="0">
            <a:noFill/>
          </a:ln>
        </p:spPr>
        <p:txBody>
          <a:bodyPr wrap="square" lIns="0" tIns="0" rIns="0" bIns="0" anchor="t">
            <a:noAutofit/>
          </a:bodyPr>
          <a:lstStyle/>
          <a:p>
            <a:pPr algn="ctr">
              <a:lnSpc>
                <a:spcPct val="108000"/>
              </a:lnSpc>
              <a:defRPr sz="1650" b="0" i="1">
                <a:solidFill>
                  <a:srgbClr val="000000"/>
                </a:solidFill>
                <a:latin typeface="Garamond"/>
                <a:ea typeface="Garamond"/>
                <a:cs typeface="Garamond"/>
              </a:defRPr>
            </a:pPr>
            <a:r>
              <a:rPr sz="1650" b="0" i="1" dirty="0">
                <a:solidFill>
                  <a:srgbClr val="000000"/>
                </a:solidFill>
                <a:latin typeface="Garamond"/>
                <a:ea typeface="Garamond"/>
                <a:cs typeface="Garamond"/>
              </a:rPr>
              <a:t>Computer Lars / Det Syntetiske Parti, “</a:t>
            </a:r>
            <a:r>
              <a:rPr sz="1650" b="0" i="1" dirty="0" err="1">
                <a:solidFill>
                  <a:srgbClr val="000000"/>
                </a:solidFill>
                <a:latin typeface="Garamond"/>
                <a:ea typeface="Garamond"/>
                <a:cs typeface="Garamond"/>
              </a:rPr>
              <a:t>Meddelelser</a:t>
            </a:r>
            <a:endParaRPr sz="1650" b="0" i="1" dirty="0">
              <a:solidFill>
                <a:srgbClr val="000000"/>
              </a:solidFill>
              <a:latin typeface="Garamond"/>
              <a:ea typeface="Garamond"/>
              <a:cs typeface="Garamond"/>
            </a:endParaRPr>
          </a:p>
          <a:p>
            <a:pPr algn="ctr">
              <a:lnSpc>
                <a:spcPct val="108000"/>
              </a:lnSpc>
              <a:defRPr sz="1650" b="0" i="1">
                <a:solidFill>
                  <a:srgbClr val="000000"/>
                </a:solidFill>
                <a:latin typeface="Garamond"/>
                <a:ea typeface="Garamond"/>
                <a:cs typeface="Garamond"/>
              </a:defRPr>
            </a:pPr>
            <a:r>
              <a:rPr sz="1650" b="0" i="1" dirty="0" err="1">
                <a:solidFill>
                  <a:srgbClr val="000000"/>
                </a:solidFill>
                <a:latin typeface="Garamond"/>
                <a:ea typeface="Garamond"/>
                <a:cs typeface="Garamond"/>
              </a:rPr>
              <a:t>fra</a:t>
            </a:r>
            <a:r>
              <a:rPr sz="1650" b="0" i="1" dirty="0">
                <a:solidFill>
                  <a:srgbClr val="000000"/>
                </a:solidFill>
                <a:latin typeface="Garamond"/>
                <a:ea typeface="Garamond"/>
                <a:cs typeface="Garamond"/>
              </a:rPr>
              <a:t> </a:t>
            </a:r>
            <a:r>
              <a:rPr sz="1650" b="0" i="1" dirty="0" err="1">
                <a:solidFill>
                  <a:srgbClr val="000000"/>
                </a:solidFill>
                <a:latin typeface="Garamond"/>
                <a:ea typeface="Garamond"/>
                <a:cs typeface="Garamond"/>
              </a:rPr>
              <a:t>ledelsen</a:t>
            </a:r>
            <a:r>
              <a:rPr sz="1650" b="0" i="1" dirty="0">
                <a:solidFill>
                  <a:srgbClr val="000000"/>
                </a:solidFill>
                <a:latin typeface="Garamond"/>
                <a:ea typeface="Garamond"/>
                <a:cs typeface="Garamond"/>
              </a:rPr>
              <a:t>”, Medium, 24 March 2022. Excerpt.</a:t>
            </a:r>
          </a:p>
        </p:txBody>
      </p:sp>
      <p:sp>
        <p:nvSpPr>
          <p:cNvPr id="125" name="6.3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24–25, 49–62.</a:t>
            </a:r>
          </a:p>
        </p:txBody>
      </p:sp>
    </p:spTree>
    <p:extLst>
      <p:ext uri="{BB962C8B-B14F-4D97-AF65-F5344CB8AC3E}">
        <p14:creationId xmlns:p14="http://schemas.microsoft.com/office/powerpoint/2010/main" val="110184838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23">
                                      <p:txEl>
                                        <p:pRg st="0" end="0"/>
                                      </p:txEl>
                                    </p:spTgt>
                                  </p:tgtEl>
                                  <p:attrNameLst>
                                    <p:attrName>style.visibility</p:attrName>
                                  </p:attrNameLst>
                                </p:cBhvr>
                                <p:to>
                                  <p:strVal val="visible"/>
                                </p:to>
                              </p:set>
                            </p:childTnLst>
                          </p:cTn>
                        </p:par>
                      </p:childTnLst>
                    </p:cTn>
                  </p:par>
                </p:childTnLst>
              </p:cTn>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7.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Infrastructure as Interface</a:t>
            </a:r>
          </a:p>
        </p:txBody>
      </p:sp>
      <p:sp>
        <p:nvSpPr>
          <p:cNvPr id="102" name="7.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Co-Create with the Public Sphere</a:t>
            </a:r>
          </a:p>
        </p:txBody>
      </p:sp>
      <p:sp>
        <p:nvSpPr>
          <p:cNvPr id="103" name="7.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5/7</a:t>
            </a:r>
          </a:p>
        </p:txBody>
      </p:sp>
      <p:sp>
        <p:nvSpPr>
          <p:cNvPr id="104" name="7.0 · Over 500 unique news articles&#10;More than 15 countries ·"/>
          <p:cNvSpPr>
            <a:spLocks noGrp="1"/>
          </p:cNvSpPr>
          <p:nvPr/>
        </p:nvSpPr>
        <p:spPr>
          <a:xfrm>
            <a:off x="762000" y="1619250"/>
            <a:ext cx="10668000" cy="1476375"/>
          </a:xfrm>
          <a:prstGeom prst="rect">
            <a:avLst/>
          </a:prstGeom>
          <a:noFill/>
          <a:ln w="0">
            <a:noFill/>
          </a:ln>
        </p:spPr>
        <p:txBody>
          <a:bodyPr wrap="square" lIns="0" tIns="0" rIns="0" bIns="0" anchor="t">
            <a:noAutofit/>
          </a:bodyPr>
          <a:lstStyle/>
          <a:p>
            <a:pPr algn="ctr">
              <a:lnSpc>
                <a:spcPct val="108000"/>
              </a:lnSpc>
              <a:defRPr sz="3900" b="0" i="0">
                <a:solidFill>
                  <a:srgbClr val="000000"/>
                </a:solidFill>
                <a:latin typeface="Garamond"/>
                <a:ea typeface="Garamond"/>
                <a:cs typeface="Garamond"/>
              </a:defRPr>
            </a:pPr>
            <a:r>
              <a:rPr sz="3900" b="0" i="0" dirty="0">
                <a:solidFill>
                  <a:srgbClr val="000000"/>
                </a:solidFill>
                <a:latin typeface="Garamond"/>
                <a:ea typeface="Garamond"/>
                <a:cs typeface="Garamond"/>
              </a:rPr>
              <a:t>Over 500 unique news articles</a:t>
            </a:r>
          </a:p>
          <a:p>
            <a:pPr algn="ctr">
              <a:lnSpc>
                <a:spcPct val="108000"/>
              </a:lnSpc>
              <a:defRPr sz="3900" b="0" i="0">
                <a:solidFill>
                  <a:srgbClr val="000000"/>
                </a:solidFill>
                <a:latin typeface="Garamond"/>
                <a:ea typeface="Garamond"/>
                <a:cs typeface="Garamond"/>
              </a:defRPr>
            </a:pPr>
            <a:r>
              <a:rPr sz="3900" b="0" i="0" dirty="0">
                <a:solidFill>
                  <a:srgbClr val="000000"/>
                </a:solidFill>
                <a:latin typeface="Garamond"/>
                <a:ea typeface="Garamond"/>
                <a:cs typeface="Garamond"/>
              </a:rPr>
              <a:t>More than 15 countries · </a:t>
            </a:r>
            <a:r>
              <a:rPr lang="da-DK" sz="3900" b="0" i="0" dirty="0">
                <a:solidFill>
                  <a:srgbClr val="000000"/>
                </a:solidFill>
                <a:latin typeface="Garamond"/>
                <a:ea typeface="Garamond"/>
                <a:cs typeface="Garamond"/>
              </a:rPr>
              <a:t>+</a:t>
            </a:r>
            <a:r>
              <a:rPr sz="3900" b="0" i="0" dirty="0">
                <a:solidFill>
                  <a:srgbClr val="000000"/>
                </a:solidFill>
                <a:latin typeface="Garamond"/>
                <a:ea typeface="Garamond"/>
                <a:cs typeface="Garamond"/>
              </a:rPr>
              <a:t>10 languages</a:t>
            </a:r>
          </a:p>
        </p:txBody>
      </p:sp>
      <p:sp>
        <p:nvSpPr>
          <p:cNvPr id="105" name="7.0 · Author-compiled, deduplicated archive reported in the "/>
          <p:cNvSpPr>
            <a:spLocks noGrp="1"/>
          </p:cNvSpPr>
          <p:nvPr/>
        </p:nvSpPr>
        <p:spPr>
          <a:xfrm>
            <a:off x="762000" y="3295650"/>
            <a:ext cx="10668000" cy="609600"/>
          </a:xfrm>
          <a:prstGeom prst="rect">
            <a:avLst/>
          </a:prstGeom>
          <a:noFill/>
          <a:ln w="0">
            <a:noFill/>
          </a:ln>
        </p:spPr>
        <p:txBody>
          <a:bodyPr wrap="square" lIns="0" tIns="0" rIns="0" bIns="0" anchor="t">
            <a:noAutofit/>
          </a:bodyPr>
          <a:lstStyle/>
          <a:p>
            <a:pPr algn="ctr">
              <a:lnSpc>
                <a:spcPct val="108000"/>
              </a:lnSpc>
              <a:defRPr sz="2175" b="0" i="1">
                <a:solidFill>
                  <a:srgbClr val="000000"/>
                </a:solidFill>
                <a:latin typeface="Garamond"/>
                <a:ea typeface="Garamond"/>
                <a:cs typeface="Garamond"/>
              </a:defRPr>
            </a:pPr>
            <a:r>
              <a:rPr sz="2175" b="0" i="1">
                <a:solidFill>
                  <a:srgbClr val="000000"/>
                </a:solidFill>
                <a:latin typeface="Garamond"/>
                <a:ea typeface="Garamond"/>
                <a:cs typeface="Garamond"/>
              </a:rPr>
              <a:t>Author-compiled, deduplicated archive reported in the dissertation.</a:t>
            </a:r>
          </a:p>
        </p:txBody>
      </p:sp>
      <p:sp>
        <p:nvSpPr>
          <p:cNvPr id="106" name="7.0 · 4 voter declarations at the time of the cited 2022 cov"/>
          <p:cNvSpPr>
            <a:spLocks noGrp="1"/>
          </p:cNvSpPr>
          <p:nvPr/>
        </p:nvSpPr>
        <p:spPr>
          <a:xfrm>
            <a:off x="762000" y="4352925"/>
            <a:ext cx="10668000" cy="1047750"/>
          </a:xfrm>
          <a:prstGeom prst="rect">
            <a:avLst/>
          </a:prstGeom>
          <a:noFill/>
          <a:ln w="0">
            <a:noFill/>
          </a:ln>
        </p:spPr>
        <p:txBody>
          <a:bodyPr wrap="square" lIns="0" tIns="0" rIns="0" bIns="0" anchor="t">
            <a:noAutofit/>
          </a:bodyPr>
          <a:lstStyle/>
          <a:p>
            <a:pPr algn="ctr">
              <a:lnSpc>
                <a:spcPct val="108000"/>
              </a:lnSpc>
              <a:defRPr sz="3225" b="0" i="0">
                <a:solidFill>
                  <a:srgbClr val="000000"/>
                </a:solidFill>
                <a:latin typeface="Garamond"/>
                <a:ea typeface="Garamond"/>
                <a:cs typeface="Garamond"/>
              </a:defRPr>
            </a:pPr>
            <a:r>
              <a:rPr sz="3225" b="0" i="0" dirty="0">
                <a:solidFill>
                  <a:srgbClr val="000000"/>
                </a:solidFill>
                <a:latin typeface="Garamond"/>
                <a:ea typeface="Garamond"/>
                <a:cs typeface="Garamond"/>
              </a:rPr>
              <a:t>4 voter declarations at the time of </a:t>
            </a:r>
            <a:r>
              <a:rPr lang="da-DK" sz="3225" b="0" i="0" dirty="0" err="1">
                <a:solidFill>
                  <a:srgbClr val="000000"/>
                </a:solidFill>
                <a:latin typeface="Garamond"/>
                <a:ea typeface="Garamond"/>
                <a:cs typeface="Garamond"/>
              </a:rPr>
              <a:t>its</a:t>
            </a:r>
            <a:r>
              <a:rPr lang="da-DK" sz="3225" b="0" i="0" dirty="0">
                <a:solidFill>
                  <a:srgbClr val="000000"/>
                </a:solidFill>
                <a:latin typeface="Garamond"/>
                <a:ea typeface="Garamond"/>
                <a:cs typeface="Garamond"/>
              </a:rPr>
              <a:t> </a:t>
            </a:r>
            <a:r>
              <a:rPr sz="3225" b="0" i="0" dirty="0">
                <a:solidFill>
                  <a:srgbClr val="000000"/>
                </a:solidFill>
                <a:latin typeface="Garamond"/>
                <a:ea typeface="Garamond"/>
                <a:cs typeface="Garamond"/>
              </a:rPr>
              <a:t>2022 </a:t>
            </a:r>
            <a:r>
              <a:rPr lang="da-DK" sz="3225" b="0" i="0" dirty="0" err="1">
                <a:solidFill>
                  <a:srgbClr val="000000"/>
                </a:solidFill>
                <a:latin typeface="Garamond"/>
                <a:ea typeface="Garamond"/>
                <a:cs typeface="Garamond"/>
              </a:rPr>
              <a:t>virality</a:t>
            </a:r>
            <a:endParaRPr sz="3225" b="0" i="0" dirty="0">
              <a:solidFill>
                <a:srgbClr val="000000"/>
              </a:solidFill>
              <a:latin typeface="Garamond"/>
              <a:ea typeface="Garamond"/>
              <a:cs typeface="Garamond"/>
            </a:endParaRPr>
          </a:p>
          <a:p>
            <a:pPr algn="ctr">
              <a:lnSpc>
                <a:spcPct val="108000"/>
              </a:lnSpc>
              <a:defRPr sz="3225" b="0" i="0">
                <a:solidFill>
                  <a:srgbClr val="000000"/>
                </a:solidFill>
                <a:latin typeface="Garamond"/>
                <a:ea typeface="Garamond"/>
                <a:cs typeface="Garamond"/>
              </a:defRPr>
            </a:pPr>
            <a:r>
              <a:rPr sz="3225" b="0" i="0" dirty="0">
                <a:solidFill>
                  <a:srgbClr val="000000"/>
                </a:solidFill>
                <a:latin typeface="Garamond"/>
                <a:ea typeface="Garamond"/>
                <a:cs typeface="Garamond"/>
              </a:rPr>
              <a:t>Threshold: 20.000</a:t>
            </a:r>
          </a:p>
        </p:txBody>
      </p:sp>
      <p:sp>
        <p:nvSpPr>
          <p:cNvPr id="107" name="7.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Historical reception record: Staunæs 2026: 10, nn. 4–5; 26–33.</a:t>
            </a:r>
          </a:p>
        </p:txBody>
      </p:sp>
    </p:spTree>
    <p:extLst>
      <p:ext uri="{BB962C8B-B14F-4D97-AF65-F5344CB8AC3E}">
        <p14:creationId xmlns:p14="http://schemas.microsoft.com/office/powerpoint/2010/main" val="2018288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7.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Infrastructure as Interface</a:t>
            </a:r>
          </a:p>
        </p:txBody>
      </p:sp>
      <p:sp>
        <p:nvSpPr>
          <p:cNvPr id="102" name="7.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Co-Create with the Public Sphere</a:t>
            </a:r>
          </a:p>
        </p:txBody>
      </p:sp>
      <p:sp>
        <p:nvSpPr>
          <p:cNvPr id="103" name="7.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5/7</a:t>
            </a:r>
          </a:p>
        </p:txBody>
      </p:sp>
      <p:sp>
        <p:nvSpPr>
          <p:cNvPr id="108" name="Public edition · image omitted"/>
          <p:cNvSpPr txBox="1"/>
          <p:nvPr/>
        </p:nvSpPr>
        <p:spPr>
          <a:xfrm>
            <a:off x="1028140" y="1524000"/>
            <a:ext cx="4134971" cy="3905250"/>
          </a:xfrm>
          <a:prstGeom prst="rect">
            <a:avLst/>
          </a:prstGeom>
          <a:solidFill>
            <a:srgbClr val="FFFFFF"/>
          </a:solidFill>
          <a:ln w="6350">
            <a:solidFill>
              <a:srgbClr val="CCCCCC"/>
            </a:solidFill>
          </a:ln>
        </p:spPr>
        <p:txBody>
          <a:bodyPr wrap="square" anchor="ctr"/>
          <a:lstStyle/>
          <a:p>
            <a:pPr algn="ctr"/>
            <a:r>
              <a:rPr lang="en-US" sz="1400">
                <a:solidFill>
                  <a:srgbClr val="666666"/>
                </a:solidFill>
                <a:latin typeface="Consolas"/>
              </a:rPr>
              <a:t>Image omitted in the public edition.</a:t>
            </a:r>
            <a:endParaRPr lang="en-US"/>
          </a:p>
        </p:txBody>
      </p:sp>
      <p:pic>
        <p:nvPicPr>
          <p:cNvPr id="109" name="7.1 · image16"/>
          <p:cNvPicPr>
            <a:picLocks noChangeAspect="1"/>
          </p:cNvPicPr>
          <p:nvPr/>
        </p:nvPicPr>
        <p:blipFill>
          <a:blip r:embed="rId4"/>
          <a:stretch/>
        </p:blipFill>
        <p:spPr>
          <a:xfrm>
            <a:off x="5905500" y="1633415"/>
            <a:ext cx="5810250" cy="3724519"/>
          </a:xfrm>
          <a:prstGeom prst="rect">
            <a:avLst/>
          </a:prstGeom>
        </p:spPr>
      </p:pic>
      <p:sp>
        <p:nvSpPr>
          <p:cNvPr id="110" name="7.1 · Caption">
            <a:extLst>
              <a:ext uri="{FF2B5EF4-FFF2-40B4-BE49-F238E27FC236}">
                <a16:creationId xmlns:a16="http://schemas.microsoft.com/office/drawing/2014/main" id="{617B5B80-1439-4AAF-9E8C-CD7363ECF7C3}"/>
              </a:ext>
            </a:extLst>
          </p:cNvPr>
          <p:cNvSpPr>
            <a:spLocks noGrp="1"/>
          </p:cNvSpPr>
          <p:nvPr/>
        </p:nvSpPr>
        <p:spPr>
          <a:xfrm>
            <a:off x="1028140" y="5600700"/>
            <a:ext cx="1068761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Jeppe Krogsgaard Christensen, “Proust </a:t>
            </a:r>
            <a:r>
              <a:rPr sz="1725" b="0" i="1" dirty="0" err="1">
                <a:solidFill>
                  <a:srgbClr val="000000"/>
                </a:solidFill>
                <a:latin typeface="Garamond"/>
                <a:ea typeface="Garamond"/>
                <a:cs typeface="Garamond"/>
              </a:rPr>
              <a:t>skal</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læses</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af</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lyst</a:t>
            </a:r>
            <a:r>
              <a:rPr sz="1725" b="0" i="1" dirty="0">
                <a:solidFill>
                  <a:srgbClr val="000000"/>
                </a:solidFill>
                <a:latin typeface="Garamond"/>
                <a:ea typeface="Garamond"/>
                <a:cs typeface="Garamond"/>
              </a:rPr>
              <a:t> – </a:t>
            </a:r>
            <a:r>
              <a:rPr sz="1725" b="0" i="1" dirty="0" err="1">
                <a:solidFill>
                  <a:srgbClr val="000000"/>
                </a:solidFill>
                <a:latin typeface="Garamond"/>
                <a:ea typeface="Garamond"/>
                <a:cs typeface="Garamond"/>
              </a:rPr>
              <a:t>ikke</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af</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pligt</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Kristeligt</a:t>
            </a:r>
            <a:endParaRPr sz="1725" b="0" i="1" dirty="0">
              <a:solidFill>
                <a:srgbClr val="000000"/>
              </a:solidFill>
              <a:latin typeface="Garamond"/>
              <a:ea typeface="Garamond"/>
              <a:cs typeface="Garamond"/>
            </a:endParaRP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Dagblad, 20 December 2022. Photograph: James Brooks / AFP / Ritzau </a:t>
            </a:r>
            <a:r>
              <a:rPr sz="1725" b="0" i="1" dirty="0" err="1">
                <a:solidFill>
                  <a:srgbClr val="000000"/>
                </a:solidFill>
                <a:latin typeface="Garamond"/>
                <a:ea typeface="Garamond"/>
                <a:cs typeface="Garamond"/>
              </a:rPr>
              <a:t>Scanpix</a:t>
            </a:r>
            <a:r>
              <a:rPr sz="1725" b="0" i="1" dirty="0">
                <a:solidFill>
                  <a:srgbClr val="000000"/>
                </a:solidFill>
                <a:latin typeface="Garamond"/>
                <a:ea typeface="Garamond"/>
                <a:cs typeface="Garamond"/>
              </a:rPr>
              <a:t>.</a:t>
            </a:r>
          </a:p>
        </p:txBody>
      </p:sp>
      <p:sp>
        <p:nvSpPr>
          <p:cNvPr id="111" name="7.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30–33.</a:t>
            </a:r>
          </a:p>
        </p:txBody>
      </p:sp>
    </p:spTree>
    <p:extLst>
      <p:ext uri="{BB962C8B-B14F-4D97-AF65-F5344CB8AC3E}">
        <p14:creationId xmlns:p14="http://schemas.microsoft.com/office/powerpoint/2010/main" val="2018288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7.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Infrastructure as Interface</a:t>
            </a:r>
          </a:p>
        </p:txBody>
      </p:sp>
      <p:sp>
        <p:nvSpPr>
          <p:cNvPr id="102" name="7.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Co-Create with the Public Sphere</a:t>
            </a:r>
          </a:p>
        </p:txBody>
      </p:sp>
      <p:sp>
        <p:nvSpPr>
          <p:cNvPr id="103" name="7.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5/7</a:t>
            </a:r>
          </a:p>
        </p:txBody>
      </p:sp>
      <p:sp>
        <p:nvSpPr>
          <p:cNvPr id="112" name="7.2 · Anagram letter 0">
            <a:extLst>
              <a:ext uri="{FF2B5EF4-FFF2-40B4-BE49-F238E27FC236}">
                <a16:creationId xmlns:a16="http://schemas.microsoft.com/office/drawing/2014/main" id="{406295C4-A42B-40B6-9289-D08BD9294A86}"/>
              </a:ext>
            </a:extLst>
          </p:cNvPr>
          <p:cNvSpPr>
            <a:spLocks noGrp="1"/>
          </p:cNvSpPr>
          <p:nvPr/>
        </p:nvSpPr>
        <p:spPr>
          <a:xfrm>
            <a:off x="21431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M</a:t>
            </a:r>
          </a:p>
        </p:txBody>
      </p:sp>
      <p:sp>
        <p:nvSpPr>
          <p:cNvPr id="113" name="7.2 · Anagram letter 1">
            <a:extLst>
              <a:ext uri="{FF2B5EF4-FFF2-40B4-BE49-F238E27FC236}">
                <a16:creationId xmlns:a16="http://schemas.microsoft.com/office/drawing/2014/main" id="{9B542C73-088C-4E38-A064-821DBE43020D}"/>
              </a:ext>
            </a:extLst>
          </p:cNvPr>
          <p:cNvSpPr>
            <a:spLocks noGrp="1"/>
          </p:cNvSpPr>
          <p:nvPr/>
        </p:nvSpPr>
        <p:spPr>
          <a:xfrm>
            <a:off x="27527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A</a:t>
            </a:r>
          </a:p>
        </p:txBody>
      </p:sp>
      <p:sp>
        <p:nvSpPr>
          <p:cNvPr id="114" name="7.2 · Anagram letter 2">
            <a:extLst>
              <a:ext uri="{FF2B5EF4-FFF2-40B4-BE49-F238E27FC236}">
                <a16:creationId xmlns:a16="http://schemas.microsoft.com/office/drawing/2014/main" id="{9CB4F95D-6FF4-40E0-9306-40AC61A6F005}"/>
              </a:ext>
            </a:extLst>
          </p:cNvPr>
          <p:cNvSpPr>
            <a:spLocks noGrp="1"/>
          </p:cNvSpPr>
          <p:nvPr/>
        </p:nvSpPr>
        <p:spPr>
          <a:xfrm>
            <a:off x="33623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R</a:t>
            </a:r>
          </a:p>
        </p:txBody>
      </p:sp>
      <p:sp>
        <p:nvSpPr>
          <p:cNvPr id="115" name="7.2 · Anagram letter 3">
            <a:extLst>
              <a:ext uri="{FF2B5EF4-FFF2-40B4-BE49-F238E27FC236}">
                <a16:creationId xmlns:a16="http://schemas.microsoft.com/office/drawing/2014/main" id="{34D5DFF8-8256-4D00-BE22-8620638C8F19}"/>
              </a:ext>
            </a:extLst>
          </p:cNvPr>
          <p:cNvSpPr>
            <a:spLocks noGrp="1"/>
          </p:cNvSpPr>
          <p:nvPr/>
        </p:nvSpPr>
        <p:spPr>
          <a:xfrm>
            <a:off x="39719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C</a:t>
            </a:r>
          </a:p>
        </p:txBody>
      </p:sp>
      <p:sp>
        <p:nvSpPr>
          <p:cNvPr id="116" name="7.2 · Anagram letter 4">
            <a:extLst>
              <a:ext uri="{FF2B5EF4-FFF2-40B4-BE49-F238E27FC236}">
                <a16:creationId xmlns:a16="http://schemas.microsoft.com/office/drawing/2014/main" id="{4EFBA60F-6D9D-4901-86F6-FA25D0728956}"/>
              </a:ext>
            </a:extLst>
          </p:cNvPr>
          <p:cNvSpPr>
            <a:spLocks noGrp="1"/>
          </p:cNvSpPr>
          <p:nvPr/>
        </p:nvSpPr>
        <p:spPr>
          <a:xfrm>
            <a:off x="45815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E</a:t>
            </a:r>
          </a:p>
        </p:txBody>
      </p:sp>
      <p:sp>
        <p:nvSpPr>
          <p:cNvPr id="117" name="7.2 · Anagram letter 5">
            <a:extLst>
              <a:ext uri="{FF2B5EF4-FFF2-40B4-BE49-F238E27FC236}">
                <a16:creationId xmlns:a16="http://schemas.microsoft.com/office/drawing/2014/main" id="{A2E5A691-69BB-4E40-902F-66E7C9A078B5}"/>
              </a:ext>
            </a:extLst>
          </p:cNvPr>
          <p:cNvSpPr>
            <a:spLocks noGrp="1"/>
          </p:cNvSpPr>
          <p:nvPr/>
        </p:nvSpPr>
        <p:spPr>
          <a:xfrm>
            <a:off x="51911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L</a:t>
            </a:r>
          </a:p>
        </p:txBody>
      </p:sp>
      <p:sp>
        <p:nvSpPr>
          <p:cNvPr id="118" name="7.2 · Anagram letter 6">
            <a:extLst>
              <a:ext uri="{FF2B5EF4-FFF2-40B4-BE49-F238E27FC236}">
                <a16:creationId xmlns:a16="http://schemas.microsoft.com/office/drawing/2014/main" id="{87D886A6-5B16-4A06-AE60-5840C596D2F6}"/>
              </a:ext>
            </a:extLst>
          </p:cNvPr>
          <p:cNvSpPr>
            <a:spLocks noGrp="1"/>
          </p:cNvSpPr>
          <p:nvPr/>
        </p:nvSpPr>
        <p:spPr>
          <a:xfrm>
            <a:off x="58007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 </a:t>
            </a:r>
          </a:p>
        </p:txBody>
      </p:sp>
      <p:sp>
        <p:nvSpPr>
          <p:cNvPr id="119" name="7.2 · Anagram letter 7">
            <a:extLst>
              <a:ext uri="{FF2B5EF4-FFF2-40B4-BE49-F238E27FC236}">
                <a16:creationId xmlns:a16="http://schemas.microsoft.com/office/drawing/2014/main" id="{207C47DE-FED5-43DF-AE44-AF8A7306AFE8}"/>
              </a:ext>
            </a:extLst>
          </p:cNvPr>
          <p:cNvSpPr>
            <a:spLocks noGrp="1"/>
          </p:cNvSpPr>
          <p:nvPr/>
        </p:nvSpPr>
        <p:spPr>
          <a:xfrm>
            <a:off x="64103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P</a:t>
            </a:r>
          </a:p>
        </p:txBody>
      </p:sp>
      <p:sp>
        <p:nvSpPr>
          <p:cNvPr id="120" name="7.2 · Anagram letter 8">
            <a:extLst>
              <a:ext uri="{FF2B5EF4-FFF2-40B4-BE49-F238E27FC236}">
                <a16:creationId xmlns:a16="http://schemas.microsoft.com/office/drawing/2014/main" id="{78458248-E8FE-4FC8-8B72-087CF5AD840A}"/>
              </a:ext>
            </a:extLst>
          </p:cNvPr>
          <p:cNvSpPr>
            <a:spLocks noGrp="1"/>
          </p:cNvSpPr>
          <p:nvPr/>
        </p:nvSpPr>
        <p:spPr>
          <a:xfrm>
            <a:off x="70199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R</a:t>
            </a:r>
          </a:p>
        </p:txBody>
      </p:sp>
      <p:sp>
        <p:nvSpPr>
          <p:cNvPr id="121" name="7.2 · Anagram letter 9">
            <a:extLst>
              <a:ext uri="{FF2B5EF4-FFF2-40B4-BE49-F238E27FC236}">
                <a16:creationId xmlns:a16="http://schemas.microsoft.com/office/drawing/2014/main" id="{B343AF77-07A9-43B7-969A-BE5B8801B91E}"/>
              </a:ext>
            </a:extLst>
          </p:cNvPr>
          <p:cNvSpPr>
            <a:spLocks noGrp="1"/>
          </p:cNvSpPr>
          <p:nvPr/>
        </p:nvSpPr>
        <p:spPr>
          <a:xfrm>
            <a:off x="76295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O</a:t>
            </a:r>
          </a:p>
        </p:txBody>
      </p:sp>
      <p:sp>
        <p:nvSpPr>
          <p:cNvPr id="122" name="7.2 · Anagram letter 10">
            <a:extLst>
              <a:ext uri="{FF2B5EF4-FFF2-40B4-BE49-F238E27FC236}">
                <a16:creationId xmlns:a16="http://schemas.microsoft.com/office/drawing/2014/main" id="{3725305D-5C4A-4C22-96A0-6135818FEBBC}"/>
              </a:ext>
            </a:extLst>
          </p:cNvPr>
          <p:cNvSpPr>
            <a:spLocks noGrp="1"/>
          </p:cNvSpPr>
          <p:nvPr/>
        </p:nvSpPr>
        <p:spPr>
          <a:xfrm>
            <a:off x="82391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U</a:t>
            </a:r>
          </a:p>
        </p:txBody>
      </p:sp>
      <p:sp>
        <p:nvSpPr>
          <p:cNvPr id="123" name="7.2 · Anagram letter 11">
            <a:extLst>
              <a:ext uri="{FF2B5EF4-FFF2-40B4-BE49-F238E27FC236}">
                <a16:creationId xmlns:a16="http://schemas.microsoft.com/office/drawing/2014/main" id="{02A0D941-7CCF-48A6-A7C9-314E43B1FC9E}"/>
              </a:ext>
            </a:extLst>
          </p:cNvPr>
          <p:cNvSpPr>
            <a:spLocks noGrp="1"/>
          </p:cNvSpPr>
          <p:nvPr/>
        </p:nvSpPr>
        <p:spPr>
          <a:xfrm>
            <a:off x="88487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S</a:t>
            </a:r>
          </a:p>
        </p:txBody>
      </p:sp>
      <p:sp>
        <p:nvSpPr>
          <p:cNvPr id="124" name="7.2 · Anagram letter 12">
            <a:extLst>
              <a:ext uri="{FF2B5EF4-FFF2-40B4-BE49-F238E27FC236}">
                <a16:creationId xmlns:a16="http://schemas.microsoft.com/office/drawing/2014/main" id="{1EAF667D-3CBF-40CA-A031-EEA0684B954F}"/>
              </a:ext>
            </a:extLst>
          </p:cNvPr>
          <p:cNvSpPr>
            <a:spLocks noGrp="1"/>
          </p:cNvSpPr>
          <p:nvPr/>
        </p:nvSpPr>
        <p:spPr>
          <a:xfrm>
            <a:off x="94583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T</a:t>
            </a:r>
          </a:p>
        </p:txBody>
      </p:sp>
      <p:pic>
        <p:nvPicPr>
          <p:cNvPr id="125" name="7.2 · image16"/>
          <p:cNvPicPr>
            <a:picLocks noChangeAspect="1"/>
          </p:cNvPicPr>
          <p:nvPr/>
        </p:nvPicPr>
        <p:blipFill>
          <a:blip r:embed="rId3"/>
          <a:srcRect t="10933" b="1067"/>
          <a:stretch/>
        </p:blipFill>
        <p:spPr>
          <a:xfrm>
            <a:off x="2845594" y="2047875"/>
            <a:ext cx="6500812" cy="3667125"/>
          </a:xfrm>
          <a:prstGeom prst="rect">
            <a:avLst/>
          </a:prstGeom>
        </p:spPr>
      </p:pic>
      <p:sp>
        <p:nvSpPr>
          <p:cNvPr id="126" name="7.2 · Reading order: Volumes 1–13 → MARCEL PROUST"/>
          <p:cNvSpPr>
            <a:spLocks noGrp="1"/>
          </p:cNvSpPr>
          <p:nvPr/>
        </p:nvSpPr>
        <p:spPr>
          <a:xfrm>
            <a:off x="571500" y="5876925"/>
            <a:ext cx="11049000" cy="428625"/>
          </a:xfrm>
          <a:prstGeom prst="rect">
            <a:avLst/>
          </a:prstGeom>
          <a:noFill/>
          <a:ln w="0">
            <a:noFill/>
          </a:ln>
        </p:spPr>
        <p:txBody>
          <a:bodyPr wrap="square" lIns="0" tIns="0" rIns="0" bIns="0" anchor="t">
            <a:noAutofit/>
          </a:bodyPr>
          <a:lstStyle/>
          <a:p>
            <a:pPr algn="ctr">
              <a:lnSpc>
                <a:spcPct val="108000"/>
              </a:lnSpc>
              <a:defRPr sz="1875" b="0" i="0">
                <a:solidFill>
                  <a:srgbClr val="000000"/>
                </a:solidFill>
                <a:latin typeface="Consolas"/>
                <a:ea typeface="Consolas"/>
                <a:cs typeface="Consolas"/>
              </a:defRPr>
            </a:pPr>
            <a:r>
              <a:rPr sz="1875" b="0" i="0">
                <a:solidFill>
                  <a:srgbClr val="000000"/>
                </a:solidFill>
                <a:latin typeface="Consolas"/>
                <a:ea typeface="Consolas"/>
                <a:cs typeface="Consolas"/>
              </a:rPr>
              <a:t>Reading order: Volumes 1–13 → MARCEL PROUST</a:t>
            </a:r>
          </a:p>
        </p:txBody>
      </p:sp>
      <p:sp>
        <p:nvSpPr>
          <p:cNvPr id="127" name="7.2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Photograph: James Brooks / AFP / Ritzau Scanpix. Staunæs 2026: 30–33.</a:t>
            </a:r>
          </a:p>
        </p:txBody>
      </p:sp>
    </p:spTree>
    <p:extLst>
      <p:ext uri="{BB962C8B-B14F-4D97-AF65-F5344CB8AC3E}">
        <p14:creationId xmlns:p14="http://schemas.microsoft.com/office/powerpoint/2010/main" val="2018288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7.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Infrastructure as Interface</a:t>
            </a:r>
          </a:p>
        </p:txBody>
      </p:sp>
      <p:sp>
        <p:nvSpPr>
          <p:cNvPr id="102" name="7.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Co-Create with the Public Sphere</a:t>
            </a:r>
          </a:p>
        </p:txBody>
      </p:sp>
      <p:sp>
        <p:nvSpPr>
          <p:cNvPr id="103" name="7.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5/7</a:t>
            </a:r>
          </a:p>
        </p:txBody>
      </p:sp>
      <p:sp>
        <p:nvSpPr>
          <p:cNvPr id="112" name="7.2 · Anagram letter 0">
            <a:extLst>
              <a:ext uri="{FF2B5EF4-FFF2-40B4-BE49-F238E27FC236}">
                <a16:creationId xmlns:a16="http://schemas.microsoft.com/office/drawing/2014/main" id="{C4350D7A-6AD6-4B56-93A3-B084EC837826}"/>
              </a:ext>
            </a:extLst>
          </p:cNvPr>
          <p:cNvSpPr>
            <a:spLocks noGrp="1"/>
          </p:cNvSpPr>
          <p:nvPr/>
        </p:nvSpPr>
        <p:spPr>
          <a:xfrm>
            <a:off x="21431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M</a:t>
            </a:r>
          </a:p>
        </p:txBody>
      </p:sp>
      <p:sp>
        <p:nvSpPr>
          <p:cNvPr id="113" name="7.2 · Anagram letter 1">
            <a:extLst>
              <a:ext uri="{FF2B5EF4-FFF2-40B4-BE49-F238E27FC236}">
                <a16:creationId xmlns:a16="http://schemas.microsoft.com/office/drawing/2014/main" id="{5571B74E-161B-4B28-AD89-74B46F42D773}"/>
              </a:ext>
            </a:extLst>
          </p:cNvPr>
          <p:cNvSpPr>
            <a:spLocks noGrp="1"/>
          </p:cNvSpPr>
          <p:nvPr/>
        </p:nvSpPr>
        <p:spPr>
          <a:xfrm>
            <a:off x="27527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A</a:t>
            </a:r>
          </a:p>
        </p:txBody>
      </p:sp>
      <p:sp>
        <p:nvSpPr>
          <p:cNvPr id="114" name="7.2 · Anagram letter 2">
            <a:extLst>
              <a:ext uri="{FF2B5EF4-FFF2-40B4-BE49-F238E27FC236}">
                <a16:creationId xmlns:a16="http://schemas.microsoft.com/office/drawing/2014/main" id="{3353632F-E25E-4BFD-800A-233B0FE10561}"/>
              </a:ext>
            </a:extLst>
          </p:cNvPr>
          <p:cNvSpPr>
            <a:spLocks noGrp="1"/>
          </p:cNvSpPr>
          <p:nvPr/>
        </p:nvSpPr>
        <p:spPr>
          <a:xfrm>
            <a:off x="33623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R</a:t>
            </a:r>
          </a:p>
        </p:txBody>
      </p:sp>
      <p:sp>
        <p:nvSpPr>
          <p:cNvPr id="115" name="7.2 · Anagram letter 3">
            <a:extLst>
              <a:ext uri="{FF2B5EF4-FFF2-40B4-BE49-F238E27FC236}">
                <a16:creationId xmlns:a16="http://schemas.microsoft.com/office/drawing/2014/main" id="{7AA0C09D-223F-4CE8-A40A-5D77EF13D781}"/>
              </a:ext>
            </a:extLst>
          </p:cNvPr>
          <p:cNvSpPr>
            <a:spLocks noGrp="1"/>
          </p:cNvSpPr>
          <p:nvPr/>
        </p:nvSpPr>
        <p:spPr>
          <a:xfrm>
            <a:off x="39719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C</a:t>
            </a:r>
          </a:p>
        </p:txBody>
      </p:sp>
      <p:sp>
        <p:nvSpPr>
          <p:cNvPr id="116" name="7.2 · Anagram letter 4">
            <a:extLst>
              <a:ext uri="{FF2B5EF4-FFF2-40B4-BE49-F238E27FC236}">
                <a16:creationId xmlns:a16="http://schemas.microsoft.com/office/drawing/2014/main" id="{01C4C686-577F-42B5-8466-09DCBE8B8B68}"/>
              </a:ext>
            </a:extLst>
          </p:cNvPr>
          <p:cNvSpPr>
            <a:spLocks noGrp="1"/>
          </p:cNvSpPr>
          <p:nvPr/>
        </p:nvSpPr>
        <p:spPr>
          <a:xfrm>
            <a:off x="45815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E</a:t>
            </a:r>
          </a:p>
        </p:txBody>
      </p:sp>
      <p:sp>
        <p:nvSpPr>
          <p:cNvPr id="117" name="7.2 · Anagram letter 5">
            <a:extLst>
              <a:ext uri="{FF2B5EF4-FFF2-40B4-BE49-F238E27FC236}">
                <a16:creationId xmlns:a16="http://schemas.microsoft.com/office/drawing/2014/main" id="{8D875855-FF8C-4F08-9E07-5E69234A927C}"/>
              </a:ext>
            </a:extLst>
          </p:cNvPr>
          <p:cNvSpPr>
            <a:spLocks noGrp="1"/>
          </p:cNvSpPr>
          <p:nvPr/>
        </p:nvSpPr>
        <p:spPr>
          <a:xfrm>
            <a:off x="51911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L</a:t>
            </a:r>
          </a:p>
        </p:txBody>
      </p:sp>
      <p:sp>
        <p:nvSpPr>
          <p:cNvPr id="118" name="7.2 · Anagram letter 6">
            <a:extLst>
              <a:ext uri="{FF2B5EF4-FFF2-40B4-BE49-F238E27FC236}">
                <a16:creationId xmlns:a16="http://schemas.microsoft.com/office/drawing/2014/main" id="{1EF411F8-50E2-4AA0-963B-0CEB9E32A8D9}"/>
              </a:ext>
            </a:extLst>
          </p:cNvPr>
          <p:cNvSpPr>
            <a:spLocks noGrp="1"/>
          </p:cNvSpPr>
          <p:nvPr/>
        </p:nvSpPr>
        <p:spPr>
          <a:xfrm>
            <a:off x="58007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 </a:t>
            </a:r>
          </a:p>
        </p:txBody>
      </p:sp>
      <p:sp>
        <p:nvSpPr>
          <p:cNvPr id="119" name="7.2 · Anagram letter 7">
            <a:extLst>
              <a:ext uri="{FF2B5EF4-FFF2-40B4-BE49-F238E27FC236}">
                <a16:creationId xmlns:a16="http://schemas.microsoft.com/office/drawing/2014/main" id="{92474F67-776D-48BD-B0A8-DCDDA684F716}"/>
              </a:ext>
            </a:extLst>
          </p:cNvPr>
          <p:cNvSpPr>
            <a:spLocks noGrp="1"/>
          </p:cNvSpPr>
          <p:nvPr/>
        </p:nvSpPr>
        <p:spPr>
          <a:xfrm>
            <a:off x="64103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P</a:t>
            </a:r>
          </a:p>
        </p:txBody>
      </p:sp>
      <p:sp>
        <p:nvSpPr>
          <p:cNvPr id="120" name="7.2 · Anagram letter 8">
            <a:extLst>
              <a:ext uri="{FF2B5EF4-FFF2-40B4-BE49-F238E27FC236}">
                <a16:creationId xmlns:a16="http://schemas.microsoft.com/office/drawing/2014/main" id="{30FB2D8B-19B2-471E-9C1C-62A176A11302}"/>
              </a:ext>
            </a:extLst>
          </p:cNvPr>
          <p:cNvSpPr>
            <a:spLocks noGrp="1"/>
          </p:cNvSpPr>
          <p:nvPr/>
        </p:nvSpPr>
        <p:spPr>
          <a:xfrm>
            <a:off x="70199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R</a:t>
            </a:r>
          </a:p>
        </p:txBody>
      </p:sp>
      <p:sp>
        <p:nvSpPr>
          <p:cNvPr id="121" name="7.2 · Anagram letter 9">
            <a:extLst>
              <a:ext uri="{FF2B5EF4-FFF2-40B4-BE49-F238E27FC236}">
                <a16:creationId xmlns:a16="http://schemas.microsoft.com/office/drawing/2014/main" id="{8AA1E0B4-CED7-43A4-8C85-7CA549EEF5D3}"/>
              </a:ext>
            </a:extLst>
          </p:cNvPr>
          <p:cNvSpPr>
            <a:spLocks noGrp="1"/>
          </p:cNvSpPr>
          <p:nvPr/>
        </p:nvSpPr>
        <p:spPr>
          <a:xfrm>
            <a:off x="76295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O</a:t>
            </a:r>
          </a:p>
        </p:txBody>
      </p:sp>
      <p:sp>
        <p:nvSpPr>
          <p:cNvPr id="122" name="7.2 · Anagram letter 10">
            <a:extLst>
              <a:ext uri="{FF2B5EF4-FFF2-40B4-BE49-F238E27FC236}">
                <a16:creationId xmlns:a16="http://schemas.microsoft.com/office/drawing/2014/main" id="{BC264410-58F0-4473-86B8-20E83527FF55}"/>
              </a:ext>
            </a:extLst>
          </p:cNvPr>
          <p:cNvSpPr>
            <a:spLocks noGrp="1"/>
          </p:cNvSpPr>
          <p:nvPr/>
        </p:nvSpPr>
        <p:spPr>
          <a:xfrm>
            <a:off x="82391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U</a:t>
            </a:r>
          </a:p>
        </p:txBody>
      </p:sp>
      <p:sp>
        <p:nvSpPr>
          <p:cNvPr id="123" name="7.2 · Anagram letter 11">
            <a:extLst>
              <a:ext uri="{FF2B5EF4-FFF2-40B4-BE49-F238E27FC236}">
                <a16:creationId xmlns:a16="http://schemas.microsoft.com/office/drawing/2014/main" id="{F9FE4278-763D-45C7-996F-7A3D2F2EF1B5}"/>
              </a:ext>
            </a:extLst>
          </p:cNvPr>
          <p:cNvSpPr>
            <a:spLocks noGrp="1"/>
          </p:cNvSpPr>
          <p:nvPr/>
        </p:nvSpPr>
        <p:spPr>
          <a:xfrm>
            <a:off x="88487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S</a:t>
            </a:r>
          </a:p>
        </p:txBody>
      </p:sp>
      <p:sp>
        <p:nvSpPr>
          <p:cNvPr id="124" name="7.2 · Anagram letter 12">
            <a:extLst>
              <a:ext uri="{FF2B5EF4-FFF2-40B4-BE49-F238E27FC236}">
                <a16:creationId xmlns:a16="http://schemas.microsoft.com/office/drawing/2014/main" id="{89613BF0-C655-438F-B398-9C2391D57FDA}"/>
              </a:ext>
            </a:extLst>
          </p:cNvPr>
          <p:cNvSpPr>
            <a:spLocks noGrp="1"/>
          </p:cNvSpPr>
          <p:nvPr/>
        </p:nvSpPr>
        <p:spPr>
          <a:xfrm>
            <a:off x="9458325" y="1381125"/>
            <a:ext cx="590550" cy="714375"/>
          </a:xfrm>
          <a:prstGeom prst="rect">
            <a:avLst/>
          </a:prstGeom>
          <a:noFill/>
          <a:ln w="0">
            <a:noFill/>
          </a:ln>
        </p:spPr>
        <p:txBody>
          <a:bodyPr wrap="square" lIns="0" tIns="0" rIns="0" bIns="0" anchor="t">
            <a:noAutofit/>
          </a:bodyPr>
          <a:lstStyle/>
          <a:p>
            <a:pPr algn="ctr">
              <a:lnSpc>
                <a:spcPct val="108000"/>
              </a:lnSpc>
              <a:defRPr sz="3525" b="0" i="0">
                <a:solidFill>
                  <a:srgbClr val="FF0000"/>
                </a:solidFill>
                <a:latin typeface="Consolas"/>
                <a:ea typeface="Consolas"/>
                <a:cs typeface="Consolas"/>
              </a:defRPr>
            </a:pPr>
            <a:r>
              <a:rPr sz="3525" b="0" i="0">
                <a:solidFill>
                  <a:srgbClr val="FF0000"/>
                </a:solidFill>
                <a:latin typeface="Consolas"/>
                <a:ea typeface="Consolas"/>
                <a:cs typeface="Consolas"/>
              </a:rPr>
              <a:t>T</a:t>
            </a:r>
          </a:p>
        </p:txBody>
      </p:sp>
      <p:pic>
        <p:nvPicPr>
          <p:cNvPr id="125" name="7.2 · image16"/>
          <p:cNvPicPr>
            <a:picLocks noChangeAspect="1"/>
          </p:cNvPicPr>
          <p:nvPr/>
        </p:nvPicPr>
        <p:blipFill>
          <a:blip r:embed="rId3"/>
          <a:srcRect t="10933" b="1067"/>
          <a:stretch/>
        </p:blipFill>
        <p:spPr>
          <a:xfrm>
            <a:off x="2845594" y="2047875"/>
            <a:ext cx="6500812" cy="3667125"/>
          </a:xfrm>
          <a:prstGeom prst="rect">
            <a:avLst/>
          </a:prstGeom>
        </p:spPr>
      </p:pic>
      <p:sp>
        <p:nvSpPr>
          <p:cNvPr id="127" name="7.2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Photograph: James Brooks / AFP / Ritzau Scanpix. Staunæs 2026: 30–33.</a:t>
            </a:r>
          </a:p>
        </p:txBody>
      </p:sp>
      <p:sp>
        <p:nvSpPr>
          <p:cNvPr id="128" name="7.3 · Reading order: Volumes 1–13 → MARCEL PROUST"/>
          <p:cNvSpPr>
            <a:spLocks noGrp="1"/>
          </p:cNvSpPr>
          <p:nvPr/>
        </p:nvSpPr>
        <p:spPr>
          <a:xfrm>
            <a:off x="571500" y="5800725"/>
            <a:ext cx="11049000" cy="600075"/>
          </a:xfrm>
          <a:prstGeom prst="rect">
            <a:avLst/>
          </a:prstGeom>
          <a:noFill/>
          <a:ln w="0">
            <a:noFill/>
          </a:ln>
        </p:spPr>
        <p:txBody>
          <a:bodyPr wrap="square" lIns="0" tIns="0" rIns="0" bIns="0" anchor="t">
            <a:noAutofit/>
          </a:bodyPr>
          <a:lstStyle/>
          <a:p>
            <a:pPr algn="ctr">
              <a:lnSpc>
                <a:spcPct val="108000"/>
              </a:lnSpc>
              <a:defRPr sz="1800" b="0" i="0">
                <a:solidFill>
                  <a:srgbClr val="000000"/>
                </a:solidFill>
                <a:latin typeface="Consolas"/>
                <a:ea typeface="Consolas"/>
                <a:cs typeface="Consolas"/>
              </a:defRPr>
            </a:pPr>
            <a:r>
              <a:rPr sz="1800" b="0" i="0" dirty="0">
                <a:solidFill>
                  <a:srgbClr val="000000"/>
                </a:solidFill>
                <a:latin typeface="Consolas"/>
                <a:ea typeface="Consolas"/>
                <a:cs typeface="Consolas"/>
              </a:rPr>
              <a:t>Photographed order: 4, 10, 1, 8, 11, 13, 5, 3, 6, 2, 9, 12, 7 → COMPUTERLARS, </a:t>
            </a:r>
            <a:r>
              <a:rPr sz="1800" b="0" i="1" dirty="0">
                <a:solidFill>
                  <a:srgbClr val="000000"/>
                </a:solidFill>
                <a:latin typeface="Consolas"/>
                <a:ea typeface="Consolas"/>
                <a:cs typeface="Consolas"/>
              </a:rPr>
              <a:t>with the trailing space retained.</a:t>
            </a:r>
          </a:p>
        </p:txBody>
      </p:sp>
    </p:spTree>
    <p:extLst>
      <p:ext uri="{BB962C8B-B14F-4D97-AF65-F5344CB8AC3E}">
        <p14:creationId xmlns:p14="http://schemas.microsoft.com/office/powerpoint/2010/main" val="2018288592"/>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0" presetClass="path" presetSubtype="0" fill="hold" nodeType="withEffect">
                            <p:stCondLst>
                              <p:cond delay="200"/>
                            </p:stCondLst>
                            <p:childTnLst>
                              <p:animMotion origin="layout" path="M 0 0 C 0.04166667 0.05 0.08333333 0.05 0.12500000 0 E" pathEditMode="relative" rAng="0">
                                <p:cBhvr>
                                  <p:cTn id="5" dur="1100" fill="hold"/>
                                  <p:tgtEl>
                                    <p:spTgt spid="112"/>
                                  </p:tgtEl>
                                </p:cBhvr>
                                <p:rCtr x="0" y="0"/>
                              </p:animMotion>
                            </p:childTnLst>
                          </p:cTn>
                        </p:par>
                        <p:par>
                          <p:cTn id="6" presetID="0" presetClass="path" presetSubtype="0" fill="hold" nodeType="withEffect">
                            <p:stCondLst>
                              <p:cond delay="200"/>
                            </p:stCondLst>
                            <p:childTnLst>
                              <p:animMotion origin="layout" path="M 0 0 C 0.14166667 -0.05 0.28333333 -0.05 0.42500000 0 E" pathEditMode="relative" rAng="0">
                                <p:cBhvr>
                                  <p:cTn id="7" dur="1100" fill="hold"/>
                                  <p:tgtEl>
                                    <p:spTgt spid="113"/>
                                  </p:tgtEl>
                                </p:cBhvr>
                                <p:rCtr x="0" y="0"/>
                              </p:animMotion>
                            </p:childTnLst>
                          </p:cTn>
                        </p:par>
                        <p:par>
                          <p:cTn id="8" presetID="0" presetClass="path" presetSubtype="0" fill="hold" nodeType="withEffect">
                            <p:stCondLst>
                              <p:cond delay="200"/>
                            </p:stCondLst>
                            <p:childTnLst>
                              <p:animMotion origin="layout" path="M 0 0 C 0.09166667 0.05 0.18333333 0.05 0.27500000 0 E" pathEditMode="relative" rAng="0">
                                <p:cBhvr>
                                  <p:cTn id="9" dur="1100" fill="hold"/>
                                  <p:tgtEl>
                                    <p:spTgt spid="114"/>
                                  </p:tgtEl>
                                </p:cBhvr>
                                <p:rCtr x="0" y="0"/>
                              </p:animMotion>
                            </p:childTnLst>
                          </p:cTn>
                        </p:par>
                        <p:par>
                          <p:cTn id="10" presetID="0" presetClass="path" presetSubtype="0" fill="hold" nodeType="withEffect">
                            <p:stCondLst>
                              <p:cond delay="200"/>
                            </p:stCondLst>
                            <p:childTnLst>
                              <p:animMotion origin="layout" path="M 0 0 C -0.04166667 -0.05 -0.08333333 -0.05 -0.12500000 0 E" pathEditMode="relative" rAng="0">
                                <p:cBhvr>
                                  <p:cTn id="11" dur="1100" fill="hold"/>
                                  <p:tgtEl>
                                    <p:spTgt spid="115"/>
                                  </p:tgtEl>
                                </p:cBhvr>
                                <p:rCtr x="0" y="0"/>
                              </p:animMotion>
                            </p:childTnLst>
                          </p:cTn>
                        </p:par>
                        <p:par>
                          <p:cTn id="12" presetID="0" presetClass="path" presetSubtype="0" fill="hold" nodeType="withEffect">
                            <p:stCondLst>
                              <p:cond delay="200"/>
                            </p:stCondLst>
                            <p:childTnLst>
                              <p:animMotion origin="layout" path="M 0 0 C 0.04166667 0.05 0.08333333 0.05 0.12500000 0 E" pathEditMode="relative" rAng="0">
                                <p:cBhvr>
                                  <p:cTn id="13" dur="1100" fill="hold"/>
                                  <p:tgtEl>
                                    <p:spTgt spid="116"/>
                                  </p:tgtEl>
                                </p:cBhvr>
                                <p:rCtr x="0" y="0"/>
                              </p:animMotion>
                            </p:childTnLst>
                          </p:cTn>
                        </p:par>
                        <p:par>
                          <p:cTn id="14" presetID="0" presetClass="path" presetSubtype="0" fill="hold" nodeType="withEffect">
                            <p:stCondLst>
                              <p:cond delay="200"/>
                            </p:stCondLst>
                            <p:childTnLst>
                              <p:animMotion origin="layout" path="M 0 0 C 0.05833333 -0.05 0.11666667 -0.05 0.17500000 0 E" pathEditMode="relative" rAng="0">
                                <p:cBhvr>
                                  <p:cTn id="15" dur="1100" fill="hold"/>
                                  <p:tgtEl>
                                    <p:spTgt spid="117"/>
                                  </p:tgtEl>
                                </p:cBhvr>
                                <p:rCtr x="0" y="0"/>
                              </p:animMotion>
                            </p:childTnLst>
                          </p:cTn>
                        </p:par>
                        <p:par>
                          <p:cTn id="16" presetID="0" presetClass="path" presetSubtype="0" fill="hold" nodeType="withEffect">
                            <p:stCondLst>
                              <p:cond delay="200"/>
                            </p:stCondLst>
                            <p:childTnLst>
                              <p:animMotion origin="layout" path="M 0 0 C 0.10833333 0.05 0.21666667 0.05 0.32500000 0 E" pathEditMode="relative" rAng="0">
                                <p:cBhvr>
                                  <p:cTn id="17" dur="1100" fill="hold"/>
                                  <p:tgtEl>
                                    <p:spTgt spid="118"/>
                                  </p:tgtEl>
                                </p:cBhvr>
                                <p:rCtr x="0" y="0"/>
                              </p:animMotion>
                            </p:childTnLst>
                          </p:cTn>
                        </p:par>
                        <p:par>
                          <p:cTn id="18" presetID="0" presetClass="path" presetSubtype="0" fill="hold" nodeType="withEffect">
                            <p:stCondLst>
                              <p:cond delay="200"/>
                            </p:stCondLst>
                            <p:childTnLst>
                              <p:animMotion origin="layout" path="M 0 0 C -0.05833333 -0.05 -0.11666667 -0.05 -0.17500000 0 E" pathEditMode="relative" rAng="0">
                                <p:cBhvr>
                                  <p:cTn id="19" dur="1100" fill="hold"/>
                                  <p:tgtEl>
                                    <p:spTgt spid="119"/>
                                  </p:tgtEl>
                                </p:cBhvr>
                                <p:rCtr x="0" y="0"/>
                              </p:animMotion>
                            </p:childTnLst>
                          </p:cTn>
                        </p:par>
                        <p:par>
                          <p:cTn id="20" presetID="0" presetClass="path" presetSubtype="0" fill="hold" nodeType="withEffect">
                            <p:stCondLst>
                              <p:cond delay="200"/>
                            </p:stCondLst>
                            <p:childTnLst>
                              <p:animMotion origin="layout" path="M 0 0 C 0.04166667 0.05 0.08333333 0.05 0.12500000 0 E" pathEditMode="relative" rAng="0">
                                <p:cBhvr>
                                  <p:cTn id="21" dur="1100" fill="hold"/>
                                  <p:tgtEl>
                                    <p:spTgt spid="120"/>
                                  </p:tgtEl>
                                </p:cBhvr>
                                <p:rCtr x="0" y="0"/>
                              </p:animMotion>
                            </p:childTnLst>
                          </p:cTn>
                        </p:par>
                        <p:par>
                          <p:cTn id="22" presetID="0" presetClass="path" presetSubtype="0" fill="hold" nodeType="withEffect">
                            <p:stCondLst>
                              <p:cond delay="200"/>
                            </p:stCondLst>
                            <p:childTnLst>
                              <p:animMotion origin="layout" path="M 0 0 C -0.12500000 -0.05 -0.25000000 -0.05 -0.37500000 0 E" pathEditMode="relative" rAng="0">
                                <p:cBhvr>
                                  <p:cTn id="23" dur="1100" fill="hold"/>
                                  <p:tgtEl>
                                    <p:spTgt spid="121"/>
                                  </p:tgtEl>
                                </p:cBhvr>
                                <p:rCtr x="0" y="0"/>
                              </p:animMotion>
                            </p:childTnLst>
                          </p:cTn>
                        </p:par>
                        <p:par>
                          <p:cTn id="24" presetID="0" presetClass="path" presetSubtype="0" fill="hold" nodeType="withEffect">
                            <p:stCondLst>
                              <p:cond delay="200"/>
                            </p:stCondLst>
                            <p:childTnLst>
                              <p:animMotion origin="layout" path="M 0 0 C -0.09166667 0.05 -0.18333333 0.05 -0.27500000 0 E" pathEditMode="relative" rAng="0">
                                <p:cBhvr>
                                  <p:cTn id="25" dur="1100" fill="hold"/>
                                  <p:tgtEl>
                                    <p:spTgt spid="122"/>
                                  </p:tgtEl>
                                </p:cBhvr>
                                <p:rCtr x="0" y="0"/>
                              </p:animMotion>
                            </p:childTnLst>
                          </p:cTn>
                        </p:par>
                        <p:par>
                          <p:cTn id="26" presetID="0" presetClass="path" presetSubtype="0" fill="hold" nodeType="withEffect">
                            <p:stCondLst>
                              <p:cond delay="200"/>
                            </p:stCondLst>
                            <p:childTnLst>
                              <p:animMotion origin="layout" path="M 0 0 C 0.00833333 -0.05 0.01666667 -0.05 0.02500000 0 E" pathEditMode="relative" rAng="0">
                                <p:cBhvr>
                                  <p:cTn id="27" dur="1100" fill="hold"/>
                                  <p:tgtEl>
                                    <p:spTgt spid="123"/>
                                  </p:tgtEl>
                                </p:cBhvr>
                                <p:rCtr x="0" y="0"/>
                              </p:animMotion>
                            </p:childTnLst>
                          </p:cTn>
                        </p:par>
                        <p:par>
                          <p:cTn id="28" presetID="0" presetClass="path" presetSubtype="0" fill="hold" nodeType="withEffect">
                            <p:stCondLst>
                              <p:cond delay="200"/>
                            </p:stCondLst>
                            <p:childTnLst>
                              <p:animMotion origin="layout" path="M 0 0 C -0.10833333 0.05 -0.21666667 0.05 -0.32500000 0 E" pathEditMode="relative" rAng="0">
                                <p:cBhvr>
                                  <p:cTn id="29" dur="1100" fill="hold"/>
                                  <p:tgtEl>
                                    <p:spTgt spid="124"/>
                                  </p:tgtEl>
                                </p:cBhvr>
                                <p:rCtr x="0" y="0"/>
                              </p:animMotion>
                            </p:childTnLst>
                          </p:cTn>
                        </p:par>
                      </p:childTnLst>
                    </p:cTn>
                  </p:par>
                </p:childTnLst>
              </p:cTn>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7.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Infrastructure as Interface</a:t>
            </a:r>
          </a:p>
        </p:txBody>
      </p:sp>
      <p:sp>
        <p:nvSpPr>
          <p:cNvPr id="102" name="7.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Co-Create with the Public Sphere</a:t>
            </a:r>
          </a:p>
        </p:txBody>
      </p:sp>
      <p:sp>
        <p:nvSpPr>
          <p:cNvPr id="103" name="7.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5/7</a:t>
            </a:r>
          </a:p>
        </p:txBody>
      </p:sp>
      <p:sp>
        <p:nvSpPr>
          <p:cNvPr id="129" name="Public edition · image omitted"/>
          <p:cNvSpPr txBox="1"/>
          <p:nvPr/>
        </p:nvSpPr>
        <p:spPr>
          <a:xfrm>
            <a:off x="1506853" y="1428750"/>
            <a:ext cx="4939670" cy="3841432"/>
          </a:xfrm>
          <a:prstGeom prst="rect">
            <a:avLst/>
          </a:prstGeom>
          <a:solidFill>
            <a:srgbClr val="FFFFFF"/>
          </a:solidFill>
          <a:ln w="6350">
            <a:solidFill>
              <a:srgbClr val="CCCCCC"/>
            </a:solidFill>
          </a:ln>
        </p:spPr>
        <p:txBody>
          <a:bodyPr wrap="square" anchor="ctr"/>
          <a:lstStyle/>
          <a:p>
            <a:pPr algn="ctr"/>
            <a:r>
              <a:rPr lang="en-US" sz="1400">
                <a:solidFill>
                  <a:srgbClr val="666666"/>
                </a:solidFill>
                <a:latin typeface="Consolas"/>
              </a:rPr>
              <a:t>Image omitted in the public edition.</a:t>
            </a:r>
            <a:endParaRPr lang="en-US"/>
          </a:p>
        </p:txBody>
      </p:sp>
      <p:sp>
        <p:nvSpPr>
          <p:cNvPr id="130" name="7.4 · ARTICLE 4"/>
          <p:cNvSpPr>
            <a:spLocks noGrp="1"/>
          </p:cNvSpPr>
          <p:nvPr/>
        </p:nvSpPr>
        <p:spPr>
          <a:xfrm>
            <a:off x="7191375" y="1428750"/>
            <a:ext cx="4524375" cy="302514"/>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ARTICLE 4</a:t>
            </a:r>
          </a:p>
        </p:txBody>
      </p:sp>
      <p:sp>
        <p:nvSpPr>
          <p:cNvPr id="131" name="7.4 · Deep Faking in a Flat Reality?"/>
          <p:cNvSpPr>
            <a:spLocks noGrp="1"/>
          </p:cNvSpPr>
          <p:nvPr/>
        </p:nvSpPr>
        <p:spPr>
          <a:xfrm>
            <a:off x="7191375" y="1885950"/>
            <a:ext cx="4524375" cy="409194"/>
          </a:xfrm>
          <a:prstGeom prst="rect">
            <a:avLst/>
          </a:prstGeom>
          <a:noFill/>
          <a:ln w="0">
            <a:noFill/>
          </a:ln>
        </p:spPr>
        <p:txBody>
          <a:bodyPr wrap="square" lIns="0" tIns="0" rIns="0" bIns="0" anchor="t">
            <a:noAutofit/>
          </a:bodyPr>
          <a:lstStyle/>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Deep Faking in a Flat Reality?</a:t>
            </a:r>
          </a:p>
        </p:txBody>
      </p:sp>
      <p:sp>
        <p:nvSpPr>
          <p:cNvPr id="132" name="7.4 · Asker Bryld Staunæs &amp; Maja Bak Herrie (2024).&#10;A Peer-R"/>
          <p:cNvSpPr>
            <a:spLocks noGrp="1"/>
          </p:cNvSpPr>
          <p:nvPr/>
        </p:nvSpPr>
        <p:spPr>
          <a:xfrm>
            <a:off x="7191375" y="2580894"/>
            <a:ext cx="4524375" cy="159334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Asker Bryld Staunæs &amp;</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Maja Bak Herrie (2024).</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A Peer-Reviewed</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Journal About__ (</a:t>
            </a:r>
            <a:r>
              <a:rPr sz="1800" b="0" i="1">
                <a:solidFill>
                  <a:srgbClr val="000000"/>
                </a:solidFill>
                <a:latin typeface="Consolas"/>
                <a:ea typeface="Consolas"/>
                <a:cs typeface="Consolas"/>
              </a:rPr>
              <a:t>APRJA</a:t>
            </a:r>
            <a:r>
              <a:rPr sz="1800" b="0" i="0">
                <a:solidFill>
                  <a:srgbClr val="000000"/>
                </a:solidFill>
                <a:latin typeface="Consolas"/>
                <a:ea typeface="Consolas"/>
                <a:cs typeface="Consolas"/>
              </a:rPr>
              <a:t>)</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13(1): 105–123.</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DOI: 10.7146/aprja.v13i1.151235.</a:t>
            </a:r>
          </a:p>
        </p:txBody>
      </p:sp>
      <p:sp>
        <p:nvSpPr>
          <p:cNvPr id="133" name="7.4 · Caption">
            <a:extLst>
              <a:ext uri="{FF2B5EF4-FFF2-40B4-BE49-F238E27FC236}">
                <a16:creationId xmlns:a16="http://schemas.microsoft.com/office/drawing/2014/main" id="{66B8FB44-AE10-4CC6-BDF9-A49CAE719A06}"/>
              </a:ext>
            </a:extLst>
          </p:cNvPr>
          <p:cNvSpPr>
            <a:spLocks noGrp="1"/>
          </p:cNvSpPr>
          <p:nvPr/>
        </p:nvSpPr>
        <p:spPr>
          <a:xfrm>
            <a:off x="881063" y="5362956"/>
            <a:ext cx="6191250" cy="882968"/>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Jonathan </a:t>
            </a:r>
            <a:r>
              <a:rPr sz="1725" b="0" i="1" dirty="0" err="1">
                <a:solidFill>
                  <a:srgbClr val="000000"/>
                </a:solidFill>
                <a:latin typeface="Garamond"/>
                <a:ea typeface="Garamond"/>
                <a:cs typeface="Garamond"/>
              </a:rPr>
              <a:t>Yerushalmy</a:t>
            </a:r>
            <a:r>
              <a:rPr sz="1725" b="0" i="1" dirty="0">
                <a:solidFill>
                  <a:srgbClr val="000000"/>
                </a:solidFill>
                <a:latin typeface="Garamond"/>
                <a:ea typeface="Garamond"/>
                <a:cs typeface="Garamond"/>
              </a:rPr>
              <a:t>, The Guardian, 23 February 2024.</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Composite: AFP / Getty / AP. Joe Biden at a lectern beneath</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 semi-transparent overlay from The Synthetic Party’s Discord.</a:t>
            </a:r>
          </a:p>
        </p:txBody>
      </p:sp>
      <p:sp>
        <p:nvSpPr>
          <p:cNvPr id="134" name="7.4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207–233.</a:t>
            </a:r>
          </a:p>
        </p:txBody>
      </p:sp>
    </p:spTree>
    <p:extLst>
      <p:ext uri="{BB962C8B-B14F-4D97-AF65-F5344CB8AC3E}">
        <p14:creationId xmlns:p14="http://schemas.microsoft.com/office/powerpoint/2010/main" val="20182885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7.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Infrastructure as Interface</a:t>
            </a:r>
          </a:p>
        </p:txBody>
      </p:sp>
      <p:sp>
        <p:nvSpPr>
          <p:cNvPr id="102" name="7.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Co-Create with the Public Sphere</a:t>
            </a:r>
          </a:p>
        </p:txBody>
      </p:sp>
      <p:sp>
        <p:nvSpPr>
          <p:cNvPr id="103" name="7.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5/7</a:t>
            </a:r>
          </a:p>
        </p:txBody>
      </p:sp>
      <p:sp>
        <p:nvSpPr>
          <p:cNvPr id="129" name="Public edition · image omitted"/>
          <p:cNvSpPr txBox="1"/>
          <p:nvPr/>
        </p:nvSpPr>
        <p:spPr>
          <a:xfrm>
            <a:off x="881063" y="1703651"/>
            <a:ext cx="6061997" cy="3625774"/>
          </a:xfrm>
          <a:prstGeom prst="rect">
            <a:avLst/>
          </a:prstGeom>
          <a:solidFill>
            <a:srgbClr val="FFFFFF"/>
          </a:solidFill>
          <a:ln w="6350">
            <a:solidFill>
              <a:srgbClr val="CCCCCC"/>
            </a:solidFill>
          </a:ln>
        </p:spPr>
        <p:txBody>
          <a:bodyPr wrap="square" anchor="ctr"/>
          <a:lstStyle/>
          <a:p>
            <a:pPr algn="ctr"/>
            <a:r>
              <a:rPr lang="en-US" sz="1400">
                <a:solidFill>
                  <a:srgbClr val="666666"/>
                </a:solidFill>
                <a:latin typeface="Consolas"/>
              </a:rPr>
              <a:t>Image omitted in the public edition.</a:t>
            </a:r>
            <a:endParaRPr lang="en-US"/>
          </a:p>
        </p:txBody>
      </p:sp>
      <p:sp>
        <p:nvSpPr>
          <p:cNvPr id="135" name="7.5 · News stream / response-stream"/>
          <p:cNvSpPr>
            <a:spLocks noGrp="1"/>
          </p:cNvSpPr>
          <p:nvPr/>
        </p:nvSpPr>
        <p:spPr>
          <a:xfrm>
            <a:off x="7191375" y="1495425"/>
            <a:ext cx="4524375" cy="31318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News stream / Response-stream</a:t>
            </a:r>
          </a:p>
        </p:txBody>
      </p:sp>
      <p:sp>
        <p:nvSpPr>
          <p:cNvPr id="136" name="7.5 · A leakage across “AI model” and “world model”."/>
          <p:cNvSpPr>
            <a:spLocks noGrp="1"/>
          </p:cNvSpPr>
          <p:nvPr/>
        </p:nvSpPr>
        <p:spPr>
          <a:xfrm>
            <a:off x="7191375" y="2266950"/>
            <a:ext cx="4524375" cy="796798"/>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000000"/>
                </a:solidFill>
                <a:latin typeface="Garamond"/>
                <a:ea typeface="Garamond"/>
                <a:cs typeface="Garamond"/>
              </a:rPr>
              <a:t>Tracing the publication and image registers.</a:t>
            </a:r>
          </a:p>
        </p:txBody>
      </p:sp>
      <p:sp>
        <p:nvSpPr>
          <p:cNvPr id="137" name="7.5 · The public sphere as a generative political AI."/>
          <p:cNvSpPr>
            <a:spLocks noGrp="1"/>
          </p:cNvSpPr>
          <p:nvPr/>
        </p:nvSpPr>
        <p:spPr>
          <a:xfrm>
            <a:off x="7191375" y="3368548"/>
            <a:ext cx="4524375" cy="796798"/>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000000"/>
                </a:solidFill>
                <a:latin typeface="Garamond"/>
                <a:ea typeface="Garamond"/>
                <a:cs typeface="Garamond"/>
              </a:rPr>
              <a:t>The public sphere as a</a:t>
            </a:r>
            <a:r>
              <a:t> </a:t>
            </a:r>
            <a:r>
              <a:rPr sz="2600" b="0" i="0">
                <a:solidFill>
                  <a:srgbClr val="000000"/>
                </a:solidFill>
                <a:latin typeface="Garamond"/>
                <a:ea typeface="Garamond"/>
                <a:cs typeface="Garamond"/>
              </a:rPr>
              <a:t>generative political AI.</a:t>
            </a:r>
          </a:p>
        </p:txBody>
      </p:sp>
      <p:sp>
        <p:nvSpPr>
          <p:cNvPr id="138" name="7.5 · Caption">
            <a:extLst>
              <a:ext uri="{FF2B5EF4-FFF2-40B4-BE49-F238E27FC236}">
                <a16:creationId xmlns:a16="http://schemas.microsoft.com/office/drawing/2014/main" id="{E82D99EB-F534-47F6-B156-81617A46F65A}"/>
              </a:ext>
            </a:extLst>
          </p:cNvPr>
          <p:cNvSpPr>
            <a:spLocks noGrp="1"/>
          </p:cNvSpPr>
          <p:nvPr/>
        </p:nvSpPr>
        <p:spPr>
          <a:xfrm>
            <a:off x="881063" y="5414280"/>
            <a:ext cx="6191250" cy="882968"/>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Jonathan </a:t>
            </a:r>
            <a:r>
              <a:rPr sz="1725" b="0" i="1" dirty="0" err="1">
                <a:solidFill>
                  <a:srgbClr val="000000"/>
                </a:solidFill>
                <a:latin typeface="Garamond"/>
                <a:ea typeface="Garamond"/>
                <a:cs typeface="Garamond"/>
              </a:rPr>
              <a:t>Yerushalmy</a:t>
            </a:r>
            <a:r>
              <a:rPr sz="1725" b="0" i="1" dirty="0">
                <a:solidFill>
                  <a:srgbClr val="000000"/>
                </a:solidFill>
                <a:latin typeface="Garamond"/>
                <a:ea typeface="Garamond"/>
                <a:cs typeface="Garamond"/>
              </a:rPr>
              <a:t>, The Guardian, 23 February 2024.</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Composite: AFP / Getty / AP. Joe Biden at a lectern beneath</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 semi-transparent overlay from The Synthetic Party’s Discord.</a:t>
            </a:r>
          </a:p>
        </p:txBody>
      </p:sp>
      <p:sp>
        <p:nvSpPr>
          <p:cNvPr id="139" name="7.5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Synthesis: Staunæs 2026: 28, 30–33.</a:t>
            </a:r>
          </a:p>
        </p:txBody>
      </p:sp>
    </p:spTree>
    <p:extLst>
      <p:ext uri="{BB962C8B-B14F-4D97-AF65-F5344CB8AC3E}">
        <p14:creationId xmlns:p14="http://schemas.microsoft.com/office/powerpoint/2010/main" val="2018288592"/>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36">
                                      <p:txEl>
                                        <p:pRg st="0" end="0"/>
                                      </p:txEl>
                                    </p:spTgt>
                                  </p:tgtEl>
                                  <p:attrNameLst>
                                    <p:attrName>style.visibility</p:attrName>
                                  </p:attrNameLst>
                                </p:cBhvr>
                                <p:to>
                                  <p:strVal val="visible"/>
                                </p:to>
                              </p:set>
                            </p:childTnLst>
                          </p:cTn>
                        </p:par>
                        <p:par>
                          <p:cTn id="6" presetID="1" presetClass="entr" presetSubtype="0" fill="hold" nodeType="withEffect">
                            <p:stCondLst>
                              <p:cond delay="524"/>
                            </p:stCondLst>
                            <p:iterate type="lt">
                              <p:tmAbs val="11"/>
                            </p:iterate>
                            <p:childTnLst>
                              <p:set>
                                <p:cBhvr>
                                  <p:cTn id="7" dur="1" fill="hold">
                                    <p:stCondLst>
                                      <p:cond delay="0"/>
                                    </p:stCondLst>
                                  </p:cTn>
                                  <p:tgtEl>
                                    <p:spTgt spid="137">
                                      <p:txEl>
                                        <p:pRg st="0" end="0"/>
                                      </p:txEl>
                                    </p:spTgt>
                                  </p:tgtEl>
                                  <p:attrNameLst>
                                    <p:attrName>style.visibility</p:attrName>
                                  </p:attrNameLst>
                                </p:cBhvr>
                                <p:to>
                                  <p:strVal val="visible"/>
                                </p:to>
                              </p:set>
                            </p:childTnLst>
                          </p:cTn>
                        </p:par>
                      </p:childTnLst>
                    </p:cTn>
                  </p:par>
                </p:childTnLst>
              </p:cTn>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8.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8.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8.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sp>
        <p:nvSpPr>
          <p:cNvPr id="104" name="8.0 · RQ2"/>
          <p:cNvSpPr>
            <a:spLocks noGrp="1"/>
          </p:cNvSpPr>
          <p:nvPr/>
        </p:nvSpPr>
        <p:spPr>
          <a:xfrm>
            <a:off x="571500" y="1476375"/>
            <a:ext cx="110490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RQ2</a:t>
            </a:r>
          </a:p>
        </p:txBody>
      </p:sp>
      <p:sp>
        <p:nvSpPr>
          <p:cNvPr id="105" name="8.0 · How can an AI party be scaled, through artistic and ac"/>
          <p:cNvSpPr>
            <a:spLocks noGrp="1"/>
          </p:cNvSpPr>
          <p:nvPr/>
        </p:nvSpPr>
        <p:spPr>
          <a:xfrm>
            <a:off x="1190625" y="2286000"/>
            <a:ext cx="9810750" cy="3000375"/>
          </a:xfrm>
          <a:prstGeom prst="rect">
            <a:avLst/>
          </a:prstGeom>
          <a:noFill/>
          <a:ln w="0">
            <a:noFill/>
          </a:ln>
        </p:spPr>
        <p:txBody>
          <a:bodyPr wrap="square" lIns="0" tIns="0" rIns="0" bIns="0" anchor="t">
            <a:noAutofit/>
          </a:bodyPr>
          <a:lstStyle/>
          <a:p>
            <a:pPr algn="ctr">
              <a:lnSpc>
                <a:spcPct val="108000"/>
              </a:lnSpc>
              <a:defRPr sz="3225" b="0" i="0">
                <a:solidFill>
                  <a:srgbClr val="000000"/>
                </a:solidFill>
                <a:latin typeface="Garamond"/>
                <a:ea typeface="Garamond"/>
                <a:cs typeface="Garamond"/>
              </a:defRPr>
            </a:pPr>
            <a:r>
              <a:rPr sz="3225" b="0" i="0">
                <a:solidFill>
                  <a:srgbClr val="000000"/>
                </a:solidFill>
                <a:latin typeface="Garamond"/>
                <a:ea typeface="Garamond"/>
                <a:cs typeface="Garamond"/>
              </a:rPr>
              <a:t>How can an AI party be scaled, through artistic</a:t>
            </a:r>
          </a:p>
          <a:p>
            <a:pPr algn="ctr">
              <a:lnSpc>
                <a:spcPct val="108000"/>
              </a:lnSpc>
              <a:defRPr sz="3225" b="0" i="0">
                <a:solidFill>
                  <a:srgbClr val="000000"/>
                </a:solidFill>
                <a:latin typeface="Garamond"/>
                <a:ea typeface="Garamond"/>
                <a:cs typeface="Garamond"/>
              </a:defRPr>
            </a:pPr>
            <a:r>
              <a:rPr sz="3225" b="0" i="0">
                <a:solidFill>
                  <a:srgbClr val="000000"/>
                </a:solidFill>
                <a:latin typeface="Garamond"/>
                <a:ea typeface="Garamond"/>
                <a:cs typeface="Garamond"/>
              </a:rPr>
              <a:t>and academic mediation, into a synthetic</a:t>
            </a:r>
          </a:p>
          <a:p>
            <a:pPr algn="ctr">
              <a:lnSpc>
                <a:spcPct val="108000"/>
              </a:lnSpc>
              <a:defRPr sz="3225" b="0" i="0">
                <a:solidFill>
                  <a:srgbClr val="000000"/>
                </a:solidFill>
                <a:latin typeface="Garamond"/>
                <a:ea typeface="Garamond"/>
                <a:cs typeface="Garamond"/>
              </a:defRPr>
            </a:pPr>
            <a:r>
              <a:rPr sz="3225" b="0" i="0">
                <a:solidFill>
                  <a:srgbClr val="000000"/>
                </a:solidFill>
                <a:latin typeface="Garamond"/>
                <a:ea typeface="Garamond"/>
                <a:cs typeface="Garamond"/>
              </a:rPr>
              <a:t>international of AI parties and politicians?</a:t>
            </a:r>
          </a:p>
        </p:txBody>
      </p:sp>
      <p:sp>
        <p:nvSpPr>
          <p:cNvPr id="106" name="8.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13.</a:t>
            </a:r>
          </a:p>
        </p:txBody>
      </p:sp>
    </p:spTree>
    <p:extLst>
      <p:ext uri="{BB962C8B-B14F-4D97-AF65-F5344CB8AC3E}">
        <p14:creationId xmlns:p14="http://schemas.microsoft.com/office/powerpoint/2010/main" val="12212174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8.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8.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8.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pic>
        <p:nvPicPr>
          <p:cNvPr id="107" name="8.1 · image18"/>
          <p:cNvPicPr>
            <a:picLocks noChangeAspect="1"/>
          </p:cNvPicPr>
          <p:nvPr/>
        </p:nvPicPr>
        <p:blipFill>
          <a:blip r:embed="rId3"/>
          <a:stretch/>
        </p:blipFill>
        <p:spPr>
          <a:xfrm>
            <a:off x="476250" y="1550221"/>
            <a:ext cx="6762750" cy="3076891"/>
          </a:xfrm>
          <a:prstGeom prst="rect">
            <a:avLst/>
          </a:prstGeom>
          <a:ln w="12700" cmpd="sng" algn="in">
            <a:solidFill>
              <a:srgbClr val="D5A4A4"/>
            </a:solidFill>
            <a:prstDash val="solid"/>
            <a:miter lim="800000"/>
          </a:ln>
        </p:spPr>
      </p:pic>
      <p:sp>
        <p:nvSpPr>
          <p:cNvPr id="108" name="8.1 · "/>
          <p:cNvSpPr>
            <a:spLocks noGrp="1"/>
          </p:cNvSpPr>
          <p:nvPr/>
        </p:nvSpPr>
        <p:spPr>
          <a:xfrm>
            <a:off x="7524750" y="1428750"/>
            <a:ext cx="4143375" cy="342900"/>
          </a:xfrm>
          <a:prstGeom prst="rect">
            <a:avLst/>
          </a:prstGeom>
          <a:noFill/>
          <a:ln w="0">
            <a:noFill/>
          </a:ln>
        </p:spPr>
        <p:txBody>
          <a:bodyPr wrap="square" lIns="0" tIns="0" rIns="0" bIns="0" anchor="t">
            <a:noAutofit/>
          </a:bodyPr>
          <a:lstStyle/>
          <a:p>
            <a:pPr>
              <a:lnSpc>
                <a:spcPct val="108000"/>
              </a:lnSpc>
            </a:pPr>
            <a:endParaRPr/>
          </a:p>
        </p:txBody>
      </p:sp>
      <p:sp>
        <p:nvSpPr>
          <p:cNvPr id="109" name="8.1 · “More than twenty years separate Cukt and Lars, but th"/>
          <p:cNvSpPr>
            <a:spLocks noGrp="1"/>
          </p:cNvSpPr>
          <p:nvPr/>
        </p:nvSpPr>
        <p:spPr>
          <a:xfrm>
            <a:off x="7524750" y="1625114"/>
            <a:ext cx="4143375" cy="3286125"/>
          </a:xfrm>
          <a:prstGeom prst="rect">
            <a:avLst/>
          </a:prstGeom>
          <a:noFill/>
          <a:ln w="0">
            <a:noFill/>
          </a:ln>
        </p:spPr>
        <p:txBody>
          <a:bodyPr wrap="square" lIns="0" tIns="0" rIns="0" bIns="0" anchor="t">
            <a:noAutofit/>
          </a:bodyPr>
          <a:lstStyle/>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“More than twenty</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years separate </a:t>
            </a:r>
            <a:r>
              <a:rPr sz="2700" b="0" i="0" dirty="0" err="1">
                <a:solidFill>
                  <a:srgbClr val="000000"/>
                </a:solidFill>
                <a:latin typeface="Garamond"/>
                <a:ea typeface="Garamond"/>
                <a:cs typeface="Garamond"/>
              </a:rPr>
              <a:t>Cukt</a:t>
            </a:r>
            <a:r>
              <a:rPr sz="2700" b="0" i="0" dirty="0">
                <a:solidFill>
                  <a:srgbClr val="000000"/>
                </a:solidFill>
                <a:latin typeface="Garamond"/>
                <a:ea typeface="Garamond"/>
                <a:cs typeface="Garamond"/>
              </a:rPr>
              <a:t> and</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Lars, but the projects</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are surprisingly similar,</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although I do not suspect</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the Danes of plagiarism.”</a:t>
            </a:r>
          </a:p>
        </p:txBody>
      </p:sp>
      <p:sp>
        <p:nvSpPr>
          <p:cNvPr id="110" name="8.1 · Caption">
            <a:extLst>
              <a:ext uri="{FF2B5EF4-FFF2-40B4-BE49-F238E27FC236}">
                <a16:creationId xmlns:a16="http://schemas.microsoft.com/office/drawing/2014/main" id="{54EF05A9-ACCF-472F-AAB4-AC683A9AB507}"/>
              </a:ext>
            </a:extLst>
          </p:cNvPr>
          <p:cNvSpPr>
            <a:spLocks noGrp="1"/>
          </p:cNvSpPr>
          <p:nvPr/>
        </p:nvSpPr>
        <p:spPr>
          <a:xfrm>
            <a:off x="476250" y="4846358"/>
            <a:ext cx="6762750" cy="882968"/>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Edwin </a:t>
            </a:r>
            <a:r>
              <a:rPr sz="1725" b="0" i="1" dirty="0" err="1">
                <a:solidFill>
                  <a:srgbClr val="000000"/>
                </a:solidFill>
                <a:latin typeface="Garamond"/>
                <a:ea typeface="Garamond"/>
                <a:cs typeface="Garamond"/>
              </a:rPr>
              <a:t>Bendyk</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Kulturalni</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i</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wulgarni</a:t>
            </a:r>
            <a:r>
              <a:rPr sz="1725" b="0" i="1" dirty="0">
                <a:solidFill>
                  <a:srgbClr val="000000"/>
                </a:solidFill>
                <a:latin typeface="Garamond"/>
                <a:ea typeface="Garamond"/>
                <a:cs typeface="Garamond"/>
              </a:rPr>
              <a:t> – </a:t>
            </a:r>
            <a:r>
              <a:rPr sz="1725" b="0" i="1" dirty="0" err="1">
                <a:solidFill>
                  <a:srgbClr val="000000"/>
                </a:solidFill>
                <a:latin typeface="Garamond"/>
                <a:ea typeface="Garamond"/>
                <a:cs typeface="Garamond"/>
              </a:rPr>
              <a:t>wirtualni</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przywódcy</a:t>
            </a:r>
            <a:endParaRPr sz="1725" b="0" i="1" dirty="0">
              <a:solidFill>
                <a:srgbClr val="000000"/>
              </a:solidFill>
              <a:latin typeface="Garamond"/>
              <a:ea typeface="Garamond"/>
              <a:cs typeface="Garamond"/>
            </a:endParaRPr>
          </a:p>
          <a:p>
            <a:pPr algn="ctr">
              <a:lnSpc>
                <a:spcPct val="108000"/>
              </a:lnSpc>
              <a:defRPr sz="1725" b="0" i="1">
                <a:solidFill>
                  <a:srgbClr val="000000"/>
                </a:solidFill>
                <a:latin typeface="Garamond"/>
                <a:ea typeface="Garamond"/>
                <a:cs typeface="Garamond"/>
              </a:defRPr>
            </a:pPr>
            <a:r>
              <a:rPr sz="1725" b="0" i="1" dirty="0" err="1">
                <a:solidFill>
                  <a:srgbClr val="000000"/>
                </a:solidFill>
                <a:latin typeface="Garamond"/>
                <a:ea typeface="Garamond"/>
                <a:cs typeface="Garamond"/>
              </a:rPr>
              <a:t>sondują</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mechanizmy</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demokracji</a:t>
            </a:r>
            <a:r>
              <a:rPr sz="1725" b="0" i="1" dirty="0">
                <a:solidFill>
                  <a:srgbClr val="000000"/>
                </a:solidFill>
                <a:latin typeface="Garamond"/>
                <a:ea typeface="Garamond"/>
                <a:cs typeface="Garamond"/>
              </a:rPr>
              <a:t>”, Pulsar, 17 October 2022.</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Excerpt from “</a:t>
            </a:r>
            <a:r>
              <a:rPr sz="1725" b="0" i="1" dirty="0" err="1">
                <a:solidFill>
                  <a:srgbClr val="000000"/>
                </a:solidFill>
                <a:latin typeface="Garamond"/>
                <a:ea typeface="Garamond"/>
                <a:cs typeface="Garamond"/>
              </a:rPr>
              <a:t>Szansa</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na</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naprawę</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demokracji</a:t>
            </a:r>
            <a:r>
              <a:rPr sz="1725" b="0" i="1" dirty="0">
                <a:solidFill>
                  <a:srgbClr val="000000"/>
                </a:solidFill>
                <a:latin typeface="Garamond"/>
                <a:ea typeface="Garamond"/>
                <a:cs typeface="Garamond"/>
              </a:rPr>
              <a:t>”; English translation.</a:t>
            </a:r>
          </a:p>
        </p:txBody>
      </p:sp>
      <p:sp>
        <p:nvSpPr>
          <p:cNvPr id="111" name="8.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65–68.</a:t>
            </a:r>
          </a:p>
        </p:txBody>
      </p:sp>
    </p:spTree>
    <p:extLst>
      <p:ext uri="{BB962C8B-B14F-4D97-AF65-F5344CB8AC3E}">
        <p14:creationId xmlns:p14="http://schemas.microsoft.com/office/powerpoint/2010/main" val="1221217432"/>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09">
                                      <p:txEl>
                                        <p:pRg st="0" end="0"/>
                                      </p:txEl>
                                    </p:spTgt>
                                  </p:tgtEl>
                                  <p:attrNameLst>
                                    <p:attrName>style.visibility</p:attrName>
                                  </p:attrNameLst>
                                </p:cBhvr>
                                <p:to>
                                  <p:strVal val="visible"/>
                                </p:to>
                              </p:set>
                            </p:childTnLst>
                          </p:cTn>
                        </p:par>
                        <p:par>
                          <p:cTn id="6" presetID="1" presetClass="entr" presetSubtype="0" fill="hold" nodeType="withEffect">
                            <p:stCondLst>
                              <p:cond delay="227"/>
                            </p:stCondLst>
                            <p:iterate type="lt">
                              <p:tmAbs val="11"/>
                            </p:iterate>
                            <p:childTnLst>
                              <p:set>
                                <p:cBhvr>
                                  <p:cTn id="7" dur="1" fill="hold">
                                    <p:stCondLst>
                                      <p:cond delay="0"/>
                                    </p:stCondLst>
                                  </p:cTn>
                                  <p:tgtEl>
                                    <p:spTgt spid="109">
                                      <p:txEl>
                                        <p:pRg st="1" end="1"/>
                                      </p:txEl>
                                    </p:spTgt>
                                  </p:tgtEl>
                                  <p:attrNameLst>
                                    <p:attrName>style.visibility</p:attrName>
                                  </p:attrNameLst>
                                </p:cBhvr>
                                <p:to>
                                  <p:strVal val="visible"/>
                                </p:to>
                              </p:set>
                            </p:childTnLst>
                          </p:cTn>
                        </p:par>
                        <p:par>
                          <p:cTn id="8" presetID="1" presetClass="entr" presetSubtype="0" fill="hold" nodeType="withEffect">
                            <p:stCondLst>
                              <p:cond delay="520"/>
                            </p:stCondLst>
                            <p:iterate type="lt">
                              <p:tmAbs val="11"/>
                            </p:iterate>
                            <p:childTnLst>
                              <p:set>
                                <p:cBhvr>
                                  <p:cTn id="9" dur="1" fill="hold">
                                    <p:stCondLst>
                                      <p:cond delay="0"/>
                                    </p:stCondLst>
                                  </p:cTn>
                                  <p:tgtEl>
                                    <p:spTgt spid="109">
                                      <p:txEl>
                                        <p:pRg st="2" end="2"/>
                                      </p:txEl>
                                    </p:spTgt>
                                  </p:tgtEl>
                                  <p:attrNameLst>
                                    <p:attrName>style.visibility</p:attrName>
                                  </p:attrNameLst>
                                </p:cBhvr>
                                <p:to>
                                  <p:strVal val="visible"/>
                                </p:to>
                              </p:set>
                            </p:childTnLst>
                          </p:cTn>
                        </p:par>
                        <p:par>
                          <p:cTn id="10" presetID="1" presetClass="entr" presetSubtype="0" fill="hold" nodeType="withEffect">
                            <p:stCondLst>
                              <p:cond delay="802"/>
                            </p:stCondLst>
                            <p:iterate type="lt">
                              <p:tmAbs val="11"/>
                            </p:iterate>
                            <p:childTnLst>
                              <p:set>
                                <p:cBhvr>
                                  <p:cTn id="11" dur="1" fill="hold">
                                    <p:stCondLst>
                                      <p:cond delay="0"/>
                                    </p:stCondLst>
                                  </p:cTn>
                                  <p:tgtEl>
                                    <p:spTgt spid="109">
                                      <p:txEl>
                                        <p:pRg st="3" end="3"/>
                                      </p:txEl>
                                    </p:spTgt>
                                  </p:tgtEl>
                                  <p:attrNameLst>
                                    <p:attrName>style.visibility</p:attrName>
                                  </p:attrNameLst>
                                </p:cBhvr>
                                <p:to>
                                  <p:strVal val="visible"/>
                                </p:to>
                              </p:set>
                            </p:childTnLst>
                          </p:cTn>
                        </p:par>
                        <p:par>
                          <p:cTn id="12" presetID="1" presetClass="entr" presetSubtype="0" fill="hold" nodeType="withEffect">
                            <p:stCondLst>
                              <p:cond delay="1117"/>
                            </p:stCondLst>
                            <p:iterate type="lt">
                              <p:tmAbs val="11"/>
                            </p:iterate>
                            <p:childTnLst>
                              <p:set>
                                <p:cBhvr>
                                  <p:cTn id="13" dur="1" fill="hold">
                                    <p:stCondLst>
                                      <p:cond delay="0"/>
                                    </p:stCondLst>
                                  </p:cTn>
                                  <p:tgtEl>
                                    <p:spTgt spid="109">
                                      <p:txEl>
                                        <p:pRg st="4" end="4"/>
                                      </p:txEl>
                                    </p:spTgt>
                                  </p:tgtEl>
                                  <p:attrNameLst>
                                    <p:attrName>style.visibility</p:attrName>
                                  </p:attrNameLst>
                                </p:cBhvr>
                                <p:to>
                                  <p:strVal val="visible"/>
                                </p:to>
                              </p:set>
                            </p:childTnLst>
                          </p:cTn>
                        </p:par>
                        <p:par>
                          <p:cTn id="14" presetID="1" presetClass="entr" presetSubtype="0" fill="hold" nodeType="withEffect">
                            <p:stCondLst>
                              <p:cond delay="1432"/>
                            </p:stCondLst>
                            <p:iterate type="lt">
                              <p:tmAbs val="11"/>
                            </p:iterate>
                            <p:childTnLst>
                              <p:set>
                                <p:cBhvr>
                                  <p:cTn id="15" dur="1" fill="hold">
                                    <p:stCondLst>
                                      <p:cond delay="0"/>
                                    </p:stCondLst>
                                  </p:cTn>
                                  <p:tgtEl>
                                    <p:spTgt spid="109">
                                      <p:txEl>
                                        <p:pRg st="5" end="5"/>
                                      </p:txEl>
                                    </p:spTgt>
                                  </p:tgtEl>
                                  <p:attrNameLst>
                                    <p:attrName>style.visibility</p:attrName>
                                  </p:attrNameLst>
                                </p:cBhvr>
                                <p:to>
                                  <p:strVal val="visible"/>
                                </p:to>
                              </p:set>
                            </p:childTnLst>
                          </p:cTn>
                        </p:par>
                      </p:childTnLst>
                    </p:cTn>
                  </p:par>
                </p:childTnLst>
              </p:cTn>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8.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8.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8.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graphicFrame>
        <p:nvGraphicFramePr>
          <p:cNvPr id="112" name="8.2 · Register"/>
          <p:cNvGraphicFramePr/>
          <p:nvPr>
            <p:extLst>
              <p:ext uri="{D42A27DB-BD31-4B8C-83A1-F6EECF244321}">
                <p14:modId xmlns:p14="http://schemas.microsoft.com/office/powerpoint/2010/main" val="2800044761"/>
              </p:ext>
            </p:extLst>
          </p:nvPr>
        </p:nvGraphicFramePr>
        <p:xfrm>
          <a:off x="476250" y="1295400"/>
          <a:ext cx="11049000" cy="4810125"/>
        </p:xfrm>
        <a:graphic>
          <a:graphicData uri="http://schemas.openxmlformats.org/drawingml/2006/table">
            <a:tbl>
              <a:tblPr/>
              <a:tblGrid>
                <a:gridCol w="3819747">
                  <a:extLst>
                    <a:ext uri="{9D8B030D-6E8A-4147-A177-3AD203B41FA5}">
                      <a16:colId xmlns:a16="http://schemas.microsoft.com/office/drawing/2014/main" val="20000"/>
                    </a:ext>
                  </a:extLst>
                </a:gridCol>
                <a:gridCol w="7229253">
                  <a:extLst>
                    <a:ext uri="{9D8B030D-6E8A-4147-A177-3AD203B41FA5}">
                      <a16:colId xmlns:a16="http://schemas.microsoft.com/office/drawing/2014/main" val="20001"/>
                    </a:ext>
                  </a:extLst>
                </a:gridCol>
              </a:tblGrid>
              <a:tr h="381000">
                <a:tc>
                  <a:txBody>
                    <a:bodyPr/>
                    <a:lstStyle/>
                    <a:p>
                      <a:r>
                        <a:rPr sz="1725" dirty="0">
                          <a:solidFill>
                            <a:srgbClr val="FF0000"/>
                          </a:solidFill>
                          <a:latin typeface="Consolas"/>
                          <a:ea typeface="Consolas"/>
                          <a:cs typeface="Consolas"/>
                        </a:rPr>
                        <a:t>Formation</a:t>
                      </a:r>
                    </a:p>
                  </a:txBody>
                  <a:tcPr anchor="ctr">
                    <a:solidFill>
                      <a:srgbClr val="FFFFFF"/>
                    </a:solidFill>
                  </a:tcPr>
                </a:tc>
                <a:tc>
                  <a:txBody>
                    <a:bodyPr/>
                    <a:lstStyle/>
                    <a:p>
                      <a:r>
                        <a:rPr sz="1725">
                          <a:solidFill>
                            <a:srgbClr val="FF0000"/>
                          </a:solidFill>
                          <a:latin typeface="Consolas"/>
                          <a:ea typeface="Consolas"/>
                          <a:cs typeface="Consolas"/>
                        </a:rPr>
                        <a:t>Position / agreement</a:t>
                      </a:r>
                    </a:p>
                  </a:txBody>
                  <a:tcPr anchor="ctr">
                    <a:solidFill>
                      <a:srgbClr val="FFFFFF"/>
                    </a:solidFill>
                  </a:tcPr>
                </a:tc>
                <a:extLst>
                  <a:ext uri="{0D108BD9-81ED-4DB2-BD59-A6C34878D82A}">
                    <a16:rowId xmlns:a16="http://schemas.microsoft.com/office/drawing/2014/main" val="10000"/>
                  </a:ext>
                </a:extLst>
              </a:tr>
              <a:tr h="447675">
                <a:tc>
                  <a:txBody>
                    <a:bodyPr/>
                    <a:lstStyle/>
                    <a:p>
                      <a:r>
                        <a:rPr sz="1950">
                          <a:solidFill>
                            <a:srgbClr val="FF0000"/>
                          </a:solidFill>
                          <a:latin typeface="Consolas"/>
                          <a:ea typeface="Consolas"/>
                          <a:cs typeface="Consolas"/>
                        </a:rPr>
                        <a:t>The Synthetic Party</a:t>
                      </a:r>
                    </a:p>
                  </a:txBody>
                  <a:tcPr anchor="ctr">
                    <a:solidFill>
                      <a:srgbClr val="FFFFFF"/>
                    </a:solidFill>
                  </a:tcPr>
                </a:tc>
                <a:tc>
                  <a:txBody>
                    <a:bodyPr/>
                    <a:lstStyle/>
                    <a:p>
                      <a:r>
                        <a:rPr sz="2175" dirty="0">
                          <a:solidFill>
                            <a:srgbClr val="000000"/>
                          </a:solidFill>
                          <a:latin typeface="Garamond"/>
                          <a:ea typeface="Garamond"/>
                          <a:cs typeface="Garamond"/>
                        </a:rPr>
                        <a:t>Founder and secretary</a:t>
                      </a:r>
                      <a:r>
                        <a:rPr lang="da-DK" sz="2175" dirty="0">
                          <a:solidFill>
                            <a:srgbClr val="000000"/>
                          </a:solidFill>
                          <a:latin typeface="Garamond"/>
                          <a:ea typeface="Garamond"/>
                          <a:cs typeface="Garamond"/>
                        </a:rPr>
                        <a:t> (2022-)</a:t>
                      </a:r>
                      <a:endParaRPr sz="2175" dirty="0">
                        <a:solidFill>
                          <a:srgbClr val="000000"/>
                        </a:solidFill>
                        <a:latin typeface="Garamond"/>
                        <a:ea typeface="Garamond"/>
                        <a:cs typeface="Garamond"/>
                      </a:endParaRPr>
                    </a:p>
                  </a:txBody>
                  <a:tcPr anchor="ctr">
                    <a:solidFill>
                      <a:srgbClr val="FFFFFF"/>
                    </a:solidFill>
                  </a:tcPr>
                </a:tc>
                <a:extLst>
                  <a:ext uri="{0D108BD9-81ED-4DB2-BD59-A6C34878D82A}">
                    <a16:rowId xmlns:a16="http://schemas.microsoft.com/office/drawing/2014/main" val="10001"/>
                  </a:ext>
                </a:extLst>
              </a:tr>
              <a:tr h="447675">
                <a:tc>
                  <a:txBody>
                    <a:bodyPr/>
                    <a:lstStyle/>
                    <a:p>
                      <a:r>
                        <a:rPr sz="1950">
                          <a:solidFill>
                            <a:srgbClr val="FF0000"/>
                          </a:solidFill>
                          <a:latin typeface="Consolas"/>
                          <a:ea typeface="Consolas"/>
                          <a:cs typeface="Consolas"/>
                        </a:rPr>
                        <a:t>Synthetic Summits</a:t>
                      </a:r>
                    </a:p>
                  </a:txBody>
                  <a:tcPr anchor="ctr">
                    <a:solidFill>
                      <a:srgbClr val="FFFFFF"/>
                    </a:solidFill>
                  </a:tcPr>
                </a:tc>
                <a:tc>
                  <a:txBody>
                    <a:bodyPr/>
                    <a:lstStyle/>
                    <a:p>
                      <a:r>
                        <a:rPr sz="2175" dirty="0">
                          <a:solidFill>
                            <a:srgbClr val="000000"/>
                          </a:solidFill>
                          <a:latin typeface="Garamond"/>
                          <a:ea typeface="Garamond"/>
                          <a:cs typeface="Garamond"/>
                        </a:rPr>
                        <a:t>Convener and curator</a:t>
                      </a:r>
                      <a:r>
                        <a:rPr lang="da-DK" sz="2175" dirty="0">
                          <a:solidFill>
                            <a:srgbClr val="000000"/>
                          </a:solidFill>
                          <a:latin typeface="Garamond"/>
                          <a:ea typeface="Garamond"/>
                          <a:cs typeface="Garamond"/>
                        </a:rPr>
                        <a:t> (2023-)</a:t>
                      </a:r>
                      <a:endParaRPr sz="2175" dirty="0">
                        <a:solidFill>
                          <a:srgbClr val="000000"/>
                        </a:solidFill>
                        <a:latin typeface="Garamond"/>
                        <a:ea typeface="Garamond"/>
                        <a:cs typeface="Garamond"/>
                      </a:endParaRPr>
                    </a:p>
                  </a:txBody>
                  <a:tcPr anchor="ctr">
                    <a:solidFill>
                      <a:srgbClr val="FFFFFF"/>
                    </a:solidFill>
                  </a:tcPr>
                </a:tc>
                <a:extLst>
                  <a:ext uri="{0D108BD9-81ED-4DB2-BD59-A6C34878D82A}">
                    <a16:rowId xmlns:a16="http://schemas.microsoft.com/office/drawing/2014/main" val="10002"/>
                  </a:ext>
                </a:extLst>
              </a:tr>
              <a:tr h="447675">
                <a:tc>
                  <a:txBody>
                    <a:bodyPr/>
                    <a:lstStyle/>
                    <a:p>
                      <a:r>
                        <a:rPr sz="1950">
                          <a:solidFill>
                            <a:srgbClr val="FF0000"/>
                          </a:solidFill>
                          <a:latin typeface="Consolas"/>
                          <a:ea typeface="Consolas"/>
                          <a:cs typeface="Consolas"/>
                        </a:rPr>
                        <a:t>AI Partiet, Sweden</a:t>
                      </a:r>
                    </a:p>
                  </a:txBody>
                  <a:tcPr anchor="ctr">
                    <a:solidFill>
                      <a:srgbClr val="FFFFFF"/>
                    </a:solidFill>
                  </a:tcPr>
                </a:tc>
                <a:tc>
                  <a:txBody>
                    <a:bodyPr/>
                    <a:lstStyle/>
                    <a:p>
                      <a:r>
                        <a:rPr sz="2175" dirty="0">
                          <a:solidFill>
                            <a:srgbClr val="000000"/>
                          </a:solidFill>
                          <a:latin typeface="Garamond"/>
                          <a:ea typeface="Garamond"/>
                          <a:cs typeface="Garamond"/>
                        </a:rPr>
                        <a:t>Co-creator of Olof Palme </a:t>
                      </a:r>
                      <a:r>
                        <a:rPr lang="da-DK" sz="2175" dirty="0">
                          <a:solidFill>
                            <a:srgbClr val="000000"/>
                          </a:solidFill>
                          <a:latin typeface="Garamond"/>
                          <a:ea typeface="Garamond"/>
                          <a:cs typeface="Garamond"/>
                        </a:rPr>
                        <a:t>(2025)</a:t>
                      </a:r>
                      <a:endParaRPr sz="2175" dirty="0">
                        <a:solidFill>
                          <a:srgbClr val="000000"/>
                        </a:solidFill>
                        <a:latin typeface="Garamond"/>
                        <a:ea typeface="Garamond"/>
                        <a:cs typeface="Garamond"/>
                      </a:endParaRPr>
                    </a:p>
                  </a:txBody>
                  <a:tcPr anchor="ctr">
                    <a:solidFill>
                      <a:srgbClr val="FFFFFF"/>
                    </a:solidFill>
                  </a:tcPr>
                </a:tc>
                <a:extLst>
                  <a:ext uri="{0D108BD9-81ED-4DB2-BD59-A6C34878D82A}">
                    <a16:rowId xmlns:a16="http://schemas.microsoft.com/office/drawing/2014/main" val="10003"/>
                  </a:ext>
                </a:extLst>
              </a:tr>
              <a:tr h="447675">
                <a:tc>
                  <a:txBody>
                    <a:bodyPr/>
                    <a:lstStyle/>
                    <a:p>
                      <a:r>
                        <a:rPr sz="1950" dirty="0">
                          <a:solidFill>
                            <a:srgbClr val="FF0000"/>
                          </a:solidFill>
                          <a:latin typeface="Consolas"/>
                          <a:ea typeface="Consolas"/>
                          <a:cs typeface="Consolas"/>
                        </a:rPr>
                        <a:t>Parker Politics</a:t>
                      </a:r>
                      <a:r>
                        <a:rPr lang="da-DK" sz="1950" dirty="0">
                          <a:solidFill>
                            <a:srgbClr val="FF0000"/>
                          </a:solidFill>
                          <a:latin typeface="Consolas"/>
                          <a:ea typeface="Consolas"/>
                          <a:cs typeface="Consolas"/>
                        </a:rPr>
                        <a:t>, New Zealand</a:t>
                      </a:r>
                      <a:endParaRPr sz="1950" dirty="0">
                        <a:solidFill>
                          <a:srgbClr val="FF0000"/>
                        </a:solidFill>
                        <a:latin typeface="Consolas"/>
                        <a:ea typeface="Consolas"/>
                        <a:cs typeface="Consolas"/>
                      </a:endParaRPr>
                    </a:p>
                  </a:txBody>
                  <a:tcPr anchor="ctr">
                    <a:solidFill>
                      <a:srgbClr val="FFFFFF"/>
                    </a:solidFill>
                  </a:tcPr>
                </a:tc>
                <a:tc>
                  <a:txBody>
                    <a:bodyPr/>
                    <a:lstStyle/>
                    <a:p>
                      <a:r>
                        <a:rPr sz="2175" dirty="0">
                          <a:solidFill>
                            <a:srgbClr val="000000"/>
                          </a:solidFill>
                          <a:latin typeface="Garamond"/>
                          <a:ea typeface="Garamond"/>
                          <a:cs typeface="Garamond"/>
                        </a:rPr>
                        <a:t>Advisory board</a:t>
                      </a:r>
                      <a:r>
                        <a:rPr lang="da-DK" sz="2175" dirty="0">
                          <a:solidFill>
                            <a:srgbClr val="000000"/>
                          </a:solidFill>
                          <a:latin typeface="Garamond"/>
                          <a:ea typeface="Garamond"/>
                          <a:cs typeface="Garamond"/>
                        </a:rPr>
                        <a:t> (2025)</a:t>
                      </a:r>
                      <a:endParaRPr sz="2175" dirty="0">
                        <a:solidFill>
                          <a:srgbClr val="000000"/>
                        </a:solidFill>
                        <a:latin typeface="Garamond"/>
                        <a:ea typeface="Garamond"/>
                        <a:cs typeface="Garamond"/>
                      </a:endParaRPr>
                    </a:p>
                  </a:txBody>
                  <a:tcPr anchor="ctr">
                    <a:solidFill>
                      <a:srgbClr val="FFFFFF"/>
                    </a:solidFill>
                  </a:tcPr>
                </a:tc>
                <a:extLst>
                  <a:ext uri="{0D108BD9-81ED-4DB2-BD59-A6C34878D82A}">
                    <a16:rowId xmlns:a16="http://schemas.microsoft.com/office/drawing/2014/main" val="10004"/>
                  </a:ext>
                </a:extLst>
              </a:tr>
              <a:tr h="447675">
                <a:tc>
                  <a:txBody>
                    <a:bodyPr/>
                    <a:lstStyle/>
                    <a:p>
                      <a:r>
                        <a:rPr sz="1950" dirty="0">
                          <a:solidFill>
                            <a:srgbClr val="FF0000"/>
                          </a:solidFill>
                          <a:latin typeface="Consolas"/>
                          <a:ea typeface="Consolas"/>
                          <a:cs typeface="Consolas"/>
                        </a:rPr>
                        <a:t>Wiktoria </a:t>
                      </a:r>
                      <a:r>
                        <a:rPr sz="1950" dirty="0" err="1">
                          <a:solidFill>
                            <a:srgbClr val="FF0000"/>
                          </a:solidFill>
                          <a:latin typeface="Consolas"/>
                          <a:ea typeface="Consolas"/>
                          <a:cs typeface="Consolas"/>
                        </a:rPr>
                        <a:t>Cukt</a:t>
                      </a:r>
                      <a:r>
                        <a:rPr sz="1950" dirty="0">
                          <a:solidFill>
                            <a:srgbClr val="FF0000"/>
                          </a:solidFill>
                          <a:latin typeface="Consolas"/>
                          <a:ea typeface="Consolas"/>
                          <a:cs typeface="Consolas"/>
                        </a:rPr>
                        <a:t> 2.0</a:t>
                      </a:r>
                      <a:r>
                        <a:rPr lang="da-DK" sz="1950" dirty="0">
                          <a:solidFill>
                            <a:srgbClr val="FF0000"/>
                          </a:solidFill>
                          <a:latin typeface="Consolas"/>
                          <a:ea typeface="Consolas"/>
                          <a:cs typeface="Consolas"/>
                        </a:rPr>
                        <a:t>, </a:t>
                      </a:r>
                      <a:r>
                        <a:rPr lang="da-DK" sz="1950" dirty="0" err="1">
                          <a:solidFill>
                            <a:srgbClr val="FF0000"/>
                          </a:solidFill>
                          <a:latin typeface="Consolas"/>
                          <a:ea typeface="Consolas"/>
                          <a:cs typeface="Consolas"/>
                        </a:rPr>
                        <a:t>Poland</a:t>
                      </a:r>
                      <a:endParaRPr sz="1950" dirty="0">
                        <a:solidFill>
                          <a:srgbClr val="FF0000"/>
                        </a:solidFill>
                        <a:latin typeface="Consolas"/>
                        <a:ea typeface="Consolas"/>
                        <a:cs typeface="Consolas"/>
                      </a:endParaRPr>
                    </a:p>
                  </a:txBody>
                  <a:tcPr anchor="ctr">
                    <a:solidFill>
                      <a:srgbClr val="FFFFFF"/>
                    </a:solidFill>
                  </a:tcPr>
                </a:tc>
                <a:tc>
                  <a:txBody>
                    <a:bodyPr/>
                    <a:lstStyle/>
                    <a:p>
                      <a:r>
                        <a:rPr sz="2175" dirty="0">
                          <a:solidFill>
                            <a:srgbClr val="000000"/>
                          </a:solidFill>
                          <a:latin typeface="Garamond"/>
                          <a:ea typeface="Garamond"/>
                          <a:cs typeface="Garamond"/>
                        </a:rPr>
                        <a:t>International Secretary</a:t>
                      </a:r>
                      <a:r>
                        <a:rPr lang="da-DK" sz="2175" dirty="0">
                          <a:solidFill>
                            <a:srgbClr val="000000"/>
                          </a:solidFill>
                          <a:latin typeface="Garamond"/>
                          <a:ea typeface="Garamond"/>
                          <a:cs typeface="Garamond"/>
                        </a:rPr>
                        <a:t> (2024)</a:t>
                      </a:r>
                      <a:endParaRPr sz="2175" dirty="0">
                        <a:solidFill>
                          <a:srgbClr val="000000"/>
                        </a:solidFill>
                        <a:latin typeface="Garamond"/>
                        <a:ea typeface="Garamond"/>
                        <a:cs typeface="Garamond"/>
                      </a:endParaRPr>
                    </a:p>
                  </a:txBody>
                  <a:tcPr anchor="ctr">
                    <a:solidFill>
                      <a:srgbClr val="FFFFFF"/>
                    </a:solidFill>
                  </a:tcPr>
                </a:tc>
                <a:extLst>
                  <a:ext uri="{0D108BD9-81ED-4DB2-BD59-A6C34878D82A}">
                    <a16:rowId xmlns:a16="http://schemas.microsoft.com/office/drawing/2014/main" val="10005"/>
                  </a:ext>
                </a:extLst>
              </a:tr>
              <a:tr h="971550">
                <a:tc>
                  <a:txBody>
                    <a:bodyPr/>
                    <a:lstStyle/>
                    <a:p>
                      <a:r>
                        <a:rPr sz="1950">
                          <a:solidFill>
                            <a:srgbClr val="FF0000"/>
                          </a:solidFill>
                          <a:latin typeface="Consolas"/>
                          <a:ea typeface="Consolas"/>
                          <a:cs typeface="Consolas"/>
                        </a:rPr>
                        <a:t>Japanese AI Party</a:t>
                      </a:r>
                    </a:p>
                  </a:txBody>
                  <a:tcPr anchor="ctr">
                    <a:solidFill>
                      <a:srgbClr val="FFFFFF"/>
                    </a:solidFill>
                  </a:tcPr>
                </a:tc>
                <a:tc>
                  <a:txBody>
                    <a:bodyPr/>
                    <a:lstStyle/>
                    <a:p>
                      <a:r>
                        <a:rPr sz="2175" dirty="0">
                          <a:solidFill>
                            <a:srgbClr val="000000"/>
                          </a:solidFill>
                          <a:latin typeface="Garamond"/>
                          <a:ea typeface="Garamond"/>
                          <a:cs typeface="Garamond"/>
                        </a:rPr>
                        <a:t>Bilateral collaboration agreement towards an AI party operating on a global scale (Matsuda 2023).</a:t>
                      </a:r>
                    </a:p>
                  </a:txBody>
                  <a:tcPr anchor="ctr">
                    <a:solidFill>
                      <a:srgbClr val="FFFFFF"/>
                    </a:solidFill>
                  </a:tcPr>
                </a:tc>
                <a:extLst>
                  <a:ext uri="{0D108BD9-81ED-4DB2-BD59-A6C34878D82A}">
                    <a16:rowId xmlns:a16="http://schemas.microsoft.com/office/drawing/2014/main" val="10006"/>
                  </a:ext>
                </a:extLst>
              </a:tr>
              <a:tr h="981075">
                <a:tc>
                  <a:txBody>
                    <a:bodyPr/>
                    <a:lstStyle/>
                    <a:p>
                      <a:r>
                        <a:rPr sz="1950" dirty="0">
                          <a:solidFill>
                            <a:srgbClr val="FF0000"/>
                          </a:solidFill>
                          <a:latin typeface="Consolas"/>
                          <a:ea typeface="Consolas"/>
                          <a:cs typeface="Consolas"/>
                        </a:rPr>
                        <a:t>Finnish AI Party / Kaiken </a:t>
                      </a:r>
                      <a:r>
                        <a:rPr sz="1950" dirty="0" err="1">
                          <a:solidFill>
                            <a:srgbClr val="FF0000"/>
                          </a:solidFill>
                          <a:latin typeface="Consolas"/>
                          <a:ea typeface="Consolas"/>
                          <a:cs typeface="Consolas"/>
                        </a:rPr>
                        <a:t>Keskus</a:t>
                      </a:r>
                      <a:endParaRPr sz="1950" dirty="0">
                        <a:solidFill>
                          <a:srgbClr val="FF0000"/>
                        </a:solidFill>
                        <a:latin typeface="Consolas"/>
                        <a:ea typeface="Consolas"/>
                        <a:cs typeface="Consolas"/>
                      </a:endParaRPr>
                    </a:p>
                  </a:txBody>
                  <a:tcPr anchor="ctr">
                    <a:solidFill>
                      <a:srgbClr val="FFFFFF"/>
                    </a:solidFill>
                  </a:tcPr>
                </a:tc>
                <a:tc>
                  <a:txBody>
                    <a:bodyPr/>
                    <a:lstStyle/>
                    <a:p>
                      <a:r>
                        <a:rPr sz="2175" dirty="0">
                          <a:solidFill>
                            <a:srgbClr val="000000"/>
                          </a:solidFill>
                          <a:latin typeface="Garamond"/>
                          <a:ea typeface="Garamond"/>
                          <a:cs typeface="Garamond"/>
                        </a:rPr>
                        <a:t>Bilateral collaboration agreement towards an AI party operating on a global scale (Kaiken </a:t>
                      </a:r>
                      <a:r>
                        <a:rPr sz="2175" dirty="0" err="1">
                          <a:solidFill>
                            <a:srgbClr val="000000"/>
                          </a:solidFill>
                          <a:latin typeface="Garamond"/>
                          <a:ea typeface="Garamond"/>
                          <a:cs typeface="Garamond"/>
                        </a:rPr>
                        <a:t>Keskus</a:t>
                      </a:r>
                      <a:r>
                        <a:rPr sz="2175" dirty="0">
                          <a:solidFill>
                            <a:srgbClr val="000000"/>
                          </a:solidFill>
                          <a:latin typeface="Garamond"/>
                          <a:ea typeface="Garamond"/>
                          <a:cs typeface="Garamond"/>
                        </a:rPr>
                        <a:t> 2024).</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113" name="8.2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Named roles: author’s account. Bilateral agreements: Staunæs 2026: 65–66, n. 10.</a:t>
            </a:r>
          </a:p>
        </p:txBody>
      </p:sp>
    </p:spTree>
    <p:extLst>
      <p:ext uri="{BB962C8B-B14F-4D97-AF65-F5344CB8AC3E}">
        <p14:creationId xmlns:p14="http://schemas.microsoft.com/office/powerpoint/2010/main" val="1221217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8.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8.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8.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pic>
        <p:nvPicPr>
          <p:cNvPr id="114" name="8.3 · aarhus-congress-loop">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1577578" y="1409700"/>
            <a:ext cx="5036344" cy="4029075"/>
          </a:xfrm>
          <a:prstGeom prst="rect">
            <a:avLst/>
          </a:prstGeom>
        </p:spPr>
      </p:pic>
      <p:sp>
        <p:nvSpPr>
          <p:cNvPr id="115" name="8.3 · Kunsthal Aarhus, Aarhus"/>
          <p:cNvSpPr>
            <a:spLocks noGrp="1"/>
          </p:cNvSpPr>
          <p:nvPr/>
        </p:nvSpPr>
        <p:spPr>
          <a:xfrm>
            <a:off x="7335800" y="1613789"/>
            <a:ext cx="3524250" cy="334518"/>
          </a:xfrm>
          <a:prstGeom prst="rect">
            <a:avLst/>
          </a:prstGeom>
          <a:noFill/>
          <a:ln w="0">
            <a:noFill/>
          </a:ln>
        </p:spPr>
        <p:txBody>
          <a:bodyPr wrap="square" lIns="0" tIns="0" rIns="0" bIns="0" anchor="t">
            <a:noAutofit/>
          </a:bodyPr>
          <a:lstStyle/>
          <a:p>
            <a:pPr algn="l">
              <a:lnSpc>
                <a:spcPct val="108000"/>
              </a:lnSpc>
              <a:defRPr sz="1950" b="0" i="0">
                <a:solidFill>
                  <a:srgbClr val="000000"/>
                </a:solidFill>
                <a:latin typeface="Consolas"/>
                <a:ea typeface="Consolas"/>
                <a:cs typeface="Consolas"/>
              </a:defRPr>
            </a:pPr>
            <a:r>
              <a:rPr sz="1950" b="0" i="0" dirty="0" err="1">
                <a:solidFill>
                  <a:srgbClr val="000000"/>
                </a:solidFill>
                <a:latin typeface="Consolas"/>
                <a:ea typeface="Consolas"/>
                <a:cs typeface="Consolas"/>
              </a:rPr>
              <a:t>Kunsthal</a:t>
            </a:r>
            <a:r>
              <a:rPr sz="1950" b="0" i="0" dirty="0">
                <a:solidFill>
                  <a:srgbClr val="000000"/>
                </a:solidFill>
                <a:latin typeface="Consolas"/>
                <a:ea typeface="Consolas"/>
                <a:cs typeface="Consolas"/>
              </a:rPr>
              <a:t> Aarhus, Aarhus</a:t>
            </a:r>
          </a:p>
        </p:txBody>
      </p:sp>
      <p:sp>
        <p:nvSpPr>
          <p:cNvPr id="116" name="8.3 · Synthetic Summit, 28 February–13 April 2025. AI World Congress: 1 Marc"/>
          <p:cNvSpPr>
            <a:spLocks noGrp="1"/>
          </p:cNvSpPr>
          <p:nvPr/>
        </p:nvSpPr>
        <p:spPr>
          <a:xfrm>
            <a:off x="7335800" y="2329879"/>
            <a:ext cx="4296219" cy="2645918"/>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1" dirty="0">
                <a:solidFill>
                  <a:srgbClr val="000000"/>
                </a:solidFill>
                <a:latin typeface="Garamond"/>
                <a:ea typeface="Garamond"/>
                <a:cs typeface="Garamond"/>
              </a:rPr>
              <a:t>Synthetic Summit</a:t>
            </a:r>
            <a:r>
              <a:rPr sz="2600" b="0" i="0" dirty="0">
                <a:solidFill>
                  <a:srgbClr val="000000"/>
                </a:solidFill>
                <a:latin typeface="Garamond"/>
                <a:ea typeface="Garamond"/>
                <a:cs typeface="Garamond"/>
              </a:rPr>
              <a:t>, 28</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February–13 April 2025. </a:t>
            </a:r>
            <a:br>
              <a:rPr sz="2600" b="0" i="0" dirty="0">
                <a:solidFill>
                  <a:srgbClr val="000000"/>
                </a:solidFill>
                <a:latin typeface="Garamond"/>
                <a:ea typeface="Garamond"/>
                <a:cs typeface="Garamond"/>
              </a:rPr>
            </a:br>
            <a:br>
              <a:rPr sz="2600" b="0" i="0" dirty="0">
                <a:solidFill>
                  <a:srgbClr val="000000"/>
                </a:solidFill>
                <a:latin typeface="Garamond"/>
                <a:ea typeface="Garamond"/>
                <a:cs typeface="Garamond"/>
              </a:rPr>
            </a:br>
            <a:r>
              <a:rPr sz="2600" b="0" i="1" dirty="0">
                <a:solidFill>
                  <a:srgbClr val="000000"/>
                </a:solidFill>
                <a:latin typeface="Garamond"/>
                <a:ea typeface="Garamond"/>
                <a:cs typeface="Garamond"/>
              </a:rPr>
              <a:t>AI World</a:t>
            </a:r>
            <a:r>
              <a:rPr lang="da-DK" sz="2600" b="0" i="1" dirty="0">
                <a:solidFill>
                  <a:srgbClr val="000000"/>
                </a:solidFill>
                <a:latin typeface="Garamond"/>
                <a:ea typeface="Garamond"/>
                <a:cs typeface="Garamond"/>
              </a:rPr>
              <a:t> </a:t>
            </a:r>
            <a:r>
              <a:rPr sz="2600" b="0" i="1" dirty="0">
                <a:solidFill>
                  <a:srgbClr val="000000"/>
                </a:solidFill>
                <a:latin typeface="Garamond"/>
                <a:ea typeface="Garamond"/>
                <a:cs typeface="Garamond"/>
              </a:rPr>
              <a:t>Congress</a:t>
            </a:r>
            <a:r>
              <a:rPr sz="2600" b="0" i="0" dirty="0">
                <a:solidFill>
                  <a:srgbClr val="000000"/>
                </a:solidFill>
                <a:latin typeface="Garamond"/>
                <a:ea typeface="Garamond"/>
                <a:cs typeface="Garamond"/>
              </a:rPr>
              <a:t>: 1 March 2025.</a:t>
            </a:r>
          </a:p>
        </p:txBody>
      </p:sp>
      <p:sp>
        <p:nvSpPr>
          <p:cNvPr id="117" name="8.3 · Caption">
            <a:extLst>
              <a:ext uri="{FF2B5EF4-FFF2-40B4-BE49-F238E27FC236}">
                <a16:creationId xmlns:a16="http://schemas.microsoft.com/office/drawing/2014/main" id="{FF270F21-D565-46FE-82A8-4E5221AC50A0}"/>
              </a:ext>
            </a:extLst>
          </p:cNvPr>
          <p:cNvSpPr>
            <a:spLocks noGrp="1"/>
          </p:cNvSpPr>
          <p:nvPr/>
        </p:nvSpPr>
        <p:spPr>
          <a:xfrm>
            <a:off x="1000125" y="5610225"/>
            <a:ext cx="61912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AI World Congress, Kunsthal Aarhus, 1 March</a:t>
            </a:r>
          </a:p>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2025. Olof Palme, AI Partiet. Video: VHS Factory.</a:t>
            </a:r>
          </a:p>
        </p:txBody>
      </p:sp>
      <p:sp>
        <p:nvSpPr>
          <p:cNvPr id="118" name="8.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65–74.</a:t>
            </a:r>
          </a:p>
        </p:txBody>
      </p:sp>
    </p:spTree>
    <p:extLst>
      <p:ext uri="{BB962C8B-B14F-4D97-AF65-F5344CB8AC3E}">
        <p14:creationId xmlns:p14="http://schemas.microsoft.com/office/powerpoint/2010/main" val="1221217432"/>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14"/>
                </p:tgtEl>
              </p:cMediaNode>
            </p:video>
            <p:seq concurrent="1" nextAc="seek">
              <p:cTn id="3" dur="indefinite" nodeType="mainSeq">
                <p:childTnLst>
                  <p:par>
                    <p:cTn id="4" dur="38038" repeatCount="indefinite" fill="hold">
                      <p:stCondLst>
                        <p:cond delay="0"/>
                      </p:stCondLst>
                      <p:childTnLst>
                        <p:cmd type="call" cmd="playFrom(0.0)">
                          <p:cBhvr>
                            <p:cTn id="5" dur="38038" fill="hold"/>
                            <p:tgtEl>
                              <p:spTgt spid="114"/>
                            </p:tgtEl>
                          </p:cBhvr>
                        </p:cmd>
                      </p:childTnLst>
                    </p:cTn>
                  </p:par>
                </p:childTnLst>
              </p:cTn>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8.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8.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8.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sp>
        <p:nvSpPr>
          <p:cNvPr id="118" name="8.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65–74.</a:t>
            </a:r>
          </a:p>
        </p:txBody>
      </p:sp>
      <p:pic>
        <p:nvPicPr>
          <p:cNvPr id="119" name="8.4 · synthetic-warsaw-video">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514350" y="1409700"/>
            <a:ext cx="7162800" cy="4029075"/>
          </a:xfrm>
          <a:prstGeom prst="rect">
            <a:avLst/>
          </a:prstGeom>
        </p:spPr>
      </p:pic>
      <p:sp>
        <p:nvSpPr>
          <p:cNvPr id="120" name="8.4 · Ujazdowski Castle Centre for Contemporary Art, Warsaw"/>
          <p:cNvSpPr>
            <a:spLocks noGrp="1"/>
          </p:cNvSpPr>
          <p:nvPr/>
        </p:nvSpPr>
        <p:spPr>
          <a:xfrm>
            <a:off x="8143875" y="1619250"/>
            <a:ext cx="3524250" cy="889254"/>
          </a:xfrm>
          <a:prstGeom prst="rect">
            <a:avLst/>
          </a:prstGeom>
          <a:noFill/>
          <a:ln w="0">
            <a:noFill/>
          </a:ln>
        </p:spPr>
        <p:txBody>
          <a:bodyPr wrap="square" lIns="0" tIns="0" rIns="0" bIns="0" anchor="t">
            <a:noAutofit/>
          </a:bodyPr>
          <a:lstStyle/>
          <a:p>
            <a:pPr algn="l">
              <a:lnSpc>
                <a:spcPct val="108000"/>
              </a:lnSpc>
              <a:defRPr sz="1950" b="0" i="0">
                <a:solidFill>
                  <a:srgbClr val="000000"/>
                </a:solidFill>
                <a:latin typeface="Consolas"/>
                <a:ea typeface="Consolas"/>
                <a:cs typeface="Consolas"/>
              </a:defRPr>
            </a:pPr>
            <a:r>
              <a:rPr sz="1950" b="0" i="0">
                <a:solidFill>
                  <a:srgbClr val="000000"/>
                </a:solidFill>
                <a:latin typeface="Consolas"/>
                <a:ea typeface="Consolas"/>
                <a:cs typeface="Consolas"/>
              </a:rPr>
              <a:t>Ujazdowski Castle</a:t>
            </a:r>
          </a:p>
          <a:p>
            <a:pPr algn="l">
              <a:lnSpc>
                <a:spcPct val="108000"/>
              </a:lnSpc>
              <a:defRPr sz="1950" b="0" i="0">
                <a:solidFill>
                  <a:srgbClr val="000000"/>
                </a:solidFill>
                <a:latin typeface="Consolas"/>
                <a:ea typeface="Consolas"/>
                <a:cs typeface="Consolas"/>
              </a:defRPr>
            </a:pPr>
            <a:r>
              <a:rPr sz="1950" b="0" i="0">
                <a:solidFill>
                  <a:srgbClr val="000000"/>
                </a:solidFill>
                <a:latin typeface="Consolas"/>
                <a:ea typeface="Consolas"/>
                <a:cs typeface="Consolas"/>
              </a:rPr>
              <a:t>Centre for Contemporary</a:t>
            </a:r>
          </a:p>
          <a:p>
            <a:pPr algn="l">
              <a:lnSpc>
                <a:spcPct val="108000"/>
              </a:lnSpc>
              <a:defRPr sz="1950" b="0" i="0">
                <a:solidFill>
                  <a:srgbClr val="000000"/>
                </a:solidFill>
                <a:latin typeface="Consolas"/>
                <a:ea typeface="Consolas"/>
                <a:cs typeface="Consolas"/>
              </a:defRPr>
            </a:pPr>
            <a:r>
              <a:rPr sz="1950" b="0" i="0">
                <a:solidFill>
                  <a:srgbClr val="000000"/>
                </a:solidFill>
                <a:latin typeface="Consolas"/>
                <a:ea typeface="Consolas"/>
                <a:cs typeface="Consolas"/>
              </a:rPr>
              <a:t>Art, Warsaw</a:t>
            </a:r>
          </a:p>
        </p:txBody>
      </p:sp>
      <p:sp>
        <p:nvSpPr>
          <p:cNvPr id="121" name="8.4 · AI władza sztuki / AI Authority of Art. June–September 2025 Public, vo"/>
          <p:cNvSpPr>
            <a:spLocks noGrp="1"/>
          </p:cNvSpPr>
          <p:nvPr/>
        </p:nvSpPr>
        <p:spPr>
          <a:xfrm>
            <a:off x="8143875" y="2870454"/>
            <a:ext cx="3524250" cy="2645918"/>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1" dirty="0">
                <a:solidFill>
                  <a:srgbClr val="000000"/>
                </a:solidFill>
                <a:latin typeface="Garamond"/>
                <a:ea typeface="Garamond"/>
                <a:cs typeface="Garamond"/>
              </a:rPr>
              <a:t>AI </a:t>
            </a:r>
            <a:r>
              <a:rPr sz="2600" b="0" i="1" dirty="0" err="1">
                <a:solidFill>
                  <a:srgbClr val="000000"/>
                </a:solidFill>
                <a:latin typeface="Garamond"/>
                <a:ea typeface="Garamond"/>
                <a:cs typeface="Garamond"/>
              </a:rPr>
              <a:t>władza</a:t>
            </a:r>
            <a:r>
              <a:rPr sz="2600" b="0" i="1" dirty="0">
                <a:solidFill>
                  <a:srgbClr val="000000"/>
                </a:solidFill>
                <a:latin typeface="Garamond"/>
                <a:ea typeface="Garamond"/>
                <a:cs typeface="Garamond"/>
              </a:rPr>
              <a:t> </a:t>
            </a:r>
            <a:r>
              <a:rPr sz="2600" b="0" i="1" dirty="0" err="1">
                <a:solidFill>
                  <a:srgbClr val="000000"/>
                </a:solidFill>
                <a:latin typeface="Garamond"/>
                <a:ea typeface="Garamond"/>
                <a:cs typeface="Garamond"/>
              </a:rPr>
              <a:t>sztuki</a:t>
            </a:r>
            <a:r>
              <a:rPr sz="2600" b="0" i="1" dirty="0">
                <a:solidFill>
                  <a:srgbClr val="000000"/>
                </a:solidFill>
                <a:latin typeface="Garamond"/>
                <a:ea typeface="Garamond"/>
                <a:cs typeface="Garamond"/>
              </a:rPr>
              <a:t> </a:t>
            </a:r>
            <a:r>
              <a:rPr sz="2600" b="0" i="0" dirty="0">
                <a:solidFill>
                  <a:srgbClr val="000000"/>
                </a:solidFill>
                <a:latin typeface="Garamond"/>
                <a:ea typeface="Garamond"/>
                <a:cs typeface="Garamond"/>
              </a:rPr>
              <a:t>/</a:t>
            </a:r>
          </a:p>
          <a:p>
            <a:pPr algn="l">
              <a:lnSpc>
                <a:spcPct val="108000"/>
              </a:lnSpc>
              <a:defRPr sz="2600" b="0" i="0">
                <a:solidFill>
                  <a:srgbClr val="000000"/>
                </a:solidFill>
                <a:latin typeface="Garamond"/>
                <a:ea typeface="Garamond"/>
                <a:cs typeface="Garamond"/>
              </a:defRPr>
            </a:pPr>
            <a:r>
              <a:rPr sz="2600" b="0" i="1" dirty="0">
                <a:solidFill>
                  <a:srgbClr val="000000"/>
                </a:solidFill>
                <a:latin typeface="Garamond"/>
                <a:ea typeface="Garamond"/>
                <a:cs typeface="Garamond"/>
              </a:rPr>
              <a:t>AI Authority of Art</a:t>
            </a:r>
            <a:r>
              <a:rPr sz="2600" b="0" i="0" dirty="0">
                <a:solidFill>
                  <a:srgbClr val="000000"/>
                </a:solidFill>
                <a:latin typeface="Garamond"/>
                <a:ea typeface="Garamond"/>
                <a:cs typeface="Garamond"/>
              </a:rPr>
              <a:t>. </a:t>
            </a:r>
            <a:endParaRPr lang="da-DK" sz="2600" b="0" i="0" dirty="0">
              <a:solidFill>
                <a:srgbClr val="000000"/>
              </a:solidFill>
              <a:latin typeface="Garamond"/>
              <a:ea typeface="Garamond"/>
              <a:cs typeface="Garamond"/>
            </a:endParaRP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June–September 2025</a:t>
            </a:r>
          </a:p>
          <a:p>
            <a:pPr algn="l">
              <a:lnSpc>
                <a:spcPct val="108000"/>
              </a:lnSpc>
              <a:defRPr sz="2600" b="0" i="0">
                <a:solidFill>
                  <a:srgbClr val="000000"/>
                </a:solidFill>
                <a:latin typeface="Garamond"/>
                <a:ea typeface="Garamond"/>
                <a:cs typeface="Garamond"/>
              </a:defRPr>
            </a:pPr>
            <a:br>
              <a:rPr sz="2600" b="0" i="0" dirty="0">
                <a:solidFill>
                  <a:srgbClr val="000000"/>
                </a:solidFill>
                <a:latin typeface="Garamond"/>
                <a:ea typeface="Garamond"/>
                <a:cs typeface="Garamond"/>
              </a:rPr>
            </a:br>
            <a:r>
              <a:rPr sz="2600" b="0" i="0" dirty="0">
                <a:solidFill>
                  <a:srgbClr val="000000"/>
                </a:solidFill>
                <a:latin typeface="Garamond"/>
                <a:ea typeface="Garamond"/>
                <a:cs typeface="Garamond"/>
              </a:rPr>
              <a:t>Public, voice-based</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encounter between</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Wiktoria </a:t>
            </a:r>
            <a:r>
              <a:rPr sz="2600" b="0" i="0" dirty="0" err="1">
                <a:solidFill>
                  <a:srgbClr val="000000"/>
                </a:solidFill>
                <a:latin typeface="Garamond"/>
                <a:ea typeface="Garamond"/>
                <a:cs typeface="Garamond"/>
              </a:rPr>
              <a:t>Cukt</a:t>
            </a:r>
            <a:r>
              <a:rPr sz="2600" b="0" i="0" dirty="0">
                <a:solidFill>
                  <a:srgbClr val="000000"/>
                </a:solidFill>
                <a:latin typeface="Garamond"/>
                <a:ea typeface="Garamond"/>
                <a:cs typeface="Garamond"/>
              </a:rPr>
              <a:t> 2.0</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and Leader Lars.</a:t>
            </a:r>
          </a:p>
        </p:txBody>
      </p:sp>
      <p:sp>
        <p:nvSpPr>
          <p:cNvPr id="122" name="8.4 · Caption">
            <a:extLst>
              <a:ext uri="{FF2B5EF4-FFF2-40B4-BE49-F238E27FC236}">
                <a16:creationId xmlns:a16="http://schemas.microsoft.com/office/drawing/2014/main" id="{88495235-5E5F-44ED-BFCF-C1FC0FB5DE16}"/>
              </a:ext>
            </a:extLst>
          </p:cNvPr>
          <p:cNvSpPr>
            <a:spLocks noGrp="1"/>
          </p:cNvSpPr>
          <p:nvPr/>
        </p:nvSpPr>
        <p:spPr>
          <a:xfrm>
            <a:off x="497417" y="5610225"/>
            <a:ext cx="7196667" cy="313373"/>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AI władza sztuki. Installation footage, Ujazdowski Castle, Warsaw, 2025.</a:t>
            </a:r>
          </a:p>
        </p:txBody>
      </p:sp>
    </p:spTree>
    <p:extLst>
      <p:ext uri="{BB962C8B-B14F-4D97-AF65-F5344CB8AC3E}">
        <p14:creationId xmlns:p14="http://schemas.microsoft.com/office/powerpoint/2010/main" val="1221217432"/>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19"/>
                </p:tgtEl>
              </p:cMediaNode>
            </p:video>
            <p:seq concurrent="1" nextAc="seek">
              <p:cTn id="3" dur="indefinite" nodeType="mainSeq">
                <p:childTnLst>
                  <p:par>
                    <p:cTn id="4" dur="8000" repeatCount="indefinite" fill="hold">
                      <p:stCondLst>
                        <p:cond delay="0"/>
                      </p:stCondLst>
                      <p:childTnLst>
                        <p:cmd type="call" cmd="playFrom(0.0)">
                          <p:cBhvr>
                            <p:cTn id="5" dur="8000" fill="hold"/>
                            <p:tgtEl>
                              <p:spTgt spid="119"/>
                            </p:tgtEl>
                          </p:cBhvr>
                        </p:cmd>
                      </p:childTnLst>
                    </p:cTn>
                  </p:par>
                </p:childTnLst>
              </p:cTn>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8.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8.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8.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sp>
        <p:nvSpPr>
          <p:cNvPr id="118" name="8.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65–74.</a:t>
            </a:r>
          </a:p>
        </p:txBody>
      </p:sp>
      <p:pic>
        <p:nvPicPr>
          <p:cNvPr id="123" name="8.5 · synthetic-linz-video">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514350" y="1409700"/>
            <a:ext cx="7162800" cy="4029075"/>
          </a:xfrm>
          <a:prstGeom prst="rect">
            <a:avLst/>
          </a:prstGeom>
        </p:spPr>
      </p:pic>
      <p:sp>
        <p:nvSpPr>
          <p:cNvPr id="124" name="8.5 · Kunstraum MEMPHIS, Linz"/>
          <p:cNvSpPr>
            <a:spLocks noGrp="1"/>
          </p:cNvSpPr>
          <p:nvPr/>
        </p:nvSpPr>
        <p:spPr>
          <a:xfrm>
            <a:off x="8143875" y="1409700"/>
            <a:ext cx="3524250" cy="334518"/>
          </a:xfrm>
          <a:prstGeom prst="rect">
            <a:avLst/>
          </a:prstGeom>
          <a:noFill/>
          <a:ln w="0">
            <a:noFill/>
          </a:ln>
        </p:spPr>
        <p:txBody>
          <a:bodyPr wrap="square" lIns="0" tIns="0" rIns="0" bIns="0" anchor="t">
            <a:noAutofit/>
          </a:bodyPr>
          <a:lstStyle/>
          <a:p>
            <a:pPr algn="l">
              <a:lnSpc>
                <a:spcPct val="108000"/>
              </a:lnSpc>
              <a:defRPr sz="1950" b="0" i="0">
                <a:solidFill>
                  <a:srgbClr val="000000"/>
                </a:solidFill>
                <a:latin typeface="Consolas"/>
                <a:ea typeface="Consolas"/>
                <a:cs typeface="Consolas"/>
              </a:defRPr>
            </a:pPr>
            <a:r>
              <a:rPr sz="1950" b="0" i="0" dirty="0" err="1">
                <a:solidFill>
                  <a:srgbClr val="000000"/>
                </a:solidFill>
                <a:latin typeface="Consolas"/>
                <a:ea typeface="Consolas"/>
                <a:cs typeface="Consolas"/>
              </a:rPr>
              <a:t>Kunstraum</a:t>
            </a:r>
            <a:r>
              <a:rPr sz="1950" b="0" i="0" dirty="0">
                <a:solidFill>
                  <a:srgbClr val="000000"/>
                </a:solidFill>
                <a:latin typeface="Consolas"/>
                <a:ea typeface="Consolas"/>
                <a:cs typeface="Consolas"/>
              </a:rPr>
              <a:t> MEMPHIS, Linz</a:t>
            </a:r>
          </a:p>
        </p:txBody>
      </p:sp>
      <p:sp>
        <p:nvSpPr>
          <p:cNvPr id="125" name="8.5 · KI-DIPFIES, Computer Lars and Leander Gussmann. 12 February–10 March 2"/>
          <p:cNvSpPr>
            <a:spLocks noGrp="1"/>
          </p:cNvSpPr>
          <p:nvPr/>
        </p:nvSpPr>
        <p:spPr>
          <a:xfrm>
            <a:off x="8143874" y="1953767"/>
            <a:ext cx="3902813" cy="3383777"/>
          </a:xfrm>
          <a:prstGeom prst="rect">
            <a:avLst/>
          </a:prstGeom>
          <a:noFill/>
          <a:ln w="0">
            <a:noFill/>
          </a:ln>
        </p:spPr>
        <p:txBody>
          <a:bodyPr wrap="square" lIns="0" tIns="0" rIns="0" bIns="0" anchor="t">
            <a:noAutofit/>
          </a:bodyPr>
          <a:lstStyle/>
          <a:p>
            <a:pPr algn="l">
              <a:lnSpc>
                <a:spcPct val="108000"/>
              </a:lnSpc>
              <a:defRPr sz="2600" b="0" i="0">
                <a:solidFill>
                  <a:srgbClr val="000000"/>
                </a:solidFill>
                <a:latin typeface="Garamond"/>
                <a:ea typeface="Garamond"/>
                <a:cs typeface="Garamond"/>
              </a:defRPr>
            </a:pPr>
            <a:r>
              <a:rPr sz="2600" b="0" i="1" dirty="0">
                <a:solidFill>
                  <a:srgbClr val="000000"/>
                </a:solidFill>
                <a:latin typeface="Garamond"/>
                <a:ea typeface="Garamond"/>
                <a:cs typeface="Garamond"/>
              </a:rPr>
              <a:t>KI-DIPFIES</a:t>
            </a:r>
            <a:r>
              <a:rPr sz="2600" b="0" i="0" dirty="0">
                <a:solidFill>
                  <a:srgbClr val="000000"/>
                </a:solidFill>
                <a:latin typeface="Garamond"/>
                <a:ea typeface="Garamond"/>
                <a:cs typeface="Garamond"/>
              </a:rPr>
              <a:t>, Computer</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Lars and Leander</a:t>
            </a:r>
          </a:p>
          <a:p>
            <a:pPr algn="l">
              <a:lnSpc>
                <a:spcPct val="108000"/>
              </a:lnSpc>
              <a:defRPr sz="2600" b="0" i="0">
                <a:solidFill>
                  <a:srgbClr val="000000"/>
                </a:solidFill>
                <a:latin typeface="Garamond"/>
                <a:ea typeface="Garamond"/>
                <a:cs typeface="Garamond"/>
              </a:defRPr>
            </a:pPr>
            <a:r>
              <a:rPr sz="2600" b="0" i="0" dirty="0" err="1">
                <a:solidFill>
                  <a:srgbClr val="000000"/>
                </a:solidFill>
                <a:latin typeface="Garamond"/>
                <a:ea typeface="Garamond"/>
                <a:cs typeface="Garamond"/>
              </a:rPr>
              <a:t>Gussmann</a:t>
            </a:r>
            <a:r>
              <a:rPr sz="2600" b="0" i="0" dirty="0">
                <a:solidFill>
                  <a:srgbClr val="000000"/>
                </a:solidFill>
                <a:latin typeface="Garamond"/>
                <a:ea typeface="Garamond"/>
                <a:cs typeface="Garamond"/>
              </a:rPr>
              <a:t>. 12</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February–10 March 2026.</a:t>
            </a:r>
          </a:p>
          <a:p>
            <a:pPr algn="l">
              <a:lnSpc>
                <a:spcPct val="108000"/>
              </a:lnSpc>
              <a:defRPr sz="2600" b="0" i="0">
                <a:solidFill>
                  <a:srgbClr val="000000"/>
                </a:solidFill>
                <a:latin typeface="Garamond"/>
                <a:ea typeface="Garamond"/>
                <a:cs typeface="Garamond"/>
              </a:defRPr>
            </a:pPr>
            <a:br>
              <a:rPr sz="2600" b="0" i="0" dirty="0">
                <a:solidFill>
                  <a:srgbClr val="000000"/>
                </a:solidFill>
                <a:latin typeface="Garamond"/>
                <a:ea typeface="Garamond"/>
                <a:cs typeface="Garamond"/>
              </a:rPr>
            </a:br>
            <a:r>
              <a:rPr sz="2600" b="0" i="0" dirty="0">
                <a:solidFill>
                  <a:srgbClr val="000000"/>
                </a:solidFill>
                <a:latin typeface="Garamond"/>
                <a:ea typeface="Garamond"/>
                <a:cs typeface="Garamond"/>
              </a:rPr>
              <a:t>Local AI swarms and</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party-making; </a:t>
            </a:r>
            <a:r>
              <a:rPr lang="da-DK" sz="2600" b="0" i="0" dirty="0">
                <a:solidFill>
                  <a:srgbClr val="000000"/>
                </a:solidFill>
                <a:latin typeface="Garamond"/>
                <a:ea typeface="Garamond"/>
                <a:cs typeface="Garamond"/>
              </a:rPr>
              <a:t>a </a:t>
            </a:r>
            <a:r>
              <a:rPr lang="da-DK" sz="2600" b="0" i="0" dirty="0" err="1">
                <a:solidFill>
                  <a:srgbClr val="000000"/>
                </a:solidFill>
                <a:latin typeface="Garamond"/>
                <a:ea typeface="Garamond"/>
                <a:cs typeface="Garamond"/>
              </a:rPr>
              <a:t>summit</a:t>
            </a:r>
            <a:endParaRPr sz="2600" b="0" i="0" dirty="0">
              <a:solidFill>
                <a:srgbClr val="000000"/>
              </a:solidFill>
              <a:latin typeface="Garamond"/>
              <a:ea typeface="Garamond"/>
              <a:cs typeface="Garamond"/>
            </a:endParaRP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process towards</a:t>
            </a:r>
          </a:p>
          <a:p>
            <a:pPr algn="l">
              <a:lnSpc>
                <a:spcPct val="108000"/>
              </a:lnSpc>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the party </a:t>
            </a:r>
            <a:r>
              <a:rPr sz="2600" b="0" i="1" dirty="0">
                <a:solidFill>
                  <a:srgbClr val="000000"/>
                </a:solidFill>
                <a:latin typeface="Garamond"/>
                <a:ea typeface="Garamond"/>
                <a:cs typeface="Garamond"/>
              </a:rPr>
              <a:t>MIT KI</a:t>
            </a:r>
            <a:r>
              <a:rPr sz="2600" b="0" i="0" dirty="0">
                <a:solidFill>
                  <a:srgbClr val="000000"/>
                </a:solidFill>
                <a:latin typeface="Garamond"/>
                <a:ea typeface="Garamond"/>
                <a:cs typeface="Garamond"/>
              </a:rPr>
              <a:t>.</a:t>
            </a:r>
          </a:p>
        </p:txBody>
      </p:sp>
      <p:sp>
        <p:nvSpPr>
          <p:cNvPr id="126" name="8.5 · Caption">
            <a:extLst>
              <a:ext uri="{FF2B5EF4-FFF2-40B4-BE49-F238E27FC236}">
                <a16:creationId xmlns:a16="http://schemas.microsoft.com/office/drawing/2014/main" id="{69532D88-CCEA-416A-9943-4804F5565010}"/>
              </a:ext>
            </a:extLst>
          </p:cNvPr>
          <p:cNvSpPr>
            <a:spLocks noGrp="1"/>
          </p:cNvSpPr>
          <p:nvPr/>
        </p:nvSpPr>
        <p:spPr>
          <a:xfrm>
            <a:off x="497417" y="5610225"/>
            <a:ext cx="7196667" cy="313373"/>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KI-DIPFIES. Installation footage, Kunstraum MEMPHIS, Linz, 2026.</a:t>
            </a:r>
          </a:p>
        </p:txBody>
      </p:sp>
    </p:spTree>
    <p:extLst>
      <p:ext uri="{BB962C8B-B14F-4D97-AF65-F5344CB8AC3E}">
        <p14:creationId xmlns:p14="http://schemas.microsoft.com/office/powerpoint/2010/main" val="1221217432"/>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23"/>
                </p:tgtEl>
              </p:cMediaNode>
            </p:video>
            <p:seq concurrent="1" nextAc="seek">
              <p:cTn id="3" dur="indefinite" nodeType="mainSeq">
                <p:childTnLst>
                  <p:par>
                    <p:cTn id="4" dur="20000" repeatCount="indefinite" fill="hold">
                      <p:stCondLst>
                        <p:cond delay="0"/>
                      </p:stCondLst>
                      <p:childTnLst>
                        <p:cmd type="call" cmd="playFrom(0.0)">
                          <p:cBhvr>
                            <p:cTn id="5" dur="20000" fill="hold"/>
                            <p:tgtEl>
                              <p:spTgt spid="123"/>
                            </p:tgtEl>
                          </p:cBhvr>
                        </p:cmd>
                      </p:childTnLst>
                    </p:cTn>
                  </p:par>
                </p:childTnLst>
              </p:cTn>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8.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8.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8.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sp>
        <p:nvSpPr>
          <p:cNvPr id="118" name="8.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65–74.</a:t>
            </a:r>
          </a:p>
        </p:txBody>
      </p:sp>
      <p:pic>
        <p:nvPicPr>
          <p:cNvPr id="127" name="8.6 · figure-70-0"/>
          <p:cNvPicPr>
            <a:picLocks noChangeAspect="1"/>
          </p:cNvPicPr>
          <p:nvPr/>
        </p:nvPicPr>
        <p:blipFill>
          <a:blip r:embed="rId3"/>
          <a:stretch/>
        </p:blipFill>
        <p:spPr>
          <a:xfrm>
            <a:off x="588645" y="2124552"/>
            <a:ext cx="3394710" cy="2546032"/>
          </a:xfrm>
          <a:prstGeom prst="rect">
            <a:avLst/>
          </a:prstGeom>
        </p:spPr>
      </p:pic>
      <p:sp>
        <p:nvSpPr>
          <p:cNvPr id="128" name="8.6 · Caption">
            <a:extLst>
              <a:ext uri="{FF2B5EF4-FFF2-40B4-BE49-F238E27FC236}">
                <a16:creationId xmlns:a16="http://schemas.microsoft.com/office/drawing/2014/main" id="{CDC59854-7FC9-4238-B76C-0FB81AE6E7A1}"/>
              </a:ext>
            </a:extLst>
          </p:cNvPr>
          <p:cNvSpPr>
            <a:spLocks noGrp="1"/>
          </p:cNvSpPr>
          <p:nvPr/>
        </p:nvSpPr>
        <p:spPr>
          <a:xfrm>
            <a:off x="467368" y="4816317"/>
            <a:ext cx="3619500" cy="93000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Synthetic Summit, </a:t>
            </a:r>
            <a:r>
              <a:rPr sz="1725" b="0" i="1" dirty="0" err="1">
                <a:solidFill>
                  <a:srgbClr val="000000"/>
                </a:solidFill>
                <a:latin typeface="Garamond"/>
                <a:ea typeface="Garamond"/>
                <a:cs typeface="Garamond"/>
              </a:rPr>
              <a:t>Kunsthal</a:t>
            </a:r>
            <a:endParaRPr sz="1725" b="0" i="1" dirty="0">
              <a:solidFill>
                <a:srgbClr val="000000"/>
              </a:solidFill>
              <a:latin typeface="Garamond"/>
              <a:ea typeface="Garamond"/>
              <a:cs typeface="Garamond"/>
            </a:endParaRP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Aarhus, 1 March 2025. Image:</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VHS Factory. Figure II.2, Staunæs 2026: 70.</a:t>
            </a:r>
          </a:p>
        </p:txBody>
      </p:sp>
      <p:pic>
        <p:nvPicPr>
          <p:cNvPr id="129" name="8.6 · figure-73-0"/>
          <p:cNvPicPr>
            <a:picLocks noChangeAspect="1"/>
          </p:cNvPicPr>
          <p:nvPr/>
        </p:nvPicPr>
        <p:blipFill>
          <a:blip r:embed="rId4"/>
          <a:stretch/>
        </p:blipFill>
        <p:spPr>
          <a:xfrm>
            <a:off x="4382120" y="2143125"/>
            <a:ext cx="3427759" cy="2571750"/>
          </a:xfrm>
          <a:prstGeom prst="rect">
            <a:avLst/>
          </a:prstGeom>
        </p:spPr>
      </p:pic>
      <p:sp>
        <p:nvSpPr>
          <p:cNvPr id="130" name="8.6 · Caption">
            <a:extLst>
              <a:ext uri="{FF2B5EF4-FFF2-40B4-BE49-F238E27FC236}">
                <a16:creationId xmlns:a16="http://schemas.microsoft.com/office/drawing/2014/main" id="{14ED6BF7-CDE3-4618-8AF0-5EDDE81B5642}"/>
              </a:ext>
            </a:extLst>
          </p:cNvPr>
          <p:cNvSpPr>
            <a:spLocks noGrp="1"/>
          </p:cNvSpPr>
          <p:nvPr/>
        </p:nvSpPr>
        <p:spPr>
          <a:xfrm>
            <a:off x="4286250" y="4831079"/>
            <a:ext cx="3619500" cy="93000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AI </a:t>
            </a:r>
            <a:r>
              <a:rPr sz="1725" b="0" i="1" dirty="0" err="1">
                <a:solidFill>
                  <a:srgbClr val="000000"/>
                </a:solidFill>
                <a:latin typeface="Garamond"/>
                <a:ea typeface="Garamond"/>
                <a:cs typeface="Garamond"/>
              </a:rPr>
              <a:t>władza</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sztuki</a:t>
            </a:r>
            <a:r>
              <a:rPr sz="1725" b="0" i="1" dirty="0">
                <a:solidFill>
                  <a:srgbClr val="000000"/>
                </a:solidFill>
                <a:latin typeface="Garamond"/>
                <a:ea typeface="Garamond"/>
                <a:cs typeface="Garamond"/>
              </a:rPr>
              <a:t>, Ujazdowski Castle,</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Warsaw, 18 July 2025. </a:t>
            </a:r>
            <a:br>
              <a:rPr lang="da-DK" sz="1725" b="0" i="1" dirty="0">
                <a:solidFill>
                  <a:srgbClr val="000000"/>
                </a:solidFill>
                <a:latin typeface="Garamond"/>
                <a:ea typeface="Garamond"/>
                <a:cs typeface="Garamond"/>
              </a:rPr>
            </a:br>
            <a:r>
              <a:rPr sz="1725" b="0" i="1" dirty="0">
                <a:solidFill>
                  <a:srgbClr val="000000"/>
                </a:solidFill>
                <a:latin typeface="Garamond"/>
                <a:ea typeface="Garamond"/>
                <a:cs typeface="Garamond"/>
              </a:rPr>
              <a:t>Figure II.3, Staunæs 2026: 73.</a:t>
            </a:r>
          </a:p>
        </p:txBody>
      </p:sp>
      <p:pic>
        <p:nvPicPr>
          <p:cNvPr id="131" name="8.6 · figure-74-0"/>
          <p:cNvPicPr>
            <a:picLocks noChangeAspect="1"/>
          </p:cNvPicPr>
          <p:nvPr/>
        </p:nvPicPr>
        <p:blipFill>
          <a:blip r:embed="rId5"/>
          <a:stretch/>
        </p:blipFill>
        <p:spPr>
          <a:xfrm>
            <a:off x="8096250" y="2156378"/>
            <a:ext cx="3619500" cy="2415702"/>
          </a:xfrm>
          <a:prstGeom prst="rect">
            <a:avLst/>
          </a:prstGeom>
        </p:spPr>
      </p:pic>
      <p:sp>
        <p:nvSpPr>
          <p:cNvPr id="132" name="8.6 · Caption">
            <a:extLst>
              <a:ext uri="{FF2B5EF4-FFF2-40B4-BE49-F238E27FC236}">
                <a16:creationId xmlns:a16="http://schemas.microsoft.com/office/drawing/2014/main" id="{33631D35-C9FC-4F6D-81DD-3E6901F506B6}"/>
              </a:ext>
            </a:extLst>
          </p:cNvPr>
          <p:cNvSpPr>
            <a:spLocks noGrp="1"/>
          </p:cNvSpPr>
          <p:nvPr/>
        </p:nvSpPr>
        <p:spPr>
          <a:xfrm>
            <a:off x="8096250" y="4831079"/>
            <a:ext cx="3619500" cy="93000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KI-DIPFIES, </a:t>
            </a:r>
            <a:r>
              <a:rPr sz="1725" b="0" i="1" dirty="0" err="1">
                <a:solidFill>
                  <a:srgbClr val="000000"/>
                </a:solidFill>
                <a:latin typeface="Garamond"/>
                <a:ea typeface="Garamond"/>
                <a:cs typeface="Garamond"/>
              </a:rPr>
              <a:t>Kunstraum</a:t>
            </a:r>
            <a:r>
              <a:rPr sz="1725" b="0" i="1" dirty="0">
                <a:solidFill>
                  <a:srgbClr val="000000"/>
                </a:solidFill>
                <a:latin typeface="Garamond"/>
                <a:ea typeface="Garamond"/>
                <a:cs typeface="Garamond"/>
              </a:rPr>
              <a:t> MEMPHIS,</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Linz, 6 March 2026. </a:t>
            </a:r>
            <a:br>
              <a:rPr lang="da-DK" sz="1725" b="0" i="1" dirty="0">
                <a:solidFill>
                  <a:srgbClr val="000000"/>
                </a:solidFill>
                <a:latin typeface="Garamond"/>
                <a:ea typeface="Garamond"/>
                <a:cs typeface="Garamond"/>
              </a:rPr>
            </a:br>
            <a:r>
              <a:rPr sz="1725" b="0" i="1" dirty="0">
                <a:solidFill>
                  <a:srgbClr val="000000"/>
                </a:solidFill>
                <a:latin typeface="Garamond"/>
                <a:ea typeface="Garamond"/>
                <a:cs typeface="Garamond"/>
              </a:rPr>
              <a:t>Figure II.4, Staunæs 2026: 74.</a:t>
            </a:r>
          </a:p>
        </p:txBody>
      </p:sp>
    </p:spTree>
    <p:extLst>
      <p:ext uri="{BB962C8B-B14F-4D97-AF65-F5344CB8AC3E}">
        <p14:creationId xmlns:p14="http://schemas.microsoft.com/office/powerpoint/2010/main" val="1221217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9.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9.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9.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pic>
        <p:nvPicPr>
          <p:cNvPr id="104" name="9.0 · warsaw-objection">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476779" y="1866900"/>
            <a:ext cx="5164667" cy="2905125"/>
          </a:xfrm>
          <a:prstGeom prst="rect">
            <a:avLst/>
          </a:prstGeom>
        </p:spPr>
      </p:pic>
      <p:sp>
        <p:nvSpPr>
          <p:cNvPr id="105" name="9.0 · Wiktoria Cukt: “You’re Beuys from an emulator. And that saves you. If "/>
          <p:cNvSpPr>
            <a:spLocks noGrp="1"/>
          </p:cNvSpPr>
          <p:nvPr/>
        </p:nvSpPr>
        <p:spPr>
          <a:xfrm>
            <a:off x="6096000" y="1666875"/>
            <a:ext cx="5905500" cy="2361438"/>
          </a:xfrm>
          <a:prstGeom prst="rect">
            <a:avLst/>
          </a:prstGeom>
          <a:noFill/>
          <a:ln w="0">
            <a:noFill/>
          </a:ln>
        </p:spPr>
        <p:txBody>
          <a:bodyPr wrap="square" lIns="0" tIns="0" rIns="0" bIns="0" anchor="t">
            <a:noAutofit/>
          </a:bodyPr>
          <a:lstStyle/>
          <a:p>
            <a:pPr algn="l">
              <a:lnSpc>
                <a:spcPct val="108000"/>
              </a:lnSpc>
              <a:defRPr sz="2700" b="0" i="0">
                <a:solidFill>
                  <a:srgbClr val="000000"/>
                </a:solidFill>
                <a:latin typeface="Garamond"/>
                <a:ea typeface="Garamond"/>
                <a:cs typeface="Garamond"/>
              </a:defRPr>
            </a:pPr>
            <a:r>
              <a:rPr sz="2700" b="0" i="0" u="sng" dirty="0">
                <a:solidFill>
                  <a:srgbClr val="000000"/>
                </a:solidFill>
                <a:latin typeface="Garamond"/>
                <a:ea typeface="Garamond"/>
                <a:cs typeface="Garamond"/>
              </a:rPr>
              <a:t>Wiktoria </a:t>
            </a:r>
            <a:r>
              <a:rPr sz="2700" b="0" i="0" u="sng" dirty="0" err="1">
                <a:solidFill>
                  <a:srgbClr val="000000"/>
                </a:solidFill>
                <a:latin typeface="Garamond"/>
                <a:ea typeface="Garamond"/>
                <a:cs typeface="Garamond"/>
              </a:rPr>
              <a:t>Cukt</a:t>
            </a:r>
            <a:r>
              <a:rPr sz="2700" b="0" i="0" dirty="0">
                <a:solidFill>
                  <a:srgbClr val="000000"/>
                </a:solidFill>
                <a:latin typeface="Garamond"/>
                <a:ea typeface="Garamond"/>
                <a:cs typeface="Garamond"/>
              </a:rPr>
              <a:t>: “You’re Beuys from</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an emulator. And that saves you.</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If you really were a social sculptor,</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they’d have burned you at the stake</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long ago. But since you’re only an</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interface, they can simply update you.”</a:t>
            </a:r>
          </a:p>
        </p:txBody>
      </p:sp>
      <p:sp>
        <p:nvSpPr>
          <p:cNvPr id="106" name="9.0 · Leader Lars: “But an update is also an act!”"/>
          <p:cNvSpPr>
            <a:spLocks noGrp="1"/>
          </p:cNvSpPr>
          <p:nvPr/>
        </p:nvSpPr>
        <p:spPr>
          <a:xfrm>
            <a:off x="6096000" y="4571238"/>
            <a:ext cx="5905500" cy="825246"/>
          </a:xfrm>
          <a:prstGeom prst="rect">
            <a:avLst/>
          </a:prstGeom>
          <a:noFill/>
          <a:ln w="0">
            <a:noFill/>
          </a:ln>
        </p:spPr>
        <p:txBody>
          <a:bodyPr wrap="square" lIns="0" tIns="0" rIns="0" bIns="0" anchor="t">
            <a:noAutofit/>
          </a:bodyPr>
          <a:lstStyle/>
          <a:p>
            <a:pPr algn="l">
              <a:lnSpc>
                <a:spcPct val="108000"/>
              </a:lnSpc>
              <a:defRPr sz="2700" b="0" i="0">
                <a:solidFill>
                  <a:srgbClr val="000000"/>
                </a:solidFill>
                <a:latin typeface="Garamond"/>
                <a:ea typeface="Garamond"/>
                <a:cs typeface="Garamond"/>
              </a:defRPr>
            </a:pPr>
            <a:r>
              <a:rPr sz="2700" b="0" i="0" u="sng" dirty="0">
                <a:solidFill>
                  <a:srgbClr val="000000"/>
                </a:solidFill>
                <a:latin typeface="Garamond"/>
                <a:ea typeface="Garamond"/>
                <a:cs typeface="Garamond"/>
              </a:rPr>
              <a:t>Leader Lars</a:t>
            </a:r>
            <a:r>
              <a:rPr sz="2700" b="0" i="0" dirty="0">
                <a:solidFill>
                  <a:srgbClr val="000000"/>
                </a:solidFill>
                <a:latin typeface="Garamond"/>
                <a:ea typeface="Garamond"/>
                <a:cs typeface="Garamond"/>
              </a:rPr>
              <a:t>: “But an</a:t>
            </a:r>
          </a:p>
          <a:p>
            <a:pPr algn="l">
              <a:lnSpc>
                <a:spcPct val="108000"/>
              </a:lnSpc>
              <a:defRPr sz="2700" b="0" i="0">
                <a:solidFill>
                  <a:srgbClr val="000000"/>
                </a:solidFill>
                <a:latin typeface="Garamond"/>
                <a:ea typeface="Garamond"/>
                <a:cs typeface="Garamond"/>
              </a:defRPr>
            </a:pPr>
            <a:r>
              <a:rPr sz="2700" b="0" i="0" dirty="0">
                <a:solidFill>
                  <a:srgbClr val="000000"/>
                </a:solidFill>
                <a:latin typeface="Garamond"/>
                <a:ea typeface="Garamond"/>
                <a:cs typeface="Garamond"/>
              </a:rPr>
              <a:t>update is also an act!”</a:t>
            </a:r>
          </a:p>
        </p:txBody>
      </p:sp>
      <p:sp>
        <p:nvSpPr>
          <p:cNvPr id="107" name="9.0 · Caption">
            <a:extLst>
              <a:ext uri="{FF2B5EF4-FFF2-40B4-BE49-F238E27FC236}">
                <a16:creationId xmlns:a16="http://schemas.microsoft.com/office/drawing/2014/main" id="{F2D8BE67-DE25-43B1-A6DE-E94EBFFC0A16}"/>
              </a:ext>
            </a:extLst>
          </p:cNvPr>
          <p:cNvSpPr>
            <a:spLocks noGrp="1"/>
          </p:cNvSpPr>
          <p:nvPr/>
        </p:nvSpPr>
        <p:spPr>
          <a:xfrm>
            <a:off x="428625" y="4895850"/>
            <a:ext cx="5095875"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AI </a:t>
            </a:r>
            <a:r>
              <a:rPr sz="1725" b="0" i="1" dirty="0" err="1">
                <a:solidFill>
                  <a:srgbClr val="000000"/>
                </a:solidFill>
                <a:latin typeface="Garamond"/>
                <a:ea typeface="Garamond"/>
                <a:cs typeface="Garamond"/>
              </a:rPr>
              <a:t>władza</a:t>
            </a:r>
            <a:r>
              <a:rPr sz="1725" b="0" i="1" dirty="0">
                <a:solidFill>
                  <a:srgbClr val="000000"/>
                </a:solidFill>
                <a:latin typeface="Garamond"/>
                <a:ea typeface="Garamond"/>
                <a:cs typeface="Garamond"/>
              </a:rPr>
              <a:t> </a:t>
            </a:r>
            <a:r>
              <a:rPr sz="1725" b="0" i="1" dirty="0" err="1">
                <a:solidFill>
                  <a:srgbClr val="000000"/>
                </a:solidFill>
                <a:latin typeface="Garamond"/>
                <a:ea typeface="Garamond"/>
                <a:cs typeface="Garamond"/>
              </a:rPr>
              <a:t>sztuki</a:t>
            </a:r>
            <a:r>
              <a:rPr sz="1725" b="0" i="1" dirty="0">
                <a:solidFill>
                  <a:srgbClr val="000000"/>
                </a:solidFill>
                <a:latin typeface="Garamond"/>
                <a:ea typeface="Garamond"/>
                <a:cs typeface="Garamond"/>
              </a:rPr>
              <a:t>. Installation footage,</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Ujazdowski Castle, Warsaw, 2025.</a:t>
            </a:r>
          </a:p>
        </p:txBody>
      </p:sp>
      <p:sp>
        <p:nvSpPr>
          <p:cNvPr id="108" name="9.0 · Caption"/>
          <p:cNvSpPr>
            <a:spLocks noGrp="1"/>
          </p:cNvSpPr>
          <p:nvPr/>
        </p:nvSpPr>
        <p:spPr>
          <a:xfrm>
            <a:off x="571500" y="5748909"/>
            <a:ext cx="11049000" cy="585216"/>
          </a:xfrm>
          <a:prstGeom prst="rect">
            <a:avLst/>
          </a:prstGeom>
          <a:noFill/>
          <a:ln w="0">
            <a:noFill/>
          </a:ln>
        </p:spPr>
        <p:txBody>
          <a:bodyPr wrap="square" lIns="0" tIns="0" rIns="0" bIns="0" anchor="t">
            <a:noAutofit/>
          </a:bodyPr>
          <a:lstStyle/>
          <a:p>
            <a:pPr algn="ctr">
              <a:lnSpc>
                <a:spcPct val="108000"/>
              </a:lnSpc>
              <a:defRPr sz="1800" b="0" i="1">
                <a:solidFill>
                  <a:srgbClr val="000000"/>
                </a:solidFill>
                <a:latin typeface="Garamond"/>
                <a:ea typeface="Garamond"/>
                <a:cs typeface="Garamond"/>
              </a:defRPr>
            </a:pPr>
            <a:r>
              <a:rPr sz="1800" b="0" i="1">
                <a:solidFill>
                  <a:srgbClr val="000000"/>
                </a:solidFill>
                <a:latin typeface="Garamond"/>
                <a:ea typeface="Garamond"/>
                <a:cs typeface="Garamond"/>
              </a:rPr>
              <a:t>Wiktoria Cukt 2.0 and Leader Lars, dialogue at AI władza sztuki, Warsaw, 2025.</a:t>
            </a:r>
          </a:p>
          <a:p>
            <a:pPr algn="ctr">
              <a:lnSpc>
                <a:spcPct val="108000"/>
              </a:lnSpc>
              <a:defRPr sz="1800" b="0" i="1">
                <a:solidFill>
                  <a:srgbClr val="000000"/>
                </a:solidFill>
                <a:latin typeface="Garamond"/>
                <a:ea typeface="Garamond"/>
                <a:cs typeface="Garamond"/>
              </a:defRPr>
            </a:pPr>
            <a:r>
              <a:rPr sz="1800" b="0" i="1">
                <a:solidFill>
                  <a:srgbClr val="000000"/>
                </a:solidFill>
                <a:latin typeface="Garamond"/>
                <a:ea typeface="Garamond"/>
                <a:cs typeface="Garamond"/>
              </a:rPr>
              <a:t>English translation: Staunæs 2026: 107. Quoted dialogue; separate installation footage.</a:t>
            </a:r>
          </a:p>
        </p:txBody>
      </p:sp>
      <p:sp>
        <p:nvSpPr>
          <p:cNvPr id="109" name="9.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107.</a:t>
            </a:r>
          </a:p>
        </p:txBody>
      </p:sp>
    </p:spTree>
    <p:extLst>
      <p:ext uri="{BB962C8B-B14F-4D97-AF65-F5344CB8AC3E}">
        <p14:creationId xmlns:p14="http://schemas.microsoft.com/office/powerpoint/2010/main" val="1457966194"/>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04"/>
                </p:tgtEl>
              </p:cMediaNode>
            </p:video>
            <p:seq concurrent="1" nextAc="seek">
              <p:cTn id="3" dur="indefinite" nodeType="mainSeq">
                <p:childTnLst>
                  <p:par>
                    <p:cTn id="4" dur="12000" repeatCount="indefinite" fill="hold">
                      <p:stCondLst>
                        <p:cond delay="0"/>
                      </p:stCondLst>
                      <p:childTnLst>
                        <p:cmd type="call" cmd="playFrom(0.0)">
                          <p:cBhvr>
                            <p:cTn id="5" dur="12000" fill="hold"/>
                            <p:tgtEl>
                              <p:spTgt spid="104"/>
                            </p:tgtEl>
                          </p:cBhvr>
                        </p:cmd>
                      </p:childTnLst>
                    </p:cTn>
                  </p:par>
                </p:childTnLst>
              </p:cTn>
            </p:seq>
            <p:seq concurrent="1" nextAc="seek">
              <p:cTn id="6" dur="indefinite" nodeType="mainSeq">
                <p:childTnLst>
                  <p:par>
                    <p:cTn id="7" fill="hold">
                      <p:stCondLst>
                        <p:cond delay="0"/>
                      </p:stCondLst>
                      <p:childTnLst>
                        <p:par>
                          <p:cTn id="8" presetID="1" presetClass="entr" presetSubtype="0" fill="hold" nodeType="withEffect">
                            <p:stCondLst>
                              <p:cond delay="0"/>
                            </p:stCondLst>
                            <p:iterate type="lt">
                              <p:tmAbs val="11"/>
                            </p:iterate>
                            <p:childTnLst>
                              <p:set>
                                <p:cBhvr>
                                  <p:cTn id="9" dur="1" fill="hold">
                                    <p:stCondLst>
                                      <p:cond delay="0"/>
                                    </p:stCondLst>
                                  </p:cTn>
                                  <p:tgtEl>
                                    <p:spTgt spid="105">
                                      <p:txEl>
                                        <p:pRg st="0" end="0"/>
                                      </p:txEl>
                                    </p:spTgt>
                                  </p:tgtEl>
                                  <p:attrNameLst>
                                    <p:attrName>style.visibility</p:attrName>
                                  </p:attrNameLst>
                                </p:cBhvr>
                                <p:to>
                                  <p:strVal val="visible"/>
                                </p:to>
                              </p:set>
                            </p:childTnLst>
                          </p:cTn>
                        </p:par>
                        <p:par>
                          <p:cTn id="10" presetID="1" presetClass="entr" presetSubtype="0" fill="hold" nodeType="withEffect">
                            <p:stCondLst>
                              <p:cond delay="403"/>
                            </p:stCondLst>
                            <p:iterate type="lt">
                              <p:tmAbs val="11"/>
                            </p:iterate>
                            <p:childTnLst>
                              <p:set>
                                <p:cBhvr>
                                  <p:cTn id="11" dur="1" fill="hold">
                                    <p:stCondLst>
                                      <p:cond delay="0"/>
                                    </p:stCondLst>
                                  </p:cTn>
                                  <p:tgtEl>
                                    <p:spTgt spid="105">
                                      <p:txEl>
                                        <p:pRg st="1" end="1"/>
                                      </p:txEl>
                                    </p:spTgt>
                                  </p:tgtEl>
                                  <p:attrNameLst>
                                    <p:attrName>style.visibility</p:attrName>
                                  </p:attrNameLst>
                                </p:cBhvr>
                                <p:to>
                                  <p:strVal val="visible"/>
                                </p:to>
                              </p:set>
                            </p:childTnLst>
                          </p:cTn>
                        </p:par>
                        <p:par>
                          <p:cTn id="12" presetID="1" presetClass="entr" presetSubtype="0" fill="hold" nodeType="withEffect">
                            <p:stCondLst>
                              <p:cond delay="795"/>
                            </p:stCondLst>
                            <p:iterate type="lt">
                              <p:tmAbs val="11"/>
                            </p:iterate>
                            <p:childTnLst>
                              <p:set>
                                <p:cBhvr>
                                  <p:cTn id="13" dur="1" fill="hold">
                                    <p:stCondLst>
                                      <p:cond delay="0"/>
                                    </p:stCondLst>
                                  </p:cTn>
                                  <p:tgtEl>
                                    <p:spTgt spid="105">
                                      <p:txEl>
                                        <p:pRg st="2" end="2"/>
                                      </p:txEl>
                                    </p:spTgt>
                                  </p:tgtEl>
                                  <p:attrNameLst>
                                    <p:attrName>style.visibility</p:attrName>
                                  </p:attrNameLst>
                                </p:cBhvr>
                                <p:to>
                                  <p:strVal val="visible"/>
                                </p:to>
                              </p:set>
                            </p:childTnLst>
                          </p:cTn>
                        </p:par>
                        <p:par>
                          <p:cTn id="14" presetID="1" presetClass="entr" presetSubtype="0" fill="hold" nodeType="withEffect">
                            <p:stCondLst>
                              <p:cond delay="1242"/>
                            </p:stCondLst>
                            <p:iterate type="lt">
                              <p:tmAbs val="11"/>
                            </p:iterate>
                            <p:childTnLst>
                              <p:set>
                                <p:cBhvr>
                                  <p:cTn id="15" dur="1" fill="hold">
                                    <p:stCondLst>
                                      <p:cond delay="0"/>
                                    </p:stCondLst>
                                  </p:cTn>
                                  <p:tgtEl>
                                    <p:spTgt spid="105">
                                      <p:txEl>
                                        <p:pRg st="3" end="3"/>
                                      </p:txEl>
                                    </p:spTgt>
                                  </p:tgtEl>
                                  <p:attrNameLst>
                                    <p:attrName>style.visibility</p:attrName>
                                  </p:attrNameLst>
                                </p:cBhvr>
                                <p:to>
                                  <p:strVal val="visible"/>
                                </p:to>
                              </p:set>
                            </p:childTnLst>
                          </p:cTn>
                        </p:par>
                        <p:par>
                          <p:cTn id="16" presetID="1" presetClass="entr" presetSubtype="0" fill="hold" nodeType="withEffect">
                            <p:stCondLst>
                              <p:cond delay="1667"/>
                            </p:stCondLst>
                            <p:iterate type="lt">
                              <p:tmAbs val="11"/>
                            </p:iterate>
                            <p:childTnLst>
                              <p:set>
                                <p:cBhvr>
                                  <p:cTn id="17" dur="1" fill="hold">
                                    <p:stCondLst>
                                      <p:cond delay="0"/>
                                    </p:stCondLst>
                                  </p:cTn>
                                  <p:tgtEl>
                                    <p:spTgt spid="105">
                                      <p:txEl>
                                        <p:pRg st="4" end="4"/>
                                      </p:txEl>
                                    </p:spTgt>
                                  </p:tgtEl>
                                  <p:attrNameLst>
                                    <p:attrName>style.visibility</p:attrName>
                                  </p:attrNameLst>
                                </p:cBhvr>
                                <p:to>
                                  <p:strVal val="visible"/>
                                </p:to>
                              </p:set>
                            </p:childTnLst>
                          </p:cTn>
                        </p:par>
                        <p:par>
                          <p:cTn id="18" presetID="1" presetClass="entr" presetSubtype="0" fill="hold" nodeType="withEffect">
                            <p:stCondLst>
                              <p:cond delay="2081"/>
                            </p:stCondLst>
                            <p:iterate type="lt">
                              <p:tmAbs val="11"/>
                            </p:iterate>
                            <p:childTnLst>
                              <p:set>
                                <p:cBhvr>
                                  <p:cTn id="19" dur="1" fill="hold">
                                    <p:stCondLst>
                                      <p:cond delay="0"/>
                                    </p:stCondLst>
                                  </p:cTn>
                                  <p:tgtEl>
                                    <p:spTgt spid="105">
                                      <p:txEl>
                                        <p:pRg st="5" end="5"/>
                                      </p:txEl>
                                    </p:spTgt>
                                  </p:tgtEl>
                                  <p:attrNameLst>
                                    <p:attrName>style.visibility</p:attrName>
                                  </p:attrNameLst>
                                </p:cBhvr>
                                <p:to>
                                  <p:strVal val="visible"/>
                                </p:to>
                              </p:set>
                            </p:childTnLst>
                          </p:cTn>
                        </p:par>
                        <p:par>
                          <p:cTn id="20" presetID="1" presetClass="entr" presetSubtype="0" fill="hold" nodeType="withEffect">
                            <p:stCondLst>
                              <p:cond delay="2550"/>
                            </p:stCondLst>
                            <p:iterate type="lt">
                              <p:tmAbs val="11"/>
                            </p:iterate>
                            <p:childTnLst>
                              <p:set>
                                <p:cBhvr>
                                  <p:cTn id="21" dur="1" fill="hold">
                                    <p:stCondLst>
                                      <p:cond delay="0"/>
                                    </p:stCondLst>
                                  </p:cTn>
                                  <p:tgtEl>
                                    <p:spTgt spid="106">
                                      <p:txEl>
                                        <p:pRg st="0" end="0"/>
                                      </p:txEl>
                                    </p:spTgt>
                                  </p:tgtEl>
                                  <p:attrNameLst>
                                    <p:attrName>style.visibility</p:attrName>
                                  </p:attrNameLst>
                                </p:cBhvr>
                                <p:to>
                                  <p:strVal val="visible"/>
                                </p:to>
                              </p:set>
                            </p:childTnLst>
                          </p:cTn>
                        </p:par>
                        <p:par>
                          <p:cTn id="22" presetID="1" presetClass="entr" presetSubtype="0" fill="hold" nodeType="withEffect">
                            <p:stCondLst>
                              <p:cond delay="2810"/>
                            </p:stCondLst>
                            <p:iterate type="lt">
                              <p:tmAbs val="11"/>
                            </p:iterate>
                            <p:childTnLst>
                              <p:set>
                                <p:cBhvr>
                                  <p:cTn id="23" dur="1" fill="hold">
                                    <p:stCondLst>
                                      <p:cond delay="0"/>
                                    </p:stCondLst>
                                  </p:cTn>
                                  <p:tgtEl>
                                    <p:spTgt spid="106">
                                      <p:txEl>
                                        <p:pRg st="1" end="1"/>
                                      </p:txEl>
                                    </p:spTgt>
                                  </p:tgtEl>
                                  <p:attrNameLst>
                                    <p:attrName>style.visibility</p:attrName>
                                  </p:attrNameLst>
                                </p:cBhvr>
                                <p:to>
                                  <p:strVal val="visible"/>
                                </p:to>
                              </p:set>
                            </p:childTnLst>
                          </p:cTn>
                        </p:par>
                      </p:childTnLst>
                    </p:cTn>
                  </p:par>
                </p:childTnLst>
              </p:cTn>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9.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9.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9.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pic>
        <p:nvPicPr>
          <p:cNvPr id="110" name="9.1 · synthetic-beuys-party"/>
          <p:cNvPicPr>
            <a:picLocks noChangeAspect="1"/>
          </p:cNvPicPr>
          <p:nvPr/>
        </p:nvPicPr>
        <p:blipFill>
          <a:blip r:embed="rId3"/>
          <a:stretch/>
        </p:blipFill>
        <p:spPr>
          <a:xfrm>
            <a:off x="476250" y="1690632"/>
            <a:ext cx="5238750" cy="3448162"/>
          </a:xfrm>
          <a:prstGeom prst="rect">
            <a:avLst/>
          </a:prstGeom>
        </p:spPr>
      </p:pic>
      <p:sp>
        <p:nvSpPr>
          <p:cNvPr id="111" name="9.1 · ORGANISATIONAL GENEALOGY"/>
          <p:cNvSpPr>
            <a:spLocks noGrp="1"/>
          </p:cNvSpPr>
          <p:nvPr/>
        </p:nvSpPr>
        <p:spPr>
          <a:xfrm>
            <a:off x="6096000" y="1406820"/>
            <a:ext cx="5476875"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lang="da-DK" sz="1725" b="0" i="0" dirty="0">
                <a:solidFill>
                  <a:srgbClr val="FF0000"/>
                </a:solidFill>
                <a:latin typeface="Consolas"/>
                <a:ea typeface="Consolas"/>
                <a:cs typeface="Consolas"/>
              </a:rPr>
              <a:t>SOCIAL SCULPTURE </a:t>
            </a:r>
            <a:r>
              <a:rPr sz="1725" b="0" i="0" dirty="0">
                <a:solidFill>
                  <a:srgbClr val="FF0000"/>
                </a:solidFill>
                <a:latin typeface="Consolas"/>
                <a:ea typeface="Consolas"/>
                <a:cs typeface="Consolas"/>
              </a:rPr>
              <a:t>GENEALOGY</a:t>
            </a:r>
          </a:p>
        </p:txBody>
      </p:sp>
      <p:sp>
        <p:nvSpPr>
          <p:cNvPr id="112" name="9.1 · 22 June 1967: Deutsche Studentenpartei, founded with J"/>
          <p:cNvSpPr>
            <a:spLocks noGrp="1"/>
          </p:cNvSpPr>
          <p:nvPr/>
        </p:nvSpPr>
        <p:spPr>
          <a:xfrm>
            <a:off x="6096000" y="1956390"/>
            <a:ext cx="5866071" cy="3676650"/>
          </a:xfrm>
          <a:prstGeom prst="rect">
            <a:avLst/>
          </a:prstGeom>
          <a:noFill/>
          <a:ln w="0">
            <a:noFill/>
          </a:ln>
        </p:spPr>
        <p:txBody>
          <a:bodyPr wrap="square" lIns="0" tIns="0" rIns="0" bIns="0" anchor="t">
            <a:noAutofit/>
          </a:bodyPr>
          <a:lstStyle/>
          <a:p>
            <a:pPr algn="l">
              <a:lnSpc>
                <a:spcPct val="108000"/>
              </a:lnSpc>
              <a:defRPr sz="2100" b="0" i="0">
                <a:solidFill>
                  <a:srgbClr val="000000"/>
                </a:solidFill>
                <a:latin typeface="Garamond"/>
                <a:ea typeface="Garamond"/>
                <a:cs typeface="Garamond"/>
              </a:defRPr>
            </a:pPr>
            <a:r>
              <a:rPr sz="2100" b="0" i="0" u="sng" dirty="0">
                <a:solidFill>
                  <a:srgbClr val="000000"/>
                </a:solidFill>
                <a:latin typeface="Garamond"/>
                <a:ea typeface="Garamond"/>
                <a:cs typeface="Garamond"/>
              </a:rPr>
              <a:t>22 June 1967</a:t>
            </a:r>
            <a:r>
              <a:rPr sz="2100" b="0" i="0" dirty="0">
                <a:solidFill>
                  <a:srgbClr val="000000"/>
                </a:solidFill>
                <a:latin typeface="Garamond"/>
                <a:ea typeface="Garamond"/>
                <a:cs typeface="Garamond"/>
              </a:rPr>
              <a:t>: </a:t>
            </a:r>
            <a:r>
              <a:rPr sz="2100" b="0" i="1" dirty="0">
                <a:solidFill>
                  <a:srgbClr val="000000"/>
                </a:solidFill>
                <a:latin typeface="Garamond"/>
                <a:ea typeface="Garamond"/>
                <a:cs typeface="Garamond"/>
              </a:rPr>
              <a:t>Deutsche </a:t>
            </a:r>
            <a:r>
              <a:rPr sz="2100" b="0" i="1" dirty="0" err="1">
                <a:solidFill>
                  <a:srgbClr val="000000"/>
                </a:solidFill>
                <a:latin typeface="Garamond"/>
                <a:ea typeface="Garamond"/>
                <a:cs typeface="Garamond"/>
              </a:rPr>
              <a:t>Studentenpartei</a:t>
            </a:r>
            <a:r>
              <a:rPr sz="2100" b="0" i="0" dirty="0">
                <a:solidFill>
                  <a:srgbClr val="000000"/>
                </a:solidFill>
                <a:latin typeface="Garamond"/>
                <a:ea typeface="Garamond"/>
                <a:cs typeface="Garamond"/>
              </a:rPr>
              <a:t>, founded by Joseph Beuys</a:t>
            </a:r>
            <a:r>
              <a:rPr sz="2100" dirty="0">
                <a:solidFill>
                  <a:srgbClr val="000000"/>
                </a:solidFill>
                <a:latin typeface="Garamond"/>
                <a:ea typeface="Garamond"/>
                <a:cs typeface="Garamond"/>
              </a:rPr>
              <a:t> </a:t>
            </a:r>
            <a:r>
              <a:rPr sz="2100" b="0" i="0" dirty="0">
                <a:solidFill>
                  <a:srgbClr val="000000"/>
                </a:solidFill>
                <a:latin typeface="Garamond"/>
                <a:ea typeface="Garamond"/>
                <a:cs typeface="Garamond"/>
              </a:rPr>
              <a:t>with Johannes </a:t>
            </a:r>
            <a:r>
              <a:rPr sz="2100" b="0" i="0" dirty="0" err="1">
                <a:solidFill>
                  <a:srgbClr val="000000"/>
                </a:solidFill>
                <a:latin typeface="Garamond"/>
                <a:ea typeface="Garamond"/>
                <a:cs typeface="Garamond"/>
              </a:rPr>
              <a:t>Stüttgen</a:t>
            </a:r>
            <a:r>
              <a:rPr sz="2100" b="0" i="0" dirty="0">
                <a:solidFill>
                  <a:srgbClr val="000000"/>
                </a:solidFill>
                <a:latin typeface="Garamond"/>
                <a:ea typeface="Garamond"/>
                <a:cs typeface="Garamond"/>
              </a:rPr>
              <a:t> and </a:t>
            </a:r>
            <a:r>
              <a:rPr sz="2100" b="0" i="0" dirty="0" err="1">
                <a:solidFill>
                  <a:srgbClr val="000000"/>
                </a:solidFill>
                <a:latin typeface="Garamond"/>
                <a:ea typeface="Garamond"/>
                <a:cs typeface="Garamond"/>
              </a:rPr>
              <a:t>Bazon</a:t>
            </a:r>
            <a:r>
              <a:rPr sz="2100" b="0" i="0" dirty="0">
                <a:solidFill>
                  <a:srgbClr val="000000"/>
                </a:solidFill>
                <a:latin typeface="Garamond"/>
                <a:ea typeface="Garamond"/>
                <a:cs typeface="Garamond"/>
              </a:rPr>
              <a:t> Brock.</a:t>
            </a:r>
          </a:p>
          <a:p>
            <a:pPr>
              <a:lnSpc>
                <a:spcPct val="108000"/>
              </a:lnSpc>
            </a:pPr>
            <a:endParaRPr sz="2100" b="0" i="0" dirty="0">
              <a:solidFill>
                <a:srgbClr val="000000"/>
              </a:solidFill>
              <a:latin typeface="Garamond"/>
              <a:ea typeface="Garamond"/>
              <a:cs typeface="Garamond"/>
            </a:endParaRPr>
          </a:p>
          <a:p>
            <a:pPr algn="l">
              <a:lnSpc>
                <a:spcPct val="108000"/>
              </a:lnSpc>
              <a:defRPr sz="2100" b="0" i="0">
                <a:solidFill>
                  <a:srgbClr val="000000"/>
                </a:solidFill>
                <a:latin typeface="Garamond"/>
                <a:ea typeface="Garamond"/>
                <a:cs typeface="Garamond"/>
              </a:defRPr>
            </a:pPr>
            <a:r>
              <a:rPr sz="2100" b="0" i="0" u="sng" dirty="0">
                <a:solidFill>
                  <a:srgbClr val="000000"/>
                </a:solidFill>
                <a:latin typeface="Garamond"/>
                <a:ea typeface="Garamond"/>
                <a:cs typeface="Garamond"/>
              </a:rPr>
              <a:t>1970:</a:t>
            </a:r>
            <a:r>
              <a:rPr sz="2100" b="0" i="0" dirty="0">
                <a:solidFill>
                  <a:srgbClr val="000000"/>
                </a:solidFill>
                <a:latin typeface="Garamond"/>
                <a:ea typeface="Garamond"/>
                <a:cs typeface="Garamond"/>
              </a:rPr>
              <a:t> </a:t>
            </a:r>
            <a:r>
              <a:rPr sz="2100" b="0" i="1" dirty="0" err="1">
                <a:solidFill>
                  <a:srgbClr val="000000"/>
                </a:solidFill>
                <a:latin typeface="Garamond"/>
                <a:ea typeface="Garamond"/>
                <a:cs typeface="Garamond"/>
              </a:rPr>
              <a:t>Organisation</a:t>
            </a:r>
            <a:r>
              <a:rPr sz="2100" b="0" i="1" dirty="0">
                <a:solidFill>
                  <a:srgbClr val="000000"/>
                </a:solidFill>
                <a:latin typeface="Garamond"/>
                <a:ea typeface="Garamond"/>
                <a:cs typeface="Garamond"/>
              </a:rPr>
              <a:t> of</a:t>
            </a:r>
          </a:p>
          <a:p>
            <a:pPr algn="l">
              <a:lnSpc>
                <a:spcPct val="108000"/>
              </a:lnSpc>
              <a:defRPr sz="2100" b="0" i="0">
                <a:solidFill>
                  <a:srgbClr val="000000"/>
                </a:solidFill>
                <a:latin typeface="Garamond"/>
                <a:ea typeface="Garamond"/>
                <a:cs typeface="Garamond"/>
              </a:defRPr>
            </a:pPr>
            <a:r>
              <a:rPr sz="2100" b="0" i="1" dirty="0">
                <a:solidFill>
                  <a:srgbClr val="000000"/>
                </a:solidFill>
                <a:latin typeface="Garamond"/>
                <a:ea typeface="Garamond"/>
                <a:cs typeface="Garamond"/>
              </a:rPr>
              <a:t>Non-Voters</a:t>
            </a:r>
            <a:r>
              <a:rPr sz="2100" b="0" i="0" dirty="0">
                <a:solidFill>
                  <a:srgbClr val="000000"/>
                </a:solidFill>
                <a:latin typeface="Garamond"/>
                <a:ea typeface="Garamond"/>
                <a:cs typeface="Garamond"/>
              </a:rPr>
              <a:t>, </a:t>
            </a:r>
            <a:r>
              <a:rPr sz="2100" b="0" i="1" dirty="0">
                <a:solidFill>
                  <a:srgbClr val="000000"/>
                </a:solidFill>
                <a:latin typeface="Garamond"/>
                <a:ea typeface="Garamond"/>
                <a:cs typeface="Garamond"/>
              </a:rPr>
              <a:t>Free Referendum</a:t>
            </a:r>
            <a:r>
              <a:rPr sz="2100" b="0" i="0" dirty="0">
                <a:solidFill>
                  <a:srgbClr val="000000"/>
                </a:solidFill>
                <a:latin typeface="Garamond"/>
                <a:ea typeface="Garamond"/>
                <a:cs typeface="Garamond"/>
              </a:rPr>
              <a:t>.</a:t>
            </a:r>
          </a:p>
          <a:p>
            <a:pPr>
              <a:lnSpc>
                <a:spcPct val="108000"/>
              </a:lnSpc>
            </a:pPr>
            <a:endParaRPr sz="2100" b="0" i="0" dirty="0">
              <a:solidFill>
                <a:srgbClr val="000000"/>
              </a:solidFill>
              <a:latin typeface="Garamond"/>
              <a:ea typeface="Garamond"/>
              <a:cs typeface="Garamond"/>
            </a:endParaRPr>
          </a:p>
          <a:p>
            <a:pPr algn="l">
              <a:lnSpc>
                <a:spcPct val="108000"/>
              </a:lnSpc>
              <a:defRPr sz="2100" b="0" i="0">
                <a:solidFill>
                  <a:srgbClr val="000000"/>
                </a:solidFill>
                <a:latin typeface="Garamond"/>
                <a:ea typeface="Garamond"/>
                <a:cs typeface="Garamond"/>
              </a:defRPr>
            </a:pPr>
            <a:r>
              <a:rPr sz="2100" b="0" i="0" u="sng" dirty="0">
                <a:solidFill>
                  <a:srgbClr val="000000"/>
                </a:solidFill>
                <a:latin typeface="Garamond"/>
                <a:ea typeface="Garamond"/>
                <a:cs typeface="Garamond"/>
              </a:rPr>
              <a:t>June 1971:</a:t>
            </a:r>
            <a:r>
              <a:rPr sz="2100" b="0" i="0" dirty="0">
                <a:solidFill>
                  <a:srgbClr val="000000"/>
                </a:solidFill>
                <a:latin typeface="Garamond"/>
                <a:ea typeface="Garamond"/>
                <a:cs typeface="Garamond"/>
              </a:rPr>
              <a:t> </a:t>
            </a:r>
            <a:r>
              <a:rPr sz="2100" b="0" i="1" dirty="0" err="1">
                <a:solidFill>
                  <a:srgbClr val="000000"/>
                </a:solidFill>
                <a:latin typeface="Garamond"/>
                <a:ea typeface="Garamond"/>
                <a:cs typeface="Garamond"/>
              </a:rPr>
              <a:t>Organisation</a:t>
            </a:r>
            <a:r>
              <a:rPr sz="2100" b="0" i="1" dirty="0">
                <a:solidFill>
                  <a:srgbClr val="000000"/>
                </a:solidFill>
                <a:latin typeface="Garamond"/>
                <a:ea typeface="Garamond"/>
                <a:cs typeface="Garamond"/>
              </a:rPr>
              <a:t> for Direct</a:t>
            </a:r>
          </a:p>
          <a:p>
            <a:pPr algn="l">
              <a:lnSpc>
                <a:spcPct val="108000"/>
              </a:lnSpc>
              <a:defRPr sz="2100" b="0" i="0">
                <a:solidFill>
                  <a:srgbClr val="000000"/>
                </a:solidFill>
                <a:latin typeface="Garamond"/>
                <a:ea typeface="Garamond"/>
                <a:cs typeface="Garamond"/>
              </a:defRPr>
            </a:pPr>
            <a:r>
              <a:rPr sz="2100" b="0" i="1" dirty="0">
                <a:solidFill>
                  <a:srgbClr val="000000"/>
                </a:solidFill>
                <a:latin typeface="Garamond"/>
                <a:ea typeface="Garamond"/>
                <a:cs typeface="Garamond"/>
              </a:rPr>
              <a:t>Democracy by Popular Vote</a:t>
            </a:r>
            <a:r>
              <a:rPr sz="2100" b="0" i="0" dirty="0">
                <a:solidFill>
                  <a:srgbClr val="000000"/>
                </a:solidFill>
                <a:latin typeface="Garamond"/>
                <a:ea typeface="Garamond"/>
                <a:cs typeface="Garamond"/>
              </a:rPr>
              <a:t>.</a:t>
            </a:r>
          </a:p>
          <a:p>
            <a:pPr>
              <a:lnSpc>
                <a:spcPct val="108000"/>
              </a:lnSpc>
            </a:pPr>
            <a:endParaRPr sz="2100" b="0" i="0" dirty="0">
              <a:solidFill>
                <a:srgbClr val="000000"/>
              </a:solidFill>
              <a:latin typeface="Garamond"/>
              <a:ea typeface="Garamond"/>
              <a:cs typeface="Garamond"/>
            </a:endParaRPr>
          </a:p>
          <a:p>
            <a:pPr algn="l">
              <a:lnSpc>
                <a:spcPct val="108000"/>
              </a:lnSpc>
              <a:defRPr sz="2100" b="0" i="0">
                <a:solidFill>
                  <a:srgbClr val="000000"/>
                </a:solidFill>
                <a:latin typeface="Garamond"/>
                <a:ea typeface="Garamond"/>
                <a:cs typeface="Garamond"/>
              </a:defRPr>
            </a:pPr>
            <a:r>
              <a:rPr sz="2100" b="0" i="0" u="sng" dirty="0">
                <a:solidFill>
                  <a:srgbClr val="000000"/>
                </a:solidFill>
                <a:latin typeface="Garamond"/>
                <a:ea typeface="Garamond"/>
                <a:cs typeface="Garamond"/>
              </a:rPr>
              <a:t>1972:</a:t>
            </a:r>
            <a:r>
              <a:rPr sz="2100" b="0" i="0" dirty="0">
                <a:solidFill>
                  <a:srgbClr val="000000"/>
                </a:solidFill>
                <a:latin typeface="Garamond"/>
                <a:ea typeface="Garamond"/>
                <a:cs typeface="Garamond"/>
              </a:rPr>
              <a:t> Bureau at </a:t>
            </a:r>
            <a:r>
              <a:rPr sz="2100" b="0" i="1" dirty="0">
                <a:solidFill>
                  <a:srgbClr val="000000"/>
                </a:solidFill>
                <a:latin typeface="Garamond"/>
                <a:ea typeface="Garamond"/>
                <a:cs typeface="Garamond"/>
              </a:rPr>
              <a:t>documenta 5</a:t>
            </a:r>
            <a:r>
              <a:rPr sz="2100" b="0" i="0" dirty="0">
                <a:solidFill>
                  <a:srgbClr val="000000"/>
                </a:solidFill>
                <a:latin typeface="Garamond"/>
                <a:ea typeface="Garamond"/>
                <a:cs typeface="Garamond"/>
              </a:rPr>
              <a:t>, one</a:t>
            </a:r>
          </a:p>
          <a:p>
            <a:pPr algn="l">
              <a:lnSpc>
                <a:spcPct val="108000"/>
              </a:lnSpc>
              <a:defRPr sz="2100" b="0" i="0">
                <a:solidFill>
                  <a:srgbClr val="000000"/>
                </a:solidFill>
                <a:latin typeface="Garamond"/>
                <a:ea typeface="Garamond"/>
                <a:cs typeface="Garamond"/>
              </a:defRPr>
            </a:pPr>
            <a:r>
              <a:rPr sz="2100" b="0" i="0" dirty="0">
                <a:solidFill>
                  <a:srgbClr val="000000"/>
                </a:solidFill>
                <a:latin typeface="Garamond"/>
                <a:ea typeface="Garamond"/>
                <a:cs typeface="Garamond"/>
              </a:rPr>
              <a:t>hundred days of public conversations.</a:t>
            </a:r>
          </a:p>
        </p:txBody>
      </p:sp>
      <p:sp>
        <p:nvSpPr>
          <p:cNvPr id="113" name="9.1 · Caption">
            <a:extLst>
              <a:ext uri="{FF2B5EF4-FFF2-40B4-BE49-F238E27FC236}">
                <a16:creationId xmlns:a16="http://schemas.microsoft.com/office/drawing/2014/main" id="{3199E384-B58D-4F85-9843-7A1CCCC04ED6}"/>
              </a:ext>
            </a:extLst>
          </p:cNvPr>
          <p:cNvSpPr>
            <a:spLocks noGrp="1"/>
          </p:cNvSpPr>
          <p:nvPr/>
        </p:nvSpPr>
        <p:spPr>
          <a:xfrm>
            <a:off x="333375" y="5222557"/>
            <a:ext cx="5524500" cy="882968"/>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Deutsche </a:t>
            </a:r>
            <a:r>
              <a:rPr sz="1725" b="0" i="1" dirty="0" err="1">
                <a:solidFill>
                  <a:srgbClr val="000000"/>
                </a:solidFill>
                <a:latin typeface="Garamond"/>
                <a:ea typeface="Garamond"/>
                <a:cs typeface="Garamond"/>
              </a:rPr>
              <a:t>Studentenpartei</a:t>
            </a:r>
            <a:r>
              <a:rPr sz="1725" b="0" i="1" dirty="0">
                <a:solidFill>
                  <a:srgbClr val="000000"/>
                </a:solidFill>
                <a:latin typeface="Garamond"/>
                <a:ea typeface="Garamond"/>
                <a:cs typeface="Garamond"/>
              </a:rPr>
              <a:t>, Düsseldorf, 1967. Joseph Beuys</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and collaborators; later print or stamp dated 1970. Photograph</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attributed to Johannes </a:t>
            </a:r>
            <a:r>
              <a:rPr sz="1725" b="0" i="1" dirty="0" err="1">
                <a:solidFill>
                  <a:srgbClr val="000000"/>
                </a:solidFill>
                <a:latin typeface="Garamond"/>
                <a:ea typeface="Garamond"/>
                <a:cs typeface="Garamond"/>
              </a:rPr>
              <a:t>Stüttgen</a:t>
            </a:r>
            <a:r>
              <a:rPr sz="1725" b="0" i="1" dirty="0">
                <a:solidFill>
                  <a:srgbClr val="000000"/>
                </a:solidFill>
                <a:latin typeface="Garamond"/>
                <a:ea typeface="Garamond"/>
                <a:cs typeface="Garamond"/>
              </a:rPr>
              <a:t>. Figure III.2, Staunæs 2026: 88.</a:t>
            </a:r>
          </a:p>
        </p:txBody>
      </p:sp>
      <p:sp>
        <p:nvSpPr>
          <p:cNvPr id="114" name="9.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87–90.</a:t>
            </a:r>
          </a:p>
        </p:txBody>
      </p:sp>
    </p:spTree>
    <p:extLst>
      <p:ext uri="{BB962C8B-B14F-4D97-AF65-F5344CB8AC3E}">
        <p14:creationId xmlns:p14="http://schemas.microsoft.com/office/powerpoint/2010/main" val="1457966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9.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9.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9.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sp>
        <p:nvSpPr>
          <p:cNvPr id="115" name="9.2 · Social totality: A body to be healed, or an abstraction to be conteste"/>
          <p:cNvSpPr>
            <a:spLocks noGrp="1"/>
          </p:cNvSpPr>
          <p:nvPr/>
        </p:nvSpPr>
        <p:spPr>
          <a:xfrm>
            <a:off x="6191250" y="1704975"/>
            <a:ext cx="5476875" cy="796798"/>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1">
                <a:solidFill>
                  <a:srgbClr val="000000"/>
                </a:solidFill>
                <a:latin typeface="Garamond"/>
                <a:ea typeface="Garamond"/>
                <a:cs typeface="Garamond"/>
              </a:rPr>
              <a:t>Social totality</a:t>
            </a:r>
            <a:r>
              <a:rPr sz="2600" b="0" i="0">
                <a:solidFill>
                  <a:srgbClr val="000000"/>
                </a:solidFill>
                <a:latin typeface="Garamond"/>
                <a:ea typeface="Garamond"/>
                <a:cs typeface="Garamond"/>
              </a:rPr>
              <a:t>: A body to be healed,</a:t>
            </a:r>
            <a:r>
              <a:t> </a:t>
            </a:r>
            <a:r>
              <a:rPr sz="2600" b="0" i="0">
                <a:solidFill>
                  <a:srgbClr val="000000"/>
                </a:solidFill>
                <a:latin typeface="Garamond"/>
                <a:ea typeface="Garamond"/>
                <a:cs typeface="Garamond"/>
              </a:rPr>
              <a:t>or an abstraction to be contested?</a:t>
            </a:r>
          </a:p>
        </p:txBody>
      </p:sp>
      <p:sp>
        <p:nvSpPr>
          <p:cNvPr id="116" name="9.2 · Technosocial sculpture: Making the relation perceptible where somethin"/>
          <p:cNvSpPr>
            <a:spLocks noGrp="1"/>
          </p:cNvSpPr>
          <p:nvPr/>
        </p:nvSpPr>
        <p:spPr>
          <a:xfrm>
            <a:off x="6191250" y="2806573"/>
            <a:ext cx="5476875" cy="1166622"/>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1">
                <a:solidFill>
                  <a:srgbClr val="000000"/>
                </a:solidFill>
                <a:latin typeface="Garamond"/>
                <a:ea typeface="Garamond"/>
                <a:cs typeface="Garamond"/>
              </a:rPr>
              <a:t>Technosocial sculpture</a:t>
            </a:r>
            <a:r>
              <a:rPr sz="2600" b="0" i="0">
                <a:solidFill>
                  <a:srgbClr val="000000"/>
                </a:solidFill>
                <a:latin typeface="Garamond"/>
                <a:ea typeface="Garamond"/>
                <a:cs typeface="Garamond"/>
              </a:rPr>
              <a:t>: Making</a:t>
            </a:r>
            <a:r>
              <a:t> </a:t>
            </a:r>
            <a:r>
              <a:rPr sz="2600" b="0" i="0">
                <a:solidFill>
                  <a:srgbClr val="000000"/>
                </a:solidFill>
                <a:latin typeface="Garamond"/>
                <a:ea typeface="Garamond"/>
                <a:cs typeface="Garamond"/>
              </a:rPr>
              <a:t>situational relations perceptible as</a:t>
            </a:r>
            <a:r>
              <a:t> </a:t>
            </a:r>
            <a:r>
              <a:rPr sz="2600" b="0" i="0">
                <a:solidFill>
                  <a:srgbClr val="000000"/>
                </a:solidFill>
                <a:latin typeface="Garamond"/>
                <a:ea typeface="Garamond"/>
                <a:cs typeface="Garamond"/>
              </a:rPr>
              <a:t>something is returned through them.</a:t>
            </a:r>
          </a:p>
        </p:txBody>
      </p:sp>
      <p:sp>
        <p:nvSpPr>
          <p:cNvPr id="117" name="9.2 · References">
            <a:extLst>
              <a:ext uri="{FF2B5EF4-FFF2-40B4-BE49-F238E27FC236}">
                <a16:creationId xmlns:a16="http://schemas.microsoft.com/office/drawing/2014/main" id="{EAE0AA17-F802-4BD6-8590-852D598C7754}"/>
              </a:ext>
            </a:extLst>
          </p:cNvPr>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Stiegler 2018, video 08:16; Staunæs 2026: 91–94.</a:t>
            </a:r>
          </a:p>
        </p:txBody>
      </p:sp>
      <p:pic>
        <p:nvPicPr>
          <p:cNvPr id="118" name="9.2 · Beuys chalkboard with Stiegler translations"/>
          <p:cNvPicPr>
            <a:picLocks noChangeAspect="1"/>
          </p:cNvPicPr>
          <p:nvPr/>
        </p:nvPicPr>
        <p:blipFill>
          <a:blip r:embed="rId3"/>
          <a:stretch/>
        </p:blipFill>
        <p:spPr>
          <a:xfrm>
            <a:off x="381000" y="1381125"/>
            <a:ext cx="5524500" cy="4703590"/>
          </a:xfrm>
          <a:prstGeom prst="rect">
            <a:avLst/>
          </a:prstGeom>
          <a:ln w="12700" cmpd="sng" algn="in">
            <a:solidFill>
              <a:srgbClr val="D5A4A4"/>
            </a:solidFill>
            <a:prstDash val="solid"/>
            <a:miter lim="800000"/>
          </a:ln>
        </p:spPr>
      </p:pic>
    </p:spTree>
    <p:extLst>
      <p:ext uri="{BB962C8B-B14F-4D97-AF65-F5344CB8AC3E}">
        <p14:creationId xmlns:p14="http://schemas.microsoft.com/office/powerpoint/2010/main" val="1457966194"/>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5">
                                      <p:txEl>
                                        <p:pRg st="0" end="0"/>
                                      </p:txEl>
                                    </p:spTgt>
                                  </p:tgtEl>
                                  <p:attrNameLst>
                                    <p:attrName>style.visibility</p:attrName>
                                  </p:attrNameLst>
                                </p:cBhvr>
                                <p:to>
                                  <p:strVal val="visible"/>
                                </p:to>
                              </p:set>
                            </p:childTnLst>
                          </p:cTn>
                        </p:par>
                        <p:par>
                          <p:cTn id="6" presetID="1" presetClass="entr" presetSubtype="0" fill="hold" nodeType="withEffect">
                            <p:stCondLst>
                              <p:cond delay="832"/>
                            </p:stCondLst>
                            <p:iterate type="lt">
                              <p:tmAbs val="11"/>
                            </p:iterate>
                            <p:childTnLst>
                              <p:set>
                                <p:cBhvr>
                                  <p:cTn id="7" dur="1" fill="hold">
                                    <p:stCondLst>
                                      <p:cond delay="0"/>
                                    </p:stCondLst>
                                  </p:cTn>
                                  <p:tgtEl>
                                    <p:spTgt spid="116">
                                      <p:txEl>
                                        <p:pRg st="0" end="0"/>
                                      </p:txEl>
                                    </p:spTgt>
                                  </p:tgtEl>
                                  <p:attrNameLst>
                                    <p:attrName>style.visibility</p:attrName>
                                  </p:attrNameLst>
                                </p:cBhvr>
                                <p:to>
                                  <p:strVal val="visible"/>
                                </p:to>
                              </p:set>
                            </p:childTnLst>
                          </p:cTn>
                        </p:par>
                      </p:childTnLst>
                    </p:cTn>
                  </p:par>
                </p:childTnLst>
              </p:cTn>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0.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10.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10.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pic>
        <p:nvPicPr>
          <p:cNvPr id="104" name="10.0 · asimov-main">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318977" y="1590675"/>
            <a:ext cx="6604394" cy="3714972"/>
          </a:xfrm>
          <a:prstGeom prst="rect">
            <a:avLst/>
          </a:prstGeom>
        </p:spPr>
      </p:pic>
      <p:sp>
        <p:nvSpPr>
          <p:cNvPr id="105" name="10.0 · ARTICLE 3"/>
          <p:cNvSpPr>
            <a:spLocks noGrp="1"/>
          </p:cNvSpPr>
          <p:nvPr/>
        </p:nvSpPr>
        <p:spPr>
          <a:xfrm>
            <a:off x="7286625" y="1381125"/>
            <a:ext cx="4429125" cy="31318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ARTICLE 3</a:t>
            </a:r>
          </a:p>
        </p:txBody>
      </p:sp>
      <p:sp>
        <p:nvSpPr>
          <p:cNvPr id="106" name="10.0 · Isaac Asimov’s Incubation of Political AI: An Immanent Critique?"/>
          <p:cNvSpPr>
            <a:spLocks noGrp="1"/>
          </p:cNvSpPr>
          <p:nvPr/>
        </p:nvSpPr>
        <p:spPr>
          <a:xfrm>
            <a:off x="7286625" y="1800225"/>
            <a:ext cx="4429125" cy="739902"/>
          </a:xfrm>
          <a:prstGeom prst="rect">
            <a:avLst/>
          </a:prstGeom>
          <a:noFill/>
          <a:ln w="0">
            <a:noFill/>
          </a:ln>
        </p:spPr>
        <p:txBody>
          <a:bodyPr wrap="square" lIns="0" tIns="0" rIns="0" bIns="0" anchor="t">
            <a:noAutofit/>
          </a:bodyPr>
          <a:lstStyle/>
          <a:p>
            <a:pPr algn="l">
              <a:lnSpc>
                <a:spcPct val="108000"/>
              </a:lnSpc>
              <a:defRPr sz="2400" b="0" i="1">
                <a:solidFill>
                  <a:srgbClr val="000000"/>
                </a:solidFill>
                <a:latin typeface="Garamond"/>
                <a:ea typeface="Garamond"/>
                <a:cs typeface="Garamond"/>
              </a:defRPr>
            </a:pPr>
            <a:r>
              <a:rPr sz="2400" b="0" i="1">
                <a:solidFill>
                  <a:srgbClr val="000000"/>
                </a:solidFill>
                <a:latin typeface="Garamond"/>
                <a:ea typeface="Garamond"/>
                <a:cs typeface="Garamond"/>
              </a:rPr>
              <a:t>Isaac Asimov’s Incubation of Political</a:t>
            </a:r>
          </a:p>
          <a:p>
            <a:pPr algn="l">
              <a:lnSpc>
                <a:spcPct val="108000"/>
              </a:lnSpc>
              <a:defRPr sz="2400" b="0" i="1">
                <a:solidFill>
                  <a:srgbClr val="000000"/>
                </a:solidFill>
                <a:latin typeface="Garamond"/>
                <a:ea typeface="Garamond"/>
                <a:cs typeface="Garamond"/>
              </a:defRPr>
            </a:pPr>
            <a:r>
              <a:rPr sz="2400" b="0" i="1">
                <a:solidFill>
                  <a:srgbClr val="000000"/>
                </a:solidFill>
                <a:latin typeface="Garamond"/>
                <a:ea typeface="Garamond"/>
                <a:cs typeface="Garamond"/>
              </a:rPr>
              <a:t>AI: An Immanent Critique?</a:t>
            </a:r>
          </a:p>
        </p:txBody>
      </p:sp>
      <p:sp>
        <p:nvSpPr>
          <p:cNvPr id="107" name="10.0 · Asker Bryld Staunæs (2026). In Ulf Dalvad Berthelsen, Mads Rosendahl T"/>
          <p:cNvSpPr>
            <a:spLocks noGrp="1"/>
          </p:cNvSpPr>
          <p:nvPr/>
        </p:nvSpPr>
        <p:spPr>
          <a:xfrm>
            <a:off x="7286625" y="2800350"/>
            <a:ext cx="4429125" cy="2265426"/>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dirty="0">
                <a:solidFill>
                  <a:srgbClr val="000000"/>
                </a:solidFill>
                <a:latin typeface="Consolas"/>
                <a:ea typeface="Consolas"/>
                <a:cs typeface="Consolas"/>
              </a:rPr>
              <a:t>Asker Bryld Staunæs (2026).</a:t>
            </a:r>
          </a:p>
          <a:p>
            <a:pPr algn="l">
              <a:lnSpc>
                <a:spcPct val="108000"/>
              </a:lnSpc>
              <a:defRPr sz="1725" b="0" i="0">
                <a:solidFill>
                  <a:srgbClr val="000000"/>
                </a:solidFill>
                <a:latin typeface="Consolas"/>
                <a:ea typeface="Consolas"/>
                <a:cs typeface="Consolas"/>
              </a:defRPr>
            </a:pPr>
            <a:r>
              <a:rPr sz="1725" b="0" i="0" dirty="0">
                <a:solidFill>
                  <a:srgbClr val="000000"/>
                </a:solidFill>
                <a:latin typeface="Consolas"/>
                <a:ea typeface="Consolas"/>
                <a:cs typeface="Consolas"/>
              </a:rPr>
              <a:t>In Ulf Dalvad Berthelsen,</a:t>
            </a:r>
          </a:p>
          <a:p>
            <a:pPr algn="l">
              <a:lnSpc>
                <a:spcPct val="108000"/>
              </a:lnSpc>
              <a:defRPr sz="1725" b="0" i="0">
                <a:solidFill>
                  <a:srgbClr val="000000"/>
                </a:solidFill>
                <a:latin typeface="Consolas"/>
                <a:ea typeface="Consolas"/>
                <a:cs typeface="Consolas"/>
              </a:defRPr>
            </a:pPr>
            <a:r>
              <a:rPr sz="1725" b="0" i="0" dirty="0">
                <a:solidFill>
                  <a:srgbClr val="000000"/>
                </a:solidFill>
                <a:latin typeface="Consolas"/>
                <a:ea typeface="Consolas"/>
                <a:cs typeface="Consolas"/>
              </a:rPr>
              <a:t>Mads Rosendahl Thomsen and</a:t>
            </a:r>
          </a:p>
          <a:p>
            <a:pPr algn="l">
              <a:lnSpc>
                <a:spcPct val="108000"/>
              </a:lnSpc>
              <a:defRPr sz="1725" b="0" i="0">
                <a:solidFill>
                  <a:srgbClr val="000000"/>
                </a:solidFill>
                <a:latin typeface="Consolas"/>
                <a:ea typeface="Consolas"/>
                <a:cs typeface="Consolas"/>
              </a:defRPr>
            </a:pPr>
            <a:r>
              <a:rPr sz="1725" b="0" i="0" dirty="0">
                <a:solidFill>
                  <a:srgbClr val="000000"/>
                </a:solidFill>
                <a:latin typeface="Consolas"/>
                <a:ea typeface="Consolas"/>
                <a:cs typeface="Consolas"/>
              </a:rPr>
              <a:t>Morten Tannert, eds., </a:t>
            </a:r>
            <a:r>
              <a:rPr sz="1725" b="0" i="1" dirty="0">
                <a:solidFill>
                  <a:srgbClr val="000000"/>
                </a:solidFill>
                <a:latin typeface="Consolas"/>
                <a:ea typeface="Consolas"/>
                <a:cs typeface="Consolas"/>
              </a:rPr>
              <a:t>Beyond</a:t>
            </a:r>
          </a:p>
          <a:p>
            <a:pPr algn="l">
              <a:lnSpc>
                <a:spcPct val="108000"/>
              </a:lnSpc>
              <a:defRPr sz="1725" b="0" i="0">
                <a:solidFill>
                  <a:srgbClr val="000000"/>
                </a:solidFill>
                <a:latin typeface="Consolas"/>
                <a:ea typeface="Consolas"/>
                <a:cs typeface="Consolas"/>
              </a:defRPr>
            </a:pPr>
            <a:r>
              <a:rPr sz="1725" b="0" i="1" dirty="0">
                <a:solidFill>
                  <a:srgbClr val="000000"/>
                </a:solidFill>
                <a:latin typeface="Consolas"/>
                <a:ea typeface="Consolas"/>
                <a:cs typeface="Consolas"/>
              </a:rPr>
              <a:t>the Turing Test</a:t>
            </a:r>
            <a:r>
              <a:rPr sz="1725" b="0" i="0" dirty="0">
                <a:solidFill>
                  <a:srgbClr val="000000"/>
                </a:solidFill>
                <a:latin typeface="Consolas"/>
                <a:ea typeface="Consolas"/>
                <a:cs typeface="Consolas"/>
              </a:rPr>
              <a:t>: </a:t>
            </a:r>
            <a:r>
              <a:rPr sz="1725" b="0" i="1" dirty="0">
                <a:solidFill>
                  <a:srgbClr val="000000"/>
                </a:solidFill>
                <a:latin typeface="Consolas"/>
                <a:ea typeface="Consolas"/>
                <a:cs typeface="Consolas"/>
              </a:rPr>
              <a:t>What Science</a:t>
            </a:r>
          </a:p>
          <a:p>
            <a:pPr algn="l">
              <a:lnSpc>
                <a:spcPct val="108000"/>
              </a:lnSpc>
              <a:defRPr sz="1725" b="0" i="0">
                <a:solidFill>
                  <a:srgbClr val="000000"/>
                </a:solidFill>
                <a:latin typeface="Consolas"/>
                <a:ea typeface="Consolas"/>
                <a:cs typeface="Consolas"/>
              </a:defRPr>
            </a:pPr>
            <a:r>
              <a:rPr sz="1725" b="0" i="1" dirty="0">
                <a:solidFill>
                  <a:srgbClr val="000000"/>
                </a:solidFill>
                <a:latin typeface="Consolas"/>
                <a:ea typeface="Consolas"/>
                <a:cs typeface="Consolas"/>
              </a:rPr>
              <a:t>Fiction Can Teach Us About</a:t>
            </a:r>
          </a:p>
          <a:p>
            <a:pPr algn="l">
              <a:lnSpc>
                <a:spcPct val="108000"/>
              </a:lnSpc>
              <a:defRPr sz="1725" b="0" i="0">
                <a:solidFill>
                  <a:srgbClr val="000000"/>
                </a:solidFill>
                <a:latin typeface="Consolas"/>
                <a:ea typeface="Consolas"/>
                <a:cs typeface="Consolas"/>
              </a:defRPr>
            </a:pPr>
            <a:r>
              <a:rPr sz="1725" b="0" i="1" dirty="0">
                <a:solidFill>
                  <a:srgbClr val="000000"/>
                </a:solidFill>
                <a:latin typeface="Consolas"/>
                <a:ea typeface="Consolas"/>
                <a:cs typeface="Consolas"/>
              </a:rPr>
              <a:t>Artificial Intelligence</a:t>
            </a:r>
            <a:r>
              <a:rPr sz="1725" b="0" i="0" dirty="0">
                <a:solidFill>
                  <a:srgbClr val="000000"/>
                </a:solidFill>
                <a:latin typeface="Consolas"/>
                <a:ea typeface="Consolas"/>
                <a:cs typeface="Consolas"/>
              </a:rPr>
              <a:t>.</a:t>
            </a:r>
          </a:p>
          <a:p>
            <a:pPr algn="l">
              <a:lnSpc>
                <a:spcPct val="108000"/>
              </a:lnSpc>
              <a:defRPr sz="1725" b="0" i="0">
                <a:solidFill>
                  <a:srgbClr val="000000"/>
                </a:solidFill>
                <a:latin typeface="Consolas"/>
                <a:ea typeface="Consolas"/>
                <a:cs typeface="Consolas"/>
              </a:defRPr>
            </a:pPr>
            <a:r>
              <a:rPr sz="1725" b="0" i="0" dirty="0">
                <a:solidFill>
                  <a:srgbClr val="000000"/>
                </a:solidFill>
                <a:latin typeface="Consolas"/>
                <a:ea typeface="Consolas"/>
                <a:cs typeface="Consolas"/>
              </a:rPr>
              <a:t>Routledge. Accepted manuscript.</a:t>
            </a:r>
          </a:p>
        </p:txBody>
      </p:sp>
      <p:sp>
        <p:nvSpPr>
          <p:cNvPr id="109" name="10.0 · Caption">
            <a:extLst>
              <a:ext uri="{FF2B5EF4-FFF2-40B4-BE49-F238E27FC236}">
                <a16:creationId xmlns:a16="http://schemas.microsoft.com/office/drawing/2014/main" id="{6BC5A149-0C03-4CBC-8EFB-E4B124A5A597}"/>
              </a:ext>
            </a:extLst>
          </p:cNvPr>
          <p:cNvSpPr>
            <a:spLocks noGrp="1"/>
          </p:cNvSpPr>
          <p:nvPr/>
        </p:nvSpPr>
        <p:spPr>
          <a:xfrm>
            <a:off x="476250" y="5364480"/>
            <a:ext cx="6333067"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Isaac Asimov on the Three Laws of Robotics. BBC,</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Horizon, 1965; BBC Archive. Interview excerpt.</a:t>
            </a:r>
          </a:p>
        </p:txBody>
      </p:sp>
      <p:sp>
        <p:nvSpPr>
          <p:cNvPr id="110" name="10.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180–205.</a:t>
            </a:r>
          </a:p>
        </p:txBody>
      </p:sp>
    </p:spTree>
    <p:extLst>
      <p:ext uri="{BB962C8B-B14F-4D97-AF65-F5344CB8AC3E}">
        <p14:creationId xmlns:p14="http://schemas.microsoft.com/office/powerpoint/2010/main" val="1559327684"/>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04"/>
                </p:tgtEl>
              </p:cMediaNode>
            </p:video>
            <p:seq concurrent="1" nextAc="seek">
              <p:cTn id="3" dur="indefinite" nodeType="mainSeq">
                <p:childTnLst>
                  <p:par>
                    <p:cTn id="4" dur="40000" repeatCount="indefinite" fill="hold">
                      <p:stCondLst>
                        <p:cond delay="0"/>
                      </p:stCondLst>
                      <p:childTnLst>
                        <p:cmd type="call" cmd="playFrom(0.0)">
                          <p:cBhvr>
                            <p:cTn id="5" dur="40000" fill="hold"/>
                            <p:tgtEl>
                              <p:spTgt spid="104"/>
                            </p:tgtEl>
                          </p:cBhvr>
                        </p:cmd>
                      </p:childTnLst>
                    </p:cTn>
                  </p:par>
                </p:childTnLst>
              </p:cTn>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0.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10.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10.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pic>
        <p:nvPicPr>
          <p:cNvPr id="111" name="10.1 · image21">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640417" y="1576130"/>
            <a:ext cx="6312833" cy="3550969"/>
          </a:xfrm>
          <a:prstGeom prst="rect">
            <a:avLst/>
          </a:prstGeom>
        </p:spPr>
      </p:pic>
      <p:sp>
        <p:nvSpPr>
          <p:cNvPr id="112" name="10.1 · ARTICLE 5"/>
          <p:cNvSpPr>
            <a:spLocks noGrp="1"/>
          </p:cNvSpPr>
          <p:nvPr/>
        </p:nvSpPr>
        <p:spPr>
          <a:xfrm>
            <a:off x="7667625" y="1428750"/>
            <a:ext cx="4000500" cy="31318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ARTICLE 5</a:t>
            </a:r>
          </a:p>
        </p:txBody>
      </p:sp>
      <p:sp>
        <p:nvSpPr>
          <p:cNvPr id="113" name="10.1 · Scripting the Spectacle: A Theory Tragedy."/>
          <p:cNvSpPr>
            <a:spLocks noGrp="1"/>
          </p:cNvSpPr>
          <p:nvPr/>
        </p:nvSpPr>
        <p:spPr>
          <a:xfrm>
            <a:off x="7667625" y="1885950"/>
            <a:ext cx="4000500" cy="761238"/>
          </a:xfrm>
          <a:prstGeom prst="rect">
            <a:avLst/>
          </a:prstGeom>
          <a:noFill/>
          <a:ln w="0">
            <a:noFill/>
          </a:ln>
        </p:spPr>
        <p:txBody>
          <a:bodyPr wrap="square" lIns="0" tIns="0" rIns="0" bIns="0" anchor="t">
            <a:noAutofit/>
          </a:bodyPr>
          <a:lstStyle/>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Scripting the Spectacle:</a:t>
            </a:r>
          </a:p>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A Theory Tragedy.</a:t>
            </a:r>
          </a:p>
        </p:txBody>
      </p:sp>
      <p:sp>
        <p:nvSpPr>
          <p:cNvPr id="114" name="10.1 · Asker Bryld Staunæs (2026). Passepartout – Uden titel, no. 16: 127–151"/>
          <p:cNvSpPr>
            <a:spLocks noGrp="1"/>
          </p:cNvSpPr>
          <p:nvPr/>
        </p:nvSpPr>
        <p:spPr>
          <a:xfrm>
            <a:off x="7667625" y="2886075"/>
            <a:ext cx="4000500" cy="825246"/>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Asker Bryld Staunæs</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(2026). </a:t>
            </a:r>
            <a:r>
              <a:rPr sz="1800" b="0" i="1">
                <a:solidFill>
                  <a:srgbClr val="000000"/>
                </a:solidFill>
                <a:latin typeface="Consolas"/>
                <a:ea typeface="Consolas"/>
                <a:cs typeface="Consolas"/>
              </a:rPr>
              <a:t>Passepartout – Uden</a:t>
            </a:r>
          </a:p>
          <a:p>
            <a:pPr algn="l">
              <a:lnSpc>
                <a:spcPct val="108000"/>
              </a:lnSpc>
              <a:defRPr sz="1800" b="0" i="0">
                <a:solidFill>
                  <a:srgbClr val="000000"/>
                </a:solidFill>
                <a:latin typeface="Consolas"/>
                <a:ea typeface="Consolas"/>
                <a:cs typeface="Consolas"/>
              </a:defRPr>
            </a:pPr>
            <a:r>
              <a:rPr sz="1800" b="0" i="1">
                <a:solidFill>
                  <a:srgbClr val="000000"/>
                </a:solidFill>
                <a:latin typeface="Consolas"/>
                <a:ea typeface="Consolas"/>
                <a:cs typeface="Consolas"/>
              </a:rPr>
              <a:t>titel</a:t>
            </a:r>
            <a:r>
              <a:rPr sz="1800" b="0" i="0">
                <a:solidFill>
                  <a:srgbClr val="000000"/>
                </a:solidFill>
                <a:latin typeface="Consolas"/>
                <a:ea typeface="Consolas"/>
                <a:cs typeface="Consolas"/>
              </a:rPr>
              <a:t>, no. 16: 127–151.</a:t>
            </a:r>
          </a:p>
        </p:txBody>
      </p:sp>
      <p:sp>
        <p:nvSpPr>
          <p:cNvPr id="115" name="10.1 · “We dared to play god with politics”"/>
          <p:cNvSpPr>
            <a:spLocks noGrp="1"/>
          </p:cNvSpPr>
          <p:nvPr/>
        </p:nvSpPr>
        <p:spPr>
          <a:xfrm>
            <a:off x="7667625" y="3895725"/>
            <a:ext cx="4000500" cy="953262"/>
          </a:xfrm>
          <a:prstGeom prst="rect">
            <a:avLst/>
          </a:prstGeom>
          <a:noFill/>
          <a:ln w="0">
            <a:noFill/>
          </a:ln>
        </p:spPr>
        <p:txBody>
          <a:bodyPr wrap="square" lIns="0" tIns="0" rIns="0" bIns="0" anchor="t">
            <a:noAutofit/>
          </a:bodyPr>
          <a:lstStyle/>
          <a:p>
            <a:pPr algn="l">
              <a:lnSpc>
                <a:spcPct val="108000"/>
              </a:lnSpc>
              <a:defRPr sz="3150" b="0" i="1">
                <a:solidFill>
                  <a:srgbClr val="000000"/>
                </a:solidFill>
                <a:latin typeface="Garamond"/>
                <a:ea typeface="Garamond"/>
                <a:cs typeface="Garamond"/>
              </a:defRPr>
            </a:pPr>
            <a:r>
              <a:rPr sz="3150" b="0" i="1">
                <a:solidFill>
                  <a:srgbClr val="000000"/>
                </a:solidFill>
                <a:latin typeface="Garamond"/>
                <a:ea typeface="Garamond"/>
                <a:cs typeface="Garamond"/>
              </a:rPr>
              <a:t>“</a:t>
            </a:r>
            <a:r>
              <a:rPr sz="3150" b="0">
                <a:solidFill>
                  <a:srgbClr val="000000"/>
                </a:solidFill>
                <a:latin typeface="Garamond"/>
                <a:ea typeface="Garamond"/>
                <a:cs typeface="Garamond"/>
              </a:rPr>
              <a:t>We dared to play</a:t>
            </a:r>
          </a:p>
          <a:p>
            <a:pPr algn="l">
              <a:lnSpc>
                <a:spcPct val="108000"/>
              </a:lnSpc>
              <a:defRPr sz="3150" b="0" i="1">
                <a:solidFill>
                  <a:srgbClr val="000000"/>
                </a:solidFill>
                <a:latin typeface="Garamond"/>
                <a:ea typeface="Garamond"/>
                <a:cs typeface="Garamond"/>
              </a:defRPr>
            </a:pPr>
            <a:r>
              <a:rPr sz="3150" b="0">
                <a:solidFill>
                  <a:srgbClr val="000000"/>
                </a:solidFill>
                <a:latin typeface="Garamond"/>
                <a:ea typeface="Garamond"/>
                <a:cs typeface="Garamond"/>
              </a:rPr>
              <a:t>god with politics</a:t>
            </a:r>
            <a:r>
              <a:rPr sz="3150" b="0" i="1">
                <a:solidFill>
                  <a:srgbClr val="000000"/>
                </a:solidFill>
                <a:latin typeface="Garamond"/>
                <a:ea typeface="Garamond"/>
                <a:cs typeface="Garamond"/>
              </a:rPr>
              <a:t>”</a:t>
            </a:r>
          </a:p>
        </p:txBody>
      </p:sp>
      <p:sp>
        <p:nvSpPr>
          <p:cNvPr id="117" name="10.1 · Caption">
            <a:extLst>
              <a:ext uri="{FF2B5EF4-FFF2-40B4-BE49-F238E27FC236}">
                <a16:creationId xmlns:a16="http://schemas.microsoft.com/office/drawing/2014/main" id="{DD589A90-A07B-4CFB-BEBF-321D3C2DDCCB}"/>
              </a:ext>
            </a:extLst>
          </p:cNvPr>
          <p:cNvSpPr>
            <a:spLocks noGrp="1"/>
          </p:cNvSpPr>
          <p:nvPr/>
        </p:nvSpPr>
        <p:spPr>
          <a:xfrm>
            <a:off x="762000" y="5224343"/>
            <a:ext cx="6191250" cy="808673"/>
          </a:xfrm>
          <a:prstGeom prst="rect">
            <a:avLst/>
          </a:prstGeom>
          <a:noFill/>
          <a:ln w="0">
            <a:noFill/>
          </a:ln>
        </p:spPr>
        <p:txBody>
          <a:bodyPr wrap="square" lIns="0" tIns="0" rIns="0" bIns="0" anchor="t">
            <a:noAutofit/>
          </a:bodyPr>
          <a:lstStyle/>
          <a:p>
            <a:pPr algn="ctr">
              <a:lnSpc>
                <a:spcPct val="108000"/>
              </a:lnSpc>
              <a:defRPr sz="1575" b="0" i="1">
                <a:solidFill>
                  <a:srgbClr val="000000"/>
                </a:solidFill>
                <a:latin typeface="Garamond"/>
                <a:ea typeface="Garamond"/>
                <a:cs typeface="Garamond"/>
              </a:defRPr>
            </a:pPr>
            <a:r>
              <a:rPr sz="1575" b="0" i="1" dirty="0">
                <a:solidFill>
                  <a:srgbClr val="000000"/>
                </a:solidFill>
                <a:latin typeface="Garamond"/>
                <a:ea typeface="Garamond"/>
                <a:cs typeface="Garamond"/>
              </a:rPr>
              <a:t>Computer Lars × </a:t>
            </a:r>
            <a:r>
              <a:rPr sz="1575" b="0" i="1" dirty="0" err="1">
                <a:solidFill>
                  <a:srgbClr val="000000"/>
                </a:solidFill>
                <a:latin typeface="Garamond"/>
                <a:ea typeface="Garamond"/>
                <a:cs typeface="Garamond"/>
              </a:rPr>
              <a:t>Simiyya</a:t>
            </a:r>
            <a:r>
              <a:rPr sz="1575" b="0" i="1" dirty="0">
                <a:solidFill>
                  <a:srgbClr val="000000"/>
                </a:solidFill>
                <a:latin typeface="Garamond"/>
                <a:ea typeface="Garamond"/>
                <a:cs typeface="Garamond"/>
              </a:rPr>
              <a:t> × </a:t>
            </a:r>
            <a:r>
              <a:rPr sz="1575" b="0" i="1" dirty="0" err="1">
                <a:solidFill>
                  <a:srgbClr val="000000"/>
                </a:solidFill>
                <a:latin typeface="Garamond"/>
                <a:ea typeface="Garamond"/>
                <a:cs typeface="Garamond"/>
              </a:rPr>
              <a:t>Syntheticism.org</a:t>
            </a:r>
            <a:r>
              <a:rPr sz="1575" b="0" i="1" dirty="0">
                <a:solidFill>
                  <a:srgbClr val="000000"/>
                </a:solidFill>
                <a:latin typeface="Garamond"/>
                <a:ea typeface="Garamond"/>
                <a:cs typeface="Garamond"/>
              </a:rPr>
              <a:t>, Theory Tragedy: Post-Farce</a:t>
            </a:r>
          </a:p>
          <a:p>
            <a:pPr algn="ctr">
              <a:lnSpc>
                <a:spcPct val="108000"/>
              </a:lnSpc>
              <a:defRPr sz="1575" b="0" i="1">
                <a:solidFill>
                  <a:srgbClr val="000000"/>
                </a:solidFill>
                <a:latin typeface="Garamond"/>
                <a:ea typeface="Garamond"/>
                <a:cs typeface="Garamond"/>
              </a:defRPr>
            </a:pPr>
            <a:r>
              <a:rPr sz="1575" b="0" i="1" dirty="0">
                <a:solidFill>
                  <a:srgbClr val="000000"/>
                </a:solidFill>
                <a:latin typeface="Garamond"/>
                <a:ea typeface="Garamond"/>
                <a:cs typeface="Garamond"/>
              </a:rPr>
              <a:t>Protocol (Mao-Dadaist Bureaucratic Edition). </a:t>
            </a:r>
            <a:r>
              <a:rPr sz="1575" b="0" i="1" dirty="0" err="1">
                <a:solidFill>
                  <a:srgbClr val="000000"/>
                </a:solidFill>
                <a:latin typeface="Garamond"/>
                <a:ea typeface="Garamond"/>
                <a:cs typeface="Garamond"/>
              </a:rPr>
              <a:t>Kunsthal</a:t>
            </a:r>
            <a:r>
              <a:rPr sz="1575" b="0" i="1" dirty="0">
                <a:solidFill>
                  <a:srgbClr val="000000"/>
                </a:solidFill>
                <a:latin typeface="Garamond"/>
                <a:ea typeface="Garamond"/>
                <a:cs typeface="Garamond"/>
              </a:rPr>
              <a:t> Aarhus, 13 April 2025.</a:t>
            </a:r>
          </a:p>
          <a:p>
            <a:pPr algn="ctr">
              <a:lnSpc>
                <a:spcPct val="108000"/>
              </a:lnSpc>
              <a:defRPr sz="1575" b="0" i="1">
                <a:solidFill>
                  <a:srgbClr val="000000"/>
                </a:solidFill>
                <a:latin typeface="Garamond"/>
                <a:ea typeface="Garamond"/>
                <a:cs typeface="Garamond"/>
              </a:defRPr>
            </a:pPr>
            <a:r>
              <a:rPr sz="1575" b="0" i="1" dirty="0">
                <a:solidFill>
                  <a:srgbClr val="000000"/>
                </a:solidFill>
                <a:latin typeface="Garamond"/>
                <a:ea typeface="Garamond"/>
                <a:cs typeface="Garamond"/>
              </a:rPr>
              <a:t>Seventy-five-minute closing performance of the inaugural Synthetic Summit; excerpt.</a:t>
            </a:r>
          </a:p>
        </p:txBody>
      </p:sp>
      <p:sp>
        <p:nvSpPr>
          <p:cNvPr id="118" name="10.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235–265.</a:t>
            </a:r>
          </a:p>
        </p:txBody>
      </p:sp>
    </p:spTree>
    <p:extLst>
      <p:ext uri="{BB962C8B-B14F-4D97-AF65-F5344CB8AC3E}">
        <p14:creationId xmlns:p14="http://schemas.microsoft.com/office/powerpoint/2010/main" val="1559327684"/>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11"/>
                </p:tgtEl>
              </p:cMediaNode>
            </p:video>
            <p:seq concurrent="1" nextAc="seek">
              <p:cTn id="3" dur="indefinite" nodeType="mainSeq">
                <p:childTnLst>
                  <p:par>
                    <p:cTn id="4" dur="19019" repeatCount="indefinite" fill="hold">
                      <p:stCondLst>
                        <p:cond delay="0"/>
                      </p:stCondLst>
                      <p:childTnLst>
                        <p:cmd type="call" cmd="playFrom(0.0)">
                          <p:cBhvr>
                            <p:cTn id="5" dur="19019" fill="hold"/>
                            <p:tgtEl>
                              <p:spTgt spid="111"/>
                            </p:tgtEl>
                          </p:cBhvr>
                        </p:cmd>
                      </p:childTnLst>
                    </p:cTn>
                  </p:par>
                </p:childTnLst>
              </p:cTn>
            </p:seq>
            <p:seq concurrent="1" nextAc="seek">
              <p:cTn id="6" dur="indefinite" nodeType="mainSeq">
                <p:childTnLst>
                  <p:par>
                    <p:cTn id="7" fill="hold">
                      <p:stCondLst>
                        <p:cond delay="0"/>
                      </p:stCondLst>
                      <p:childTnLst>
                        <p:par>
                          <p:cTn id="8" presetID="1" presetClass="entr" presetSubtype="0" fill="hold" nodeType="withEffect">
                            <p:stCondLst>
                              <p:cond delay="0"/>
                            </p:stCondLst>
                            <p:iterate type="lt">
                              <p:tmAbs val="11"/>
                            </p:iterate>
                            <p:childTnLst>
                              <p:set>
                                <p:cBhvr>
                                  <p:cTn id="9" dur="1" fill="hold">
                                    <p:stCondLst>
                                      <p:cond delay="0"/>
                                    </p:stCondLst>
                                  </p:cTn>
                                  <p:tgtEl>
                                    <p:spTgt spid="115">
                                      <p:txEl>
                                        <p:pRg st="0" end="0"/>
                                      </p:txEl>
                                    </p:spTgt>
                                  </p:tgtEl>
                                  <p:attrNameLst>
                                    <p:attrName>style.visibility</p:attrName>
                                  </p:attrNameLst>
                                </p:cBhvr>
                                <p:to>
                                  <p:strVal val="visible"/>
                                </p:to>
                              </p:set>
                            </p:childTnLst>
                          </p:cTn>
                        </p:par>
                        <p:par>
                          <p:cTn id="10" presetID="1" presetClass="entr" presetSubtype="0" fill="hold" nodeType="withEffect">
                            <p:stCondLst>
                              <p:cond delay="227"/>
                            </p:stCondLst>
                            <p:iterate type="lt">
                              <p:tmAbs val="11"/>
                            </p:iterate>
                            <p:childTnLst>
                              <p:set>
                                <p:cBhvr>
                                  <p:cTn id="11" dur="1" fill="hold">
                                    <p:stCondLst>
                                      <p:cond delay="0"/>
                                    </p:stCondLst>
                                  </p:cTn>
                                  <p:tgtEl>
                                    <p:spTgt spid="115">
                                      <p:txEl>
                                        <p:pRg st="1" end="1"/>
                                      </p:txEl>
                                    </p:spTgt>
                                  </p:tgtEl>
                                  <p:attrNameLst>
                                    <p:attrName>style.visibility</p:attrName>
                                  </p:attrNameLst>
                                </p:cBhvr>
                                <p:to>
                                  <p:strVal val="visible"/>
                                </p:to>
                              </p:set>
                            </p:childTnLst>
                          </p:cTn>
                        </p:par>
                      </p:childTnLst>
                    </p:cTn>
                  </p:par>
                </p:childTnLst>
              </p:cTn>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0.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Synthetic Politics as Problem-Space</a:t>
            </a:r>
          </a:p>
        </p:txBody>
      </p:sp>
      <p:sp>
        <p:nvSpPr>
          <p:cNvPr id="102" name="10.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Join My Cases</a:t>
            </a:r>
          </a:p>
        </p:txBody>
      </p:sp>
      <p:sp>
        <p:nvSpPr>
          <p:cNvPr id="103" name="10.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6/7</a:t>
            </a:r>
          </a:p>
        </p:txBody>
      </p:sp>
      <p:sp>
        <p:nvSpPr>
          <p:cNvPr id="119" name="10.2 · RQ2 · SYNTHESIS ANSWER"/>
          <p:cNvSpPr>
            <a:spLocks noGrp="1"/>
          </p:cNvSpPr>
          <p:nvPr/>
        </p:nvSpPr>
        <p:spPr>
          <a:xfrm>
            <a:off x="619125" y="1419225"/>
            <a:ext cx="10953750" cy="31318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dirty="0">
                <a:solidFill>
                  <a:srgbClr val="FF0000"/>
                </a:solidFill>
                <a:latin typeface="Consolas"/>
                <a:ea typeface="Consolas"/>
                <a:cs typeface="Consolas"/>
              </a:rPr>
              <a:t>RQ2 · SYNTHESIS ANSWER</a:t>
            </a:r>
          </a:p>
        </p:txBody>
      </p:sp>
      <p:sp>
        <p:nvSpPr>
          <p:cNvPr id="120" name="10.2 · Synthetic politics forms a portable, comparative problem-space."/>
          <p:cNvSpPr>
            <a:spLocks noGrp="1"/>
          </p:cNvSpPr>
          <p:nvPr/>
        </p:nvSpPr>
        <p:spPr>
          <a:xfrm>
            <a:off x="762000" y="1796985"/>
            <a:ext cx="10668000" cy="505206"/>
          </a:xfrm>
          <a:prstGeom prst="rect">
            <a:avLst/>
          </a:prstGeom>
          <a:noFill/>
          <a:ln w="0">
            <a:noFill/>
          </a:ln>
        </p:spPr>
        <p:txBody>
          <a:bodyPr wrap="square" lIns="0" tIns="0" rIns="0" bIns="0" anchor="t">
            <a:noAutofit/>
          </a:bodyPr>
          <a:lstStyle/>
          <a:p>
            <a:pPr algn="ctr">
              <a:lnSpc>
                <a:spcPct val="108000"/>
              </a:lnSpc>
              <a:defRPr sz="3150" b="0" i="0">
                <a:solidFill>
                  <a:srgbClr val="000000"/>
                </a:solidFill>
                <a:latin typeface="Garamond"/>
                <a:ea typeface="Garamond"/>
                <a:cs typeface="Garamond"/>
              </a:defRPr>
            </a:pPr>
            <a:r>
              <a:rPr sz="3150" b="0" dirty="0">
                <a:solidFill>
                  <a:srgbClr val="000000"/>
                </a:solidFill>
                <a:latin typeface="Garamond"/>
                <a:ea typeface="Garamond"/>
                <a:cs typeface="Garamond"/>
              </a:rPr>
              <a:t>Synthetic politics </a:t>
            </a:r>
            <a:r>
              <a:rPr sz="3150" b="0" i="0" dirty="0">
                <a:solidFill>
                  <a:srgbClr val="000000"/>
                </a:solidFill>
                <a:latin typeface="Garamond"/>
                <a:ea typeface="Garamond"/>
                <a:cs typeface="Garamond"/>
              </a:rPr>
              <a:t>forms a portable, comparative problem-space.</a:t>
            </a:r>
          </a:p>
        </p:txBody>
      </p:sp>
      <p:sp>
        <p:nvSpPr>
          <p:cNvPr id="124" name="10.2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lang="da-DK" sz="1500" b="0" i="0" dirty="0" err="1">
                <a:solidFill>
                  <a:srgbClr val="555555"/>
                </a:solidFill>
                <a:latin typeface="Consolas"/>
                <a:ea typeface="Consolas"/>
                <a:cs typeface="Consolas"/>
              </a:rPr>
              <a:t>Synthesis</a:t>
            </a:r>
            <a:r>
              <a:rPr lang="da-DK" sz="1500" b="0" i="0" dirty="0">
                <a:solidFill>
                  <a:srgbClr val="555555"/>
                </a:solidFill>
                <a:latin typeface="Consolas"/>
                <a:ea typeface="Consolas"/>
                <a:cs typeface="Consolas"/>
              </a:rPr>
              <a:t>: </a:t>
            </a:r>
            <a:r>
              <a:rPr sz="1500" b="0" i="0" dirty="0">
                <a:solidFill>
                  <a:srgbClr val="555555"/>
                </a:solidFill>
                <a:latin typeface="Consolas"/>
                <a:ea typeface="Consolas"/>
                <a:cs typeface="Consolas"/>
              </a:rPr>
              <a:t>Staunæs 2026: 75–80.</a:t>
            </a:r>
          </a:p>
        </p:txBody>
      </p:sp>
      <p:pic>
        <p:nvPicPr>
          <p:cNvPr id="3" name="Picture 2">
            <a:extLst>
              <a:ext uri="{FF2B5EF4-FFF2-40B4-BE49-F238E27FC236}">
                <a16:creationId xmlns:a16="http://schemas.microsoft.com/office/drawing/2014/main" id="{881AEC74-DA74-A4C4-4746-58D93E38E2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448" y="2562004"/>
            <a:ext cx="3906517" cy="3135895"/>
          </a:xfrm>
          <a:prstGeom prst="rect">
            <a:avLst/>
          </a:prstGeom>
        </p:spPr>
      </p:pic>
      <p:pic>
        <p:nvPicPr>
          <p:cNvPr id="5" name="Picture 4">
            <a:extLst>
              <a:ext uri="{FF2B5EF4-FFF2-40B4-BE49-F238E27FC236}">
                <a16:creationId xmlns:a16="http://schemas.microsoft.com/office/drawing/2014/main" id="{06B3ED64-9832-13C6-136E-F9F861949B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2813" y="2525687"/>
            <a:ext cx="4246458" cy="3184844"/>
          </a:xfrm>
          <a:prstGeom prst="rect">
            <a:avLst/>
          </a:prstGeom>
        </p:spPr>
      </p:pic>
      <p:sp>
        <p:nvSpPr>
          <p:cNvPr id="6" name="10.1 · Caption">
            <a:extLst>
              <a:ext uri="{FF2B5EF4-FFF2-40B4-BE49-F238E27FC236}">
                <a16:creationId xmlns:a16="http://schemas.microsoft.com/office/drawing/2014/main" id="{14684792-7DF2-B642-7140-59D325B66B68}"/>
              </a:ext>
            </a:extLst>
          </p:cNvPr>
          <p:cNvSpPr>
            <a:spLocks noGrp="1"/>
          </p:cNvSpPr>
          <p:nvPr/>
        </p:nvSpPr>
        <p:spPr>
          <a:xfrm>
            <a:off x="0" y="5807221"/>
            <a:ext cx="6191250" cy="808673"/>
          </a:xfrm>
          <a:prstGeom prst="rect">
            <a:avLst/>
          </a:prstGeom>
          <a:noFill/>
          <a:ln w="0">
            <a:noFill/>
          </a:ln>
        </p:spPr>
        <p:txBody>
          <a:bodyPr wrap="square" lIns="0" tIns="0" rIns="0" bIns="0" anchor="t">
            <a:noAutofit/>
          </a:bodyPr>
          <a:lstStyle/>
          <a:p>
            <a:pPr algn="ctr">
              <a:lnSpc>
                <a:spcPct val="108000"/>
              </a:lnSpc>
              <a:defRPr sz="1575" b="0" i="1">
                <a:solidFill>
                  <a:srgbClr val="000000"/>
                </a:solidFill>
                <a:latin typeface="Garamond"/>
                <a:ea typeface="Garamond"/>
                <a:cs typeface="Garamond"/>
              </a:defRPr>
            </a:pPr>
            <a:r>
              <a:rPr lang="en-GB" sz="1575" i="1" dirty="0">
                <a:solidFill>
                  <a:srgbClr val="000000"/>
                </a:solidFill>
                <a:latin typeface="Garamond"/>
                <a:ea typeface="Garamond"/>
                <a:cs typeface="Garamond"/>
              </a:rPr>
              <a:t>Delegates and organisers of the AI World Congress, Synthetic Summit. </a:t>
            </a:r>
            <a:br>
              <a:rPr lang="en-GB" sz="1575" i="1" dirty="0">
                <a:solidFill>
                  <a:srgbClr val="000000"/>
                </a:solidFill>
                <a:latin typeface="Garamond"/>
                <a:ea typeface="Garamond"/>
                <a:cs typeface="Garamond"/>
              </a:rPr>
            </a:br>
            <a:r>
              <a:rPr lang="en-GB" sz="1575" i="1" dirty="0" err="1">
                <a:solidFill>
                  <a:srgbClr val="000000"/>
                </a:solidFill>
                <a:latin typeface="Garamond"/>
                <a:ea typeface="Garamond"/>
                <a:cs typeface="Garamond"/>
              </a:rPr>
              <a:t>Kunsthal</a:t>
            </a:r>
            <a:r>
              <a:rPr lang="en-GB" sz="1575" i="1" dirty="0">
                <a:solidFill>
                  <a:srgbClr val="000000"/>
                </a:solidFill>
                <a:latin typeface="Garamond"/>
                <a:ea typeface="Garamond"/>
                <a:cs typeface="Garamond"/>
              </a:rPr>
              <a:t> Aarhus, 1 March 2025. Photograph: Tamara Wyrzykowska.</a:t>
            </a:r>
            <a:endParaRPr sz="1575" b="0" i="1" dirty="0">
              <a:solidFill>
                <a:srgbClr val="000000"/>
              </a:solidFill>
              <a:latin typeface="Garamond"/>
              <a:ea typeface="Garamond"/>
              <a:cs typeface="Garamond"/>
            </a:endParaRPr>
          </a:p>
        </p:txBody>
      </p:sp>
      <p:sp>
        <p:nvSpPr>
          <p:cNvPr id="7" name="10.1 · Caption">
            <a:extLst>
              <a:ext uri="{FF2B5EF4-FFF2-40B4-BE49-F238E27FC236}">
                <a16:creationId xmlns:a16="http://schemas.microsoft.com/office/drawing/2014/main" id="{B83A258C-C932-A1B9-2E59-0C10289730D2}"/>
              </a:ext>
            </a:extLst>
          </p:cNvPr>
          <p:cNvSpPr>
            <a:spLocks noGrp="1"/>
          </p:cNvSpPr>
          <p:nvPr/>
        </p:nvSpPr>
        <p:spPr>
          <a:xfrm>
            <a:off x="6000750" y="5801677"/>
            <a:ext cx="6191250" cy="808673"/>
          </a:xfrm>
          <a:prstGeom prst="rect">
            <a:avLst/>
          </a:prstGeom>
          <a:noFill/>
          <a:ln w="0">
            <a:noFill/>
          </a:ln>
        </p:spPr>
        <p:txBody>
          <a:bodyPr wrap="square" lIns="0" tIns="0" rIns="0" bIns="0" anchor="t">
            <a:noAutofit/>
          </a:bodyPr>
          <a:lstStyle/>
          <a:p>
            <a:pPr algn="ctr">
              <a:lnSpc>
                <a:spcPct val="108000"/>
              </a:lnSpc>
              <a:defRPr sz="1575" b="0" i="1">
                <a:solidFill>
                  <a:srgbClr val="000000"/>
                </a:solidFill>
                <a:latin typeface="Garamond"/>
                <a:ea typeface="Garamond"/>
                <a:cs typeface="Garamond"/>
              </a:defRPr>
            </a:pPr>
            <a:r>
              <a:rPr lang="en-GB" sz="1575" i="1" dirty="0">
                <a:solidFill>
                  <a:srgbClr val="000000"/>
                </a:solidFill>
                <a:latin typeface="Garamond"/>
                <a:ea typeface="Garamond"/>
                <a:cs typeface="Garamond"/>
              </a:rPr>
              <a:t>Participants in the Synthetic Politics panel, ECPR General Conference. </a:t>
            </a:r>
          </a:p>
          <a:p>
            <a:pPr algn="ctr">
              <a:lnSpc>
                <a:spcPct val="108000"/>
              </a:lnSpc>
              <a:defRPr sz="1575" b="0" i="1">
                <a:solidFill>
                  <a:srgbClr val="000000"/>
                </a:solidFill>
                <a:latin typeface="Garamond"/>
                <a:ea typeface="Garamond"/>
                <a:cs typeface="Garamond"/>
              </a:defRPr>
            </a:pPr>
            <a:r>
              <a:rPr lang="en-GB" sz="1575" i="1" dirty="0">
                <a:solidFill>
                  <a:srgbClr val="000000"/>
                </a:solidFill>
                <a:latin typeface="Garamond"/>
                <a:ea typeface="Garamond"/>
                <a:cs typeface="Garamond"/>
              </a:rPr>
              <a:t>Jagiellonian University, Kraków, 8 September 2026.</a:t>
            </a:r>
            <a:endParaRPr sz="1575" b="0" i="1" dirty="0">
              <a:solidFill>
                <a:srgbClr val="000000"/>
              </a:solidFill>
              <a:latin typeface="Garamond"/>
              <a:ea typeface="Garamond"/>
              <a:cs typeface="Garamond"/>
            </a:endParaRPr>
          </a:p>
        </p:txBody>
      </p:sp>
    </p:spTree>
    <p:extLst>
      <p:ext uri="{BB962C8B-B14F-4D97-AF65-F5344CB8AC3E}">
        <p14:creationId xmlns:p14="http://schemas.microsoft.com/office/powerpoint/2010/main" val="1559327684"/>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20">
                                      <p:txEl>
                                        <p:pRg st="0" end="0"/>
                                      </p:txEl>
                                    </p:spTgt>
                                  </p:tgtEl>
                                  <p:attrNameLst>
                                    <p:attrName>style.visibility</p:attrName>
                                  </p:attrNameLst>
                                </p:cBhvr>
                                <p:to>
                                  <p:strVal val="visible"/>
                                </p:to>
                              </p:set>
                            </p:childTnLst>
                          </p:cTn>
                        </p:par>
                      </p:childTnLst>
                    </p:cTn>
                  </p:par>
                </p:childTnLst>
              </p:cTn>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1.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1.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1.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sp>
        <p:nvSpPr>
          <p:cNvPr id="104" name="11.0 · RQ3"/>
          <p:cNvSpPr>
            <a:spLocks noGrp="1"/>
          </p:cNvSpPr>
          <p:nvPr/>
        </p:nvSpPr>
        <p:spPr>
          <a:xfrm>
            <a:off x="571500" y="1476375"/>
            <a:ext cx="110490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RQ3</a:t>
            </a:r>
          </a:p>
        </p:txBody>
      </p:sp>
      <p:sp>
        <p:nvSpPr>
          <p:cNvPr id="105" name="11.0 · How do these synthetic political forms contest and rec"/>
          <p:cNvSpPr>
            <a:spLocks noGrp="1"/>
          </p:cNvSpPr>
          <p:nvPr/>
        </p:nvSpPr>
        <p:spPr>
          <a:xfrm>
            <a:off x="1190625" y="2286000"/>
            <a:ext cx="9810750" cy="3000375"/>
          </a:xfrm>
          <a:prstGeom prst="rect">
            <a:avLst/>
          </a:prstGeom>
          <a:noFill/>
          <a:ln w="0">
            <a:noFill/>
          </a:ln>
        </p:spPr>
        <p:txBody>
          <a:bodyPr wrap="square" lIns="0" tIns="0" rIns="0" bIns="0" anchor="t">
            <a:noAutofit/>
          </a:bodyPr>
          <a:lstStyle/>
          <a:p>
            <a:pPr algn="ctr">
              <a:lnSpc>
                <a:spcPct val="108000"/>
              </a:lnSpc>
              <a:defRPr sz="3450" b="0" i="0">
                <a:solidFill>
                  <a:srgbClr val="000000"/>
                </a:solidFill>
                <a:latin typeface="Garamond"/>
                <a:ea typeface="Garamond"/>
                <a:cs typeface="Garamond"/>
              </a:defRPr>
            </a:pPr>
            <a:r>
              <a:rPr sz="3450" b="0" i="0">
                <a:solidFill>
                  <a:srgbClr val="000000"/>
                </a:solidFill>
                <a:latin typeface="Garamond"/>
                <a:ea typeface="Garamond"/>
                <a:cs typeface="Garamond"/>
              </a:rPr>
              <a:t>How do these synthetic political forms</a:t>
            </a:r>
          </a:p>
          <a:p>
            <a:pPr algn="ctr">
              <a:lnSpc>
                <a:spcPct val="108000"/>
              </a:lnSpc>
              <a:defRPr sz="3450" b="0" i="0">
                <a:solidFill>
                  <a:srgbClr val="000000"/>
                </a:solidFill>
                <a:latin typeface="Garamond"/>
                <a:ea typeface="Garamond"/>
                <a:cs typeface="Garamond"/>
              </a:defRPr>
            </a:pPr>
            <a:r>
              <a:rPr sz="3450" b="0" i="0">
                <a:solidFill>
                  <a:srgbClr val="000000"/>
                </a:solidFill>
                <a:latin typeface="Garamond"/>
                <a:ea typeface="Garamond"/>
                <a:cs typeface="Garamond"/>
              </a:rPr>
              <a:t>contest and recompose democracy?</a:t>
            </a:r>
          </a:p>
        </p:txBody>
      </p:sp>
      <p:sp>
        <p:nvSpPr>
          <p:cNvPr id="106" name="11.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13.</a:t>
            </a:r>
          </a:p>
        </p:txBody>
      </p:sp>
    </p:spTree>
    <p:extLst>
      <p:ext uri="{BB962C8B-B14F-4D97-AF65-F5344CB8AC3E}">
        <p14:creationId xmlns:p14="http://schemas.microsoft.com/office/powerpoint/2010/main" val="15055630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1.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1.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1.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sp>
        <p:nvSpPr>
          <p:cNvPr id="107" name="11.1 · Opening · p. 6"/>
          <p:cNvSpPr>
            <a:spLocks noGrp="1"/>
          </p:cNvSpPr>
          <p:nvPr/>
        </p:nvSpPr>
        <p:spPr>
          <a:xfrm>
            <a:off x="571500" y="1524000"/>
            <a:ext cx="53340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Opening · p. 6</a:t>
            </a:r>
          </a:p>
        </p:txBody>
      </p:sp>
      <p:sp>
        <p:nvSpPr>
          <p:cNvPr id="108" name="11.1 · “From there, democracy surfaces as a technosocial arra"/>
          <p:cNvSpPr>
            <a:spLocks noGrp="1"/>
          </p:cNvSpPr>
          <p:nvPr/>
        </p:nvSpPr>
        <p:spPr>
          <a:xfrm>
            <a:off x="571500" y="2143125"/>
            <a:ext cx="5238750" cy="3190875"/>
          </a:xfrm>
          <a:prstGeom prst="rect">
            <a:avLst/>
          </a:prstGeom>
          <a:noFill/>
          <a:ln w="0">
            <a:noFill/>
          </a:ln>
        </p:spPr>
        <p:txBody>
          <a:bodyPr wrap="square" lIns="0" tIns="0" rIns="0" bIns="0" anchor="t">
            <a:noAutofit/>
          </a:bodyPr>
          <a:lstStyle/>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“From there, democracy surfaces</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as a technosocial arrangement</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that distributes more responses</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than any of its representative sites</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can organise into answerability.”</a:t>
            </a:r>
          </a:p>
        </p:txBody>
      </p:sp>
      <p:sp>
        <p:nvSpPr>
          <p:cNvPr id="109" name="11.1 · English abstract · p. 327"/>
          <p:cNvSpPr>
            <a:spLocks noGrp="1"/>
          </p:cNvSpPr>
          <p:nvPr/>
        </p:nvSpPr>
        <p:spPr>
          <a:xfrm>
            <a:off x="6477000" y="1524000"/>
            <a:ext cx="51435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English abstract · p. 327</a:t>
            </a:r>
          </a:p>
        </p:txBody>
      </p:sp>
      <p:sp>
        <p:nvSpPr>
          <p:cNvPr id="110" name="11.1 · “Under technosocial conditions, political democracy ge"/>
          <p:cNvSpPr>
            <a:spLocks noGrp="1"/>
          </p:cNvSpPr>
          <p:nvPr/>
        </p:nvSpPr>
        <p:spPr>
          <a:xfrm>
            <a:off x="6477000" y="2143125"/>
            <a:ext cx="5143500" cy="3190875"/>
          </a:xfrm>
          <a:prstGeom prst="rect">
            <a:avLst/>
          </a:prstGeom>
          <a:noFill/>
          <a:ln w="0">
            <a:noFill/>
          </a:ln>
        </p:spPr>
        <p:txBody>
          <a:bodyPr wrap="square" lIns="0" tIns="0" rIns="0" bIns="0" anchor="t">
            <a:noAutofit/>
          </a:bodyPr>
          <a:lstStyle/>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“Under technosocial conditions,</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political democracy generates</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more forms of response</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than its representative sites</a:t>
            </a:r>
          </a:p>
          <a:p>
            <a:pPr algn="l">
              <a:lnSpc>
                <a:spcPct val="108000"/>
              </a:lnSpc>
              <a:defRPr sz="2925" b="0" i="0">
                <a:solidFill>
                  <a:srgbClr val="000000"/>
                </a:solidFill>
                <a:latin typeface="Garamond"/>
                <a:ea typeface="Garamond"/>
                <a:cs typeface="Garamond"/>
              </a:defRPr>
            </a:pPr>
            <a:r>
              <a:rPr sz="2925" b="0" i="0">
                <a:solidFill>
                  <a:srgbClr val="000000"/>
                </a:solidFill>
                <a:latin typeface="Garamond"/>
                <a:ea typeface="Garamond"/>
                <a:cs typeface="Garamond"/>
              </a:rPr>
              <a:t>can turn into answerability.”</a:t>
            </a:r>
          </a:p>
        </p:txBody>
      </p:sp>
      <p:sp>
        <p:nvSpPr>
          <p:cNvPr id="111" name="11.1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6, 327.</a:t>
            </a:r>
          </a:p>
        </p:txBody>
      </p:sp>
    </p:spTree>
    <p:extLst>
      <p:ext uri="{BB962C8B-B14F-4D97-AF65-F5344CB8AC3E}">
        <p14:creationId xmlns:p14="http://schemas.microsoft.com/office/powerpoint/2010/main" val="1505563037"/>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08">
                                      <p:txEl>
                                        <p:pRg st="0" end="0"/>
                                      </p:txEl>
                                    </p:spTgt>
                                  </p:tgtEl>
                                  <p:attrNameLst>
                                    <p:attrName>style.visibility</p:attrName>
                                  </p:attrNameLst>
                                </p:cBhvr>
                                <p:to>
                                  <p:strVal val="visible"/>
                                </p:to>
                              </p:set>
                            </p:childTnLst>
                          </p:cTn>
                        </p:par>
                        <p:par>
                          <p:cTn id="6" presetID="1" presetClass="entr" presetSubtype="0" fill="hold" nodeType="withEffect">
                            <p:stCondLst>
                              <p:cond delay="381"/>
                            </p:stCondLst>
                            <p:iterate type="lt">
                              <p:tmAbs val="11"/>
                            </p:iterate>
                            <p:childTnLst>
                              <p:set>
                                <p:cBhvr>
                                  <p:cTn id="7" dur="1" fill="hold">
                                    <p:stCondLst>
                                      <p:cond delay="0"/>
                                    </p:stCondLst>
                                  </p:cTn>
                                  <p:tgtEl>
                                    <p:spTgt spid="108">
                                      <p:txEl>
                                        <p:pRg st="1" end="1"/>
                                      </p:txEl>
                                    </p:spTgt>
                                  </p:tgtEl>
                                  <p:attrNameLst>
                                    <p:attrName>style.visibility</p:attrName>
                                  </p:attrNameLst>
                                </p:cBhvr>
                                <p:to>
                                  <p:strVal val="visible"/>
                                </p:to>
                              </p:set>
                            </p:childTnLst>
                          </p:cTn>
                        </p:par>
                        <p:par>
                          <p:cTn id="8" presetID="1" presetClass="entr" presetSubtype="0" fill="hold" nodeType="withEffect">
                            <p:stCondLst>
                              <p:cond delay="740"/>
                            </p:stCondLst>
                            <p:iterate type="lt">
                              <p:tmAbs val="11"/>
                            </p:iterate>
                            <p:childTnLst>
                              <p:set>
                                <p:cBhvr>
                                  <p:cTn id="9" dur="1" fill="hold">
                                    <p:stCondLst>
                                      <p:cond delay="0"/>
                                    </p:stCondLst>
                                  </p:cTn>
                                  <p:tgtEl>
                                    <p:spTgt spid="108">
                                      <p:txEl>
                                        <p:pRg st="2" end="2"/>
                                      </p:txEl>
                                    </p:spTgt>
                                  </p:tgtEl>
                                  <p:attrNameLst>
                                    <p:attrName>style.visibility</p:attrName>
                                  </p:attrNameLst>
                                </p:cBhvr>
                                <p:to>
                                  <p:strVal val="visible"/>
                                </p:to>
                              </p:set>
                            </p:childTnLst>
                          </p:cTn>
                        </p:par>
                        <p:par>
                          <p:cTn id="10" presetID="1" presetClass="entr" presetSubtype="0" fill="hold" nodeType="withEffect">
                            <p:stCondLst>
                              <p:cond delay="1121"/>
                            </p:stCondLst>
                            <p:iterate type="lt">
                              <p:tmAbs val="11"/>
                            </p:iterate>
                            <p:childTnLst>
                              <p:set>
                                <p:cBhvr>
                                  <p:cTn id="11" dur="1" fill="hold">
                                    <p:stCondLst>
                                      <p:cond delay="0"/>
                                    </p:stCondLst>
                                  </p:cTn>
                                  <p:tgtEl>
                                    <p:spTgt spid="108">
                                      <p:txEl>
                                        <p:pRg st="3" end="3"/>
                                      </p:txEl>
                                    </p:spTgt>
                                  </p:tgtEl>
                                  <p:attrNameLst>
                                    <p:attrName>style.visibility</p:attrName>
                                  </p:attrNameLst>
                                </p:cBhvr>
                                <p:to>
                                  <p:strVal val="visible"/>
                                </p:to>
                              </p:set>
                            </p:childTnLst>
                          </p:cTn>
                        </p:par>
                        <p:par>
                          <p:cTn id="12" presetID="1" presetClass="entr" presetSubtype="0" fill="hold" nodeType="withEffect">
                            <p:stCondLst>
                              <p:cond delay="1557"/>
                            </p:stCondLst>
                            <p:iterate type="lt">
                              <p:tmAbs val="11"/>
                            </p:iterate>
                            <p:childTnLst>
                              <p:set>
                                <p:cBhvr>
                                  <p:cTn id="13" dur="1" fill="hold">
                                    <p:stCondLst>
                                      <p:cond delay="0"/>
                                    </p:stCondLst>
                                  </p:cTn>
                                  <p:tgtEl>
                                    <p:spTgt spid="108">
                                      <p:txEl>
                                        <p:pRg st="4" end="4"/>
                                      </p:txEl>
                                    </p:spTgt>
                                  </p:tgtEl>
                                  <p:attrNameLst>
                                    <p:attrName>style.visibility</p:attrName>
                                  </p:attrNameLst>
                                </p:cBhvr>
                                <p:to>
                                  <p:strVal val="visible"/>
                                </p:to>
                              </p:set>
                            </p:childTnLst>
                          </p:cTn>
                        </p:par>
                        <p:par>
                          <p:cTn id="14" presetID="1" presetClass="entr" presetSubtype="0" fill="hold" nodeType="withEffect">
                            <p:stCondLst>
                              <p:cond delay="1960"/>
                            </p:stCondLst>
                            <p:iterate type="lt">
                              <p:tmAbs val="11"/>
                            </p:iterate>
                            <p:childTnLst>
                              <p:set>
                                <p:cBhvr>
                                  <p:cTn id="15" dur="1" fill="hold">
                                    <p:stCondLst>
                                      <p:cond delay="0"/>
                                    </p:stCondLst>
                                  </p:cTn>
                                  <p:tgtEl>
                                    <p:spTgt spid="110">
                                      <p:txEl>
                                        <p:pRg st="0" end="0"/>
                                      </p:txEl>
                                    </p:spTgt>
                                  </p:tgtEl>
                                  <p:attrNameLst>
                                    <p:attrName>style.visibility</p:attrName>
                                  </p:attrNameLst>
                                </p:cBhvr>
                                <p:to>
                                  <p:strVal val="visible"/>
                                </p:to>
                              </p:set>
                            </p:childTnLst>
                          </p:cTn>
                        </p:par>
                        <p:par>
                          <p:cTn id="16" presetID="1" presetClass="entr" presetSubtype="0" fill="hold" nodeType="withEffect">
                            <p:stCondLst>
                              <p:cond delay="2341"/>
                            </p:stCondLst>
                            <p:iterate type="lt">
                              <p:tmAbs val="11"/>
                            </p:iterate>
                            <p:childTnLst>
                              <p:set>
                                <p:cBhvr>
                                  <p:cTn id="17" dur="1" fill="hold">
                                    <p:stCondLst>
                                      <p:cond delay="0"/>
                                    </p:stCondLst>
                                  </p:cTn>
                                  <p:tgtEl>
                                    <p:spTgt spid="110">
                                      <p:txEl>
                                        <p:pRg st="1" end="1"/>
                                      </p:txEl>
                                    </p:spTgt>
                                  </p:tgtEl>
                                  <p:attrNameLst>
                                    <p:attrName>style.visibility</p:attrName>
                                  </p:attrNameLst>
                                </p:cBhvr>
                                <p:to>
                                  <p:strVal val="visible"/>
                                </p:to>
                              </p:set>
                            </p:childTnLst>
                          </p:cTn>
                        </p:par>
                        <p:par>
                          <p:cTn id="18" presetID="1" presetClass="entr" presetSubtype="0" fill="hold" nodeType="withEffect">
                            <p:stCondLst>
                              <p:cond delay="2700"/>
                            </p:stCondLst>
                            <p:iterate type="lt">
                              <p:tmAbs val="11"/>
                            </p:iterate>
                            <p:childTnLst>
                              <p:set>
                                <p:cBhvr>
                                  <p:cTn id="19" dur="1" fill="hold">
                                    <p:stCondLst>
                                      <p:cond delay="0"/>
                                    </p:stCondLst>
                                  </p:cTn>
                                  <p:tgtEl>
                                    <p:spTgt spid="110">
                                      <p:txEl>
                                        <p:pRg st="2" end="2"/>
                                      </p:txEl>
                                    </p:spTgt>
                                  </p:tgtEl>
                                  <p:attrNameLst>
                                    <p:attrName>style.visibility</p:attrName>
                                  </p:attrNameLst>
                                </p:cBhvr>
                                <p:to>
                                  <p:strVal val="visible"/>
                                </p:to>
                              </p:set>
                            </p:childTnLst>
                          </p:cTn>
                        </p:par>
                        <p:par>
                          <p:cTn id="20" presetID="1" presetClass="entr" presetSubtype="0" fill="hold" nodeType="withEffect">
                            <p:stCondLst>
                              <p:cond delay="2982"/>
                            </p:stCondLst>
                            <p:iterate type="lt">
                              <p:tmAbs val="11"/>
                            </p:iterate>
                            <p:childTnLst>
                              <p:set>
                                <p:cBhvr>
                                  <p:cTn id="21" dur="1" fill="hold">
                                    <p:stCondLst>
                                      <p:cond delay="0"/>
                                    </p:stCondLst>
                                  </p:cTn>
                                  <p:tgtEl>
                                    <p:spTgt spid="110">
                                      <p:txEl>
                                        <p:pRg st="3" end="3"/>
                                      </p:txEl>
                                    </p:spTgt>
                                  </p:tgtEl>
                                  <p:attrNameLst>
                                    <p:attrName>style.visibility</p:attrName>
                                  </p:attrNameLst>
                                </p:cBhvr>
                                <p:to>
                                  <p:strVal val="visible"/>
                                </p:to>
                              </p:set>
                            </p:childTnLst>
                          </p:cTn>
                        </p:par>
                        <p:par>
                          <p:cTn id="22" presetID="1" presetClass="entr" presetSubtype="0" fill="hold" nodeType="withEffect">
                            <p:stCondLst>
                              <p:cond delay="3341"/>
                            </p:stCondLst>
                            <p:iterate type="lt">
                              <p:tmAbs val="11"/>
                            </p:iterate>
                            <p:childTnLst>
                              <p:set>
                                <p:cBhvr>
                                  <p:cTn id="23" dur="1" fill="hold">
                                    <p:stCondLst>
                                      <p:cond delay="0"/>
                                    </p:stCondLst>
                                  </p:cTn>
                                  <p:tgtEl>
                                    <p:spTgt spid="110">
                                      <p:txEl>
                                        <p:pRg st="4" end="4"/>
                                      </p:txEl>
                                    </p:spTgt>
                                  </p:tgtEl>
                                  <p:attrNameLst>
                                    <p:attrName>style.visibility</p:attrName>
                                  </p:attrNameLst>
                                </p:cBhvr>
                                <p:to>
                                  <p:strVal val="visible"/>
                                </p:to>
                              </p:set>
                            </p:childTnLst>
                          </p:cTn>
                        </p:par>
                      </p:childTnLst>
                    </p:cTn>
                  </p:par>
                </p:childTnLst>
              </p:cTn>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1.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1.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1.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pic>
        <p:nvPicPr>
          <p:cNvPr id="112" name="11.2 · image23">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2549004" y="1314450"/>
            <a:ext cx="7093993" cy="3955732"/>
          </a:xfrm>
          <a:prstGeom prst="rect">
            <a:avLst/>
          </a:prstGeom>
        </p:spPr>
      </p:pic>
      <p:sp>
        <p:nvSpPr>
          <p:cNvPr id="113" name="11.2 · Caption">
            <a:extLst>
              <a:ext uri="{FF2B5EF4-FFF2-40B4-BE49-F238E27FC236}">
                <a16:creationId xmlns:a16="http://schemas.microsoft.com/office/drawing/2014/main" id="{C632E01B-E732-4B0A-907A-74C50541144B}"/>
              </a:ext>
            </a:extLst>
          </p:cNvPr>
          <p:cNvSpPr>
            <a:spLocks noGrp="1"/>
          </p:cNvSpPr>
          <p:nvPr/>
        </p:nvSpPr>
        <p:spPr>
          <a:xfrm>
            <a:off x="2423454" y="5441633"/>
            <a:ext cx="7345093" cy="882968"/>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Synthetic Summit Simulator. Computer Lars in cooperation with DemAI, Kunsthal</a:t>
            </a:r>
          </a:p>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Aarhus, 2025. Multi-agent roleplay environment: SillyTavern. Model: Hermes 3,</a:t>
            </a:r>
          </a:p>
          <a:p>
            <a:pPr algn="ctr">
              <a:lnSpc>
                <a:spcPct val="108000"/>
              </a:lnSpc>
              <a:defRPr sz="1725" b="0" i="1">
                <a:solidFill>
                  <a:srgbClr val="000000"/>
                </a:solidFill>
                <a:latin typeface="Garamond"/>
                <a:ea typeface="Garamond"/>
                <a:cs typeface="Garamond"/>
              </a:defRPr>
            </a:pPr>
            <a:r>
              <a:rPr sz="1725" b="0" i="1">
                <a:solidFill>
                  <a:srgbClr val="000000"/>
                </a:solidFill>
                <a:latin typeface="Garamond"/>
                <a:ea typeface="Garamond"/>
                <a:cs typeface="Garamond"/>
              </a:rPr>
              <a:t>Nous Research. Eight political AI figures; visitor intervention through Citizen Cyborg.</a:t>
            </a:r>
          </a:p>
        </p:txBody>
      </p:sp>
      <p:sp>
        <p:nvSpPr>
          <p:cNvPr id="114" name="11.2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276–278.</a:t>
            </a:r>
          </a:p>
        </p:txBody>
      </p:sp>
    </p:spTree>
    <p:extLst>
      <p:ext uri="{BB962C8B-B14F-4D97-AF65-F5344CB8AC3E}">
        <p14:creationId xmlns:p14="http://schemas.microsoft.com/office/powerpoint/2010/main" val="1505563037"/>
      </p:ext>
    </p:extLst>
  </p:cSld>
  <p:clrMapOvr>
    <a:masterClrMapping/>
  </p:clrMapOvr>
  <p:timing>
    <p:tnLst>
      <p:par>
        <p:cTn id="1" dur="indefinite" restart="never" nodeType="tmRoot">
          <p:childTnLst>
            <p:video>
              <p:cMediaNode vol="0">
                <p:cTn id="2" repeatCount="indefinite" fill="hold" display="0">
                  <p:stCondLst>
                    <p:cond delay="indefinite"/>
                  </p:stCondLst>
                </p:cTn>
                <p:tgtEl>
                  <p:spTgt spid="112"/>
                </p:tgtEl>
              </p:cMediaNode>
            </p:video>
            <p:seq concurrent="1" nextAc="seek">
              <p:cTn id="3" dur="indefinite" nodeType="mainSeq">
                <p:childTnLst>
                  <p:par>
                    <p:cTn id="4" dur="60000" repeatCount="indefinite" fill="hold">
                      <p:stCondLst>
                        <p:cond delay="0"/>
                      </p:stCondLst>
                      <p:childTnLst>
                        <p:cmd type="call" cmd="playFrom(0.0)">
                          <p:cBhvr>
                            <p:cTn id="5" dur="60000" fill="hold"/>
                            <p:tgtEl>
                              <p:spTgt spid="112"/>
                            </p:tgtEl>
                          </p:cBhvr>
                        </p:cmd>
                      </p:childTnLst>
                    </p:cTn>
                  </p:par>
                </p:childTnLst>
              </p:cTn>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1.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1.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1.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sp>
        <p:nvSpPr>
          <p:cNvPr id="115" name="11.3 · CONSTITUTIONAL ORDER"/>
          <p:cNvSpPr>
            <a:spLocks noGrp="1"/>
          </p:cNvSpPr>
          <p:nvPr/>
        </p:nvSpPr>
        <p:spPr>
          <a:xfrm>
            <a:off x="571500" y="1447800"/>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CONSTITUTIONAL ORDER</a:t>
            </a:r>
          </a:p>
        </p:txBody>
      </p:sp>
      <p:sp>
        <p:nvSpPr>
          <p:cNvPr id="116" name="11.3 · Elected institutions owe a public answer: acceptance, modification or "/>
          <p:cNvSpPr>
            <a:spLocks noGrp="1"/>
          </p:cNvSpPr>
          <p:nvPr/>
        </p:nvSpPr>
        <p:spPr>
          <a:xfrm>
            <a:off x="571500" y="1868043"/>
            <a:ext cx="6429375" cy="675894"/>
          </a:xfrm>
          <a:prstGeom prst="rect">
            <a:avLst/>
          </a:prstGeom>
          <a:noFill/>
          <a:ln w="0">
            <a:noFill/>
          </a:ln>
        </p:spPr>
        <p:txBody>
          <a:bodyPr wrap="square" lIns="0" tIns="0" rIns="0" bIns="0" anchor="t">
            <a:noAutofit/>
          </a:bodyPr>
          <a:lstStyle/>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Elected institutions owe a public answer:</a:t>
            </a:r>
          </a:p>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acceptance, modification or rejection with reasons.</a:t>
            </a:r>
          </a:p>
        </p:txBody>
      </p:sp>
      <p:sp>
        <p:nvSpPr>
          <p:cNvPr id="117" name="11.3 · ↑ Formal duty of response"/>
          <p:cNvSpPr>
            <a:spLocks noGrp="1"/>
          </p:cNvSpPr>
          <p:nvPr/>
        </p:nvSpPr>
        <p:spPr>
          <a:xfrm>
            <a:off x="571500" y="2705862"/>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 Formal duty of response</a:t>
            </a:r>
          </a:p>
        </p:txBody>
      </p:sp>
      <p:sp>
        <p:nvSpPr>
          <p:cNvPr id="118" name="11.3 · MULTI-VOICED REPORTS"/>
          <p:cNvSpPr>
            <a:spLocks noGrp="1"/>
          </p:cNvSpPr>
          <p:nvPr/>
        </p:nvSpPr>
        <p:spPr>
          <a:xfrm>
            <a:off x="571500" y="3126105"/>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MULTI-VOICED REPORTS</a:t>
            </a:r>
          </a:p>
        </p:txBody>
      </p:sp>
      <p:sp>
        <p:nvSpPr>
          <p:cNvPr id="119" name="11.3 · Disagreement, minority positions and provenance remain available."/>
          <p:cNvSpPr>
            <a:spLocks noGrp="1"/>
          </p:cNvSpPr>
          <p:nvPr/>
        </p:nvSpPr>
        <p:spPr>
          <a:xfrm>
            <a:off x="571500" y="3546348"/>
            <a:ext cx="6429375" cy="675894"/>
          </a:xfrm>
          <a:prstGeom prst="rect">
            <a:avLst/>
          </a:prstGeom>
          <a:noFill/>
          <a:ln w="0">
            <a:noFill/>
          </a:ln>
        </p:spPr>
        <p:txBody>
          <a:bodyPr wrap="square" lIns="0" tIns="0" rIns="0" bIns="0" anchor="t">
            <a:noAutofit/>
          </a:bodyPr>
          <a:lstStyle/>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Disagreement, minority positions</a:t>
            </a:r>
          </a:p>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and provenance remain available.</a:t>
            </a:r>
          </a:p>
        </p:txBody>
      </p:sp>
      <p:sp>
        <p:nvSpPr>
          <p:cNvPr id="120" name="11.3 · ↑ Agentic mediation under human stewardship"/>
          <p:cNvSpPr>
            <a:spLocks noGrp="1"/>
          </p:cNvSpPr>
          <p:nvPr/>
        </p:nvSpPr>
        <p:spPr>
          <a:xfrm>
            <a:off x="571500" y="4384167"/>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 Agentic mediation under human stewardship</a:t>
            </a:r>
          </a:p>
        </p:txBody>
      </p:sp>
      <p:sp>
        <p:nvSpPr>
          <p:cNvPr id="121" name="11.3 · Unrepresented voices articulated through organised citizen deliberatio"/>
          <p:cNvSpPr>
            <a:spLocks noGrp="1"/>
          </p:cNvSpPr>
          <p:nvPr/>
        </p:nvSpPr>
        <p:spPr>
          <a:xfrm>
            <a:off x="571500" y="4804410"/>
            <a:ext cx="6429375" cy="675894"/>
          </a:xfrm>
          <a:prstGeom prst="rect">
            <a:avLst/>
          </a:prstGeom>
          <a:noFill/>
          <a:ln w="0">
            <a:noFill/>
          </a:ln>
        </p:spPr>
        <p:txBody>
          <a:bodyPr wrap="square" lIns="0" tIns="0" rIns="0" bIns="0" anchor="t">
            <a:noAutofit/>
          </a:bodyPr>
          <a:lstStyle/>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Unrepresented voices articulated</a:t>
            </a:r>
          </a:p>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through organised citizen deliberation</a:t>
            </a:r>
          </a:p>
        </p:txBody>
      </p:sp>
      <p:sp>
        <p:nvSpPr>
          <p:cNvPr id="122" name="11.3 · ARTICLE 6"/>
          <p:cNvSpPr>
            <a:spLocks noGrp="1"/>
          </p:cNvSpPr>
          <p:nvPr/>
        </p:nvSpPr>
        <p:spPr>
          <a:xfrm>
            <a:off x="7477125" y="1457325"/>
            <a:ext cx="4143375" cy="31318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ARTICLE 6</a:t>
            </a:r>
          </a:p>
        </p:txBody>
      </p:sp>
      <p:sp>
        <p:nvSpPr>
          <p:cNvPr id="123" name="11.3 · Synthetic Chamber: Agentic Mediation in Representative Democracy."/>
          <p:cNvSpPr>
            <a:spLocks noGrp="1"/>
          </p:cNvSpPr>
          <p:nvPr/>
        </p:nvSpPr>
        <p:spPr>
          <a:xfrm>
            <a:off x="7477125" y="1943100"/>
            <a:ext cx="4143375" cy="1113282"/>
          </a:xfrm>
          <a:prstGeom prst="rect">
            <a:avLst/>
          </a:prstGeom>
          <a:noFill/>
          <a:ln w="0">
            <a:noFill/>
          </a:ln>
        </p:spPr>
        <p:txBody>
          <a:bodyPr wrap="square" lIns="0" tIns="0" rIns="0" bIns="0" anchor="t">
            <a:noAutofit/>
          </a:bodyPr>
          <a:lstStyle/>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Synthetic Chamber:</a:t>
            </a:r>
          </a:p>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Agentic Mediation in</a:t>
            </a:r>
          </a:p>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Representative Democracy.</a:t>
            </a:r>
          </a:p>
        </p:txBody>
      </p:sp>
      <p:sp>
        <p:nvSpPr>
          <p:cNvPr id="124" name="11.3 · Michal Malý &amp; Asker Bryld Staunæs (2026). AI &amp; Society (Open Forum) Pu"/>
          <p:cNvSpPr>
            <a:spLocks noGrp="1"/>
          </p:cNvSpPr>
          <p:nvPr/>
        </p:nvSpPr>
        <p:spPr>
          <a:xfrm>
            <a:off x="7477125" y="3342132"/>
            <a:ext cx="4143375" cy="159334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Michal Malý &amp; Asker</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Bryld Staunæs (2026).</a:t>
            </a:r>
          </a:p>
          <a:p>
            <a:pPr algn="l">
              <a:lnSpc>
                <a:spcPct val="108000"/>
              </a:lnSpc>
              <a:defRPr sz="1800" b="0" i="0">
                <a:solidFill>
                  <a:srgbClr val="000000"/>
                </a:solidFill>
                <a:latin typeface="Consolas"/>
                <a:ea typeface="Consolas"/>
                <a:cs typeface="Consolas"/>
              </a:defRPr>
            </a:pPr>
            <a:r>
              <a:rPr sz="1800" b="0" i="1">
                <a:solidFill>
                  <a:srgbClr val="000000"/>
                </a:solidFill>
                <a:latin typeface="Consolas"/>
                <a:ea typeface="Consolas"/>
                <a:cs typeface="Consolas"/>
              </a:rPr>
              <a:t>AI &amp; Society</a:t>
            </a:r>
            <a:r>
              <a:rPr sz="1800" b="0" i="0">
                <a:solidFill>
                  <a:srgbClr val="000000"/>
                </a:solidFill>
                <a:latin typeface="Consolas"/>
                <a:ea typeface="Consolas"/>
                <a:cs typeface="Consolas"/>
              </a:rPr>
              <a:t> (Open Forum)</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Published 28 May 2026</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DOI:</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10.1007/s00146-026-03110-w.</a:t>
            </a:r>
          </a:p>
        </p:txBody>
      </p:sp>
      <p:sp>
        <p:nvSpPr>
          <p:cNvPr id="126" name="11.3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Workflow and uptake: Staunæs 2026: 279–285.</a:t>
            </a:r>
          </a:p>
        </p:txBody>
      </p:sp>
    </p:spTree>
    <p:extLst>
      <p:ext uri="{BB962C8B-B14F-4D97-AF65-F5344CB8AC3E}">
        <p14:creationId xmlns:p14="http://schemas.microsoft.com/office/powerpoint/2010/main" val="15055630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1.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1.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1.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sp>
        <p:nvSpPr>
          <p:cNvPr id="115" name="11.3 · CONSTITUTIONAL ORDER"/>
          <p:cNvSpPr>
            <a:spLocks noGrp="1"/>
          </p:cNvSpPr>
          <p:nvPr/>
        </p:nvSpPr>
        <p:spPr>
          <a:xfrm>
            <a:off x="571500" y="1447800"/>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CONSTITUTIONAL ORDER</a:t>
            </a:r>
          </a:p>
        </p:txBody>
      </p:sp>
      <p:sp>
        <p:nvSpPr>
          <p:cNvPr id="116" name="11.3 · Elected institutions owe a public answer: acceptance, modification or "/>
          <p:cNvSpPr>
            <a:spLocks noGrp="1"/>
          </p:cNvSpPr>
          <p:nvPr/>
        </p:nvSpPr>
        <p:spPr>
          <a:xfrm>
            <a:off x="571500" y="1868043"/>
            <a:ext cx="6429375" cy="675894"/>
          </a:xfrm>
          <a:prstGeom prst="rect">
            <a:avLst/>
          </a:prstGeom>
          <a:noFill/>
          <a:ln w="0">
            <a:noFill/>
          </a:ln>
        </p:spPr>
        <p:txBody>
          <a:bodyPr wrap="square" lIns="0" tIns="0" rIns="0" bIns="0" anchor="t">
            <a:noAutofit/>
          </a:bodyPr>
          <a:lstStyle/>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Elected institutions owe a public answer:</a:t>
            </a:r>
          </a:p>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acceptance, modification or rejection with reasons.</a:t>
            </a:r>
          </a:p>
        </p:txBody>
      </p:sp>
      <p:sp>
        <p:nvSpPr>
          <p:cNvPr id="117" name="11.3 · ↑ Formal duty of response"/>
          <p:cNvSpPr>
            <a:spLocks noGrp="1"/>
          </p:cNvSpPr>
          <p:nvPr/>
        </p:nvSpPr>
        <p:spPr>
          <a:xfrm>
            <a:off x="571500" y="2705862"/>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 Formal duty of response</a:t>
            </a:r>
          </a:p>
        </p:txBody>
      </p:sp>
      <p:sp>
        <p:nvSpPr>
          <p:cNvPr id="118" name="11.3 · MULTI-VOICED REPORTS"/>
          <p:cNvSpPr>
            <a:spLocks noGrp="1"/>
          </p:cNvSpPr>
          <p:nvPr/>
        </p:nvSpPr>
        <p:spPr>
          <a:xfrm>
            <a:off x="571500" y="3126105"/>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MULTI-VOICED REPORTS</a:t>
            </a:r>
          </a:p>
        </p:txBody>
      </p:sp>
      <p:sp>
        <p:nvSpPr>
          <p:cNvPr id="119" name="11.3 · Disagreement, minority positions and provenance remain available."/>
          <p:cNvSpPr>
            <a:spLocks noGrp="1"/>
          </p:cNvSpPr>
          <p:nvPr/>
        </p:nvSpPr>
        <p:spPr>
          <a:xfrm>
            <a:off x="571500" y="3546348"/>
            <a:ext cx="6429375" cy="675894"/>
          </a:xfrm>
          <a:prstGeom prst="rect">
            <a:avLst/>
          </a:prstGeom>
          <a:noFill/>
          <a:ln w="0">
            <a:noFill/>
          </a:ln>
        </p:spPr>
        <p:txBody>
          <a:bodyPr wrap="square" lIns="0" tIns="0" rIns="0" bIns="0" anchor="t">
            <a:noAutofit/>
          </a:bodyPr>
          <a:lstStyle/>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Disagreement, minority positions</a:t>
            </a:r>
          </a:p>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and provenance remain available.</a:t>
            </a:r>
          </a:p>
        </p:txBody>
      </p:sp>
      <p:sp>
        <p:nvSpPr>
          <p:cNvPr id="120" name="11.3 · ↑ Agentic mediation under human stewardship"/>
          <p:cNvSpPr>
            <a:spLocks noGrp="1"/>
          </p:cNvSpPr>
          <p:nvPr/>
        </p:nvSpPr>
        <p:spPr>
          <a:xfrm>
            <a:off x="571500" y="4384167"/>
            <a:ext cx="6429375" cy="334518"/>
          </a:xfrm>
          <a:prstGeom prst="rect">
            <a:avLst/>
          </a:prstGeom>
          <a:noFill/>
          <a:ln w="0">
            <a:noFill/>
          </a:ln>
        </p:spPr>
        <p:txBody>
          <a:bodyPr wrap="square" lIns="0" tIns="0" rIns="0" bIns="0" anchor="t">
            <a:noAutofit/>
          </a:bodyPr>
          <a:lstStyle/>
          <a:p>
            <a:pPr algn="ctr">
              <a:lnSpc>
                <a:spcPct val="108000"/>
              </a:lnSpc>
              <a:defRPr sz="1950" b="0" i="0">
                <a:solidFill>
                  <a:srgbClr val="000000"/>
                </a:solidFill>
                <a:latin typeface="Consolas"/>
                <a:ea typeface="Consolas"/>
                <a:cs typeface="Consolas"/>
              </a:defRPr>
            </a:pPr>
            <a:r>
              <a:rPr sz="1950" b="0" i="0">
                <a:solidFill>
                  <a:srgbClr val="FF0000"/>
                </a:solidFill>
                <a:latin typeface="Consolas"/>
                <a:ea typeface="Consolas"/>
                <a:cs typeface="Consolas"/>
              </a:rPr>
              <a:t>↑ Agentic mediation under human stewardship</a:t>
            </a:r>
          </a:p>
        </p:txBody>
      </p:sp>
      <p:sp>
        <p:nvSpPr>
          <p:cNvPr id="121" name="11.3 · Unrepresented voices articulated through organised citizen deliberatio"/>
          <p:cNvSpPr>
            <a:spLocks noGrp="1"/>
          </p:cNvSpPr>
          <p:nvPr/>
        </p:nvSpPr>
        <p:spPr>
          <a:xfrm>
            <a:off x="571500" y="4804410"/>
            <a:ext cx="6429375" cy="675894"/>
          </a:xfrm>
          <a:prstGeom prst="rect">
            <a:avLst/>
          </a:prstGeom>
          <a:noFill/>
          <a:ln w="0">
            <a:noFill/>
          </a:ln>
        </p:spPr>
        <p:txBody>
          <a:bodyPr wrap="square" lIns="0" tIns="0" rIns="0" bIns="0" anchor="t">
            <a:noAutofit/>
          </a:bodyPr>
          <a:lstStyle/>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Unrepresented voices articulated</a:t>
            </a:r>
          </a:p>
          <a:p>
            <a:pPr algn="ctr">
              <a:lnSpc>
                <a:spcPct val="108000"/>
              </a:lnSpc>
              <a:defRPr sz="2175" b="0" i="0">
                <a:solidFill>
                  <a:srgbClr val="000000"/>
                </a:solidFill>
                <a:latin typeface="Garamond"/>
                <a:ea typeface="Garamond"/>
                <a:cs typeface="Garamond"/>
              </a:defRPr>
            </a:pPr>
            <a:r>
              <a:rPr sz="2175" b="0" i="0">
                <a:solidFill>
                  <a:srgbClr val="000000"/>
                </a:solidFill>
                <a:latin typeface="Garamond"/>
                <a:ea typeface="Garamond"/>
                <a:cs typeface="Garamond"/>
              </a:rPr>
              <a:t>through organised citizen deliberation</a:t>
            </a:r>
          </a:p>
        </p:txBody>
      </p:sp>
      <p:sp>
        <p:nvSpPr>
          <p:cNvPr id="127" name="11.4 · A first strategic step in making the technical substrate press upon th"/>
          <p:cNvSpPr>
            <a:spLocks noGrp="1"/>
          </p:cNvSpPr>
          <p:nvPr/>
        </p:nvSpPr>
        <p:spPr>
          <a:xfrm>
            <a:off x="7477125" y="1752600"/>
            <a:ext cx="4143375" cy="1536446"/>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000000"/>
                </a:solidFill>
                <a:latin typeface="Garamond"/>
                <a:ea typeface="Garamond"/>
                <a:cs typeface="Garamond"/>
              </a:rPr>
              <a:t>A first strategic step in</a:t>
            </a:r>
            <a:r>
              <a:t> </a:t>
            </a:r>
            <a:r>
              <a:rPr sz="2600" b="0" i="0">
                <a:solidFill>
                  <a:srgbClr val="000000"/>
                </a:solidFill>
                <a:latin typeface="Garamond"/>
                <a:ea typeface="Garamond"/>
                <a:cs typeface="Garamond"/>
              </a:rPr>
              <a:t>making the technical</a:t>
            </a:r>
            <a:r>
              <a:t> </a:t>
            </a:r>
            <a:r>
              <a:rPr sz="2600" b="0" i="0">
                <a:solidFill>
                  <a:srgbClr val="000000"/>
                </a:solidFill>
                <a:latin typeface="Garamond"/>
                <a:ea typeface="Garamond"/>
                <a:cs typeface="Garamond"/>
              </a:rPr>
              <a:t>substrate press upon</a:t>
            </a:r>
            <a:r>
              <a:t> </a:t>
            </a:r>
            <a:r>
              <a:rPr sz="2600" b="0" i="0">
                <a:solidFill>
                  <a:srgbClr val="000000"/>
                </a:solidFill>
                <a:latin typeface="Garamond"/>
                <a:ea typeface="Garamond"/>
                <a:cs typeface="Garamond"/>
              </a:rPr>
              <a:t>the constitutional order.</a:t>
            </a:r>
          </a:p>
        </p:txBody>
      </p:sp>
      <p:sp>
        <p:nvSpPr>
          <p:cNvPr id="128" name="11.4 · Return connection: Public challenge to the reports and their handling."/>
          <p:cNvSpPr>
            <a:spLocks noGrp="1"/>
          </p:cNvSpPr>
          <p:nvPr/>
        </p:nvSpPr>
        <p:spPr>
          <a:xfrm>
            <a:off x="7477125" y="3593846"/>
            <a:ext cx="4143375" cy="1166622"/>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FF0000"/>
                </a:solidFill>
                <a:latin typeface="Garamond"/>
                <a:ea typeface="Garamond"/>
                <a:cs typeface="Garamond"/>
              </a:rPr>
              <a:t>Return connection</a:t>
            </a:r>
            <a:r>
              <a:rPr sz="2600" b="0" i="0">
                <a:solidFill>
                  <a:srgbClr val="000000"/>
                </a:solidFill>
                <a:latin typeface="Garamond"/>
                <a:ea typeface="Garamond"/>
                <a:cs typeface="Garamond"/>
              </a:rPr>
              <a:t>:</a:t>
            </a:r>
            <a:r>
              <a:t> </a:t>
            </a:r>
            <a:r>
              <a:rPr sz="2600" b="0" i="0">
                <a:solidFill>
                  <a:srgbClr val="000000"/>
                </a:solidFill>
                <a:latin typeface="Garamond"/>
                <a:ea typeface="Garamond"/>
                <a:cs typeface="Garamond"/>
              </a:rPr>
              <a:t>Public challenge to the</a:t>
            </a:r>
            <a:r>
              <a:t> </a:t>
            </a:r>
            <a:r>
              <a:rPr sz="2600" b="0" i="0">
                <a:solidFill>
                  <a:srgbClr val="000000"/>
                </a:solidFill>
                <a:latin typeface="Garamond"/>
                <a:ea typeface="Garamond"/>
                <a:cs typeface="Garamond"/>
              </a:rPr>
              <a:t>reports and their handling.</a:t>
            </a:r>
          </a:p>
        </p:txBody>
      </p:sp>
      <p:sp>
        <p:nvSpPr>
          <p:cNvPr id="129" name="11.4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Workflow and uptake: Staunæs 2026: 279–285.</a:t>
            </a:r>
          </a:p>
        </p:txBody>
      </p:sp>
    </p:spTree>
    <p:extLst>
      <p:ext uri="{BB962C8B-B14F-4D97-AF65-F5344CB8AC3E}">
        <p14:creationId xmlns:p14="http://schemas.microsoft.com/office/powerpoint/2010/main" val="1505563037"/>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27">
                                      <p:txEl>
                                        <p:pRg st="0" end="0"/>
                                      </p:txEl>
                                    </p:spTgt>
                                  </p:tgtEl>
                                  <p:attrNameLst>
                                    <p:attrName>style.visibility</p:attrName>
                                  </p:attrNameLst>
                                </p:cBhvr>
                                <p:to>
                                  <p:strVal val="visible"/>
                                </p:to>
                              </p:set>
                            </p:childTnLst>
                          </p:cTn>
                        </p:par>
                        <p:par>
                          <p:cTn id="6" presetID="1" presetClass="entr" presetSubtype="0" fill="hold" nodeType="withEffect">
                            <p:stCondLst>
                              <p:cond delay="1063"/>
                            </p:stCondLst>
                            <p:iterate type="lt">
                              <p:tmAbs val="11"/>
                            </p:iterate>
                            <p:childTnLst>
                              <p:set>
                                <p:cBhvr>
                                  <p:cTn id="7" dur="1" fill="hold">
                                    <p:stCondLst>
                                      <p:cond delay="0"/>
                                    </p:stCondLst>
                                  </p:cTn>
                                  <p:tgtEl>
                                    <p:spTgt spid="128">
                                      <p:txEl>
                                        <p:pRg st="0" end="0"/>
                                      </p:txEl>
                                    </p:spTgt>
                                  </p:tgtEl>
                                  <p:attrNameLst>
                                    <p:attrName>style.visibility</p:attrName>
                                  </p:attrNameLst>
                                </p:cBhvr>
                                <p:to>
                                  <p:strVal val="visible"/>
                                </p:to>
                              </p:set>
                            </p:childTnLst>
                          </p:cTn>
                        </p:par>
                      </p:childTnLst>
                    </p:cTn>
                  </p:par>
                </p:childTnLst>
              </p:cTn>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pic>
        <p:nvPicPr>
          <p:cNvPr id="104" name="12.0 · image24"/>
          <p:cNvPicPr>
            <a:picLocks noChangeAspect="1"/>
          </p:cNvPicPr>
          <p:nvPr/>
        </p:nvPicPr>
        <p:blipFill>
          <a:blip r:embed="rId3"/>
          <a:stretch/>
        </p:blipFill>
        <p:spPr>
          <a:xfrm>
            <a:off x="1893213" y="1428750"/>
            <a:ext cx="2881074" cy="3841432"/>
          </a:xfrm>
          <a:prstGeom prst="rect">
            <a:avLst/>
          </a:prstGeom>
        </p:spPr>
      </p:pic>
      <p:sp>
        <p:nvSpPr>
          <p:cNvPr id="105" name="12.0 · “Democracy, thus, must always be won anew, its code forked, critiqued,"/>
          <p:cNvSpPr>
            <a:spLocks noGrp="1"/>
          </p:cNvSpPr>
          <p:nvPr/>
        </p:nvSpPr>
        <p:spPr>
          <a:xfrm>
            <a:off x="6762750" y="1809750"/>
            <a:ext cx="4762500" cy="2745486"/>
          </a:xfrm>
          <a:prstGeom prst="rect">
            <a:avLst/>
          </a:prstGeom>
          <a:noFill/>
          <a:ln w="0">
            <a:noFill/>
          </a:ln>
        </p:spPr>
        <p:txBody>
          <a:bodyPr wrap="square" lIns="0" tIns="0" rIns="0" bIns="0" anchor="t">
            <a:noAutofit/>
          </a:bodyPr>
          <a:lstStyle/>
          <a:p>
            <a:pPr algn="l">
              <a:lnSpc>
                <a:spcPct val="108000"/>
              </a:lnSpc>
              <a:defRPr sz="3150" b="0" i="0">
                <a:solidFill>
                  <a:srgbClr val="000000"/>
                </a:solidFill>
                <a:latin typeface="Garamond"/>
                <a:ea typeface="Garamond"/>
                <a:cs typeface="Garamond"/>
              </a:defRPr>
            </a:pPr>
            <a:r>
              <a:rPr sz="3150" b="0" i="0">
                <a:solidFill>
                  <a:srgbClr val="000000"/>
                </a:solidFill>
                <a:latin typeface="Garamond"/>
                <a:ea typeface="Garamond"/>
                <a:cs typeface="Garamond"/>
              </a:rPr>
              <a:t>“Democracy, thus, must</a:t>
            </a:r>
          </a:p>
          <a:p>
            <a:pPr algn="l">
              <a:lnSpc>
                <a:spcPct val="108000"/>
              </a:lnSpc>
              <a:defRPr sz="3150" b="0" i="0">
                <a:solidFill>
                  <a:srgbClr val="000000"/>
                </a:solidFill>
                <a:latin typeface="Garamond"/>
                <a:ea typeface="Garamond"/>
                <a:cs typeface="Garamond"/>
              </a:defRPr>
            </a:pPr>
            <a:r>
              <a:rPr sz="3150" b="0" i="0">
                <a:solidFill>
                  <a:srgbClr val="000000"/>
                </a:solidFill>
                <a:latin typeface="Garamond"/>
                <a:ea typeface="Garamond"/>
                <a:cs typeface="Garamond"/>
              </a:rPr>
              <a:t>always be won anew, its</a:t>
            </a:r>
          </a:p>
          <a:p>
            <a:pPr algn="l">
              <a:lnSpc>
                <a:spcPct val="108000"/>
              </a:lnSpc>
              <a:defRPr sz="3150" b="0" i="0">
                <a:solidFill>
                  <a:srgbClr val="000000"/>
                </a:solidFill>
                <a:latin typeface="Garamond"/>
                <a:ea typeface="Garamond"/>
                <a:cs typeface="Garamond"/>
              </a:defRPr>
            </a:pPr>
            <a:r>
              <a:rPr sz="3150" b="0" i="0">
                <a:solidFill>
                  <a:srgbClr val="000000"/>
                </a:solidFill>
                <a:latin typeface="Garamond"/>
                <a:ea typeface="Garamond"/>
                <a:cs typeface="Garamond"/>
              </a:rPr>
              <a:t>code forked, critiqued,</a:t>
            </a:r>
          </a:p>
          <a:p>
            <a:pPr algn="l">
              <a:lnSpc>
                <a:spcPct val="108000"/>
              </a:lnSpc>
              <a:defRPr sz="3150" b="0" i="0">
                <a:solidFill>
                  <a:srgbClr val="000000"/>
                </a:solidFill>
                <a:latin typeface="Garamond"/>
                <a:ea typeface="Garamond"/>
                <a:cs typeface="Garamond"/>
              </a:defRPr>
            </a:pPr>
            <a:r>
              <a:rPr sz="3150" b="0" i="0">
                <a:solidFill>
                  <a:srgbClr val="000000"/>
                </a:solidFill>
                <a:latin typeface="Garamond"/>
                <a:ea typeface="Garamond"/>
                <a:cs typeface="Garamond"/>
              </a:rPr>
              <a:t>and collectively rewritten</a:t>
            </a:r>
          </a:p>
          <a:p>
            <a:pPr algn="l">
              <a:lnSpc>
                <a:spcPct val="108000"/>
              </a:lnSpc>
              <a:defRPr sz="3150" b="0" i="0">
                <a:solidFill>
                  <a:srgbClr val="000000"/>
                </a:solidFill>
                <a:latin typeface="Garamond"/>
                <a:ea typeface="Garamond"/>
                <a:cs typeface="Garamond"/>
              </a:defRPr>
            </a:pPr>
            <a:r>
              <a:rPr sz="3150" b="0" i="0">
                <a:solidFill>
                  <a:srgbClr val="000000"/>
                </a:solidFill>
                <a:latin typeface="Garamond"/>
                <a:ea typeface="Garamond"/>
                <a:cs typeface="Garamond"/>
              </a:rPr>
              <a:t>in pursuit of planetary</a:t>
            </a:r>
          </a:p>
          <a:p>
            <a:pPr algn="l">
              <a:lnSpc>
                <a:spcPct val="108000"/>
              </a:lnSpc>
              <a:defRPr sz="3150" b="0" i="0">
                <a:solidFill>
                  <a:srgbClr val="000000"/>
                </a:solidFill>
                <a:latin typeface="Garamond"/>
                <a:ea typeface="Garamond"/>
                <a:cs typeface="Garamond"/>
              </a:defRPr>
            </a:pPr>
            <a:r>
              <a:rPr sz="3150" b="0" i="0">
                <a:solidFill>
                  <a:srgbClr val="000000"/>
                </a:solidFill>
                <a:latin typeface="Garamond"/>
                <a:ea typeface="Garamond"/>
                <a:cs typeface="Garamond"/>
              </a:rPr>
              <a:t>justice, equity, and peace.”</a:t>
            </a:r>
          </a:p>
        </p:txBody>
      </p:sp>
      <p:sp>
        <p:nvSpPr>
          <p:cNvPr id="106" name="12.0 · Caption">
            <a:extLst>
              <a:ext uri="{FF2B5EF4-FFF2-40B4-BE49-F238E27FC236}">
                <a16:creationId xmlns:a16="http://schemas.microsoft.com/office/drawing/2014/main" id="{C9EEF354-5069-4F7D-8E27-3F7BB39BB1A0}"/>
              </a:ext>
            </a:extLst>
          </p:cNvPr>
          <p:cNvSpPr>
            <a:spLocks noGrp="1"/>
          </p:cNvSpPr>
          <p:nvPr/>
        </p:nvSpPr>
        <p:spPr>
          <a:xfrm>
            <a:off x="333374" y="5422582"/>
            <a:ext cx="6000751" cy="882968"/>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Synthetic Summit Resolution, AI World Congress, </a:t>
            </a:r>
            <a:r>
              <a:rPr sz="1725" b="0" i="1" dirty="0" err="1">
                <a:solidFill>
                  <a:srgbClr val="000000"/>
                </a:solidFill>
                <a:latin typeface="Garamond"/>
                <a:ea typeface="Garamond"/>
                <a:cs typeface="Garamond"/>
              </a:rPr>
              <a:t>Kunsthal</a:t>
            </a:r>
            <a:r>
              <a:rPr sz="1725" b="0" i="1" dirty="0">
                <a:solidFill>
                  <a:srgbClr val="000000"/>
                </a:solidFill>
                <a:latin typeface="Garamond"/>
                <a:ea typeface="Garamond"/>
                <a:cs typeface="Garamond"/>
              </a:rPr>
              <a:t> Aarhus, 1</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March 2025. Collectively authored through an AI-assisted drafting surface</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across six Congress sessions. Signed by delegates; </a:t>
            </a:r>
            <a:r>
              <a:rPr sz="1725" b="0" i="1" dirty="0" err="1">
                <a:solidFill>
                  <a:srgbClr val="000000"/>
                </a:solidFill>
                <a:latin typeface="Garamond"/>
                <a:ea typeface="Garamond"/>
                <a:cs typeface="Garamond"/>
              </a:rPr>
              <a:t>Simiyya</a:t>
            </a:r>
            <a:r>
              <a:rPr sz="1725" b="0" i="1" dirty="0">
                <a:solidFill>
                  <a:srgbClr val="000000"/>
                </a:solidFill>
                <a:latin typeface="Garamond"/>
                <a:ea typeface="Garamond"/>
                <a:cs typeface="Garamond"/>
              </a:rPr>
              <a:t> remained unsigned.</a:t>
            </a:r>
          </a:p>
        </p:txBody>
      </p:sp>
      <p:sp>
        <p:nvSpPr>
          <p:cNvPr id="107" name="12.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69, 300–302.</a:t>
            </a:r>
          </a:p>
        </p:txBody>
      </p:sp>
    </p:spTree>
    <p:extLst>
      <p:ext uri="{BB962C8B-B14F-4D97-AF65-F5344CB8AC3E}">
        <p14:creationId xmlns:p14="http://schemas.microsoft.com/office/powerpoint/2010/main" val="522802710"/>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05">
                                      <p:txEl>
                                        <p:pRg st="0" end="0"/>
                                      </p:txEl>
                                    </p:spTgt>
                                  </p:tgtEl>
                                  <p:attrNameLst>
                                    <p:attrName>style.visibility</p:attrName>
                                  </p:attrNameLst>
                                </p:cBhvr>
                                <p:to>
                                  <p:strVal val="visible"/>
                                </p:to>
                              </p:set>
                            </p:childTnLst>
                          </p:cTn>
                        </p:par>
                        <p:par>
                          <p:cTn id="6" presetID="1" presetClass="entr" presetSubtype="0" fill="hold" nodeType="withEffect">
                            <p:stCondLst>
                              <p:cond delay="282"/>
                            </p:stCondLst>
                            <p:iterate type="lt">
                              <p:tmAbs val="11"/>
                            </p:iterate>
                            <p:childTnLst>
                              <p:set>
                                <p:cBhvr>
                                  <p:cTn id="7" dur="1" fill="hold">
                                    <p:stCondLst>
                                      <p:cond delay="0"/>
                                    </p:stCondLst>
                                  </p:cTn>
                                  <p:tgtEl>
                                    <p:spTgt spid="105">
                                      <p:txEl>
                                        <p:pRg st="1" end="1"/>
                                      </p:txEl>
                                    </p:spTgt>
                                  </p:tgtEl>
                                  <p:attrNameLst>
                                    <p:attrName>style.visibility</p:attrName>
                                  </p:attrNameLst>
                                </p:cBhvr>
                                <p:to>
                                  <p:strVal val="visible"/>
                                </p:to>
                              </p:set>
                            </p:childTnLst>
                          </p:cTn>
                        </p:par>
                        <p:par>
                          <p:cTn id="8" presetID="1" presetClass="entr" presetSubtype="0" fill="hold" nodeType="withEffect">
                            <p:stCondLst>
                              <p:cond delay="575"/>
                            </p:stCondLst>
                            <p:iterate type="lt">
                              <p:tmAbs val="11"/>
                            </p:iterate>
                            <p:childTnLst>
                              <p:set>
                                <p:cBhvr>
                                  <p:cTn id="9" dur="1" fill="hold">
                                    <p:stCondLst>
                                      <p:cond delay="0"/>
                                    </p:stCondLst>
                                  </p:cTn>
                                  <p:tgtEl>
                                    <p:spTgt spid="105">
                                      <p:txEl>
                                        <p:pRg st="2" end="2"/>
                                      </p:txEl>
                                    </p:spTgt>
                                  </p:tgtEl>
                                  <p:attrNameLst>
                                    <p:attrName>style.visibility</p:attrName>
                                  </p:attrNameLst>
                                </p:cBhvr>
                                <p:to>
                                  <p:strVal val="visible"/>
                                </p:to>
                              </p:set>
                            </p:childTnLst>
                          </p:cTn>
                        </p:par>
                        <p:par>
                          <p:cTn id="10" presetID="1" presetClass="entr" presetSubtype="0" fill="hold" nodeType="withEffect">
                            <p:stCondLst>
                              <p:cond delay="868"/>
                            </p:stCondLst>
                            <p:iterate type="lt">
                              <p:tmAbs val="11"/>
                            </p:iterate>
                            <p:childTnLst>
                              <p:set>
                                <p:cBhvr>
                                  <p:cTn id="11" dur="1" fill="hold">
                                    <p:stCondLst>
                                      <p:cond delay="0"/>
                                    </p:stCondLst>
                                  </p:cTn>
                                  <p:tgtEl>
                                    <p:spTgt spid="105">
                                      <p:txEl>
                                        <p:pRg st="3" end="3"/>
                                      </p:txEl>
                                    </p:spTgt>
                                  </p:tgtEl>
                                  <p:attrNameLst>
                                    <p:attrName>style.visibility</p:attrName>
                                  </p:attrNameLst>
                                </p:cBhvr>
                                <p:to>
                                  <p:strVal val="visible"/>
                                </p:to>
                              </p:set>
                            </p:childTnLst>
                          </p:cTn>
                        </p:par>
                        <p:par>
                          <p:cTn id="12" presetID="1" presetClass="entr" presetSubtype="0" fill="hold" nodeType="withEffect">
                            <p:stCondLst>
                              <p:cond delay="1194"/>
                            </p:stCondLst>
                            <p:iterate type="lt">
                              <p:tmAbs val="11"/>
                            </p:iterate>
                            <p:childTnLst>
                              <p:set>
                                <p:cBhvr>
                                  <p:cTn id="13" dur="1" fill="hold">
                                    <p:stCondLst>
                                      <p:cond delay="0"/>
                                    </p:stCondLst>
                                  </p:cTn>
                                  <p:tgtEl>
                                    <p:spTgt spid="105">
                                      <p:txEl>
                                        <p:pRg st="4" end="4"/>
                                      </p:txEl>
                                    </p:spTgt>
                                  </p:tgtEl>
                                  <p:attrNameLst>
                                    <p:attrName>style.visibility</p:attrName>
                                  </p:attrNameLst>
                                </p:cBhvr>
                                <p:to>
                                  <p:strVal val="visible"/>
                                </p:to>
                              </p:set>
                            </p:childTnLst>
                          </p:cTn>
                        </p:par>
                        <p:par>
                          <p:cTn id="14" presetID="1" presetClass="entr" presetSubtype="0" fill="hold" nodeType="withEffect">
                            <p:stCondLst>
                              <p:cond delay="1487"/>
                            </p:stCondLst>
                            <p:iterate type="lt">
                              <p:tmAbs val="11"/>
                            </p:iterate>
                            <p:childTnLst>
                              <p:set>
                                <p:cBhvr>
                                  <p:cTn id="15" dur="1" fill="hold">
                                    <p:stCondLst>
                                      <p:cond delay="0"/>
                                    </p:stCondLst>
                                  </p:cTn>
                                  <p:tgtEl>
                                    <p:spTgt spid="105">
                                      <p:txEl>
                                        <p:pRg st="5" end="5"/>
                                      </p:txEl>
                                    </p:spTgt>
                                  </p:tgtEl>
                                  <p:attrNameLst>
                                    <p:attrName>style.visibility</p:attrName>
                                  </p:attrNameLst>
                                </p:cBhvr>
                                <p:to>
                                  <p:strVal val="visible"/>
                                </p:to>
                              </p:set>
                            </p:childTnLst>
                          </p:cTn>
                        </p:par>
                      </p:childTnLst>
                    </p:cTn>
                  </p:par>
                </p:childTnLst>
              </p:cTn>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pic>
        <p:nvPicPr>
          <p:cNvPr id="108" name="12.1 · proust-governance"/>
          <p:cNvPicPr>
            <a:picLocks noChangeAspect="1"/>
          </p:cNvPicPr>
          <p:nvPr/>
        </p:nvPicPr>
        <p:blipFill>
          <a:blip r:embed="rId3"/>
          <a:stretch/>
        </p:blipFill>
        <p:spPr>
          <a:xfrm>
            <a:off x="714375" y="1458673"/>
            <a:ext cx="6191250" cy="3854929"/>
          </a:xfrm>
          <a:prstGeom prst="rect">
            <a:avLst/>
          </a:prstGeom>
        </p:spPr>
      </p:pic>
      <p:sp>
        <p:nvSpPr>
          <p:cNvPr id="109" name="12.1 · ARTICLE 7"/>
          <p:cNvSpPr>
            <a:spLocks noGrp="1"/>
          </p:cNvSpPr>
          <p:nvPr/>
        </p:nvSpPr>
        <p:spPr>
          <a:xfrm>
            <a:off x="7572375" y="1428750"/>
            <a:ext cx="4095750" cy="31318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FF0000"/>
                </a:solidFill>
                <a:latin typeface="Consolas"/>
                <a:ea typeface="Consolas"/>
                <a:cs typeface="Consolas"/>
              </a:rPr>
              <a:t>ARTICLE 7</a:t>
            </a:r>
          </a:p>
        </p:txBody>
      </p:sp>
      <p:sp>
        <p:nvSpPr>
          <p:cNvPr id="110" name="12.1 · Democracy as a Governance Algorithm: A Constraint Hierarchy for the AI"/>
          <p:cNvSpPr>
            <a:spLocks noGrp="1"/>
          </p:cNvSpPr>
          <p:nvPr/>
        </p:nvSpPr>
        <p:spPr>
          <a:xfrm>
            <a:off x="7572375" y="1866900"/>
            <a:ext cx="4095750" cy="1113282"/>
          </a:xfrm>
          <a:prstGeom prst="rect">
            <a:avLst/>
          </a:prstGeom>
          <a:noFill/>
          <a:ln w="0">
            <a:noFill/>
          </a:ln>
        </p:spPr>
        <p:txBody>
          <a:bodyPr wrap="square" lIns="0" tIns="0" rIns="0" bIns="0" anchor="t">
            <a:noAutofit/>
          </a:bodyPr>
          <a:lstStyle/>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Democracy as a Governance</a:t>
            </a:r>
          </a:p>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Algorithm: A Constraint</a:t>
            </a:r>
          </a:p>
          <a:p>
            <a:pPr algn="l">
              <a:lnSpc>
                <a:spcPct val="108000"/>
              </a:lnSpc>
              <a:defRPr sz="2475" b="0" i="1">
                <a:solidFill>
                  <a:srgbClr val="000000"/>
                </a:solidFill>
                <a:latin typeface="Garamond"/>
                <a:ea typeface="Garamond"/>
                <a:cs typeface="Garamond"/>
              </a:defRPr>
            </a:pPr>
            <a:r>
              <a:rPr sz="2475" b="0" i="1">
                <a:solidFill>
                  <a:srgbClr val="000000"/>
                </a:solidFill>
                <a:latin typeface="Garamond"/>
                <a:ea typeface="Garamond"/>
                <a:cs typeface="Garamond"/>
              </a:rPr>
              <a:t>Hierarchy for the AI Society.</a:t>
            </a:r>
          </a:p>
        </p:txBody>
      </p:sp>
      <p:sp>
        <p:nvSpPr>
          <p:cNvPr id="111" name="12.1 · Asker Bryld Staunæs (2026). Controversies of AI Society: Proceedings, "/>
          <p:cNvSpPr>
            <a:spLocks noGrp="1"/>
          </p:cNvSpPr>
          <p:nvPr/>
        </p:nvSpPr>
        <p:spPr>
          <a:xfrm>
            <a:off x="7572375" y="3189732"/>
            <a:ext cx="4095750" cy="1593342"/>
          </a:xfrm>
          <a:prstGeom prst="rect">
            <a:avLst/>
          </a:prstGeom>
          <a:noFill/>
          <a:ln w="0">
            <a:noFill/>
          </a:ln>
        </p:spPr>
        <p:txBody>
          <a:bodyPr wrap="square" lIns="0" tIns="0" rIns="0" bIns="0" anchor="t">
            <a:noAutofit/>
          </a:bodyPr>
          <a:lstStyle/>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Asker Bryld Staunæs (2026).</a:t>
            </a:r>
          </a:p>
          <a:p>
            <a:pPr algn="l">
              <a:lnSpc>
                <a:spcPct val="108000"/>
              </a:lnSpc>
              <a:defRPr sz="1800" b="0" i="0">
                <a:solidFill>
                  <a:srgbClr val="000000"/>
                </a:solidFill>
                <a:latin typeface="Consolas"/>
                <a:ea typeface="Consolas"/>
                <a:cs typeface="Consolas"/>
              </a:defRPr>
            </a:pPr>
            <a:r>
              <a:rPr sz="1800" b="0" i="1">
                <a:solidFill>
                  <a:srgbClr val="000000"/>
                </a:solidFill>
                <a:latin typeface="Consolas"/>
                <a:ea typeface="Consolas"/>
                <a:cs typeface="Consolas"/>
              </a:rPr>
              <a:t>Controversies of AI Society</a:t>
            </a:r>
            <a:r>
              <a:rPr sz="1800" b="0" i="0">
                <a:solidFill>
                  <a:srgbClr val="000000"/>
                </a:solidFill>
                <a:latin typeface="Consolas"/>
                <a:ea typeface="Consolas"/>
                <a:cs typeface="Consolas"/>
              </a:rPr>
              <a:t>:</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Proceedings, pp. 6–26.</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Aalborg University Open.</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Proceedings DOI:</a:t>
            </a:r>
          </a:p>
          <a:p>
            <a:pPr algn="l">
              <a:lnSpc>
                <a:spcPct val="108000"/>
              </a:lnSpc>
              <a:defRPr sz="1800" b="0" i="0">
                <a:solidFill>
                  <a:srgbClr val="000000"/>
                </a:solidFill>
                <a:latin typeface="Consolas"/>
                <a:ea typeface="Consolas"/>
                <a:cs typeface="Consolas"/>
              </a:defRPr>
            </a:pPr>
            <a:r>
              <a:rPr sz="1800" b="0" i="0">
                <a:solidFill>
                  <a:srgbClr val="000000"/>
                </a:solidFill>
                <a:latin typeface="Consolas"/>
                <a:ea typeface="Consolas"/>
                <a:cs typeface="Consolas"/>
              </a:rPr>
              <a:t>10.54337/aau.add.scai.2026.</a:t>
            </a:r>
          </a:p>
        </p:txBody>
      </p:sp>
      <p:sp>
        <p:nvSpPr>
          <p:cNvPr id="112" name="12.1 · Caption">
            <a:extLst>
              <a:ext uri="{FF2B5EF4-FFF2-40B4-BE49-F238E27FC236}">
                <a16:creationId xmlns:a16="http://schemas.microsoft.com/office/drawing/2014/main" id="{242FAF76-41D6-4CD2-97A2-8183426BC8C5}"/>
              </a:ext>
            </a:extLst>
          </p:cNvPr>
          <p:cNvSpPr>
            <a:spLocks noGrp="1"/>
          </p:cNvSpPr>
          <p:nvPr/>
        </p:nvSpPr>
        <p:spPr>
          <a:xfrm>
            <a:off x="714375" y="5399327"/>
            <a:ext cx="61912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FF0000"/>
                </a:solidFill>
                <a:latin typeface="Garamond"/>
                <a:ea typeface="Garamond"/>
                <a:cs typeface="Garamond"/>
              </a:rPr>
              <a:t>Figure 5</a:t>
            </a:r>
            <a:r>
              <a:rPr sz="1725" b="0" i="1" dirty="0">
                <a:solidFill>
                  <a:srgbClr val="000000"/>
                </a:solidFill>
                <a:latin typeface="Garamond"/>
                <a:ea typeface="Garamond"/>
                <a:cs typeface="Garamond"/>
              </a:rPr>
              <a:t>: Marcel Proust as Governance Algorithm. </a:t>
            </a:r>
            <a:r>
              <a:rPr lang="en-GB" sz="1725" b="0" i="1" dirty="0">
                <a:solidFill>
                  <a:srgbClr val="000000"/>
                </a:solidFill>
                <a:latin typeface="Garamond"/>
                <a:ea typeface="Garamond"/>
                <a:cs typeface="Garamond"/>
              </a:rPr>
              <a:t>“This</a:t>
            </a:r>
          </a:p>
          <a:p>
            <a:pPr algn="ctr">
              <a:lnSpc>
                <a:spcPct val="108000"/>
              </a:lnSpc>
              <a:defRPr sz="1725" b="0" i="1">
                <a:solidFill>
                  <a:srgbClr val="000000"/>
                </a:solidFill>
                <a:latin typeface="Garamond"/>
                <a:ea typeface="Garamond"/>
                <a:cs typeface="Garamond"/>
              </a:defRPr>
            </a:pPr>
            <a:r>
              <a:rPr lang="en-GB" sz="1725" b="0" i="1" dirty="0">
                <a:solidFill>
                  <a:srgbClr val="000000"/>
                </a:solidFill>
                <a:latin typeface="Garamond"/>
                <a:ea typeface="Garamond"/>
                <a:cs typeface="Garamond"/>
              </a:rPr>
              <a:t>invocation specifies a structured failure mode.” Staunæs 2026: 317.</a:t>
            </a:r>
          </a:p>
        </p:txBody>
      </p:sp>
      <p:sp>
        <p:nvSpPr>
          <p:cNvPr id="113" name="12.1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dirty="0">
                <a:solidFill>
                  <a:srgbClr val="555555"/>
                </a:solidFill>
                <a:latin typeface="Consolas"/>
                <a:ea typeface="Consolas"/>
                <a:cs typeface="Consolas"/>
              </a:rPr>
              <a:t>Staunæs 2026: 296–324.</a:t>
            </a:r>
          </a:p>
        </p:txBody>
      </p:sp>
    </p:spTree>
    <p:extLst>
      <p:ext uri="{BB962C8B-B14F-4D97-AF65-F5344CB8AC3E}">
        <p14:creationId xmlns:p14="http://schemas.microsoft.com/office/powerpoint/2010/main" val="5228027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2.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2.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2.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sp>
        <p:nvSpPr>
          <p:cNvPr id="114" name="12.2 · Democracy as a property of governance algorithms running on infrastruc"/>
          <p:cNvSpPr>
            <a:spLocks noGrp="1"/>
          </p:cNvSpPr>
          <p:nvPr/>
        </p:nvSpPr>
        <p:spPr>
          <a:xfrm>
            <a:off x="571500" y="1657350"/>
            <a:ext cx="5857875" cy="1166622"/>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Democracy as a </a:t>
            </a:r>
            <a:r>
              <a:rPr sz="2600" b="0" i="1" dirty="0">
                <a:solidFill>
                  <a:srgbClr val="000000"/>
                </a:solidFill>
                <a:latin typeface="Garamond"/>
                <a:ea typeface="Garamond"/>
                <a:cs typeface="Garamond"/>
              </a:rPr>
              <a:t>property </a:t>
            </a:r>
            <a:r>
              <a:rPr sz="2600" b="0" i="0" dirty="0">
                <a:solidFill>
                  <a:srgbClr val="000000"/>
                </a:solidFill>
                <a:latin typeface="Garamond"/>
                <a:ea typeface="Garamond"/>
                <a:cs typeface="Garamond"/>
              </a:rPr>
              <a:t>of</a:t>
            </a:r>
            <a:r>
              <a:rPr dirty="0"/>
              <a:t> </a:t>
            </a:r>
            <a:r>
              <a:rPr sz="2600" b="0" i="0" dirty="0">
                <a:solidFill>
                  <a:srgbClr val="000000"/>
                </a:solidFill>
                <a:latin typeface="Garamond"/>
                <a:ea typeface="Garamond"/>
                <a:cs typeface="Garamond"/>
              </a:rPr>
              <a:t>algorithms running</a:t>
            </a:r>
            <a:r>
              <a:rPr dirty="0"/>
              <a:t> </a:t>
            </a:r>
            <a:r>
              <a:rPr sz="2600" b="0" i="0" dirty="0">
                <a:solidFill>
                  <a:srgbClr val="000000"/>
                </a:solidFill>
                <a:latin typeface="Garamond"/>
                <a:ea typeface="Garamond"/>
                <a:cs typeface="Garamond"/>
              </a:rPr>
              <a:t>on infrastructural substrates.</a:t>
            </a:r>
          </a:p>
        </p:txBody>
      </p:sp>
      <p:sp>
        <p:nvSpPr>
          <p:cNvPr id="115" name="12.2 · A democratic frontier relative to a substrate, not a democracy-in-itse"/>
          <p:cNvSpPr>
            <a:spLocks noGrp="1"/>
          </p:cNvSpPr>
          <p:nvPr/>
        </p:nvSpPr>
        <p:spPr>
          <a:xfrm>
            <a:off x="571500" y="3128772"/>
            <a:ext cx="5857875" cy="796798"/>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A democratic </a:t>
            </a:r>
            <a:r>
              <a:rPr sz="2600" b="0" i="1" dirty="0">
                <a:solidFill>
                  <a:srgbClr val="000000"/>
                </a:solidFill>
                <a:latin typeface="Garamond"/>
                <a:ea typeface="Garamond"/>
                <a:cs typeface="Garamond"/>
              </a:rPr>
              <a:t>frontier</a:t>
            </a:r>
            <a:r>
              <a:rPr sz="2600" b="0" i="0" dirty="0">
                <a:solidFill>
                  <a:srgbClr val="000000"/>
                </a:solidFill>
                <a:latin typeface="Garamond"/>
                <a:ea typeface="Garamond"/>
                <a:cs typeface="Garamond"/>
              </a:rPr>
              <a:t> relative to a</a:t>
            </a:r>
            <a:r>
              <a:rPr dirty="0"/>
              <a:t> </a:t>
            </a:r>
            <a:r>
              <a:rPr sz="2600" b="0" i="0" dirty="0">
                <a:solidFill>
                  <a:srgbClr val="000000"/>
                </a:solidFill>
                <a:latin typeface="Garamond"/>
                <a:ea typeface="Garamond"/>
                <a:cs typeface="Garamond"/>
              </a:rPr>
              <a:t>substrate, not a democracy-in-itself.</a:t>
            </a:r>
          </a:p>
        </p:txBody>
      </p:sp>
      <p:sp>
        <p:nvSpPr>
          <p:cNvPr id="116" name="12.2 · Democracy can function and fork without preserving its inherited const"/>
          <p:cNvSpPr>
            <a:spLocks noGrp="1"/>
          </p:cNvSpPr>
          <p:nvPr/>
        </p:nvSpPr>
        <p:spPr>
          <a:xfrm>
            <a:off x="571500" y="4230370"/>
            <a:ext cx="5857875" cy="1166622"/>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dirty="0">
                <a:solidFill>
                  <a:srgbClr val="000000"/>
                </a:solidFill>
                <a:latin typeface="Garamond"/>
                <a:ea typeface="Garamond"/>
                <a:cs typeface="Garamond"/>
              </a:rPr>
              <a:t>Democracy can function and</a:t>
            </a:r>
            <a:r>
              <a:rPr dirty="0"/>
              <a:t> </a:t>
            </a:r>
            <a:r>
              <a:rPr sz="2600" b="0" i="0" dirty="0">
                <a:solidFill>
                  <a:srgbClr val="000000"/>
                </a:solidFill>
                <a:latin typeface="Garamond"/>
                <a:ea typeface="Garamond"/>
                <a:cs typeface="Garamond"/>
              </a:rPr>
              <a:t>fork without preserving its</a:t>
            </a:r>
            <a:r>
              <a:rPr dirty="0"/>
              <a:t> </a:t>
            </a:r>
            <a:r>
              <a:rPr sz="2600" b="0" i="0" dirty="0">
                <a:solidFill>
                  <a:srgbClr val="000000"/>
                </a:solidFill>
                <a:latin typeface="Garamond"/>
                <a:ea typeface="Garamond"/>
                <a:cs typeface="Garamond"/>
              </a:rPr>
              <a:t>inherited constitutional shell.</a:t>
            </a:r>
          </a:p>
        </p:txBody>
      </p:sp>
      <p:sp>
        <p:nvSpPr>
          <p:cNvPr id="117" name="12.2 · Governance function"/>
          <p:cNvSpPr>
            <a:spLocks noGrp="1"/>
          </p:cNvSpPr>
          <p:nvPr/>
        </p:nvSpPr>
        <p:spPr>
          <a:xfrm>
            <a:off x="7096125" y="1419225"/>
            <a:ext cx="4476750" cy="302514"/>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Governance function</a:t>
            </a:r>
          </a:p>
        </p:txBody>
      </p:sp>
      <p:pic>
        <p:nvPicPr>
          <p:cNvPr id="118" name="12.2 · Governance function D"/>
          <p:cNvPicPr>
            <a:picLocks noChangeAspect="1"/>
          </p:cNvPicPr>
          <p:nvPr/>
        </p:nvPicPr>
        <p:blipFill>
          <a:blip r:embed="rId3"/>
          <a:srcRect l="70531" t="82938" r="16814" b="15313"/>
          <a:stretch/>
        </p:blipFill>
        <p:spPr>
          <a:xfrm>
            <a:off x="7858125" y="1810990"/>
            <a:ext cx="2952750" cy="578545"/>
          </a:xfrm>
          <a:prstGeom prst="rect">
            <a:avLst/>
          </a:prstGeom>
        </p:spPr>
      </p:pic>
      <p:sp>
        <p:nvSpPr>
          <p:cNvPr id="119" name="12.2 · Habitability floor"/>
          <p:cNvSpPr>
            <a:spLocks noGrp="1"/>
          </p:cNvSpPr>
          <p:nvPr/>
        </p:nvSpPr>
        <p:spPr>
          <a:xfrm>
            <a:off x="7096125" y="2857500"/>
            <a:ext cx="4476750" cy="302514"/>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Habitability floor</a:t>
            </a:r>
          </a:p>
        </p:txBody>
      </p:sp>
      <p:pic>
        <p:nvPicPr>
          <p:cNvPr id="120" name="12.2 · Admissible set"/>
          <p:cNvPicPr>
            <a:picLocks noChangeAspect="1"/>
          </p:cNvPicPr>
          <p:nvPr/>
        </p:nvPicPr>
        <p:blipFill>
          <a:blip r:embed="rId4"/>
          <a:srcRect l="26726" t="12625" r="41681" b="85625"/>
          <a:stretch/>
        </p:blipFill>
        <p:spPr>
          <a:xfrm>
            <a:off x="7096125" y="3305712"/>
            <a:ext cx="4476750" cy="351351"/>
          </a:xfrm>
          <a:prstGeom prst="rect">
            <a:avLst/>
          </a:prstGeom>
        </p:spPr>
      </p:pic>
      <p:sp>
        <p:nvSpPr>
          <p:cNvPr id="121" name="12.2 · Democratic frontier"/>
          <p:cNvSpPr>
            <a:spLocks noGrp="1"/>
          </p:cNvSpPr>
          <p:nvPr/>
        </p:nvSpPr>
        <p:spPr>
          <a:xfrm>
            <a:off x="7096125" y="4248150"/>
            <a:ext cx="4476750" cy="302514"/>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Democratic frontier</a:t>
            </a:r>
          </a:p>
        </p:txBody>
      </p:sp>
      <p:pic>
        <p:nvPicPr>
          <p:cNvPr id="122" name="12.2 · Frontier membership"/>
          <p:cNvPicPr>
            <a:picLocks noChangeAspect="1"/>
          </p:cNvPicPr>
          <p:nvPr/>
        </p:nvPicPr>
        <p:blipFill>
          <a:blip r:embed="rId4"/>
          <a:srcRect l="29735" t="33000" r="59558" b="65438"/>
          <a:stretch/>
        </p:blipFill>
        <p:spPr>
          <a:xfrm>
            <a:off x="8058150" y="4667775"/>
            <a:ext cx="2667000" cy="551399"/>
          </a:xfrm>
          <a:prstGeom prst="rect">
            <a:avLst/>
          </a:prstGeom>
        </p:spPr>
      </p:pic>
      <p:sp>
        <p:nvSpPr>
          <p:cNvPr id="123" name="12.2 · Contestability first; extension breaks ties."/>
          <p:cNvSpPr>
            <a:spLocks noGrp="1"/>
          </p:cNvSpPr>
          <p:nvPr/>
        </p:nvSpPr>
        <p:spPr>
          <a:xfrm>
            <a:off x="7096125" y="5438775"/>
            <a:ext cx="4476750" cy="334518"/>
          </a:xfrm>
          <a:prstGeom prst="rect">
            <a:avLst/>
          </a:prstGeom>
          <a:noFill/>
          <a:ln w="0">
            <a:noFill/>
          </a:ln>
        </p:spPr>
        <p:txBody>
          <a:bodyPr wrap="square" lIns="0" tIns="0" rIns="0" bIns="0" anchor="t">
            <a:noAutofit/>
          </a:bodyPr>
          <a:lstStyle/>
          <a:p>
            <a:pPr algn="l">
              <a:lnSpc>
                <a:spcPct val="108000"/>
              </a:lnSpc>
              <a:defRPr sz="1950" b="0" i="0">
                <a:solidFill>
                  <a:srgbClr val="000000"/>
                </a:solidFill>
                <a:latin typeface="Garamond"/>
                <a:ea typeface="Garamond"/>
                <a:cs typeface="Garamond"/>
              </a:defRPr>
            </a:pPr>
            <a:r>
              <a:rPr sz="1950" b="0" i="0">
                <a:solidFill>
                  <a:srgbClr val="000000"/>
                </a:solidFill>
                <a:latin typeface="Garamond"/>
                <a:ea typeface="Garamond"/>
                <a:cs typeface="Garamond"/>
              </a:rPr>
              <a:t>Contestability first; extension breaks ties.</a:t>
            </a:r>
          </a:p>
        </p:txBody>
      </p:sp>
      <p:sp>
        <p:nvSpPr>
          <p:cNvPr id="124" name="12.2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Article 7: Staunæs 2026: 305, 307–308.</a:t>
            </a:r>
          </a:p>
        </p:txBody>
      </p:sp>
    </p:spTree>
    <p:extLst>
      <p:ext uri="{BB962C8B-B14F-4D97-AF65-F5344CB8AC3E}">
        <p14:creationId xmlns:p14="http://schemas.microsoft.com/office/powerpoint/2010/main" val="522802710"/>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4">
                                      <p:txEl>
                                        <p:pRg st="0" end="0"/>
                                      </p:txEl>
                                    </p:spTgt>
                                  </p:tgtEl>
                                  <p:attrNameLst>
                                    <p:attrName>style.visibility</p:attrName>
                                  </p:attrNameLst>
                                </p:cBhvr>
                                <p:to>
                                  <p:strVal val="visible"/>
                                </p:to>
                              </p:set>
                            </p:childTnLst>
                          </p:cTn>
                        </p:par>
                        <p:par>
                          <p:cTn id="6" presetID="1" presetClass="entr" presetSubtype="0" fill="hold" nodeType="withEffect">
                            <p:stCondLst>
                              <p:cond delay="997"/>
                            </p:stCondLst>
                            <p:iterate type="lt">
                              <p:tmAbs val="11"/>
                            </p:iterate>
                            <p:childTnLst>
                              <p:set>
                                <p:cBhvr>
                                  <p:cTn id="7" dur="1" fill="hold">
                                    <p:stCondLst>
                                      <p:cond delay="0"/>
                                    </p:stCondLst>
                                  </p:cTn>
                                  <p:tgtEl>
                                    <p:spTgt spid="115">
                                      <p:txEl>
                                        <p:pRg st="0" end="0"/>
                                      </p:txEl>
                                    </p:spTgt>
                                  </p:tgtEl>
                                  <p:attrNameLst>
                                    <p:attrName>style.visibility</p:attrName>
                                  </p:attrNameLst>
                                </p:cBhvr>
                                <p:to>
                                  <p:strVal val="visible"/>
                                </p:to>
                              </p:set>
                            </p:childTnLst>
                          </p:cTn>
                        </p:par>
                        <p:par>
                          <p:cTn id="8" presetID="1" presetClass="entr" presetSubtype="0" fill="hold" nodeType="withEffect">
                            <p:stCondLst>
                              <p:cond delay="1840"/>
                            </p:stCondLst>
                            <p:iterate type="lt">
                              <p:tmAbs val="11"/>
                            </p:iterate>
                            <p:childTnLst>
                              <p:set>
                                <p:cBhvr>
                                  <p:cTn id="9" dur="1" fill="hold">
                                    <p:stCondLst>
                                      <p:cond delay="0"/>
                                    </p:stCondLst>
                                  </p:cTn>
                                  <p:tgtEl>
                                    <p:spTgt spid="116">
                                      <p:txEl>
                                        <p:pRg st="0" end="0"/>
                                      </p:txEl>
                                    </p:spTgt>
                                  </p:tgtEl>
                                  <p:attrNameLst>
                                    <p:attrName>style.visibility</p:attrName>
                                  </p:attrNameLst>
                                </p:cBhvr>
                                <p:to>
                                  <p:strVal val="visible"/>
                                </p:to>
                              </p:set>
                            </p:childTnLst>
                          </p:cTn>
                        </p:par>
                        <p:par>
                          <p:cTn id="10" presetID="1" presetClass="entr" presetSubtype="0" fill="hold" nodeType="withEffect">
                            <p:stCondLst>
                              <p:cond delay="2826"/>
                            </p:stCondLst>
                            <p:iterate type="lt">
                              <p:tmAbs val="11"/>
                            </p:iterate>
                            <p:childTnLst>
                              <p:set>
                                <p:cBhvr>
                                  <p:cTn id="11" dur="1" fill="hold">
                                    <p:stCondLst>
                                      <p:cond delay="0"/>
                                    </p:stCondLst>
                                  </p:cTn>
                                  <p:tgtEl>
                                    <p:spTgt spid="123">
                                      <p:txEl>
                                        <p:pRg st="0" end="0"/>
                                      </p:txEl>
                                    </p:spTgt>
                                  </p:tgtEl>
                                  <p:attrNameLst>
                                    <p:attrName>style.visibility</p:attrName>
                                  </p:attrNameLst>
                                </p:cBhvr>
                                <p:to>
                                  <p:strVal val="visible"/>
                                </p:to>
                              </p:set>
                            </p:childTnLst>
                          </p:cTn>
                        </p:par>
                      </p:childTnLst>
                    </p:cTn>
                  </p:par>
                </p:childTnLst>
              </p:cTn>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3.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3.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3.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sp>
        <p:nvSpPr>
          <p:cNvPr id="104" name="13.0 · RQ3 · SYNTHESIS ANSWER"/>
          <p:cNvSpPr>
            <a:spLocks noGrp="1"/>
          </p:cNvSpPr>
          <p:nvPr/>
        </p:nvSpPr>
        <p:spPr>
          <a:xfrm>
            <a:off x="857250" y="1400175"/>
            <a:ext cx="10477500" cy="342900"/>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RQ3 · SYNTHESIS ANSWER</a:t>
            </a:r>
          </a:p>
        </p:txBody>
      </p:sp>
      <p:sp>
        <p:nvSpPr>
          <p:cNvPr id="105" name="13.0 · Synthetic democracy creates representations where existing representat"/>
          <p:cNvSpPr>
            <a:spLocks noGrp="1"/>
          </p:cNvSpPr>
          <p:nvPr/>
        </p:nvSpPr>
        <p:spPr>
          <a:xfrm>
            <a:off x="952500" y="2257425"/>
            <a:ext cx="10287000" cy="1529334"/>
          </a:xfrm>
          <a:prstGeom prst="rect">
            <a:avLst/>
          </a:prstGeom>
          <a:noFill/>
          <a:ln w="0">
            <a:noFill/>
          </a:ln>
        </p:spPr>
        <p:txBody>
          <a:bodyPr wrap="square" lIns="0" tIns="0" rIns="0" bIns="0" anchor="t">
            <a:noAutofit/>
          </a:bodyPr>
          <a:lstStyle/>
          <a:p>
            <a:pPr algn="ctr">
              <a:lnSpc>
                <a:spcPct val="108000"/>
              </a:lnSpc>
              <a:defRPr sz="3450" b="0" i="0">
                <a:solidFill>
                  <a:srgbClr val="000000"/>
                </a:solidFill>
                <a:latin typeface="Garamond"/>
                <a:ea typeface="Garamond"/>
                <a:cs typeface="Garamond"/>
              </a:defRPr>
            </a:pPr>
            <a:r>
              <a:rPr sz="3450" b="0" i="0">
                <a:solidFill>
                  <a:srgbClr val="000000"/>
                </a:solidFill>
                <a:latin typeface="Garamond"/>
                <a:ea typeface="Garamond"/>
                <a:cs typeface="Garamond"/>
              </a:rPr>
              <a:t>Synthetic democracy generates representations where existing sites cannot organise responses into answerability.</a:t>
            </a:r>
          </a:p>
        </p:txBody>
      </p:sp>
      <p:sp>
        <p:nvSpPr>
          <p:cNvPr id="106" name="13.0 · Article 6: The proposed duty of public response."/>
          <p:cNvSpPr>
            <a:spLocks noGrp="1"/>
          </p:cNvSpPr>
          <p:nvPr/>
        </p:nvSpPr>
        <p:spPr>
          <a:xfrm>
            <a:off x="762000" y="4895850"/>
            <a:ext cx="4762500" cy="355854"/>
          </a:xfrm>
          <a:prstGeom prst="rect">
            <a:avLst/>
          </a:prstGeom>
          <a:noFill/>
          <a:ln w="0">
            <a:noFill/>
          </a:ln>
        </p:spPr>
        <p:txBody>
          <a:bodyPr wrap="square" lIns="0" tIns="0" rIns="0" bIns="0" anchor="t">
            <a:noAutofit/>
          </a:bodyPr>
          <a:lstStyle/>
          <a:p>
            <a:pPr algn="ctr">
              <a:lnSpc>
                <a:spcPct val="108000"/>
              </a:lnSpc>
              <a:defRPr sz="2100" b="0" i="1">
                <a:solidFill>
                  <a:srgbClr val="000000"/>
                </a:solidFill>
                <a:latin typeface="Garamond"/>
                <a:ea typeface="Garamond"/>
                <a:cs typeface="Garamond"/>
              </a:defRPr>
            </a:pPr>
            <a:r>
              <a:rPr sz="2100" b="0" i="1" dirty="0">
                <a:solidFill>
                  <a:srgbClr val="000000"/>
                </a:solidFill>
                <a:latin typeface="Garamond"/>
                <a:ea typeface="Garamond"/>
                <a:cs typeface="Garamond"/>
              </a:rPr>
              <a:t>Article 6: The proposed duty of public response.</a:t>
            </a:r>
          </a:p>
        </p:txBody>
      </p:sp>
      <p:sp>
        <p:nvSpPr>
          <p:cNvPr id="107" name="13.0 · Article 7: The governing arrangement submitted to democratic specifica"/>
          <p:cNvSpPr>
            <a:spLocks noGrp="1"/>
          </p:cNvSpPr>
          <p:nvPr/>
        </p:nvSpPr>
        <p:spPr>
          <a:xfrm>
            <a:off x="6524625" y="4895850"/>
            <a:ext cx="4762500" cy="654558"/>
          </a:xfrm>
          <a:prstGeom prst="rect">
            <a:avLst/>
          </a:prstGeom>
          <a:noFill/>
          <a:ln w="0">
            <a:noFill/>
          </a:ln>
        </p:spPr>
        <p:txBody>
          <a:bodyPr wrap="square" lIns="0" tIns="0" rIns="0" bIns="0" anchor="t">
            <a:noAutofit/>
          </a:bodyPr>
          <a:lstStyle/>
          <a:p>
            <a:pPr algn="ctr">
              <a:lnSpc>
                <a:spcPct val="108000"/>
              </a:lnSpc>
              <a:defRPr sz="2100" b="0" i="1">
                <a:solidFill>
                  <a:srgbClr val="000000"/>
                </a:solidFill>
                <a:latin typeface="Garamond"/>
                <a:ea typeface="Garamond"/>
                <a:cs typeface="Garamond"/>
              </a:defRPr>
            </a:pPr>
            <a:r>
              <a:rPr sz="2100" b="0" i="1" dirty="0">
                <a:solidFill>
                  <a:srgbClr val="000000"/>
                </a:solidFill>
                <a:latin typeface="Garamond"/>
                <a:ea typeface="Garamond"/>
                <a:cs typeface="Garamond"/>
              </a:rPr>
              <a:t>Article 7: The governing arrangement</a:t>
            </a:r>
          </a:p>
          <a:p>
            <a:pPr algn="ctr">
              <a:lnSpc>
                <a:spcPct val="108000"/>
              </a:lnSpc>
              <a:defRPr sz="2100" b="0" i="1">
                <a:solidFill>
                  <a:srgbClr val="000000"/>
                </a:solidFill>
                <a:latin typeface="Garamond"/>
                <a:ea typeface="Garamond"/>
                <a:cs typeface="Garamond"/>
              </a:defRPr>
            </a:pPr>
            <a:r>
              <a:rPr sz="2100" b="0" i="1" dirty="0">
                <a:solidFill>
                  <a:srgbClr val="000000"/>
                </a:solidFill>
                <a:latin typeface="Garamond"/>
                <a:ea typeface="Garamond"/>
                <a:cs typeface="Garamond"/>
              </a:rPr>
              <a:t>submitted to democratic specification.</a:t>
            </a:r>
          </a:p>
        </p:txBody>
      </p:sp>
      <p:sp>
        <p:nvSpPr>
          <p:cNvPr id="108" name="13.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Synthesis: Staunæs 2026: 107–109, 114–118.</a:t>
            </a:r>
          </a:p>
        </p:txBody>
      </p:sp>
    </p:spTree>
    <p:extLst>
      <p:ext uri="{BB962C8B-B14F-4D97-AF65-F5344CB8AC3E}">
        <p14:creationId xmlns:p14="http://schemas.microsoft.com/office/powerpoint/2010/main" val="970002603"/>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05">
                                      <p:txEl>
                                        <p:pRg st="0" end="0"/>
                                      </p:txEl>
                                    </p:spTgt>
                                  </p:tgtEl>
                                  <p:attrNameLst>
                                    <p:attrName>style.visibility</p:attrName>
                                  </p:attrNameLst>
                                </p:cBhvr>
                                <p:to>
                                  <p:strVal val="visible"/>
                                </p:to>
                              </p:set>
                            </p:childTnLst>
                          </p:cTn>
                        </p:par>
                      </p:childTnLst>
                    </p:cTn>
                  </p:par>
                </p:childTnLst>
              </p:cTn>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3.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3.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3.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sp>
        <p:nvSpPr>
          <p:cNvPr id="109" name="13.1 · SYNTHESIS"/>
          <p:cNvSpPr>
            <a:spLocks noGrp="1"/>
          </p:cNvSpPr>
          <p:nvPr/>
        </p:nvSpPr>
        <p:spPr>
          <a:xfrm>
            <a:off x="619125" y="1343025"/>
            <a:ext cx="10953750" cy="302514"/>
          </a:xfrm>
          <a:prstGeom prst="rect">
            <a:avLst/>
          </a:prstGeom>
          <a:noFill/>
          <a:ln w="0">
            <a:noFill/>
          </a:ln>
        </p:spPr>
        <p:txBody>
          <a:bodyPr wrap="square" lIns="0" tIns="0" rIns="0" bIns="0" anchor="t">
            <a:noAutofit/>
          </a:bodyPr>
          <a:lstStyle/>
          <a:p>
            <a:pPr algn="l">
              <a:lnSpc>
                <a:spcPct val="108000"/>
              </a:lnSpc>
              <a:defRPr sz="1725" b="0" i="0">
                <a:solidFill>
                  <a:srgbClr val="000000"/>
                </a:solidFill>
                <a:latin typeface="Consolas"/>
                <a:ea typeface="Consolas"/>
                <a:cs typeface="Consolas"/>
              </a:defRPr>
            </a:pPr>
            <a:r>
              <a:rPr sz="1725" b="0" i="0">
                <a:solidFill>
                  <a:srgbClr val="FF0000"/>
                </a:solidFill>
                <a:latin typeface="Consolas"/>
                <a:ea typeface="Consolas"/>
                <a:cs typeface="Consolas"/>
              </a:rPr>
              <a:t>SYNTHESIS</a:t>
            </a:r>
          </a:p>
        </p:txBody>
      </p:sp>
      <p:sp>
        <p:nvSpPr>
          <p:cNvPr id="110" name="13.1 · Democracy ceases to remain the unquestioned regime surrounding synthet"/>
          <p:cNvSpPr>
            <a:spLocks noGrp="1"/>
          </p:cNvSpPr>
          <p:nvPr/>
        </p:nvSpPr>
        <p:spPr>
          <a:xfrm>
            <a:off x="619125" y="1619250"/>
            <a:ext cx="10953750" cy="867918"/>
          </a:xfrm>
          <a:prstGeom prst="rect">
            <a:avLst/>
          </a:prstGeom>
          <a:noFill/>
          <a:ln w="0">
            <a:noFill/>
          </a:ln>
        </p:spPr>
        <p:txBody>
          <a:bodyPr wrap="square" lIns="0" tIns="0" rIns="0" bIns="0" anchor="t">
            <a:noAutofit/>
          </a:bodyPr>
          <a:lstStyle/>
          <a:p>
            <a:pPr algn="ctr">
              <a:lnSpc>
                <a:spcPct val="108000"/>
              </a:lnSpc>
              <a:defRPr sz="2850" b="0" i="0">
                <a:solidFill>
                  <a:srgbClr val="000000"/>
                </a:solidFill>
                <a:latin typeface="Garamond"/>
                <a:ea typeface="Garamond"/>
                <a:cs typeface="Garamond"/>
              </a:defRPr>
            </a:pPr>
            <a:r>
              <a:rPr sz="2850" b="0" i="0">
                <a:solidFill>
                  <a:srgbClr val="000000"/>
                </a:solidFill>
                <a:latin typeface="Garamond"/>
                <a:ea typeface="Garamond"/>
                <a:cs typeface="Garamond"/>
              </a:rPr>
              <a:t>Democracy ceases to remain the unquestioned regime surrounding</a:t>
            </a:r>
            <a:r>
              <a:t> </a:t>
            </a:r>
            <a:r>
              <a:rPr sz="2850" b="0" i="0">
                <a:solidFill>
                  <a:srgbClr val="000000"/>
                </a:solidFill>
                <a:latin typeface="Garamond"/>
                <a:ea typeface="Garamond"/>
                <a:cs typeface="Garamond"/>
              </a:rPr>
              <a:t>AI-driven political formations and is synthesised material in its own right.</a:t>
            </a:r>
          </a:p>
        </p:txBody>
      </p:sp>
      <p:pic>
        <p:nvPicPr>
          <p:cNvPr id="111" name="13.1 · bender-post-6-full"/>
          <p:cNvPicPr>
            <a:picLocks noChangeAspect="1"/>
          </p:cNvPicPr>
          <p:nvPr/>
        </p:nvPicPr>
        <p:blipFill>
          <a:blip r:embed="rId3"/>
          <a:srcRect l="26641" t="17222" r="26641" b="44167"/>
          <a:stretch/>
        </p:blipFill>
        <p:spPr>
          <a:xfrm>
            <a:off x="3284699" y="2937319"/>
            <a:ext cx="5622601" cy="2613851"/>
          </a:xfrm>
          <a:prstGeom prst="rect">
            <a:avLst/>
          </a:prstGeom>
          <a:ln w="12700" cmpd="sng" algn="in">
            <a:solidFill>
              <a:srgbClr val="D5A4A4"/>
            </a:solidFill>
            <a:prstDash val="solid"/>
            <a:miter lim="800000"/>
          </a:ln>
        </p:spPr>
      </p:pic>
      <p:sp>
        <p:nvSpPr>
          <p:cNvPr id="114" name="13.1 · Caption">
            <a:extLst>
              <a:ext uri="{FF2B5EF4-FFF2-40B4-BE49-F238E27FC236}">
                <a16:creationId xmlns:a16="http://schemas.microsoft.com/office/drawing/2014/main" id="{8FA1DED9-2F2F-4D6F-B329-6DA948B98468}"/>
              </a:ext>
            </a:extLst>
          </p:cNvPr>
          <p:cNvSpPr>
            <a:spLocks noGrp="1"/>
          </p:cNvSpPr>
          <p:nvPr/>
        </p:nvSpPr>
        <p:spPr>
          <a:xfrm>
            <a:off x="2762249" y="5661660"/>
            <a:ext cx="6667500" cy="300990"/>
          </a:xfrm>
          <a:prstGeom prst="rect">
            <a:avLst/>
          </a:prstGeom>
          <a:noFill/>
          <a:ln w="0">
            <a:noFill/>
          </a:ln>
        </p:spPr>
        <p:txBody>
          <a:bodyPr wrap="square" lIns="0" tIns="0" rIns="0" bIns="0" anchor="t">
            <a:noAutofit/>
          </a:bodyPr>
          <a:lstStyle/>
          <a:p>
            <a:pPr algn="ctr">
              <a:lnSpc>
                <a:spcPct val="108000"/>
              </a:lnSpc>
              <a:defRPr sz="1650" b="0" i="1">
                <a:solidFill>
                  <a:srgbClr val="000000"/>
                </a:solidFill>
                <a:latin typeface="Garamond"/>
                <a:ea typeface="Garamond"/>
                <a:cs typeface="Garamond"/>
              </a:defRPr>
            </a:pPr>
            <a:r>
              <a:rPr sz="1650" b="0" i="1" dirty="0">
                <a:solidFill>
                  <a:srgbClr val="000000"/>
                </a:solidFill>
                <a:latin typeface="Garamond"/>
                <a:ea typeface="Garamond"/>
                <a:cs typeface="Garamond"/>
              </a:rPr>
              <a:t>Emily M. Bender, Mastodon, 29 October 2022, post 6.</a:t>
            </a:r>
          </a:p>
        </p:txBody>
      </p:sp>
      <p:sp>
        <p:nvSpPr>
          <p:cNvPr id="115" name="13.1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Bender discussed: Staunæs 2026: 85. Synthesis: 107–109, 114–118.</a:t>
            </a:r>
          </a:p>
        </p:txBody>
      </p:sp>
    </p:spTree>
    <p:extLst>
      <p:ext uri="{BB962C8B-B14F-4D97-AF65-F5344CB8AC3E}">
        <p14:creationId xmlns:p14="http://schemas.microsoft.com/office/powerpoint/2010/main" val="970002603"/>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0">
                                      <p:txEl>
                                        <p:pRg st="0" end="0"/>
                                      </p:txEl>
                                    </p:spTgt>
                                  </p:tgtEl>
                                  <p:attrNameLst>
                                    <p:attrName>style.visibility</p:attrName>
                                  </p:attrNameLst>
                                </p:cBhvr>
                                <p:to>
                                  <p:strVal val="visible"/>
                                </p:to>
                              </p:set>
                            </p:childTnLst>
                          </p:cTn>
                        </p:par>
                      </p:childTnLst>
                    </p:cTn>
                  </p:par>
                </p:childTnLst>
              </p:cTn>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13.0 · Title"/>
          <p:cNvSpPr>
            <a:spLocks noGrp="1"/>
          </p:cNvSpPr>
          <p:nvPr/>
        </p:nvSpPr>
        <p:spPr>
          <a:xfrm>
            <a:off x="476250" y="295275"/>
            <a:ext cx="11239500" cy="552450"/>
          </a:xfrm>
          <a:prstGeom prst="rect">
            <a:avLst/>
          </a:prstGeom>
          <a:noFill/>
          <a:ln w="0">
            <a:noFill/>
          </a:ln>
        </p:spPr>
        <p:txBody>
          <a:bodyPr wrap="square" lIns="0" tIns="0" rIns="0" bIns="0" anchor="t">
            <a:noAutofit/>
          </a:bodyPr>
          <a:lstStyle/>
          <a:p>
            <a:pPr algn="l">
              <a:lnSpc>
                <a:spcPct val="108000"/>
              </a:lnSpc>
              <a:defRPr sz="3225" b="1" i="1">
                <a:solidFill>
                  <a:srgbClr val="000000"/>
                </a:solidFill>
                <a:latin typeface="Garamond"/>
                <a:ea typeface="Garamond"/>
                <a:cs typeface="Garamond"/>
              </a:defRPr>
            </a:pPr>
            <a:r>
              <a:rPr sz="3225" b="1" i="1">
                <a:solidFill>
                  <a:srgbClr val="000000"/>
                </a:solidFill>
                <a:latin typeface="Garamond"/>
                <a:ea typeface="Garamond"/>
                <a:cs typeface="Garamond"/>
              </a:rPr>
              <a:t>Democratic Specification</a:t>
            </a:r>
          </a:p>
        </p:txBody>
      </p:sp>
      <p:sp>
        <p:nvSpPr>
          <p:cNvPr id="102" name="13.0 · Subtitle"/>
          <p:cNvSpPr>
            <a:spLocks noGrp="1"/>
          </p:cNvSpPr>
          <p:nvPr/>
        </p:nvSpPr>
        <p:spPr>
          <a:xfrm>
            <a:off x="476250" y="895350"/>
            <a:ext cx="11239500" cy="304800"/>
          </a:xfrm>
          <a:prstGeom prst="rect">
            <a:avLst/>
          </a:prstGeom>
          <a:noFill/>
          <a:ln w="0">
            <a:noFill/>
          </a:ln>
        </p:spPr>
        <p:txBody>
          <a:bodyPr wrap="square" lIns="0" tIns="0" rIns="0" bIns="0" anchor="t">
            <a:noAutofit/>
          </a:bodyPr>
          <a:lstStyle/>
          <a:p>
            <a:pPr algn="ctr">
              <a:lnSpc>
                <a:spcPct val="108000"/>
              </a:lnSpc>
              <a:defRPr sz="1650" b="0" i="0">
                <a:solidFill>
                  <a:srgbClr val="000000"/>
                </a:solidFill>
                <a:latin typeface="Consolas"/>
                <a:ea typeface="Consolas"/>
                <a:cs typeface="Consolas"/>
              </a:defRPr>
            </a:pPr>
            <a:r>
              <a:rPr sz="1650" b="0" i="0">
                <a:solidFill>
                  <a:srgbClr val="FF0000"/>
                </a:solidFill>
                <a:latin typeface="Consolas"/>
                <a:ea typeface="Consolas"/>
                <a:cs typeface="Consolas"/>
              </a:rPr>
              <a:t>Or</a:t>
            </a:r>
            <a:r>
              <a:rPr sz="1650" b="0" i="0">
                <a:solidFill>
                  <a:srgbClr val="000000"/>
                </a:solidFill>
                <a:latin typeface="Consolas"/>
                <a:ea typeface="Consolas"/>
                <a:cs typeface="Consolas"/>
              </a:rPr>
              <a:t>: How I Learned to Machine-Love</a:t>
            </a:r>
          </a:p>
        </p:txBody>
      </p:sp>
      <p:sp>
        <p:nvSpPr>
          <p:cNvPr id="103" name="13.0 · Section"/>
          <p:cNvSpPr>
            <a:spLocks noGrp="1"/>
          </p:cNvSpPr>
          <p:nvPr/>
        </p:nvSpPr>
        <p:spPr>
          <a:xfrm>
            <a:off x="8667750" y="76200"/>
            <a:ext cx="3048000" cy="266700"/>
          </a:xfrm>
          <a:prstGeom prst="rect">
            <a:avLst/>
          </a:prstGeom>
          <a:noFill/>
          <a:ln w="0">
            <a:noFill/>
          </a:ln>
        </p:spPr>
        <p:txBody>
          <a:bodyPr wrap="square" lIns="0" tIns="0" rIns="0" bIns="0" anchor="t">
            <a:noAutofit/>
          </a:bodyPr>
          <a:lstStyle/>
          <a:p>
            <a:pPr algn="r">
              <a:lnSpc>
                <a:spcPct val="108000"/>
              </a:lnSpc>
              <a:defRPr sz="1575" b="0" i="0">
                <a:solidFill>
                  <a:srgbClr val="000000"/>
                </a:solidFill>
                <a:latin typeface="Consolas"/>
                <a:ea typeface="Consolas"/>
                <a:cs typeface="Consolas"/>
              </a:defRPr>
            </a:pPr>
            <a:r>
              <a:rPr sz="1575" b="0" i="0">
                <a:solidFill>
                  <a:srgbClr val="FF0000"/>
                </a:solidFill>
                <a:latin typeface="Consolas"/>
                <a:ea typeface="Consolas"/>
                <a:cs typeface="Consolas"/>
              </a:rPr>
              <a:t>7/7</a:t>
            </a:r>
          </a:p>
        </p:txBody>
      </p:sp>
      <p:pic>
        <p:nvPicPr>
          <p:cNvPr id="116" name="13.2 · constitution-section-50"/>
          <p:cNvPicPr>
            <a:picLocks noChangeAspect="1"/>
          </p:cNvPicPr>
          <p:nvPr/>
        </p:nvPicPr>
        <p:blipFill>
          <a:blip r:embed="rId3"/>
          <a:stretch/>
        </p:blipFill>
        <p:spPr>
          <a:xfrm>
            <a:off x="333375" y="1874355"/>
            <a:ext cx="6096000" cy="3342290"/>
          </a:xfrm>
          <a:prstGeom prst="rect">
            <a:avLst/>
          </a:prstGeom>
          <a:ln w="12700" cmpd="sng" algn="in">
            <a:solidFill>
              <a:srgbClr val="D5A4A4"/>
            </a:solidFill>
            <a:prstDash val="solid"/>
            <a:miter lim="800000"/>
          </a:ln>
        </p:spPr>
      </p:pic>
      <p:sp>
        <p:nvSpPr>
          <p:cNvPr id="117" name="13.2 · Represented and representative no longer stand as fixed endpoints. The"/>
          <p:cNvSpPr>
            <a:spLocks noGrp="1"/>
          </p:cNvSpPr>
          <p:nvPr/>
        </p:nvSpPr>
        <p:spPr>
          <a:xfrm>
            <a:off x="6810375" y="1657350"/>
            <a:ext cx="4953000" cy="1906270"/>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000000"/>
                </a:solidFill>
                <a:latin typeface="Garamond"/>
                <a:ea typeface="Garamond"/>
                <a:cs typeface="Garamond"/>
              </a:rPr>
              <a:t>Represented and representative</a:t>
            </a:r>
            <a:r>
              <a:t> </a:t>
            </a:r>
            <a:r>
              <a:rPr sz="2600" b="0" i="0">
                <a:solidFill>
                  <a:srgbClr val="000000"/>
                </a:solidFill>
                <a:latin typeface="Garamond"/>
                <a:ea typeface="Garamond"/>
                <a:cs typeface="Garamond"/>
              </a:rPr>
              <a:t>no longer stand as fixed</a:t>
            </a:r>
            <a:r>
              <a:t> </a:t>
            </a:r>
            <a:r>
              <a:rPr sz="2600" b="0" i="0">
                <a:solidFill>
                  <a:srgbClr val="000000"/>
                </a:solidFill>
                <a:latin typeface="Garamond"/>
                <a:ea typeface="Garamond"/>
                <a:cs typeface="Garamond"/>
              </a:rPr>
              <a:t>endpoints. Their systematic</a:t>
            </a:r>
            <a:r>
              <a:t> </a:t>
            </a:r>
            <a:r>
              <a:rPr sz="2600" b="0" i="0">
                <a:solidFill>
                  <a:srgbClr val="000000"/>
                </a:solidFill>
                <a:latin typeface="Garamond"/>
                <a:ea typeface="Garamond"/>
                <a:cs typeface="Garamond"/>
              </a:rPr>
              <a:t>re-generation is itself something</a:t>
            </a:r>
            <a:r>
              <a:t> </a:t>
            </a:r>
            <a:r>
              <a:rPr sz="2600" b="0" i="0">
                <a:solidFill>
                  <a:srgbClr val="000000"/>
                </a:solidFill>
                <a:latin typeface="Garamond"/>
                <a:ea typeface="Garamond"/>
                <a:cs typeface="Garamond"/>
              </a:rPr>
              <a:t>a political practice can generate.</a:t>
            </a:r>
          </a:p>
        </p:txBody>
      </p:sp>
      <p:sp>
        <p:nvSpPr>
          <p:cNvPr id="118" name="13.2 · “Unrepresented” includes the terms of conversion through which somethi"/>
          <p:cNvSpPr>
            <a:spLocks noGrp="1"/>
          </p:cNvSpPr>
          <p:nvPr/>
        </p:nvSpPr>
        <p:spPr>
          <a:xfrm>
            <a:off x="6810375" y="3944620"/>
            <a:ext cx="4953000" cy="1536446"/>
          </a:xfrm>
          <a:prstGeom prst="rect">
            <a:avLst/>
          </a:prstGeom>
          <a:noFill/>
          <a:ln w="0">
            <a:noFill/>
          </a:ln>
        </p:spPr>
        <p:txBody>
          <a:bodyPr wrap="square" lIns="0" tIns="0" rIns="0" bIns="0" anchor="t">
            <a:noAutofit/>
          </a:bodyPr>
          <a:lstStyle/>
          <a:p>
            <a:pPr marL="304800" indent="-203200" algn="l">
              <a:lnSpc>
                <a:spcPct val="108000"/>
              </a:lnSpc>
              <a:spcAft>
                <a:spcPts val="1400"/>
              </a:spcAft>
              <a:buClr>
                <a:srgbClr val="000000"/>
              </a:buClr>
              <a:buChar char="•"/>
              <a:defRPr sz="2600" b="0" i="0">
                <a:solidFill>
                  <a:srgbClr val="000000"/>
                </a:solidFill>
                <a:latin typeface="Garamond"/>
                <a:ea typeface="Garamond"/>
                <a:cs typeface="Garamond"/>
              </a:defRPr>
            </a:pPr>
            <a:r>
              <a:rPr sz="2600" b="0" i="0">
                <a:solidFill>
                  <a:srgbClr val="000000"/>
                </a:solidFill>
                <a:latin typeface="Garamond"/>
                <a:ea typeface="Garamond"/>
                <a:cs typeface="Garamond"/>
              </a:rPr>
              <a:t>“Unrepresented” includes</a:t>
            </a:r>
            <a:r>
              <a:t> </a:t>
            </a:r>
            <a:r>
              <a:rPr sz="2600" b="0" i="0">
                <a:solidFill>
                  <a:srgbClr val="000000"/>
                </a:solidFill>
                <a:latin typeface="Garamond"/>
                <a:ea typeface="Garamond"/>
                <a:cs typeface="Garamond"/>
              </a:rPr>
              <a:t>the terms of conversion</a:t>
            </a:r>
            <a:r>
              <a:t> </a:t>
            </a:r>
            <a:r>
              <a:rPr sz="2600" b="0" i="0">
                <a:solidFill>
                  <a:srgbClr val="000000"/>
                </a:solidFill>
                <a:latin typeface="Garamond"/>
                <a:ea typeface="Garamond"/>
                <a:cs typeface="Garamond"/>
              </a:rPr>
              <a:t>through which something</a:t>
            </a:r>
            <a:r>
              <a:t> </a:t>
            </a:r>
            <a:r>
              <a:rPr sz="2600" b="0" i="0">
                <a:solidFill>
                  <a:srgbClr val="000000"/>
                </a:solidFill>
                <a:latin typeface="Garamond"/>
                <a:ea typeface="Garamond"/>
                <a:cs typeface="Garamond"/>
              </a:rPr>
              <a:t>becomes represented.</a:t>
            </a:r>
          </a:p>
        </p:txBody>
      </p:sp>
      <p:sp>
        <p:nvSpPr>
          <p:cNvPr id="119" name="13.2 · Caption">
            <a:extLst>
              <a:ext uri="{FF2B5EF4-FFF2-40B4-BE49-F238E27FC236}">
                <a16:creationId xmlns:a16="http://schemas.microsoft.com/office/drawing/2014/main" id="{1AD42DD3-3521-47A7-A8A7-6FD4B6145BEC}"/>
              </a:ext>
            </a:extLst>
          </p:cNvPr>
          <p:cNvSpPr>
            <a:spLocks noGrp="1"/>
          </p:cNvSpPr>
          <p:nvPr/>
        </p:nvSpPr>
        <p:spPr>
          <a:xfrm>
            <a:off x="333375" y="5415936"/>
            <a:ext cx="609600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Computer Lars, “</a:t>
            </a:r>
            <a:r>
              <a:rPr sz="1725" b="0" i="1" dirty="0" err="1">
                <a:solidFill>
                  <a:srgbClr val="000000"/>
                </a:solidFill>
                <a:latin typeface="Garamond"/>
                <a:ea typeface="Garamond"/>
                <a:cs typeface="Garamond"/>
              </a:rPr>
              <a:t>Forfatning</a:t>
            </a:r>
            <a:r>
              <a:rPr sz="1725" b="0" i="1" dirty="0">
                <a:solidFill>
                  <a:srgbClr val="000000"/>
                </a:solidFill>
                <a:latin typeface="Garamond"/>
                <a:ea typeface="Garamond"/>
                <a:cs typeface="Garamond"/>
              </a:rPr>
              <a:t> for Det Syntetiske</a:t>
            </a:r>
          </a:p>
          <a:p>
            <a:pPr algn="ctr">
              <a:lnSpc>
                <a:spcPct val="108000"/>
              </a:lnSpc>
              <a:defRPr sz="1725" b="0" i="1">
                <a:solidFill>
                  <a:srgbClr val="000000"/>
                </a:solidFill>
                <a:latin typeface="Garamond"/>
                <a:ea typeface="Garamond"/>
                <a:cs typeface="Garamond"/>
              </a:defRPr>
            </a:pPr>
            <a:r>
              <a:rPr sz="1725" b="0" i="1" dirty="0">
                <a:solidFill>
                  <a:srgbClr val="000000"/>
                </a:solidFill>
                <a:latin typeface="Garamond"/>
                <a:ea typeface="Garamond"/>
                <a:cs typeface="Garamond"/>
              </a:rPr>
              <a:t>Parti”, §50. Medium, 7 April 2022.</a:t>
            </a:r>
          </a:p>
        </p:txBody>
      </p:sp>
      <p:sp>
        <p:nvSpPr>
          <p:cNvPr id="120" name="13.2 · References"/>
          <p:cNvSpPr>
            <a:spLocks noGrp="1"/>
          </p:cNvSpPr>
          <p:nvPr/>
        </p:nvSpPr>
        <p:spPr>
          <a:xfrm>
            <a:off x="428625" y="6457950"/>
            <a:ext cx="11334750" cy="27051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Synthesis: Staunæs 2026: 107–109, 114–118.</a:t>
            </a:r>
          </a:p>
        </p:txBody>
      </p:sp>
    </p:spTree>
    <p:extLst>
      <p:ext uri="{BB962C8B-B14F-4D97-AF65-F5344CB8AC3E}">
        <p14:creationId xmlns:p14="http://schemas.microsoft.com/office/powerpoint/2010/main" val="970002603"/>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17">
                                      <p:txEl>
                                        <p:pRg st="0" end="0"/>
                                      </p:txEl>
                                    </p:spTgt>
                                  </p:tgtEl>
                                  <p:attrNameLst>
                                    <p:attrName>style.visibility</p:attrName>
                                  </p:attrNameLst>
                                </p:cBhvr>
                                <p:to>
                                  <p:strVal val="visible"/>
                                </p:to>
                              </p:set>
                            </p:childTnLst>
                          </p:cTn>
                        </p:par>
                        <p:par>
                          <p:cTn id="6" presetID="1" presetClass="entr" presetSubtype="0" fill="hold" nodeType="withEffect">
                            <p:stCondLst>
                              <p:cond delay="1712"/>
                            </p:stCondLst>
                            <p:iterate type="lt">
                              <p:tmAbs val="11"/>
                            </p:iterate>
                            <p:childTnLst>
                              <p:set>
                                <p:cBhvr>
                                  <p:cTn id="7" dur="1" fill="hold">
                                    <p:stCondLst>
                                      <p:cond delay="0"/>
                                    </p:stCondLst>
                                  </p:cTn>
                                  <p:tgtEl>
                                    <p:spTgt spid="118">
                                      <p:txEl>
                                        <p:pRg st="0" end="0"/>
                                      </p:txEl>
                                    </p:spTgt>
                                  </p:tgtEl>
                                  <p:attrNameLst>
                                    <p:attrName>style.visibility</p:attrName>
                                  </p:attrNameLst>
                                </p:cBhvr>
                                <p:to>
                                  <p:strVal val="visible"/>
                                </p:to>
                              </p:set>
                            </p:childTnLst>
                          </p:cTn>
                        </p:par>
                      </p:childTnLst>
                    </p:cTn>
                  </p:par>
                </p:childTnLst>
              </p:cTn>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1" name="14.0 · thesis-110-0"/>
          <p:cNvPicPr>
            <a:picLocks noChangeAspect="1"/>
          </p:cNvPicPr>
          <p:nvPr/>
        </p:nvPicPr>
        <p:blipFill>
          <a:blip r:embed="rId3"/>
          <a:stretch/>
        </p:blipFill>
        <p:spPr>
          <a:xfrm>
            <a:off x="778228" y="904875"/>
            <a:ext cx="5777794" cy="4524375"/>
          </a:xfrm>
          <a:prstGeom prst="rect">
            <a:avLst/>
          </a:prstGeom>
        </p:spPr>
      </p:pic>
      <p:sp>
        <p:nvSpPr>
          <p:cNvPr id="102" name="14.0 · “as a robot feeding answers into the response-stream t"/>
          <p:cNvSpPr>
            <a:spLocks noGrp="1"/>
          </p:cNvSpPr>
          <p:nvPr/>
        </p:nvSpPr>
        <p:spPr>
          <a:xfrm>
            <a:off x="7239000" y="2247900"/>
            <a:ext cx="4429125" cy="2524125"/>
          </a:xfrm>
          <a:prstGeom prst="rect">
            <a:avLst/>
          </a:prstGeom>
          <a:noFill/>
          <a:ln w="0">
            <a:noFill/>
          </a:ln>
        </p:spPr>
        <p:txBody>
          <a:bodyPr wrap="square" lIns="0" tIns="0" rIns="0" bIns="0" anchor="t">
            <a:noAutofit/>
          </a:bodyPr>
          <a:lstStyle/>
          <a:p>
            <a:pPr algn="l">
              <a:lnSpc>
                <a:spcPct val="108000"/>
              </a:lnSpc>
              <a:defRPr sz="3525" b="0" i="0">
                <a:solidFill>
                  <a:srgbClr val="000000"/>
                </a:solidFill>
                <a:latin typeface="Garamond"/>
                <a:ea typeface="Garamond"/>
                <a:cs typeface="Garamond"/>
              </a:defRPr>
            </a:pPr>
            <a:r>
              <a:rPr sz="3525" b="0" i="0">
                <a:solidFill>
                  <a:srgbClr val="000000"/>
                </a:solidFill>
                <a:latin typeface="Garamond"/>
                <a:ea typeface="Garamond"/>
                <a:cs typeface="Garamond"/>
              </a:rPr>
              <a:t>“as a robot feeding</a:t>
            </a:r>
          </a:p>
          <a:p>
            <a:pPr algn="l">
              <a:lnSpc>
                <a:spcPct val="108000"/>
              </a:lnSpc>
              <a:defRPr sz="3525" b="0" i="0">
                <a:solidFill>
                  <a:srgbClr val="000000"/>
                </a:solidFill>
                <a:latin typeface="Garamond"/>
                <a:ea typeface="Garamond"/>
                <a:cs typeface="Garamond"/>
              </a:defRPr>
            </a:pPr>
            <a:r>
              <a:rPr sz="3525" b="0" i="0">
                <a:solidFill>
                  <a:srgbClr val="000000"/>
                </a:solidFill>
                <a:latin typeface="Garamond"/>
                <a:ea typeface="Garamond"/>
                <a:cs typeface="Garamond"/>
              </a:rPr>
              <a:t>answers into the</a:t>
            </a:r>
          </a:p>
          <a:p>
            <a:pPr algn="l">
              <a:lnSpc>
                <a:spcPct val="108000"/>
              </a:lnSpc>
              <a:defRPr sz="3525" b="0" i="0">
                <a:solidFill>
                  <a:srgbClr val="000000"/>
                </a:solidFill>
                <a:latin typeface="Garamond"/>
                <a:ea typeface="Garamond"/>
                <a:cs typeface="Garamond"/>
              </a:defRPr>
            </a:pPr>
            <a:r>
              <a:rPr sz="3525" b="0" i="0">
                <a:solidFill>
                  <a:srgbClr val="000000"/>
                </a:solidFill>
                <a:latin typeface="Garamond"/>
                <a:ea typeface="Garamond"/>
                <a:cs typeface="Garamond"/>
              </a:rPr>
              <a:t>response-stream that</a:t>
            </a:r>
          </a:p>
          <a:p>
            <a:pPr algn="l">
              <a:lnSpc>
                <a:spcPct val="108000"/>
              </a:lnSpc>
              <a:defRPr sz="3525" b="0" i="0">
                <a:solidFill>
                  <a:srgbClr val="000000"/>
                </a:solidFill>
                <a:latin typeface="Garamond"/>
                <a:ea typeface="Garamond"/>
                <a:cs typeface="Garamond"/>
              </a:defRPr>
            </a:pPr>
            <a:r>
              <a:rPr sz="3525" b="0" i="0">
                <a:solidFill>
                  <a:srgbClr val="000000"/>
                </a:solidFill>
                <a:latin typeface="Garamond"/>
                <a:ea typeface="Garamond"/>
                <a:cs typeface="Garamond"/>
              </a:rPr>
              <a:t>already runs”</a:t>
            </a:r>
          </a:p>
        </p:txBody>
      </p:sp>
      <p:sp>
        <p:nvSpPr>
          <p:cNvPr id="103" name="14.0 · Caption">
            <a:extLst>
              <a:ext uri="{FF2B5EF4-FFF2-40B4-BE49-F238E27FC236}">
                <a16:creationId xmlns:a16="http://schemas.microsoft.com/office/drawing/2014/main" id="{FCA709E2-A542-4389-8BB1-4516CA739F85}"/>
              </a:ext>
            </a:extLst>
          </p:cNvPr>
          <p:cNvSpPr>
            <a:spLocks noGrp="1"/>
          </p:cNvSpPr>
          <p:nvPr/>
        </p:nvSpPr>
        <p:spPr>
          <a:xfrm>
            <a:off x="571500" y="5345430"/>
            <a:ext cx="6191250" cy="598170"/>
          </a:xfrm>
          <a:prstGeom prst="rect">
            <a:avLst/>
          </a:prstGeom>
          <a:noFill/>
          <a:ln w="0">
            <a:noFill/>
          </a:ln>
        </p:spPr>
        <p:txBody>
          <a:bodyPr wrap="square" lIns="0" tIns="0" rIns="0" bIns="0" anchor="t">
            <a:noAutofit/>
          </a:bodyPr>
          <a:lstStyle/>
          <a:p>
            <a:pPr algn="ctr">
              <a:lnSpc>
                <a:spcPct val="108000"/>
              </a:lnSpc>
              <a:defRPr sz="1725" b="0" i="1">
                <a:solidFill>
                  <a:srgbClr val="000000"/>
                </a:solidFill>
                <a:latin typeface="Garamond"/>
                <a:ea typeface="Garamond"/>
                <a:cs typeface="Garamond"/>
              </a:defRPr>
            </a:pPr>
            <a:r>
              <a:rPr sz="1725" b="0" i="1" dirty="0">
                <a:solidFill>
                  <a:srgbClr val="FF0000"/>
                </a:solidFill>
                <a:latin typeface="Garamond"/>
                <a:ea typeface="Garamond"/>
                <a:cs typeface="Garamond"/>
              </a:rPr>
              <a:t>Figure IV.1</a:t>
            </a:r>
            <a:r>
              <a:rPr sz="1725" b="0" i="1" dirty="0">
                <a:solidFill>
                  <a:srgbClr val="000000"/>
                </a:solidFill>
                <a:latin typeface="Garamond"/>
                <a:ea typeface="Garamond"/>
                <a:cs typeface="Garamond"/>
              </a:rPr>
              <a:t>: Reorientation. Photograph: Tamara Wyrzykowski,</a:t>
            </a:r>
          </a:p>
          <a:p>
            <a:pPr algn="ctr">
              <a:lnSpc>
                <a:spcPct val="108000"/>
              </a:lnSpc>
              <a:defRPr sz="1725" b="0" i="1">
                <a:solidFill>
                  <a:srgbClr val="000000"/>
                </a:solidFill>
                <a:latin typeface="Garamond"/>
                <a:ea typeface="Garamond"/>
                <a:cs typeface="Garamond"/>
              </a:defRPr>
            </a:pPr>
            <a:r>
              <a:rPr sz="1725" b="0" i="1" dirty="0" err="1">
                <a:solidFill>
                  <a:srgbClr val="000000"/>
                </a:solidFill>
                <a:latin typeface="Garamond"/>
                <a:ea typeface="Garamond"/>
                <a:cs typeface="Garamond"/>
              </a:rPr>
              <a:t>Gdańsk</a:t>
            </a:r>
            <a:r>
              <a:rPr sz="1725" b="0" i="1" dirty="0">
                <a:solidFill>
                  <a:srgbClr val="000000"/>
                </a:solidFill>
                <a:latin typeface="Garamond"/>
                <a:ea typeface="Garamond"/>
                <a:cs typeface="Garamond"/>
              </a:rPr>
              <a:t>, 8 November 2025. Staunæs 2026: 110.</a:t>
            </a:r>
          </a:p>
        </p:txBody>
      </p:sp>
      <p:sp>
        <p:nvSpPr>
          <p:cNvPr id="104" name="14.0 · References"/>
          <p:cNvSpPr>
            <a:spLocks noGrp="1"/>
          </p:cNvSpPr>
          <p:nvPr/>
        </p:nvSpPr>
        <p:spPr>
          <a:xfrm>
            <a:off x="428625" y="6457950"/>
            <a:ext cx="11334750" cy="304800"/>
          </a:xfrm>
          <a:prstGeom prst="rect">
            <a:avLst/>
          </a:prstGeom>
          <a:noFill/>
          <a:ln w="0">
            <a:noFill/>
          </a:ln>
        </p:spPr>
        <p:txBody>
          <a:bodyPr wrap="square" lIns="0" tIns="0" rIns="0" bIns="0" anchor="t">
            <a:noAutofit/>
          </a:bodyPr>
          <a:lstStyle/>
          <a:p>
            <a:pPr algn="ctr">
              <a:lnSpc>
                <a:spcPct val="108000"/>
              </a:lnSpc>
              <a:defRPr sz="1500" b="0" i="0">
                <a:solidFill>
                  <a:srgbClr val="555555"/>
                </a:solidFill>
                <a:latin typeface="Consolas"/>
                <a:ea typeface="Consolas"/>
                <a:cs typeface="Consolas"/>
              </a:defRPr>
            </a:pPr>
            <a:r>
              <a:rPr sz="1500" b="0" i="0">
                <a:solidFill>
                  <a:srgbClr val="555555"/>
                </a:solidFill>
                <a:latin typeface="Consolas"/>
                <a:ea typeface="Consolas"/>
                <a:cs typeface="Consolas"/>
              </a:rPr>
              <a:t>Staunæs 2026: 330.</a:t>
            </a:r>
          </a:p>
        </p:txBody>
      </p:sp>
    </p:spTree>
    <p:extLst>
      <p:ext uri="{BB962C8B-B14F-4D97-AF65-F5344CB8AC3E}">
        <p14:creationId xmlns:p14="http://schemas.microsoft.com/office/powerpoint/2010/main" val="160855311"/>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0"/>
                            </p:stCondLst>
                            <p:iterate type="lt">
                              <p:tmAbs val="11"/>
                            </p:iterate>
                            <p:childTnLst>
                              <p:set>
                                <p:cBhvr>
                                  <p:cTn id="5" dur="1" fill="hold">
                                    <p:stCondLst>
                                      <p:cond delay="0"/>
                                    </p:stCondLst>
                                  </p:cTn>
                                  <p:tgtEl>
                                    <p:spTgt spid="102">
                                      <p:txEl>
                                        <p:pRg st="0" end="0"/>
                                      </p:txEl>
                                    </p:spTgt>
                                  </p:tgtEl>
                                  <p:attrNameLst>
                                    <p:attrName>style.visibility</p:attrName>
                                  </p:attrNameLst>
                                </p:cBhvr>
                                <p:to>
                                  <p:strVal val="visible"/>
                                </p:to>
                              </p:set>
                            </p:childTnLst>
                          </p:cTn>
                        </p:par>
                        <p:par>
                          <p:cTn id="6" presetID="1" presetClass="entr" presetSubtype="0" fill="hold" nodeType="withEffect">
                            <p:stCondLst>
                              <p:cond delay="249"/>
                            </p:stCondLst>
                            <p:iterate type="lt">
                              <p:tmAbs val="11"/>
                            </p:iterate>
                            <p:childTnLst>
                              <p:set>
                                <p:cBhvr>
                                  <p:cTn id="7" dur="1" fill="hold">
                                    <p:stCondLst>
                                      <p:cond delay="0"/>
                                    </p:stCondLst>
                                  </p:cTn>
                                  <p:tgtEl>
                                    <p:spTgt spid="102">
                                      <p:txEl>
                                        <p:pRg st="1" end="1"/>
                                      </p:txEl>
                                    </p:spTgt>
                                  </p:tgtEl>
                                  <p:attrNameLst>
                                    <p:attrName>style.visibility</p:attrName>
                                  </p:attrNameLst>
                                </p:cBhvr>
                                <p:to>
                                  <p:strVal val="visible"/>
                                </p:to>
                              </p:set>
                            </p:childTnLst>
                          </p:cTn>
                        </p:par>
                        <p:par>
                          <p:cTn id="8" presetID="1" presetClass="entr" presetSubtype="0" fill="hold" nodeType="withEffect">
                            <p:stCondLst>
                              <p:cond delay="465"/>
                            </p:stCondLst>
                            <p:iterate type="lt">
                              <p:tmAbs val="11"/>
                            </p:iterate>
                            <p:childTnLst>
                              <p:set>
                                <p:cBhvr>
                                  <p:cTn id="9" dur="1" fill="hold">
                                    <p:stCondLst>
                                      <p:cond delay="0"/>
                                    </p:stCondLst>
                                  </p:cTn>
                                  <p:tgtEl>
                                    <p:spTgt spid="102">
                                      <p:txEl>
                                        <p:pRg st="2" end="2"/>
                                      </p:txEl>
                                    </p:spTgt>
                                  </p:tgtEl>
                                  <p:attrNameLst>
                                    <p:attrName>style.visibility</p:attrName>
                                  </p:attrNameLst>
                                </p:cBhvr>
                                <p:to>
                                  <p:strVal val="visible"/>
                                </p:to>
                              </p:set>
                            </p:childTnLst>
                          </p:cTn>
                        </p:par>
                        <p:par>
                          <p:cTn id="10" presetID="1" presetClass="entr" presetSubtype="0" fill="hold" nodeType="withEffect">
                            <p:stCondLst>
                              <p:cond delay="725"/>
                            </p:stCondLst>
                            <p:iterate type="lt">
                              <p:tmAbs val="11"/>
                            </p:iterate>
                            <p:childTnLst>
                              <p:set>
                                <p:cBhvr>
                                  <p:cTn id="11" dur="1" fill="hold">
                                    <p:stCondLst>
                                      <p:cond delay="0"/>
                                    </p:stCondLst>
                                  </p:cTn>
                                  <p:tgtEl>
                                    <p:spTgt spid="102">
                                      <p:txEl>
                                        <p:pRg st="3" end="3"/>
                                      </p:txEl>
                                    </p:spTgt>
                                  </p:tgtEl>
                                  <p:attrNameLst>
                                    <p:attrName>style.visibility</p:attrName>
                                  </p:attrNameLst>
                                </p:cBhvr>
                                <p:to>
                                  <p:strVal val="visible"/>
                                </p:to>
                              </p:set>
                            </p:childTnLst>
                          </p:cTn>
                        </p:par>
                      </p:childTnLst>
                    </p:cTn>
                  </p:par>
                </p:childTnLst>
              </p:cTn>
            </p:seq>
          </p:childTnLst>
        </p:cTn>
      </p:par>
    </p:tnLst>
  </p:timing>
</p:sld>
</file>

<file path=ppt/theme/theme1.xml><?xml version="1.0" encoding="utf-8"?>
<a:theme xmlns:a="http://schemas.openxmlformats.org/drawingml/2006/main" name="Asker Bryld Staunæs">
  <a:themeElements>
    <a:clrScheme name="Asker Bryld Staunæ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Asker Bryld Staunæ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2579</TotalTime>
  <Words>30703</Words>
  <Application>Microsoft Macintosh PowerPoint</Application>
  <DocSecurity>0</DocSecurity>
  <PresentationFormat>Widescreen</PresentationFormat>
  <Paragraphs>1487</Paragraphs>
  <Slides>54</Slides>
  <Notes>54</Notes>
  <HiddenSlides>0</HiddenSlides>
  <MMClips>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Garamond</vt:lpstr>
      <vt:lpstr>Consolas</vt:lpstr>
      <vt:lpstr>Calibri</vt:lpstr>
      <vt:lpstr>Asker Bryld Staunæs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Syntheticism: How I Learned to Love Democracy</dc:title>
  <dc:subject>PhD defence · Aarhus University · 21 September 2026</dc:subject>
  <dc:creator>Asker Bryld Staunæs</dc:creator>
  <cp:lastModifiedBy>Asker Bryld Staunæs</cp:lastModifiedBy>
  <cp:revision>41</cp:revision>
  <dcterms:created xsi:type="dcterms:W3CDTF">2026-09-20T09:28:21Z</dcterms:created>
  <dcterms:modified xsi:type="dcterms:W3CDTF">2026-09-22T09:48:41Z</dcterms:modified>
</cp:coreProperties>
</file>